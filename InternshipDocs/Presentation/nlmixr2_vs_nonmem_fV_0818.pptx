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1"/>
  </p:notesMasterIdLst>
  <p:handoutMasterIdLst>
    <p:handoutMasterId r:id="rId52"/>
  </p:handoutMasterIdLst>
  <p:sldIdLst>
    <p:sldId id="256" r:id="rId5"/>
    <p:sldId id="330" r:id="rId6"/>
    <p:sldId id="331" r:id="rId7"/>
    <p:sldId id="328" r:id="rId8"/>
    <p:sldId id="259" r:id="rId9"/>
    <p:sldId id="311" r:id="rId10"/>
    <p:sldId id="273" r:id="rId11"/>
    <p:sldId id="265" r:id="rId12"/>
    <p:sldId id="304" r:id="rId13"/>
    <p:sldId id="267" r:id="rId14"/>
    <p:sldId id="332" r:id="rId15"/>
    <p:sldId id="270" r:id="rId16"/>
    <p:sldId id="272" r:id="rId17"/>
    <p:sldId id="274" r:id="rId18"/>
    <p:sldId id="318" r:id="rId19"/>
    <p:sldId id="305" r:id="rId20"/>
    <p:sldId id="290" r:id="rId21"/>
    <p:sldId id="277" r:id="rId22"/>
    <p:sldId id="292" r:id="rId23"/>
    <p:sldId id="278" r:id="rId24"/>
    <p:sldId id="334" r:id="rId25"/>
    <p:sldId id="281" r:id="rId26"/>
    <p:sldId id="295" r:id="rId27"/>
    <p:sldId id="346" r:id="rId28"/>
    <p:sldId id="297" r:id="rId29"/>
    <p:sldId id="306" r:id="rId30"/>
    <p:sldId id="286" r:id="rId31"/>
    <p:sldId id="285" r:id="rId32"/>
    <p:sldId id="309" r:id="rId33"/>
    <p:sldId id="322" r:id="rId34"/>
    <p:sldId id="321" r:id="rId35"/>
    <p:sldId id="298" r:id="rId36"/>
    <p:sldId id="288" r:id="rId37"/>
    <p:sldId id="314" r:id="rId38"/>
    <p:sldId id="312" r:id="rId39"/>
    <p:sldId id="323" r:id="rId40"/>
    <p:sldId id="324" r:id="rId41"/>
    <p:sldId id="296" r:id="rId42"/>
    <p:sldId id="327" r:id="rId43"/>
    <p:sldId id="325" r:id="rId44"/>
    <p:sldId id="279" r:id="rId45"/>
    <p:sldId id="333" r:id="rId46"/>
    <p:sldId id="347" r:id="rId47"/>
    <p:sldId id="348" r:id="rId48"/>
    <p:sldId id="320" r:id="rId49"/>
    <p:sldId id="294"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C86C2E8-9EAB-498E-A758-3891612A56AC}">
          <p14:sldIdLst>
            <p14:sldId id="256"/>
            <p14:sldId id="330"/>
          </p14:sldIdLst>
        </p14:section>
        <p14:section name="Background" id="{AD658D37-D14D-4AF6-8AB8-EF04F50C85D2}">
          <p14:sldIdLst>
            <p14:sldId id="331"/>
            <p14:sldId id="328"/>
            <p14:sldId id="259"/>
            <p14:sldId id="311"/>
            <p14:sldId id="273"/>
            <p14:sldId id="265"/>
          </p14:sldIdLst>
        </p14:section>
        <p14:section name="2. Methods" id="{A24A344E-13CB-4EA8-9699-4474AA134845}">
          <p14:sldIdLst>
            <p14:sldId id="304"/>
            <p14:sldId id="267"/>
            <p14:sldId id="332"/>
            <p14:sldId id="270"/>
            <p14:sldId id="272"/>
            <p14:sldId id="274"/>
            <p14:sldId id="318"/>
          </p14:sldIdLst>
        </p14:section>
        <p14:section name="3. Results" id="{AA115733-5B53-4A11-B832-7A54A8102B02}">
          <p14:sldIdLst>
            <p14:sldId id="305"/>
            <p14:sldId id="290"/>
            <p14:sldId id="277"/>
            <p14:sldId id="292"/>
            <p14:sldId id="278"/>
            <p14:sldId id="334"/>
            <p14:sldId id="281"/>
            <p14:sldId id="295"/>
            <p14:sldId id="346"/>
            <p14:sldId id="297"/>
          </p14:sldIdLst>
        </p14:section>
        <p14:section name="4. Disucssion" id="{68A39D0D-2243-410A-B0C5-E513BB5C72EF}">
          <p14:sldIdLst>
            <p14:sldId id="306"/>
            <p14:sldId id="286"/>
            <p14:sldId id="285"/>
            <p14:sldId id="309"/>
            <p14:sldId id="322"/>
            <p14:sldId id="321"/>
          </p14:sldIdLst>
        </p14:section>
        <p14:section name="5.Appendix" id="{44AB6253-14F5-4CBF-909C-51B4354026FD}">
          <p14:sldIdLst>
            <p14:sldId id="298"/>
            <p14:sldId id="288"/>
            <p14:sldId id="314"/>
            <p14:sldId id="312"/>
            <p14:sldId id="323"/>
            <p14:sldId id="324"/>
            <p14:sldId id="296"/>
            <p14:sldId id="327"/>
            <p14:sldId id="325"/>
            <p14:sldId id="279"/>
            <p14:sldId id="333"/>
            <p14:sldId id="347"/>
            <p14:sldId id="348"/>
            <p14:sldId id="320"/>
            <p14:sldId id="294"/>
          </p14:sldIdLst>
        </p14:section>
      </p14:sectionLst>
    </p:ext>
    <p:ext uri="{EFAFB233-063F-42B5-8137-9DF3F51BA10A}">
      <p15:sldGuideLst xmlns:p15="http://schemas.microsoft.com/office/powerpoint/2012/main">
        <p15:guide id="1" pos="347" userDrawn="1">
          <p15:clr>
            <a:srgbClr val="A4A3A4"/>
          </p15:clr>
        </p15:guide>
        <p15:guide id="2" pos="7344" userDrawn="1">
          <p15:clr>
            <a:srgbClr val="A4A3A4"/>
          </p15:clr>
        </p15:guide>
        <p15:guide id="3" orient="horz" pos="1152" userDrawn="1">
          <p15:clr>
            <a:srgbClr val="A4A3A4"/>
          </p15:clr>
        </p15:guide>
        <p15:guide id="4" orient="horz" pos="381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63BA30A-662E-8E7C-3CD7-EF7344B3F2C5}" name="Faton Haziri" initials="FH" userId="Faton Haziri" providerId="None"/>
  <p188:author id="{B378B269-8605-A754-3AC8-495F9C28E95C}" name="Branigan, Lila" initials="BL" userId="S::branili1@novartis.net::bad583dd-3f17-4eb2-8c56-30a183d315c6" providerId="AD"/>
  <p188:author id="{27F403B1-BC1A-AE93-5AE1-203CAF3338D9}" name="Haziri, Faton" initials="HF" userId="S::hazirfa1@novartis.net::3052f43f-8ee3-4d23-aecc-818d51f5917c" providerId="AD"/>
  <p188:author id="{9D099CEE-101A-7E26-B0BA-40A68F97A773}" name="Davis-McHenry, Aliah" initials="DA" userId="S::davisale@novartis.net::34a4c28c-d9d9-4fbd-bbf6-8bf1f7f3c88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60A9"/>
    <a:srgbClr val="F0F3F7"/>
    <a:srgbClr val="1F4E79"/>
    <a:srgbClr val="790F0F"/>
    <a:srgbClr val="C9A4A1"/>
    <a:srgbClr val="FFF4EF"/>
    <a:srgbClr val="FCFCFC"/>
    <a:srgbClr val="048CFC"/>
    <a:srgbClr val="7C7C7C"/>
    <a:srgbClr val="01EF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283735-A21A-403D-AFAD-69D75B096693}" v="3" dt="2026-08-18T01:36:34.978"/>
    <p1510:client id="{7156A861-1B76-4D27-845A-76A4F0811613}" v="6" dt="2026-08-18T13:34:24.83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73362" autoAdjust="0"/>
  </p:normalViewPr>
  <p:slideViewPr>
    <p:cSldViewPr snapToGrid="0">
      <p:cViewPr varScale="1">
        <p:scale>
          <a:sx n="46" d="100"/>
          <a:sy n="46" d="100"/>
        </p:scale>
        <p:origin x="1404" y="40"/>
      </p:cViewPr>
      <p:guideLst>
        <p:guide pos="347"/>
        <p:guide pos="7344"/>
        <p:guide orient="horz" pos="1152"/>
        <p:guide orient="horz"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u, Yaping (Ext)" userId="f573593e-5a6a-4224-9cde-434853a04ccb" providerId="ADAL" clId="{D3C91D9B-AA24-48F8-B517-079931D65D62}"/>
    <pc:docChg chg="custSel modSld sldOrd">
      <pc:chgData name="Liu, Yaping (Ext)" userId="f573593e-5a6a-4224-9cde-434853a04ccb" providerId="ADAL" clId="{D3C91D9B-AA24-48F8-B517-079931D65D62}" dt="2026-08-18T13:39:45.478" v="334" actId="20577"/>
      <pc:docMkLst>
        <pc:docMk/>
      </pc:docMkLst>
      <pc:sldChg chg="modNotesTx">
        <pc:chgData name="Liu, Yaping (Ext)" userId="f573593e-5a6a-4224-9cde-434853a04ccb" providerId="ADAL" clId="{D3C91D9B-AA24-48F8-B517-079931D65D62}" dt="2026-08-18T11:42:24.721" v="277" actId="20577"/>
        <pc:sldMkLst>
          <pc:docMk/>
          <pc:sldMk cId="0" sldId="256"/>
        </pc:sldMkLst>
      </pc:sldChg>
      <pc:sldChg chg="modNotesTx">
        <pc:chgData name="Liu, Yaping (Ext)" userId="f573593e-5a6a-4224-9cde-434853a04ccb" providerId="ADAL" clId="{D3C91D9B-AA24-48F8-B517-079931D65D62}" dt="2026-08-18T11:09:11.980" v="9" actId="20577"/>
        <pc:sldMkLst>
          <pc:docMk/>
          <pc:sldMk cId="0" sldId="259"/>
        </pc:sldMkLst>
      </pc:sldChg>
      <pc:sldChg chg="modNotesTx">
        <pc:chgData name="Liu, Yaping (Ext)" userId="f573593e-5a6a-4224-9cde-434853a04ccb" providerId="ADAL" clId="{D3C91D9B-AA24-48F8-B517-079931D65D62}" dt="2026-08-18T11:21:12.901" v="125" actId="20577"/>
        <pc:sldMkLst>
          <pc:docMk/>
          <pc:sldMk cId="0" sldId="272"/>
        </pc:sldMkLst>
      </pc:sldChg>
      <pc:sldChg chg="modNotesTx">
        <pc:chgData name="Liu, Yaping (Ext)" userId="f573593e-5a6a-4224-9cde-434853a04ccb" providerId="ADAL" clId="{D3C91D9B-AA24-48F8-B517-079931D65D62}" dt="2026-08-18T11:12:32.577" v="16" actId="20577"/>
        <pc:sldMkLst>
          <pc:docMk/>
          <pc:sldMk cId="0" sldId="273"/>
        </pc:sldMkLst>
      </pc:sldChg>
      <pc:sldChg chg="modNotesTx">
        <pc:chgData name="Liu, Yaping (Ext)" userId="f573593e-5a6a-4224-9cde-434853a04ccb" providerId="ADAL" clId="{D3C91D9B-AA24-48F8-B517-079931D65D62}" dt="2026-08-18T11:25:43.618" v="177" actId="20577"/>
        <pc:sldMkLst>
          <pc:docMk/>
          <pc:sldMk cId="0" sldId="274"/>
        </pc:sldMkLst>
      </pc:sldChg>
      <pc:sldChg chg="modNotesTx">
        <pc:chgData name="Liu, Yaping (Ext)" userId="f573593e-5a6a-4224-9cde-434853a04ccb" providerId="ADAL" clId="{D3C91D9B-AA24-48F8-B517-079931D65D62}" dt="2026-08-18T11:30:34.332" v="244" actId="20577"/>
        <pc:sldMkLst>
          <pc:docMk/>
          <pc:sldMk cId="0" sldId="277"/>
        </pc:sldMkLst>
      </pc:sldChg>
      <pc:sldChg chg="ord">
        <pc:chgData name="Liu, Yaping (Ext)" userId="f573593e-5a6a-4224-9cde-434853a04ccb" providerId="ADAL" clId="{D3C91D9B-AA24-48F8-B517-079931D65D62}" dt="2026-08-18T11:44:47.061" v="304"/>
        <pc:sldMkLst>
          <pc:docMk/>
          <pc:sldMk cId="0" sldId="279"/>
        </pc:sldMkLst>
      </pc:sldChg>
      <pc:sldChg chg="modNotesTx">
        <pc:chgData name="Liu, Yaping (Ext)" userId="f573593e-5a6a-4224-9cde-434853a04ccb" providerId="ADAL" clId="{D3C91D9B-AA24-48F8-B517-079931D65D62}" dt="2026-08-18T11:40:56.941" v="276" actId="20577"/>
        <pc:sldMkLst>
          <pc:docMk/>
          <pc:sldMk cId="0" sldId="285"/>
        </pc:sldMkLst>
      </pc:sldChg>
      <pc:sldChg chg="ord modNotesTx">
        <pc:chgData name="Liu, Yaping (Ext)" userId="f573593e-5a6a-4224-9cde-434853a04ccb" providerId="ADAL" clId="{D3C91D9B-AA24-48F8-B517-079931D65D62}" dt="2026-08-18T13:01:52.835" v="327" actId="20577"/>
        <pc:sldMkLst>
          <pc:docMk/>
          <pc:sldMk cId="1828836915" sldId="288"/>
        </pc:sldMkLst>
      </pc:sldChg>
      <pc:sldChg chg="modSp mod">
        <pc:chgData name="Liu, Yaping (Ext)" userId="f573593e-5a6a-4224-9cde-434853a04ccb" providerId="ADAL" clId="{D3C91D9B-AA24-48F8-B517-079931D65D62}" dt="2026-08-18T11:45:05.954" v="306" actId="1076"/>
        <pc:sldMkLst>
          <pc:docMk/>
          <pc:sldMk cId="2524575623" sldId="294"/>
        </pc:sldMkLst>
        <pc:spChg chg="mod">
          <ac:chgData name="Liu, Yaping (Ext)" userId="f573593e-5a6a-4224-9cde-434853a04ccb" providerId="ADAL" clId="{D3C91D9B-AA24-48F8-B517-079931D65D62}" dt="2026-08-18T11:45:05.954" v="306" actId="1076"/>
          <ac:spMkLst>
            <pc:docMk/>
            <pc:sldMk cId="2524575623" sldId="294"/>
            <ac:spMk id="2" creationId="{3101FB6D-5F1A-5302-4101-3F755E73C7E8}"/>
          </ac:spMkLst>
        </pc:spChg>
      </pc:sldChg>
      <pc:sldChg chg="modNotesTx">
        <pc:chgData name="Liu, Yaping (Ext)" userId="f573593e-5a6a-4224-9cde-434853a04ccb" providerId="ADAL" clId="{D3C91D9B-AA24-48F8-B517-079931D65D62}" dt="2026-08-18T11:38:39.784" v="258" actId="20577"/>
        <pc:sldMkLst>
          <pc:docMk/>
          <pc:sldMk cId="3139803728" sldId="297"/>
        </pc:sldMkLst>
      </pc:sldChg>
      <pc:sldChg chg="modNotesTx">
        <pc:chgData name="Liu, Yaping (Ext)" userId="f573593e-5a6a-4224-9cde-434853a04ccb" providerId="ADAL" clId="{D3C91D9B-AA24-48F8-B517-079931D65D62}" dt="2026-08-18T11:10:29.083" v="14" actId="20577"/>
        <pc:sldMkLst>
          <pc:docMk/>
          <pc:sldMk cId="117432848" sldId="311"/>
        </pc:sldMkLst>
      </pc:sldChg>
      <pc:sldChg chg="ord">
        <pc:chgData name="Liu, Yaping (Ext)" userId="f573593e-5a6a-4224-9cde-434853a04ccb" providerId="ADAL" clId="{D3C91D9B-AA24-48F8-B517-079931D65D62}" dt="2026-08-18T11:44:20.771" v="298"/>
        <pc:sldMkLst>
          <pc:docMk/>
          <pc:sldMk cId="0" sldId="312"/>
        </pc:sldMkLst>
      </pc:sldChg>
      <pc:sldChg chg="ord">
        <pc:chgData name="Liu, Yaping (Ext)" userId="f573593e-5a6a-4224-9cde-434853a04ccb" providerId="ADAL" clId="{D3C91D9B-AA24-48F8-B517-079931D65D62}" dt="2026-08-18T11:44:27.781" v="300"/>
        <pc:sldMkLst>
          <pc:docMk/>
          <pc:sldMk cId="2825777530" sldId="314"/>
        </pc:sldMkLst>
      </pc:sldChg>
      <pc:sldChg chg="modNotesTx">
        <pc:chgData name="Liu, Yaping (Ext)" userId="f573593e-5a6a-4224-9cde-434853a04ccb" providerId="ADAL" clId="{D3C91D9B-AA24-48F8-B517-079931D65D62}" dt="2026-08-18T11:28:44.639" v="232" actId="20577"/>
        <pc:sldMkLst>
          <pc:docMk/>
          <pc:sldMk cId="3678150043" sldId="318"/>
        </pc:sldMkLst>
      </pc:sldChg>
      <pc:sldChg chg="modNotesTx">
        <pc:chgData name="Liu, Yaping (Ext)" userId="f573593e-5a6a-4224-9cde-434853a04ccb" providerId="ADAL" clId="{D3C91D9B-AA24-48F8-B517-079931D65D62}" dt="2026-08-18T12:55:31.173" v="320" actId="20577"/>
        <pc:sldMkLst>
          <pc:docMk/>
          <pc:sldMk cId="1474244902" sldId="322"/>
        </pc:sldMkLst>
      </pc:sldChg>
      <pc:sldChg chg="ord">
        <pc:chgData name="Liu, Yaping (Ext)" userId="f573593e-5a6a-4224-9cde-434853a04ccb" providerId="ADAL" clId="{D3C91D9B-AA24-48F8-B517-079931D65D62}" dt="2026-08-18T11:44:04.381" v="294"/>
        <pc:sldMkLst>
          <pc:docMk/>
          <pc:sldMk cId="2305374277" sldId="323"/>
        </pc:sldMkLst>
      </pc:sldChg>
      <pc:sldChg chg="modNotesTx">
        <pc:chgData name="Liu, Yaping (Ext)" userId="f573593e-5a6a-4224-9cde-434853a04ccb" providerId="ADAL" clId="{D3C91D9B-AA24-48F8-B517-079931D65D62}" dt="2026-08-18T13:39:45.478" v="334" actId="20577"/>
        <pc:sldMkLst>
          <pc:docMk/>
          <pc:sldMk cId="1733724878" sldId="328"/>
        </pc:sldMkLst>
      </pc:sldChg>
      <pc:sldChg chg="modAnim modNotesTx">
        <pc:chgData name="Liu, Yaping (Ext)" userId="f573593e-5a6a-4224-9cde-434853a04ccb" providerId="ADAL" clId="{D3C91D9B-AA24-48F8-B517-079931D65D62}" dt="2026-08-18T13:34:24.835" v="328"/>
        <pc:sldMkLst>
          <pc:docMk/>
          <pc:sldMk cId="841582702" sldId="332"/>
        </pc:sldMkLst>
      </pc:sldChg>
      <pc:sldChg chg="ord">
        <pc:chgData name="Liu, Yaping (Ext)" userId="f573593e-5a6a-4224-9cde-434853a04ccb" providerId="ADAL" clId="{D3C91D9B-AA24-48F8-B517-079931D65D62}" dt="2026-08-18T11:44:35.849" v="302"/>
        <pc:sldMkLst>
          <pc:docMk/>
          <pc:sldMk cId="3773767242" sldId="333"/>
        </pc:sldMkLst>
      </pc:sldChg>
      <pc:sldChg chg="modNotesTx">
        <pc:chgData name="Liu, Yaping (Ext)" userId="f573593e-5a6a-4224-9cde-434853a04ccb" providerId="ADAL" clId="{D3C91D9B-AA24-48F8-B517-079931D65D62}" dt="2026-08-18T11:37:04.135" v="257" actId="20577"/>
        <pc:sldMkLst>
          <pc:docMk/>
          <pc:sldMk cId="1612243811" sldId="346"/>
        </pc:sldMkLst>
      </pc:sldChg>
      <pc:sldChg chg="modSp mod">
        <pc:chgData name="Liu, Yaping (Ext)" userId="f573593e-5a6a-4224-9cde-434853a04ccb" providerId="ADAL" clId="{D3C91D9B-AA24-48F8-B517-079931D65D62}" dt="2026-08-18T11:45:17.162" v="308" actId="207"/>
        <pc:sldMkLst>
          <pc:docMk/>
          <pc:sldMk cId="451933423" sldId="347"/>
        </pc:sldMkLst>
        <pc:spChg chg="mod">
          <ac:chgData name="Liu, Yaping (Ext)" userId="f573593e-5a6a-4224-9cde-434853a04ccb" providerId="ADAL" clId="{D3C91D9B-AA24-48F8-B517-079931D65D62}" dt="2026-08-18T11:45:17.162" v="308" actId="207"/>
          <ac:spMkLst>
            <pc:docMk/>
            <pc:sldMk cId="451933423" sldId="347"/>
            <ac:spMk id="2" creationId="{EEC69442-1B9E-1243-B9D5-4BD7F2EC7388}"/>
          </ac:spMkLst>
        </pc:spChg>
      </pc:sldChg>
      <pc:sldChg chg="modSp mod ord">
        <pc:chgData name="Liu, Yaping (Ext)" userId="f573593e-5a6a-4224-9cde-434853a04ccb" providerId="ADAL" clId="{D3C91D9B-AA24-48F8-B517-079931D65D62}" dt="2026-08-18T11:45:11.879" v="307" actId="108"/>
        <pc:sldMkLst>
          <pc:docMk/>
          <pc:sldMk cId="3133543688" sldId="348"/>
        </pc:sldMkLst>
        <pc:spChg chg="mod">
          <ac:chgData name="Liu, Yaping (Ext)" userId="f573593e-5a6a-4224-9cde-434853a04ccb" providerId="ADAL" clId="{D3C91D9B-AA24-48F8-B517-079931D65D62}" dt="2026-08-18T11:45:11.879" v="307" actId="108"/>
          <ac:spMkLst>
            <pc:docMk/>
            <pc:sldMk cId="3133543688" sldId="348"/>
            <ac:spMk id="7" creationId="{78111580-BFF9-18D3-09F5-99D6F554A32B}"/>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37836AB-7A71-9C59-1569-F6D368DE69EE}"/>
              </a:ext>
            </a:extLst>
          </p:cNvPr>
          <p:cNvSpPr>
            <a:spLocks noGrp="1"/>
          </p:cNvSpPr>
          <p:nvPr>
            <p:ph type="ftr" sz="quarter" idx="2"/>
          </p:nvPr>
        </p:nvSpPr>
        <p:spPr>
          <a:xfrm>
            <a:off x="2024844" y="8661357"/>
            <a:ext cx="3888000" cy="123111"/>
          </a:xfrm>
          <a:prstGeom prst="rect">
            <a:avLst/>
          </a:prstGeom>
        </p:spPr>
        <p:txBody>
          <a:bodyPr vert="horz" wrap="square" lIns="0" tIns="0" rIns="0" bIns="0" rtlCol="0" anchor="b">
            <a:spAutoFit/>
          </a:bodyPr>
          <a:lstStyle>
            <a:lvl1pPr algn="l">
              <a:defRPr sz="1200"/>
            </a:lvl1pPr>
          </a:lstStyle>
          <a:p>
            <a:r>
              <a:rPr lang="en-US" sz="800"/>
              <a:t>Placeholder for the presentation title  |  Date (Insert → header and footer)</a:t>
            </a:r>
          </a:p>
        </p:txBody>
      </p:sp>
      <p:sp>
        <p:nvSpPr>
          <p:cNvPr id="5" name="Slide Number Placeholder 4">
            <a:extLst>
              <a:ext uri="{FF2B5EF4-FFF2-40B4-BE49-F238E27FC236}">
                <a16:creationId xmlns:a16="http://schemas.microsoft.com/office/drawing/2014/main" id="{DE3F12FE-E6B8-CB03-BD6F-A6DD226A74E9}"/>
              </a:ext>
            </a:extLst>
          </p:cNvPr>
          <p:cNvSpPr>
            <a:spLocks noGrp="1"/>
          </p:cNvSpPr>
          <p:nvPr>
            <p:ph type="sldNum" sz="quarter" idx="3"/>
          </p:nvPr>
        </p:nvSpPr>
        <p:spPr>
          <a:xfrm>
            <a:off x="6093296" y="8661357"/>
            <a:ext cx="288032" cy="123111"/>
          </a:xfrm>
          <a:prstGeom prst="rect">
            <a:avLst/>
          </a:prstGeom>
        </p:spPr>
        <p:txBody>
          <a:bodyPr vert="horz" wrap="square" lIns="0" tIns="0" rIns="0" bIns="0" rtlCol="0" anchor="b">
            <a:spAutoFit/>
          </a:bodyPr>
          <a:lstStyle>
            <a:lvl1pPr algn="r">
              <a:defRPr sz="1200"/>
            </a:lvl1pPr>
          </a:lstStyle>
          <a:p>
            <a:fld id="{8B0EA715-5C52-46A6-AB3C-9DAA4D99E51E}" type="slidenum">
              <a:rPr lang="en-US" sz="800" smtClean="0"/>
              <a:t>‹#›</a:t>
            </a:fld>
            <a:endParaRPr lang="en-US" sz="800"/>
          </a:p>
        </p:txBody>
      </p:sp>
      <p:pic>
        <p:nvPicPr>
          <p:cNvPr id="6" name="Logo">
            <a:extLst>
              <a:ext uri="{FF2B5EF4-FFF2-40B4-BE49-F238E27FC236}">
                <a16:creationId xmlns:a16="http://schemas.microsoft.com/office/drawing/2014/main" id="{79C3954B-1D5A-DF7E-F38E-E6C429FEE87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bwMode="gray">
          <a:xfrm>
            <a:off x="476672" y="8613344"/>
            <a:ext cx="1044116" cy="156025"/>
          </a:xfrm>
          <a:prstGeom prst="rect">
            <a:avLst/>
          </a:prstGeom>
        </p:spPr>
      </p:pic>
    </p:spTree>
    <p:extLst>
      <p:ext uri="{BB962C8B-B14F-4D97-AF65-F5344CB8AC3E}">
        <p14:creationId xmlns:p14="http://schemas.microsoft.com/office/powerpoint/2010/main" val="1506907453"/>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024844" y="8661357"/>
            <a:ext cx="3888000" cy="123111"/>
          </a:xfrm>
          <a:prstGeom prst="rect">
            <a:avLst/>
          </a:prstGeom>
        </p:spPr>
        <p:txBody>
          <a:bodyPr vert="horz" wrap="square" lIns="0" tIns="0" rIns="0" bIns="0" rtlCol="0" anchor="b">
            <a:spAutoFit/>
          </a:bodyPr>
          <a:lstStyle>
            <a:lvl1pPr algn="l">
              <a:defRPr sz="800"/>
            </a:lvl1pPr>
          </a:lstStyle>
          <a:p>
            <a:r>
              <a:rPr lang="en-US" sz="800"/>
              <a:t>Placeholder for the presentation title  |  Date (Insert → header and footer)</a:t>
            </a:r>
          </a:p>
        </p:txBody>
      </p:sp>
      <p:sp>
        <p:nvSpPr>
          <p:cNvPr id="7" name="Slide Number Placeholder 6"/>
          <p:cNvSpPr>
            <a:spLocks noGrp="1"/>
          </p:cNvSpPr>
          <p:nvPr>
            <p:ph type="sldNum" sz="quarter" idx="5"/>
          </p:nvPr>
        </p:nvSpPr>
        <p:spPr>
          <a:xfrm>
            <a:off x="6093296" y="8661357"/>
            <a:ext cx="288032" cy="123111"/>
          </a:xfrm>
          <a:prstGeom prst="rect">
            <a:avLst/>
          </a:prstGeom>
        </p:spPr>
        <p:txBody>
          <a:bodyPr vert="horz" wrap="square" lIns="0" tIns="0" rIns="0" bIns="0" rtlCol="0" anchor="b">
            <a:spAutoFit/>
          </a:bodyPr>
          <a:lstStyle>
            <a:lvl1pPr algn="r">
              <a:defRPr sz="800"/>
            </a:lvl1pPr>
          </a:lstStyle>
          <a:p>
            <a:fld id="{CC452610-1F1A-48BB-81B3-3167D77B5272}" type="slidenum">
              <a:rPr lang="en-US" smtClean="0"/>
              <a:pPr/>
              <a:t>‹#›</a:t>
            </a:fld>
            <a:endParaRPr lang="en-US" sz="800"/>
          </a:p>
        </p:txBody>
      </p:sp>
      <p:pic>
        <p:nvPicPr>
          <p:cNvPr id="9" name="Logo">
            <a:extLst>
              <a:ext uri="{FF2B5EF4-FFF2-40B4-BE49-F238E27FC236}">
                <a16:creationId xmlns:a16="http://schemas.microsoft.com/office/drawing/2014/main" id="{B71D4F93-CCDA-E557-C904-D46A56B097F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bwMode="gray">
          <a:xfrm>
            <a:off x="476672" y="8613344"/>
            <a:ext cx="1044116" cy="156025"/>
          </a:xfrm>
          <a:prstGeom prst="rect">
            <a:avLst/>
          </a:prstGeom>
        </p:spPr>
      </p:pic>
    </p:spTree>
    <p:extLst>
      <p:ext uri="{BB962C8B-B14F-4D97-AF65-F5344CB8AC3E}">
        <p14:creationId xmlns:p14="http://schemas.microsoft.com/office/powerpoint/2010/main" val="3259339354"/>
      </p:ext>
    </p:extLst>
  </p:cSld>
  <p:clrMap bg1="lt1" tx1="dk1" bg2="lt2" tx2="dk2" accent1="accent1" accent2="accent2" accent3="accent3" accent4="accent4" accent5="accent5" accent6="accent6" hlink="hlink" folHlink="folHlink"/>
  <p:hf hdr="0" dt="0"/>
  <p:notesStyle>
    <a:lvl1pPr marL="0" algn="l" defTabSz="914400" rtl="0" eaLnBrk="1" latinLnBrk="0" hangingPunct="1">
      <a:spcBef>
        <a:spcPts val="1800"/>
      </a:spcBef>
      <a:defRPr sz="1200" kern="1200">
        <a:solidFill>
          <a:schemeClr val="tx1"/>
        </a:solidFill>
        <a:latin typeface="+mj-lt"/>
        <a:ea typeface="+mn-ea"/>
        <a:cs typeface="+mn-cs"/>
      </a:defRPr>
    </a:lvl1pPr>
    <a:lvl2pPr marL="0" algn="l" defTabSz="914400" rtl="0" eaLnBrk="1" latinLnBrk="0" hangingPunct="1">
      <a:spcBef>
        <a:spcPts val="600"/>
      </a:spcBef>
      <a:defRPr sz="1200" kern="1200">
        <a:solidFill>
          <a:schemeClr val="tx1"/>
        </a:solidFill>
        <a:latin typeface="+mn-lt"/>
        <a:ea typeface="+mn-ea"/>
        <a:cs typeface="+mn-cs"/>
      </a:defRPr>
    </a:lvl2pPr>
    <a:lvl3pPr marL="144000" indent="-144000" algn="l" defTabSz="914400"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3pPr>
    <a:lvl4pPr marL="288000" indent="-144000" algn="l" defTabSz="914400" rtl="0" eaLnBrk="1" latinLnBrk="0" hangingPunct="1">
      <a:spcBef>
        <a:spcPts val="300"/>
      </a:spcBef>
      <a:buFont typeface="Arial" panose="020B0604020202020204" pitchFamily="34" charset="0"/>
      <a:buChar char="•"/>
      <a:defRPr sz="1200" kern="1200">
        <a:solidFill>
          <a:schemeClr val="tx1"/>
        </a:solidFill>
        <a:latin typeface="+mn-lt"/>
        <a:ea typeface="+mn-ea"/>
        <a:cs typeface="+mn-cs"/>
      </a:defRPr>
    </a:lvl4pPr>
    <a:lvl5pPr marL="432000" indent="-144000" algn="l" defTabSz="914400" rtl="0" eaLnBrk="1" latinLnBrk="0" hangingPunct="1">
      <a:spcBef>
        <a:spcPts val="300"/>
      </a:spcBef>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Yaping Liu. I am a summer PMX intern, working with Matt Fidler. I PhD at the University of Michigan A</a:t>
            </a:r>
            <a:r>
              <a:rPr lang="en-US" altLang="zh-CN" dirty="0"/>
              <a:t>nn Arbor. My research sits at the intersection of precision oncology, biomarker research and </a:t>
            </a:r>
            <a:r>
              <a:rPr lang="en-US" altLang="zh-CN" dirty="0" err="1"/>
              <a:t>pharmacometics</a:t>
            </a:r>
            <a:r>
              <a:rPr lang="en-US" altLang="zh-CN" dirty="0"/>
              <a:t>. </a:t>
            </a:r>
          </a:p>
          <a:p>
            <a:endParaRPr lang="en-US" dirty="0"/>
          </a:p>
          <a:p>
            <a:r>
              <a:rPr lang="en-US" dirty="0"/>
              <a:t>And today I will present my internship project: </a:t>
            </a:r>
            <a:r>
              <a:rPr lang="en-US" b="1" dirty="0"/>
              <a:t>Automated Covariate-Model Building for Population PK — benchmarking the nlmixr2 ecosystem against NONMEM.</a:t>
            </a:r>
          </a:p>
          <a:p>
            <a:endParaRPr lang="en-US" b="1"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1</a:t>
            </a:fld>
            <a:endParaRPr lang="en-US" sz="800"/>
          </a:p>
        </p:txBody>
      </p:sp>
    </p:spTree>
    <p:extLst>
      <p:ext uri="{BB962C8B-B14F-4D97-AF65-F5344CB8AC3E}">
        <p14:creationId xmlns:p14="http://schemas.microsoft.com/office/powerpoint/2010/main" val="351657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Here is the roadmap.</a:t>
            </a:r>
          </a:p>
          <a:p>
            <a:pPr rtl="0"/>
            <a:r>
              <a:rPr lang="en-US" dirty="0"/>
              <a:t>I will start with the background: </a:t>
            </a:r>
            <a:r>
              <a:rPr lang="en-US" b="1" dirty="0"/>
              <a:t>why covariate selection matters clinically</a:t>
            </a:r>
            <a:r>
              <a:rPr lang="en-US" dirty="0"/>
              <a:t>, and what methods and tools are available today.</a:t>
            </a:r>
          </a:p>
          <a:p>
            <a:pPr rtl="0"/>
            <a:r>
              <a:rPr lang="en-US" dirty="0"/>
              <a:t>Then I will walk through </a:t>
            </a:r>
            <a:r>
              <a:rPr lang="en-US" b="1" dirty="0"/>
              <a:t>the methods</a:t>
            </a:r>
            <a:r>
              <a:rPr lang="en-US" dirty="0"/>
              <a:t> — how I simulated virtual populations, built covariate models, and evaluated performance.</a:t>
            </a:r>
          </a:p>
          <a:p>
            <a:pPr rtl="0"/>
            <a:r>
              <a:rPr lang="en-US" dirty="0"/>
              <a:t>Then </a:t>
            </a:r>
            <a:r>
              <a:rPr lang="en-US" b="1" dirty="0"/>
              <a:t>the results</a:t>
            </a:r>
            <a:r>
              <a:rPr lang="en-US" dirty="0"/>
              <a:t>, where I will show you that the nlmixr2 ecosystem matches NONMEM on covariate selection — and beats it on reliability and, for ODE models, on speed.</a:t>
            </a:r>
          </a:p>
          <a:p>
            <a:pPr rtl="0"/>
            <a:r>
              <a:rPr lang="en-US" dirty="0"/>
              <a:t>And I will close with the </a:t>
            </a:r>
            <a:r>
              <a:rPr lang="en-US" b="1" dirty="0"/>
              <a:t>limitations and the take-away messages</a:t>
            </a:r>
            <a:r>
              <a:rPr lang="en-US" dirty="0"/>
              <a:t>.</a:t>
            </a:r>
          </a:p>
          <a:p>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2</a:t>
            </a:fld>
            <a:endParaRPr lang="en-US" sz="800"/>
          </a:p>
        </p:txBody>
      </p:sp>
    </p:spTree>
    <p:extLst>
      <p:ext uri="{BB962C8B-B14F-4D97-AF65-F5344CB8AC3E}">
        <p14:creationId xmlns:p14="http://schemas.microsoft.com/office/powerpoint/2010/main" val="52570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start with the background.</a:t>
            </a:r>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3</a:t>
            </a:fld>
            <a:endParaRPr lang="en-US" sz="800"/>
          </a:p>
        </p:txBody>
      </p:sp>
    </p:spTree>
    <p:extLst>
      <p:ext uri="{BB962C8B-B14F-4D97-AF65-F5344CB8AC3E}">
        <p14:creationId xmlns:p14="http://schemas.microsoft.com/office/powerpoint/2010/main" val="4006138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4B036-20A8-4305-B8C3-835F0FEAF7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42891-17BA-85FE-971D-EA9210F7CF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86F3BC-39D9-F09F-CDCF-7B7D914D1F64}"/>
              </a:ext>
            </a:extLst>
          </p:cNvPr>
          <p:cNvSpPr>
            <a:spLocks noGrp="1"/>
          </p:cNvSpPr>
          <p:nvPr>
            <p:ph type="body" idx="1"/>
          </p:nvPr>
        </p:nvSpPr>
        <p:spPr/>
        <p:txBody>
          <a:bodyPr/>
          <a:lstStyle/>
          <a:p>
            <a:pPr rtl="0"/>
            <a:r>
              <a:rPr lang="en-US" dirty="0"/>
              <a:t>Some of you may not work with population PK every day, so let me set the stage.</a:t>
            </a:r>
          </a:p>
          <a:p>
            <a:pPr rtl="0"/>
            <a:r>
              <a:rPr lang="en-US" dirty="0"/>
              <a:t>At its core, a population PK model is a </a:t>
            </a:r>
            <a:r>
              <a:rPr lang="en-US" b="1" dirty="0"/>
              <a:t>nonlinear mixed-effects model</a:t>
            </a:r>
            <a:r>
              <a:rPr lang="en-US" dirty="0"/>
              <a:t>. What it does is explain </a:t>
            </a:r>
            <a:r>
              <a:rPr lang="en-US" b="1" dirty="0"/>
              <a:t>why drug exposure differs between patients.</a:t>
            </a:r>
            <a:endParaRPr lang="en-US" dirty="0"/>
          </a:p>
          <a:p>
            <a:pPr rtl="0"/>
            <a:endParaRPr lang="en-US" dirty="0"/>
          </a:p>
          <a:p>
            <a:pPr rtl="0"/>
            <a:r>
              <a:rPr lang="en-US" dirty="0"/>
              <a:t>Look at the black curve. That is our typical patient </a:t>
            </a:r>
            <a:r>
              <a:rPr lang="en-US"/>
              <a:t>— body </a:t>
            </a:r>
            <a:r>
              <a:rPr lang="en-US" dirty="0"/>
              <a:t>weight is the median of the population. Now assume body weight is associated with clearance.</a:t>
            </a:r>
          </a:p>
          <a:p>
            <a:pPr rtl="0"/>
            <a:r>
              <a:rPr lang="en-US" dirty="0"/>
              <a:t>The underweight patient, in green, has </a:t>
            </a:r>
            <a:r>
              <a:rPr lang="en-US" b="1" dirty="0"/>
              <a:t>lower clearance</a:t>
            </a:r>
            <a:r>
              <a:rPr lang="en-US" dirty="0"/>
              <a:t>, so </a:t>
            </a:r>
            <a:r>
              <a:rPr lang="en-US" b="1" dirty="0"/>
              <a:t>higher exposure</a:t>
            </a:r>
            <a:r>
              <a:rPr lang="en-US" dirty="0"/>
              <a:t>. The overweight patient, in orange, has </a:t>
            </a:r>
            <a:r>
              <a:rPr lang="en-US" b="1" dirty="0"/>
              <a:t>higher clearance</a:t>
            </a:r>
            <a:r>
              <a:rPr lang="en-US" dirty="0"/>
              <a:t>, so </a:t>
            </a:r>
            <a:r>
              <a:rPr lang="en-US" b="1" dirty="0"/>
              <a:t>lower exposure</a:t>
            </a:r>
            <a:r>
              <a:rPr lang="en-US" dirty="0"/>
              <a:t>. </a:t>
            </a:r>
          </a:p>
          <a:p>
            <a:pPr rtl="0"/>
            <a:r>
              <a:rPr lang="en-US" dirty="0"/>
              <a:t>That spread between the individual curves and the typical curve is the </a:t>
            </a:r>
            <a:r>
              <a:rPr lang="en-US" b="1" dirty="0"/>
              <a:t>inter-individual variability</a:t>
            </a:r>
            <a:endParaRPr lang="en-US" dirty="0"/>
          </a:p>
          <a:p>
            <a:pPr rtl="0"/>
            <a:r>
              <a:rPr lang="en-US" dirty="0"/>
              <a:t>And the distance from the green curve to the green dots — the actual observations — is the </a:t>
            </a:r>
            <a:r>
              <a:rPr lang="en-US" b="1" dirty="0"/>
              <a:t>unexplained residual variability</a:t>
            </a:r>
            <a:r>
              <a:rPr lang="en-US" dirty="0"/>
              <a:t>.</a:t>
            </a:r>
          </a:p>
          <a:p>
            <a:pPr rtl="0"/>
            <a:r>
              <a:rPr lang="en-US" dirty="0"/>
              <a:t>The model finds its parameters by </a:t>
            </a:r>
            <a:r>
              <a:rPr lang="en-US" b="1" dirty="0"/>
              <a:t>maximizing the likelihood of the observations</a:t>
            </a:r>
            <a:r>
              <a:rPr lang="en-US" dirty="0"/>
              <a:t>, which is the same thing as </a:t>
            </a:r>
            <a:r>
              <a:rPr lang="en-US" b="1" dirty="0"/>
              <a:t>minimizing the objective function</a:t>
            </a:r>
            <a:r>
              <a:rPr lang="en-US" dirty="0"/>
              <a:t>. </a:t>
            </a:r>
          </a:p>
        </p:txBody>
      </p:sp>
      <p:sp>
        <p:nvSpPr>
          <p:cNvPr id="4" name="Footer Placeholder 3">
            <a:extLst>
              <a:ext uri="{FF2B5EF4-FFF2-40B4-BE49-F238E27FC236}">
                <a16:creationId xmlns:a16="http://schemas.microsoft.com/office/drawing/2014/main" id="{4FD3D499-348F-6D6A-F14D-48E2EB0E3A2E}"/>
              </a:ext>
            </a:extLst>
          </p:cNvPr>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a:extLst>
              <a:ext uri="{FF2B5EF4-FFF2-40B4-BE49-F238E27FC236}">
                <a16:creationId xmlns:a16="http://schemas.microsoft.com/office/drawing/2014/main" id="{71573AEA-9DFE-BC76-B83E-CBD081E1AC0B}"/>
              </a:ext>
            </a:extLst>
          </p:cNvPr>
          <p:cNvSpPr>
            <a:spLocks noGrp="1"/>
          </p:cNvSpPr>
          <p:nvPr>
            <p:ph type="sldNum" sz="quarter" idx="5"/>
          </p:nvPr>
        </p:nvSpPr>
        <p:spPr/>
        <p:txBody>
          <a:bodyPr/>
          <a:lstStyle/>
          <a:p>
            <a:fld id="{CC452610-1F1A-48BB-81B3-3167D77B5272}" type="slidenum">
              <a:rPr lang="en-US" smtClean="0"/>
              <a:pPr/>
              <a:t>4</a:t>
            </a:fld>
            <a:endParaRPr lang="en-US" sz="800"/>
          </a:p>
        </p:txBody>
      </p:sp>
    </p:spTree>
    <p:extLst>
      <p:ext uri="{BB962C8B-B14F-4D97-AF65-F5344CB8AC3E}">
        <p14:creationId xmlns:p14="http://schemas.microsoft.com/office/powerpoint/2010/main" val="34179569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1800"/>
              </a:spcBef>
              <a:spcAft>
                <a:spcPts val="0"/>
              </a:spcAft>
              <a:buClrTx/>
              <a:buSzTx/>
              <a:buFontTx/>
              <a:buNone/>
              <a:tabLst/>
              <a:defRPr/>
            </a:pPr>
            <a:r>
              <a:rPr lang="en-US" dirty="0"/>
              <a:t>So population PK tells us that patients differ. The next question is: can we explain that difference with something we can measure in the clinic?</a:t>
            </a:r>
          </a:p>
          <a:p>
            <a:pPr marL="0" marR="0" lvl="0" indent="0" algn="l" defTabSz="914400" rtl="0" eaLnBrk="1" fontAlgn="auto" latinLnBrk="0" hangingPunct="1">
              <a:lnSpc>
                <a:spcPct val="100000"/>
              </a:lnSpc>
              <a:spcBef>
                <a:spcPts val="1800"/>
              </a:spcBef>
              <a:spcAft>
                <a:spcPts val="0"/>
              </a:spcAft>
              <a:buClrTx/>
              <a:buSzTx/>
              <a:buFontTx/>
              <a:buNone/>
              <a:tabLst/>
              <a:defRPr/>
            </a:pPr>
            <a:r>
              <a:rPr lang="en-US" dirty="0"/>
              <a:t>That is exactly what covariate selection does. </a:t>
            </a:r>
            <a:r>
              <a:rPr lang="en-US" b="1" dirty="0"/>
              <a:t>The right covariates turn patient characteristics into safer and more effective doses.</a:t>
            </a:r>
            <a:endParaRPr lang="en-US" sz="1200" b="0" i="0" kern="1200" dirty="0">
              <a:solidFill>
                <a:schemeClr val="tx1"/>
              </a:solidFill>
              <a:effectLst/>
              <a:latin typeface="+mj-lt"/>
              <a:ea typeface="+mn-ea"/>
              <a:cs typeface="+mn-cs"/>
            </a:endParaRPr>
          </a:p>
          <a:p>
            <a:pPr marL="0" marR="0" lvl="0" indent="0" algn="l" defTabSz="914400" rtl="0" eaLnBrk="1" fontAlgn="auto" latinLnBrk="0" hangingPunct="1">
              <a:lnSpc>
                <a:spcPct val="100000"/>
              </a:lnSpc>
              <a:spcBef>
                <a:spcPts val="1800"/>
              </a:spcBef>
              <a:spcAft>
                <a:spcPts val="0"/>
              </a:spcAft>
              <a:buClrTx/>
              <a:buSzTx/>
              <a:buFontTx/>
              <a:buNone/>
              <a:tabLst/>
              <a:defRPr/>
            </a:pPr>
            <a:endParaRPr lang="en-US" sz="1200" b="0" i="0" kern="1200" dirty="0">
              <a:solidFill>
                <a:schemeClr val="tx1"/>
              </a:solidFill>
              <a:effectLst/>
              <a:latin typeface="+mj-lt"/>
              <a:ea typeface="+mn-ea"/>
              <a:cs typeface="+mn-cs"/>
            </a:endParaRPr>
          </a:p>
          <a:p>
            <a:endParaRPr lang="en-US" sz="1200" b="0" i="0" kern="1200" dirty="0">
              <a:solidFill>
                <a:schemeClr val="tx1"/>
              </a:solidFill>
              <a:effectLst/>
              <a:latin typeface="+mj-lt"/>
              <a:ea typeface="+mn-ea"/>
              <a:cs typeface="+mn-cs"/>
            </a:endParaRPr>
          </a:p>
          <a:p>
            <a:pPr rtl="0"/>
            <a:r>
              <a:rPr lang="en-US" dirty="0"/>
              <a:t>The classic example is warfarin — a narrow therapeutic index anticoagulant. If the dose is too high, the patient risks bleeding. If the dose is too low, the patient risks clotting. Studies have shown that CYP2C9 genotype, age, weight, and comedication can guide dose selection for these patients.</a:t>
            </a:r>
          </a:p>
          <a:p>
            <a:pPr rtl="0"/>
            <a:r>
              <a:rPr lang="en-US" dirty="0"/>
              <a:t>More broadly, covariate analysis supports </a:t>
            </a:r>
            <a:r>
              <a:rPr lang="en-US" b="1" dirty="0"/>
              <a:t>dose optimization, clinical trial design, special-population labeling, and regulatory submissions.</a:t>
            </a:r>
          </a:p>
          <a:p>
            <a:pPr rtl="0"/>
            <a:endParaRPr lang="en-US" b="1" dirty="0"/>
          </a:p>
          <a:p>
            <a:pPr rtl="0"/>
            <a:endParaRPr lang="en-US" dirty="0"/>
          </a:p>
          <a:p>
            <a:pPr rtl="0"/>
            <a:r>
              <a:rPr lang="en-US" dirty="0"/>
              <a:t>So covariate model building is </a:t>
            </a:r>
            <a:r>
              <a:rPr lang="en-US" b="1" dirty="0"/>
              <a:t>not just a modeling exercise</a:t>
            </a:r>
            <a:r>
              <a:rPr lang="en-US" dirty="0"/>
              <a:t>. It feeds directly into drug development decisions. That is why the tool we use for it matters.</a:t>
            </a:r>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5</a:t>
            </a:fld>
            <a:endParaRPr lang="en-US" sz="800"/>
          </a:p>
        </p:txBody>
      </p:sp>
    </p:spTree>
    <p:extLst>
      <p:ext uri="{BB962C8B-B14F-4D97-AF65-F5344CB8AC3E}">
        <p14:creationId xmlns:p14="http://schemas.microsoft.com/office/powerpoint/2010/main" val="738789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people build covariate models today?</a:t>
            </a:r>
            <a:endParaRPr lang="en-US" sz="1200" b="0" i="0" kern="1200" dirty="0">
              <a:solidFill>
                <a:schemeClr val="tx1"/>
              </a:solidFill>
              <a:effectLst/>
              <a:latin typeface="+mj-lt"/>
              <a:ea typeface="+mn-ea"/>
              <a:cs typeface="+mn-cs"/>
            </a:endParaRPr>
          </a:p>
          <a:p>
            <a:pPr rtl="0"/>
            <a:r>
              <a:rPr lang="en-US" dirty="0"/>
              <a:t>There are many methods.</a:t>
            </a:r>
          </a:p>
          <a:p>
            <a:pPr rtl="0"/>
            <a:r>
              <a:rPr lang="en-US" dirty="0"/>
              <a:t>The traditional and most widely accepted approach is </a:t>
            </a:r>
            <a:r>
              <a:rPr lang="en-US" b="1" dirty="0"/>
              <a:t>stepwise covariate modeling — SCM</a:t>
            </a:r>
            <a:r>
              <a:rPr lang="en-US" dirty="0"/>
              <a:t>. It is usually run with </a:t>
            </a:r>
            <a:r>
              <a:rPr lang="en-US" dirty="0" err="1"/>
              <a:t>PsN</a:t>
            </a:r>
            <a:r>
              <a:rPr lang="en-US" dirty="0"/>
              <a:t> and NONMEM, and it has a </a:t>
            </a:r>
            <a:r>
              <a:rPr lang="en-US" b="1" dirty="0"/>
              <a:t>long track record in regulatory submissions.</a:t>
            </a:r>
            <a:r>
              <a:rPr lang="en-US" dirty="0"/>
              <a:t> That is our benchmark today.</a:t>
            </a:r>
          </a:p>
          <a:p>
            <a:pPr rtl="0"/>
            <a:endParaRPr lang="en-US" dirty="0"/>
          </a:p>
          <a:p>
            <a:pPr rtl="0"/>
            <a:r>
              <a:rPr lang="en-US" dirty="0"/>
              <a:t>COSSAC is another stepwise method, available in </a:t>
            </a:r>
            <a:r>
              <a:rPr lang="en-US" dirty="0" err="1"/>
              <a:t>Monolix</a:t>
            </a:r>
            <a:r>
              <a:rPr lang="en-US" dirty="0"/>
              <a:t>, another popular commercial software. There are also full-model approaches, such as FREM. </a:t>
            </a:r>
          </a:p>
          <a:p>
            <a:pPr rtl="0"/>
            <a:endParaRPr lang="en-US" dirty="0"/>
          </a:p>
          <a:p>
            <a:pPr rtl="0"/>
            <a:r>
              <a:rPr lang="en-US" dirty="0"/>
              <a:t>And more recently we see machine learning and deep learning methods — random forests, and </a:t>
            </a:r>
            <a:r>
              <a:rPr lang="en-US" b="1" dirty="0"/>
              <a:t>variational autoencoders, or VAE</a:t>
            </a:r>
            <a:r>
              <a:rPr lang="en-US" dirty="0"/>
              <a:t>.</a:t>
            </a:r>
          </a:p>
          <a:p>
            <a:pPr rtl="0"/>
            <a:endParaRPr lang="en-US" dirty="0"/>
          </a:p>
          <a:p>
            <a:pPr rtl="0"/>
            <a:r>
              <a:rPr lang="en-US" dirty="0"/>
              <a:t>Now, the </a:t>
            </a:r>
            <a:r>
              <a:rPr lang="en-US" b="1" dirty="0"/>
              <a:t>nlmixr2 ecosystem offers both ends of this spectrum</a:t>
            </a:r>
            <a:r>
              <a:rPr lang="en-US" dirty="0"/>
              <a:t>: the traditional SCM, and the cutting-edge VAE. Both are open source and free.</a:t>
            </a:r>
          </a:p>
          <a:p>
            <a:pPr rtl="0"/>
            <a:endParaRPr lang="en-US" dirty="0"/>
          </a:p>
          <a:p>
            <a:pPr rtl="0"/>
            <a:r>
              <a:rPr lang="en-US" b="1" dirty="0"/>
              <a:t>But neither has been rigorously tested against NONMEM.</a:t>
            </a:r>
            <a:r>
              <a:rPr lang="en-US" dirty="0"/>
              <a:t> That gap is the reason for this project.</a:t>
            </a:r>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6</a:t>
            </a:fld>
            <a:endParaRPr lang="en-US" sz="800"/>
          </a:p>
        </p:txBody>
      </p:sp>
    </p:spTree>
    <p:extLst>
      <p:ext uri="{BB962C8B-B14F-4D97-AF65-F5344CB8AC3E}">
        <p14:creationId xmlns:p14="http://schemas.microsoft.com/office/powerpoint/2010/main" val="2483683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state the objective, let me make sure the two methods we are benchmarking are clear, because their difference explains almost every result later.</a:t>
            </a:r>
            <a:endParaRPr lang="en-US" sz="1200" b="0" i="0" kern="1200" dirty="0">
              <a:solidFill>
                <a:schemeClr val="tx1"/>
              </a:solidFill>
              <a:effectLst/>
              <a:latin typeface="+mj-lt"/>
              <a:ea typeface="+mn-ea"/>
              <a:cs typeface="+mn-cs"/>
            </a:endParaRPr>
          </a:p>
          <a:p>
            <a:endParaRPr lang="en-US" sz="1200" b="0" i="0" kern="1200" dirty="0">
              <a:solidFill>
                <a:schemeClr val="tx1"/>
              </a:solidFill>
              <a:effectLst/>
              <a:latin typeface="+mj-lt"/>
              <a:ea typeface="+mn-ea"/>
              <a:cs typeface="+mn-cs"/>
            </a:endParaRPr>
          </a:p>
          <a:p>
            <a:r>
              <a:rPr lang="en-US" dirty="0"/>
              <a:t>The key message on this slide is the contrast.</a:t>
            </a:r>
          </a:p>
          <a:p>
            <a:r>
              <a:rPr lang="en-US" b="1" dirty="0"/>
              <a:t>SCM builds the model one covariate at a time.</a:t>
            </a:r>
            <a:r>
              <a:rPr lang="en-US" dirty="0"/>
              <a:t> In forward inclusion, it starts from a base model with no covariates, tests every candidate, and adds the most significant one — here, using a likelihood ratio test with p below 0.05. Then it repeats. In backward elimination, it removes covariates one at a time, keeping only those that survive a stricter criterion, p below 0.01.</a:t>
            </a:r>
          </a:p>
          <a:p>
            <a:pPr rtl="0"/>
            <a:r>
              <a:rPr lang="en-US" dirty="0"/>
              <a:t>This is intuitive and accepted — but it requires </a:t>
            </a:r>
            <a:r>
              <a:rPr lang="en-US" b="1" dirty="0"/>
              <a:t>many, many model fits</a:t>
            </a:r>
            <a:r>
              <a:rPr lang="en-US" dirty="0"/>
              <a:t>.</a:t>
            </a:r>
          </a:p>
          <a:p>
            <a:pPr rtl="0"/>
            <a:endParaRPr lang="en-US" dirty="0"/>
          </a:p>
          <a:p>
            <a:pPr rtl="0"/>
            <a:r>
              <a:rPr lang="en-US" b="1" dirty="0"/>
              <a:t>The VAE does something fundamentally different. It estimates the population parameters and the covariate effects in a single run.</a:t>
            </a:r>
            <a:r>
              <a:rPr lang="en-US" dirty="0"/>
              <a:t> One fit, not hundreds. So we expect it to be far more efficient than SCM.</a:t>
            </a:r>
            <a:endParaRPr lang="en-US" sz="1200" b="0" i="0" kern="1200" dirty="0">
              <a:solidFill>
                <a:schemeClr val="tx1"/>
              </a:solidFill>
              <a:effectLst/>
              <a:latin typeface="+mj-lt"/>
              <a:ea typeface="+mn-ea"/>
              <a:cs typeface="+mn-cs"/>
            </a:endParaRPr>
          </a:p>
          <a:p>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7</a:t>
            </a:fld>
            <a:endParaRPr lang="en-US" sz="800"/>
          </a:p>
        </p:txBody>
      </p:sp>
    </p:spTree>
    <p:extLst>
      <p:ext uri="{BB962C8B-B14F-4D97-AF65-F5344CB8AC3E}">
        <p14:creationId xmlns:p14="http://schemas.microsoft.com/office/powerpoint/2010/main" val="721467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The objective of this project was to </a:t>
            </a:r>
            <a:r>
              <a:rPr lang="en-US" b="1" dirty="0"/>
              <a:t>evaluate the operating characteristics of the traditional method, SCM, and the novel method, the VAE, inside the open-source nlmixr2 ecosystem — benchmarked against the </a:t>
            </a:r>
            <a:r>
              <a:rPr lang="en-US" b="1" dirty="0" err="1"/>
              <a:t>PsN</a:t>
            </a:r>
            <a:r>
              <a:rPr lang="en-US" b="1" dirty="0"/>
              <a:t>-NONMEM SCM standard.</a:t>
            </a:r>
            <a:endParaRPr lang="en-US" dirty="0"/>
          </a:p>
          <a:p>
            <a:pPr rtl="0"/>
            <a:r>
              <a:rPr lang="en-US" dirty="0"/>
              <a:t>So, three workflows throughout this talk: </a:t>
            </a:r>
            <a:r>
              <a:rPr lang="en-US" b="1" dirty="0"/>
              <a:t>nlmixr2-SCM, nlmixr2-VAE, and </a:t>
            </a:r>
            <a:r>
              <a:rPr lang="en-US" b="1" dirty="0" err="1"/>
              <a:t>PsN</a:t>
            </a:r>
            <a:r>
              <a:rPr lang="en-US" b="1" dirty="0"/>
              <a:t>-NONMEM-SCM as the reference.</a:t>
            </a:r>
            <a:r>
              <a:rPr lang="en-US" dirty="0"/>
              <a:t> And four questions about each: is it </a:t>
            </a:r>
            <a:r>
              <a:rPr lang="en-US" b="1" dirty="0"/>
              <a:t>reliable</a:t>
            </a:r>
            <a:r>
              <a:rPr lang="en-US" dirty="0"/>
              <a:t>, does it </a:t>
            </a:r>
            <a:r>
              <a:rPr lang="en-US" b="1" dirty="0"/>
              <a:t>find the true model</a:t>
            </a:r>
            <a:r>
              <a:rPr lang="en-US" dirty="0"/>
              <a:t>, are the </a:t>
            </a:r>
            <a:r>
              <a:rPr lang="en-US" b="1" dirty="0"/>
              <a:t>estimates accurate</a:t>
            </a:r>
            <a:r>
              <a:rPr lang="en-US" dirty="0"/>
              <a:t>, and </a:t>
            </a:r>
            <a:r>
              <a:rPr lang="en-US" b="1" dirty="0"/>
              <a:t>how fast</a:t>
            </a:r>
            <a:r>
              <a:rPr lang="en-US" dirty="0"/>
              <a:t> is it.</a:t>
            </a:r>
          </a:p>
          <a:p>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8</a:t>
            </a:fld>
            <a:endParaRPr lang="en-US" sz="800"/>
          </a:p>
        </p:txBody>
      </p:sp>
    </p:spTree>
    <p:extLst>
      <p:ext uri="{BB962C8B-B14F-4D97-AF65-F5344CB8AC3E}">
        <p14:creationId xmlns:p14="http://schemas.microsoft.com/office/powerpoint/2010/main" val="2704381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methods. I will cover how I simulated the virtual populations, how the covariate models were built, and how performance was evaluated.</a:t>
            </a:r>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9</a:t>
            </a:fld>
            <a:endParaRPr lang="en-US" sz="800"/>
          </a:p>
        </p:txBody>
      </p:sp>
    </p:spTree>
    <p:extLst>
      <p:ext uri="{BB962C8B-B14F-4D97-AF65-F5344CB8AC3E}">
        <p14:creationId xmlns:p14="http://schemas.microsoft.com/office/powerpoint/2010/main" val="891057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j-lt"/>
                <a:ea typeface="+mn-ea"/>
                <a:cs typeface="+mn-cs"/>
              </a:rPr>
              <a:t>Here is the overall study design, which has three main steps.</a:t>
            </a:r>
          </a:p>
          <a:p>
            <a:r>
              <a:rPr lang="en-US" sz="1200" b="0" i="0" kern="1200" dirty="0">
                <a:solidFill>
                  <a:schemeClr val="tx1"/>
                </a:solidFill>
                <a:effectLst/>
                <a:latin typeface="+mj-lt"/>
                <a:ea typeface="+mn-ea"/>
                <a:cs typeface="+mn-cs"/>
              </a:rPr>
              <a:t>First, we simulated virtual patient populations using NHAENS national survey and a true linear PK model. </a:t>
            </a:r>
          </a:p>
          <a:p>
            <a:r>
              <a:rPr lang="en-US" sz="1200" b="0" i="0" kern="1200" dirty="0">
                <a:solidFill>
                  <a:schemeClr val="tx1"/>
                </a:solidFill>
                <a:effectLst/>
                <a:latin typeface="+mj-lt"/>
                <a:ea typeface="+mn-ea"/>
                <a:cs typeface="+mn-cs"/>
              </a:rPr>
              <a:t>Second, we built covariate models using the same simulated datasets as input to all three covariate-building workflows: nlmixr2 SCM, </a:t>
            </a:r>
            <a:r>
              <a:rPr lang="en-US" sz="1200" b="0" i="0" kern="1200" dirty="0" err="1">
                <a:solidFill>
                  <a:schemeClr val="tx1"/>
                </a:solidFill>
                <a:effectLst/>
                <a:latin typeface="+mj-lt"/>
                <a:ea typeface="+mn-ea"/>
                <a:cs typeface="+mn-cs"/>
              </a:rPr>
              <a:t>PsN</a:t>
            </a:r>
            <a:r>
              <a:rPr lang="en-US" sz="1200" b="0" i="0" kern="1200" dirty="0">
                <a:solidFill>
                  <a:schemeClr val="tx1"/>
                </a:solidFill>
                <a:effectLst/>
                <a:latin typeface="+mj-lt"/>
                <a:ea typeface="+mn-ea"/>
                <a:cs typeface="+mn-cs"/>
              </a:rPr>
              <a:t>-NONMEM SCM, and nlmixr2 VAE.</a:t>
            </a:r>
          </a:p>
          <a:p>
            <a:r>
              <a:rPr lang="en-US" sz="1200" b="0" i="0" kern="1200" dirty="0">
                <a:solidFill>
                  <a:schemeClr val="tx1"/>
                </a:solidFill>
                <a:effectLst/>
                <a:latin typeface="+mj-lt"/>
                <a:ea typeface="+mn-ea"/>
                <a:cs typeface="+mn-cs"/>
              </a:rPr>
              <a:t>Third, we compared the selected models against the known true model, and evaluate several operating characteristics, including reliability, power, estimation accuracy, and efficiency.</a:t>
            </a:r>
          </a:p>
          <a:p>
            <a:r>
              <a:rPr lang="en-US" sz="1200" b="0" i="0" kern="1200" dirty="0">
                <a:solidFill>
                  <a:schemeClr val="tx1"/>
                </a:solidFill>
                <a:effectLst/>
                <a:latin typeface="+mj-lt"/>
                <a:ea typeface="+mn-ea"/>
                <a:cs typeface="+mn-cs"/>
              </a:rPr>
              <a:t>Because all methods used the same datasets, the statistical comparison was paired, which improves fairness and statistical power.</a:t>
            </a:r>
          </a:p>
          <a:p>
            <a:br>
              <a:rPr lang="en-US" dirty="0"/>
            </a:br>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10</a:t>
            </a:fld>
            <a:endParaRPr lang="en-US" sz="800"/>
          </a:p>
        </p:txBody>
      </p:sp>
    </p:spTree>
    <p:extLst>
      <p:ext uri="{BB962C8B-B14F-4D97-AF65-F5344CB8AC3E}">
        <p14:creationId xmlns:p14="http://schemas.microsoft.com/office/powerpoint/2010/main" val="3962922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64A73-5646-0E4E-6CAD-4A475369F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AFB492-F9B4-4511-8E7F-39F986FF83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26F30D-A8FA-3E1B-B6F9-BEEE322BB87C}"/>
              </a:ext>
            </a:extLst>
          </p:cNvPr>
          <p:cNvSpPr>
            <a:spLocks noGrp="1"/>
          </p:cNvSpPr>
          <p:nvPr>
            <p:ph type="body" idx="1"/>
          </p:nvPr>
        </p:nvSpPr>
        <p:spPr/>
        <p:txBody>
          <a:bodyPr/>
          <a:lstStyle/>
          <a:p>
            <a:r>
              <a:rPr lang="en-US" dirty="0"/>
              <a:t>Let me unpack each step, starting with the simulation.</a:t>
            </a:r>
          </a:p>
          <a:p>
            <a:endParaRPr lang="en-US" sz="1200" b="0" i="0" kern="1200" dirty="0">
              <a:solidFill>
                <a:schemeClr val="tx1"/>
              </a:solidFill>
              <a:effectLst/>
              <a:latin typeface="+mj-lt"/>
              <a:ea typeface="+mn-ea"/>
              <a:cs typeface="+mn-cs"/>
            </a:endParaRPr>
          </a:p>
          <a:p>
            <a:r>
              <a:rPr lang="en-US" sz="1200" b="0" i="0" kern="1200" dirty="0">
                <a:solidFill>
                  <a:schemeClr val="tx1"/>
                </a:solidFill>
                <a:effectLst/>
                <a:latin typeface="+mj-lt"/>
                <a:ea typeface="+mn-ea"/>
                <a:cs typeface="+mn-cs"/>
              </a:rPr>
              <a:t>From the NHANES, national survey, We used stratified bootstrapping by sex and race to preserve realistic covariate distributions and correlations.</a:t>
            </a:r>
          </a:p>
          <a:p>
            <a:r>
              <a:rPr lang="en-US" dirty="0"/>
              <a:t>We simulated three sample sizes and checked the difference in covariate correlations between NHANES and the simulated datasets was </a:t>
            </a:r>
            <a:r>
              <a:rPr lang="en-US" b="1" dirty="0"/>
              <a:t>below 0.05</a:t>
            </a:r>
            <a:r>
              <a:rPr lang="en-US" dirty="0"/>
              <a:t>. So the realistic correlation structure is preserved.</a:t>
            </a:r>
          </a:p>
          <a:p>
            <a:endParaRPr lang="en-US" dirty="0"/>
          </a:p>
          <a:p>
            <a:r>
              <a:rPr lang="en-US" dirty="0"/>
              <a:t>That gives us virtual patients with </a:t>
            </a:r>
            <a:r>
              <a:rPr lang="en-US" b="1" dirty="0"/>
              <a:t>body weight, BMI, creatinine clearance sex and race.</a:t>
            </a:r>
          </a:p>
          <a:p>
            <a:endParaRPr lang="en-US" sz="1200" b="0" i="0" kern="1200" dirty="0">
              <a:solidFill>
                <a:schemeClr val="tx1"/>
              </a:solidFill>
              <a:effectLst/>
              <a:latin typeface="+mj-lt"/>
              <a:ea typeface="+mn-ea"/>
              <a:cs typeface="+mn-cs"/>
            </a:endParaRPr>
          </a:p>
          <a:p>
            <a:r>
              <a:rPr lang="en-US" sz="1200" b="0" i="0" kern="1200" dirty="0">
                <a:solidFill>
                  <a:schemeClr val="tx1"/>
                </a:solidFill>
                <a:effectLst/>
                <a:latin typeface="+mj-lt"/>
                <a:ea typeface="+mn-ea"/>
                <a:cs typeface="+mn-cs"/>
              </a:rPr>
              <a:t>Now that we have the covariate values, </a:t>
            </a:r>
          </a:p>
          <a:p>
            <a:r>
              <a:rPr lang="en-US" sz="1200" b="0" i="0" kern="1200" dirty="0">
                <a:solidFill>
                  <a:schemeClr val="tx1"/>
                </a:solidFill>
                <a:effectLst/>
                <a:latin typeface="+mj-lt"/>
                <a:ea typeface="+mn-ea"/>
                <a:cs typeface="+mn-cs"/>
              </a:rPr>
              <a:t>we could further simulate concentrations from the full PK model with known covariate effects, which is a two-compartment linear PK model with first-order absorption. </a:t>
            </a:r>
          </a:p>
          <a:p>
            <a:r>
              <a:rPr lang="en-US" sz="1200" b="0" i="0" kern="1200" dirty="0">
                <a:solidFill>
                  <a:schemeClr val="tx1"/>
                </a:solidFill>
                <a:effectLst/>
                <a:latin typeface="+mj-lt"/>
                <a:ea typeface="+mn-ea"/>
                <a:cs typeface="+mn-cs"/>
              </a:rPr>
              <a:t>Use the same example in the background, this step give us the green dots, the PK observations</a:t>
            </a:r>
          </a:p>
          <a:p>
            <a:endParaRPr lang="en-US" sz="1200" b="0" i="0" kern="1200" dirty="0">
              <a:solidFill>
                <a:schemeClr val="tx1"/>
              </a:solidFill>
              <a:effectLst/>
              <a:latin typeface="+mj-lt"/>
              <a:ea typeface="+mn-ea"/>
              <a:cs typeface="+mn-cs"/>
            </a:endParaRPr>
          </a:p>
        </p:txBody>
      </p:sp>
      <p:sp>
        <p:nvSpPr>
          <p:cNvPr id="4" name="Footer Placeholder 3">
            <a:extLst>
              <a:ext uri="{FF2B5EF4-FFF2-40B4-BE49-F238E27FC236}">
                <a16:creationId xmlns:a16="http://schemas.microsoft.com/office/drawing/2014/main" id="{7AED1DD7-9CAA-2F86-DFD6-AF9ACD4A3B47}"/>
              </a:ext>
            </a:extLst>
          </p:cNvPr>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a:extLst>
              <a:ext uri="{FF2B5EF4-FFF2-40B4-BE49-F238E27FC236}">
                <a16:creationId xmlns:a16="http://schemas.microsoft.com/office/drawing/2014/main" id="{06B00D9C-0CFC-C8E7-EDEA-F2DB8AB8AB2B}"/>
              </a:ext>
            </a:extLst>
          </p:cNvPr>
          <p:cNvSpPr>
            <a:spLocks noGrp="1"/>
          </p:cNvSpPr>
          <p:nvPr>
            <p:ph type="sldNum" sz="quarter" idx="5"/>
          </p:nvPr>
        </p:nvSpPr>
        <p:spPr/>
        <p:txBody>
          <a:bodyPr/>
          <a:lstStyle/>
          <a:p>
            <a:fld id="{CC452610-1F1A-48BB-81B3-3167D77B5272}" type="slidenum">
              <a:rPr lang="en-US" smtClean="0"/>
              <a:pPr/>
              <a:t>11</a:t>
            </a:fld>
            <a:endParaRPr lang="en-US" sz="800"/>
          </a:p>
        </p:txBody>
      </p:sp>
    </p:spTree>
    <p:extLst>
      <p:ext uri="{BB962C8B-B14F-4D97-AF65-F5344CB8AC3E}">
        <p14:creationId xmlns:p14="http://schemas.microsoft.com/office/powerpoint/2010/main" val="3417019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We designed </a:t>
            </a:r>
            <a:r>
              <a:rPr lang="en-US" b="1" dirty="0"/>
              <a:t>sixteen scenarios, from easy to complex.</a:t>
            </a:r>
            <a:br>
              <a:rPr lang="en-US" b="1" dirty="0"/>
            </a:br>
            <a:r>
              <a:rPr lang="en-US" dirty="0"/>
              <a:t>The candidate space has </a:t>
            </a:r>
            <a:r>
              <a:rPr lang="en-US" b="1" dirty="0"/>
              <a:t>three continuous covariates</a:t>
            </a:r>
            <a:r>
              <a:rPr lang="en-US" dirty="0"/>
              <a:t> — weight, BMI, and creatinine clearance.</a:t>
            </a:r>
          </a:p>
          <a:p>
            <a:pPr rtl="0"/>
            <a:r>
              <a:rPr lang="en-US" dirty="0"/>
              <a:t>For each of them, the relationship with the PK parameter can be </a:t>
            </a:r>
            <a:r>
              <a:rPr lang="en-US" b="1" dirty="0"/>
              <a:t>power or linear on the log scale </a:t>
            </a:r>
            <a:r>
              <a:rPr lang="en-US" dirty="0"/>
              <a:t>And we have </a:t>
            </a:r>
            <a:r>
              <a:rPr lang="en-US" b="1" dirty="0"/>
              <a:t>two categorical covariates</a:t>
            </a:r>
            <a:r>
              <a:rPr lang="en-US" dirty="0"/>
              <a:t>, sex and race. Any of these can act on </a:t>
            </a:r>
            <a:r>
              <a:rPr lang="en-US" b="1" dirty="0"/>
              <a:t>clearance or on volume of distribution.</a:t>
            </a:r>
            <a:endParaRPr lang="en-US" dirty="0"/>
          </a:p>
          <a:p>
            <a:endParaRPr lang="en-US" dirty="0"/>
          </a:p>
          <a:p>
            <a:pPr rtl="0"/>
            <a:r>
              <a:rPr lang="en-US" dirty="0"/>
              <a:t>Scenario 1 is the easiest: </a:t>
            </a:r>
            <a:r>
              <a:rPr lang="en-US" b="1" dirty="0"/>
              <a:t>no covariate effect at all</a:t>
            </a:r>
            <a:r>
              <a:rPr lang="en-US" dirty="0"/>
              <a:t>, just the base model. Scenario 16 is the most complex: </a:t>
            </a:r>
            <a:r>
              <a:rPr lang="en-US" b="1" dirty="0"/>
              <a:t>weight and sex on volume, plus creatinine clearance on clearance.</a:t>
            </a:r>
            <a:r>
              <a:rPr lang="en-US" dirty="0"/>
              <a:t> Scenarios 2 through 15 fill the space in between.</a:t>
            </a:r>
          </a:p>
          <a:p>
            <a:pPr rtl="0"/>
            <a:endParaRPr lang="en-US" dirty="0"/>
          </a:p>
          <a:p>
            <a:pPr rtl="0"/>
            <a:r>
              <a:rPr lang="en-US" dirty="0"/>
              <a:t>Two features of this design are deliberate, and they will come back in the results: </a:t>
            </a:r>
            <a:r>
              <a:rPr lang="en-US" b="1" dirty="0"/>
              <a:t>competing shapes</a:t>
            </a:r>
            <a:r>
              <a:rPr lang="en-US" dirty="0"/>
              <a:t> — the same covariate can enter as linear or as power — and </a:t>
            </a:r>
            <a:r>
              <a:rPr lang="en-US" b="1" dirty="0"/>
              <a:t>collinearity</a:t>
            </a:r>
            <a:r>
              <a:rPr lang="en-US" dirty="0"/>
              <a:t> — weight and BMI are strongly correlated. Both are traps, on purpose.</a:t>
            </a:r>
          </a:p>
          <a:p>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12</a:t>
            </a:fld>
            <a:endParaRPr lang="en-US" sz="800"/>
          </a:p>
        </p:txBody>
      </p:sp>
    </p:spTree>
    <p:extLst>
      <p:ext uri="{BB962C8B-B14F-4D97-AF65-F5344CB8AC3E}">
        <p14:creationId xmlns:p14="http://schemas.microsoft.com/office/powerpoint/2010/main" val="664383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t" latinLnBrk="0" hangingPunct="1"/>
            <a:r>
              <a:rPr lang="en-US" b="0" dirty="0"/>
              <a:t>For a fair comparison, the configurations other than the tool differences should be </a:t>
            </a:r>
            <a:r>
              <a:rPr lang="en-US" b="1" dirty="0"/>
              <a:t>held identical across workflows.</a:t>
            </a:r>
          </a:p>
          <a:p>
            <a:pPr rtl="0" eaLnBrk="1" fontAlgn="t" latinLnBrk="0" hangingPunct="1"/>
            <a:endParaRPr lang="en-US" b="1" dirty="0"/>
          </a:p>
          <a:p>
            <a:pPr rtl="0"/>
            <a:r>
              <a:rPr lang="en-US" dirty="0"/>
              <a:t>Each workflow is run with </a:t>
            </a:r>
            <a:r>
              <a:rPr lang="en-US" b="1" dirty="0"/>
              <a:t>both parameterizations</a:t>
            </a:r>
            <a:r>
              <a:rPr lang="en-US" dirty="0"/>
              <a:t> — the analytic solution and the ODE form. For both SCM workflows the estimator is </a:t>
            </a:r>
            <a:r>
              <a:rPr lang="en-US" b="1" dirty="0"/>
              <a:t>FOCEI</a:t>
            </a:r>
            <a:r>
              <a:rPr lang="en-US" dirty="0"/>
              <a:t>; for the VAE it is the VAE algorithm. The </a:t>
            </a:r>
            <a:r>
              <a:rPr lang="en-US" b="1" dirty="0"/>
              <a:t>convergence settings are identical</a:t>
            </a:r>
            <a:r>
              <a:rPr lang="en-US" dirty="0"/>
              <a:t> — four significant digits, the same solver tolerances. The likelihood ratio test criteria are the same: </a:t>
            </a:r>
            <a:r>
              <a:rPr lang="en-US" b="1" dirty="0"/>
              <a:t>forward p below 0.05, backward p below 0.01.</a:t>
            </a:r>
            <a:endParaRPr lang="en-US" dirty="0"/>
          </a:p>
          <a:p>
            <a:pPr rtl="0"/>
            <a:r>
              <a:rPr lang="en-US" dirty="0"/>
              <a:t>There is one asymmetry, and I want to be transparent about it. We added a </a:t>
            </a:r>
            <a:r>
              <a:rPr lang="en-US" b="1" dirty="0"/>
              <a:t>warm start</a:t>
            </a:r>
            <a:r>
              <a:rPr lang="en-US" dirty="0"/>
              <a:t> to the nlmixr2 search to improve selection performance. NONMEM has no equivalent setting — but NONMEM has its own internal machinery</a:t>
            </a:r>
          </a:p>
          <a:p>
            <a:pPr rtl="0" eaLnBrk="1" fontAlgn="t" latinLnBrk="0" hangingPunct="1"/>
            <a:r>
              <a:rPr lang="en-US" dirty="0"/>
              <a:t>Finally, </a:t>
            </a:r>
            <a:r>
              <a:rPr lang="en-US" b="1" dirty="0"/>
              <a:t>every task ran on the same HPC cluster with four CPU cores</a:t>
            </a:r>
            <a:r>
              <a:rPr lang="en-US" dirty="0"/>
              <a:t>, so the runtime comparison is apples to apples.</a:t>
            </a:r>
          </a:p>
          <a:p>
            <a:pPr rtl="0" eaLnBrk="1" fontAlgn="t" latinLnBrk="0" hangingPunct="1"/>
            <a:endParaRPr lang="en-US" dirty="0"/>
          </a:p>
          <a:p>
            <a:pPr rtl="0" eaLnBrk="1" fontAlgn="t" latinLnBrk="0" hangingPunct="1"/>
            <a:endParaRPr lang="en-US" dirty="0"/>
          </a:p>
          <a:p>
            <a:pPr rtl="0" eaLnBrk="1" fontAlgn="t" latinLnBrk="0" hangingPunct="1"/>
            <a:endParaRPr lang="en-US" dirty="0"/>
          </a:p>
          <a:p>
            <a:pPr rtl="0" eaLnBrk="1" fontAlgn="t" latinLnBrk="0" hangingPunct="1"/>
            <a:endParaRPr lang="en-US" dirty="0"/>
          </a:p>
          <a:p>
            <a:pPr rtl="0" eaLnBrk="1" fontAlgn="t" latinLnBrk="0" hangingPunct="1"/>
            <a:r>
              <a:rPr lang="en-US" dirty="0"/>
              <a:t>Now, let’s look at the settings for covariate selection in the three workflows.  The principle here is keep the shared settings that may affect covariate selection performance the same for fair comparison. </a:t>
            </a:r>
          </a:p>
          <a:p>
            <a:pPr rtl="0" eaLnBrk="1" fontAlgn="t" latinLnBrk="0" hangingPunct="1"/>
            <a:endParaRPr lang="en-US" dirty="0"/>
          </a:p>
          <a:p>
            <a:pPr rtl="0" eaLnBrk="1" fontAlgn="t" latinLnBrk="0" hangingPunct="1"/>
            <a:r>
              <a:rPr lang="en-US" dirty="0" err="1"/>
              <a:t>sigdig</a:t>
            </a:r>
            <a:r>
              <a:rPr lang="en-US" dirty="0"/>
              <a:t> is the convergence target, </a:t>
            </a:r>
            <a:r>
              <a:rPr lang="en-US" dirty="0" err="1"/>
              <a:t>atol</a:t>
            </a:r>
            <a:r>
              <a:rPr lang="en-US" dirty="0"/>
              <a:t>/</a:t>
            </a:r>
            <a:r>
              <a:rPr lang="en-US" dirty="0" err="1"/>
              <a:t>rtol</a:t>
            </a:r>
            <a:r>
              <a:rPr lang="en-US" dirty="0"/>
              <a:t> are ODE-solver accuracy </a:t>
            </a:r>
            <a:br>
              <a:rPr lang="en-US" dirty="0"/>
            </a:br>
            <a:r>
              <a:rPr lang="en-US" dirty="0" err="1"/>
              <a:t>sigdig</a:t>
            </a:r>
            <a:r>
              <a:rPr lang="en-US" dirty="0"/>
              <a:t> = 4 drives the </a:t>
            </a:r>
            <a:r>
              <a:rPr lang="en-US" dirty="0" err="1"/>
              <a:t>FOCEi</a:t>
            </a:r>
            <a:r>
              <a:rPr lang="en-US" dirty="0"/>
              <a:t> outer optimizer's stopping/convergence criterion (internally translated into OFV/parameter tolerances — "stop when stable to ~4 significant figures"). </a:t>
            </a:r>
            <a:br>
              <a:rPr lang="en-US" dirty="0"/>
            </a:br>
            <a:r>
              <a:rPr lang="en-US" dirty="0"/>
              <a:t>This is the one directly tied to "convergence."</a:t>
            </a:r>
            <a:r>
              <a:rPr lang="en-US" dirty="0" err="1"/>
              <a:t>atol</a:t>
            </a:r>
            <a:r>
              <a:rPr lang="en-US" dirty="0"/>
              <a:t> = 1e-8, </a:t>
            </a:r>
            <a:r>
              <a:rPr lang="en-US" dirty="0" err="1"/>
              <a:t>rtol</a:t>
            </a:r>
            <a:r>
              <a:rPr lang="en-US" dirty="0"/>
              <a:t> = 1e-6 are the rxode2 ODE integration tolerances — how accurately the concentration-time curve is solved per evaluation. They affect convergence only indirectly (via objective noise).</a:t>
            </a:r>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13</a:t>
            </a:fld>
            <a:endParaRPr lang="en-US" sz="800"/>
          </a:p>
        </p:txBody>
      </p:sp>
    </p:spTree>
    <p:extLst>
      <p:ext uri="{BB962C8B-B14F-4D97-AF65-F5344CB8AC3E}">
        <p14:creationId xmlns:p14="http://schemas.microsoft.com/office/powerpoint/2010/main" val="25575490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same data, same truth, same settings. Now, how do we score them?</a:t>
            </a:r>
          </a:p>
          <a:p>
            <a:pPr rtl="0"/>
            <a:r>
              <a:rPr lang="en-US" dirty="0"/>
              <a:t>Four operating characteristics</a:t>
            </a:r>
          </a:p>
          <a:p>
            <a:pPr rtl="0"/>
            <a:r>
              <a:rPr lang="en-US" b="1" dirty="0"/>
              <a:t>The first is model reliability</a:t>
            </a:r>
            <a:r>
              <a:rPr lang="en-US" dirty="0"/>
              <a:t> — can the software actually fit the model? We look at the convergence rate, and at the </a:t>
            </a:r>
            <a:r>
              <a:rPr lang="en-US" b="1" dirty="0"/>
              <a:t>condition number below 1000</a:t>
            </a:r>
            <a:r>
              <a:rPr lang="en-US" dirty="0"/>
              <a:t>, which is the empirical threshold for numerically stable estimation.</a:t>
            </a:r>
          </a:p>
          <a:p>
            <a:endParaRPr lang="en-US" sz="1200" b="0" i="0" kern="1200" dirty="0">
              <a:solidFill>
                <a:schemeClr val="tx1"/>
              </a:solidFill>
              <a:effectLst/>
              <a:latin typeface="+mj-lt"/>
              <a:ea typeface="+mn-ea"/>
              <a:cs typeface="+mn-cs"/>
            </a:endParaRPr>
          </a:p>
          <a:p>
            <a:r>
              <a:rPr lang="en-US" b="1" dirty="0"/>
              <a:t>The second is power</a:t>
            </a:r>
            <a:r>
              <a:rPr lang="en-US" dirty="0"/>
              <a:t> — the proportion of replicate datasets where the selected model </a:t>
            </a:r>
            <a:r>
              <a:rPr lang="en-US" b="1" dirty="0"/>
              <a:t>exactly matches the true model. </a:t>
            </a:r>
            <a:r>
              <a:rPr lang="en-US" dirty="0"/>
              <a:t>We report it two ways: unconditionally, and conditional on stable runs only.</a:t>
            </a:r>
          </a:p>
          <a:p>
            <a:endParaRPr lang="en-US" sz="1200" b="0" i="0" kern="1200" dirty="0">
              <a:solidFill>
                <a:schemeClr val="tx1"/>
              </a:solidFill>
              <a:effectLst/>
              <a:latin typeface="+mj-lt"/>
              <a:ea typeface="+mn-ea"/>
              <a:cs typeface="+mn-cs"/>
            </a:endParaRPr>
          </a:p>
          <a:p>
            <a:r>
              <a:rPr lang="en-US" dirty="0"/>
              <a:t>Regarding statistics tests, the primary analysis is a </a:t>
            </a:r>
            <a:r>
              <a:rPr lang="en-US" b="1" dirty="0"/>
              <a:t>paired mixed-effects model</a:t>
            </a:r>
            <a:r>
              <a:rPr lang="en-US" dirty="0"/>
              <a:t>, </a:t>
            </a:r>
          </a:p>
          <a:p>
            <a:endParaRPr lang="en-US" dirty="0"/>
          </a:p>
          <a:p>
            <a:r>
              <a:rPr lang="en-US" dirty="0"/>
              <a:t>where y is binary endpoint for each dataset replicate and </a:t>
            </a:r>
          </a:p>
          <a:p>
            <a:r>
              <a:rPr lang="en-US" dirty="0"/>
              <a:t>the method is a two-level factor — </a:t>
            </a:r>
            <a:r>
              <a:rPr lang="en-US" b="1" dirty="0"/>
              <a:t>NONMEM as the reference</a:t>
            </a:r>
            <a:r>
              <a:rPr lang="en-US" dirty="0"/>
              <a:t>, and either nlmixr2-SCM or the VAE as the test. </a:t>
            </a:r>
          </a:p>
          <a:p>
            <a:endParaRPr lang="en-US" dirty="0"/>
          </a:p>
          <a:p>
            <a:r>
              <a:rPr lang="en-US" dirty="0"/>
              <a:t>Because scenarios and datasets differ in difficulty, they enter as </a:t>
            </a:r>
            <a:r>
              <a:rPr lang="en-US" b="1" dirty="0"/>
              <a:t>random intercepts</a:t>
            </a:r>
            <a:r>
              <a:rPr lang="en-US" dirty="0"/>
              <a:t>. </a:t>
            </a:r>
          </a:p>
          <a:p>
            <a:endParaRPr lang="en-US" dirty="0"/>
          </a:p>
          <a:p>
            <a:r>
              <a:rPr lang="en-US" dirty="0"/>
              <a:t>The exponentiated coefficient is then the </a:t>
            </a:r>
            <a:r>
              <a:rPr lang="en-US" b="1" dirty="0"/>
              <a:t>odds ratio of the test method versus NONMEM.</a:t>
            </a:r>
            <a:endParaRPr lang="en-US" sz="1200" b="0" i="0" kern="1200" dirty="0">
              <a:solidFill>
                <a:schemeClr val="tx1"/>
              </a:solidFill>
              <a:effectLst/>
              <a:latin typeface="+mj-lt"/>
              <a:ea typeface="+mn-ea"/>
              <a:cs typeface="+mn-cs"/>
            </a:endParaRPr>
          </a:p>
          <a:p>
            <a:endParaRPr lang="en-US" sz="1200" b="0" i="0" kern="1200" dirty="0">
              <a:solidFill>
                <a:schemeClr val="tx1"/>
              </a:solidFill>
              <a:effectLst/>
              <a:latin typeface="+mj-lt"/>
              <a:ea typeface="+mn-ea"/>
              <a:cs typeface="+mn-cs"/>
            </a:endParaRPr>
          </a:p>
          <a:p>
            <a:r>
              <a:rPr lang="en-US" sz="1200" b="0" i="0" kern="1200" dirty="0">
                <a:solidFill>
                  <a:schemeClr val="tx1"/>
                </a:solidFill>
                <a:effectLst/>
                <a:latin typeface="+mj-lt"/>
                <a:ea typeface="+mn-ea"/>
                <a:cs typeface="+mn-cs"/>
              </a:rPr>
              <a:t>When the data had ceiling effects or perfect separation, such as convergence rates pinned at 100%, we used an exact McNemar test as a fallback.</a:t>
            </a:r>
          </a:p>
          <a:p>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14</a:t>
            </a:fld>
            <a:endParaRPr lang="en-US" sz="800"/>
          </a:p>
        </p:txBody>
      </p:sp>
    </p:spTree>
    <p:extLst>
      <p:ext uri="{BB962C8B-B14F-4D97-AF65-F5344CB8AC3E}">
        <p14:creationId xmlns:p14="http://schemas.microsoft.com/office/powerpoint/2010/main" val="26270205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b="1" dirty="0"/>
              <a:t>The third is estimation accuracy.</a:t>
            </a:r>
            <a:r>
              <a:rPr lang="en-US" dirty="0"/>
              <a:t> We use two complementary metrics: </a:t>
            </a:r>
            <a:r>
              <a:rPr lang="en-US" b="1" dirty="0"/>
              <a:t>RMRSE</a:t>
            </a:r>
            <a:r>
              <a:rPr lang="en-US" sz="1200" b="1" i="0" kern="1200" dirty="0">
                <a:solidFill>
                  <a:schemeClr val="tx1"/>
                </a:solidFill>
                <a:effectLst/>
                <a:latin typeface="+mj-lt"/>
                <a:ea typeface="+mn-ea"/>
                <a:cs typeface="+mn-cs"/>
              </a:rPr>
              <a:t>(</a:t>
            </a:r>
            <a:r>
              <a:rPr lang="en-US" dirty="0"/>
              <a:t>root-mean relative squared error </a:t>
            </a:r>
            <a:r>
              <a:rPr lang="en-US" sz="1200" b="1" i="0" kern="1200" dirty="0">
                <a:solidFill>
                  <a:schemeClr val="tx1"/>
                </a:solidFill>
                <a:effectLst/>
                <a:latin typeface="+mj-lt"/>
                <a:ea typeface="+mn-ea"/>
                <a:cs typeface="+mn-cs"/>
              </a:rPr>
              <a:t>)</a:t>
            </a:r>
            <a:r>
              <a:rPr lang="en-US" sz="1200" b="0" i="0" kern="1200" dirty="0">
                <a:solidFill>
                  <a:schemeClr val="tx1"/>
                </a:solidFill>
                <a:effectLst/>
                <a:latin typeface="+mj-lt"/>
                <a:ea typeface="+mn-ea"/>
                <a:cs typeface="+mn-cs"/>
              </a:rPr>
              <a:t>, </a:t>
            </a:r>
            <a:r>
              <a:rPr lang="en-US" dirty="0"/>
              <a:t>, which is sensitive to outliers, and </a:t>
            </a:r>
            <a:r>
              <a:rPr lang="en-US" b="1" dirty="0"/>
              <a:t>MARE</a:t>
            </a:r>
            <a:r>
              <a:rPr lang="en-US" dirty="0"/>
              <a:t>, which is robust. Again reported both unconditionally and conditional on exact match.</a:t>
            </a:r>
          </a:p>
          <a:p>
            <a:pPr rtl="0"/>
            <a:endParaRPr lang="en-US" dirty="0"/>
          </a:p>
          <a:p>
            <a:pPr rtl="0"/>
            <a:r>
              <a:rPr lang="en-US" b="1" dirty="0"/>
              <a:t>The fourth is runtime</a:t>
            </a:r>
            <a:r>
              <a:rPr lang="en-US" dirty="0"/>
              <a:t>, on the same four-core setup.</a:t>
            </a:r>
          </a:p>
          <a:p>
            <a:pPr rtl="0"/>
            <a:r>
              <a:rPr lang="en-US" dirty="0"/>
              <a:t>so we use the same paired mixed-effects framework, because these are continuous endpoint, so the coefficient is the </a:t>
            </a:r>
            <a:r>
              <a:rPr lang="en-US" b="1" dirty="0"/>
              <a:t>mean difference</a:t>
            </a:r>
            <a:r>
              <a:rPr lang="en-US" dirty="0"/>
              <a:t> from NONMEM rather than an odds ratio.</a:t>
            </a:r>
          </a:p>
          <a:p>
            <a:pPr rtl="0"/>
            <a:endParaRPr lang="en-US" dirty="0"/>
          </a:p>
          <a:p>
            <a:pPr rtl="0"/>
            <a:r>
              <a:rPr lang="en-US" dirty="0"/>
              <a:t>One last point. With 100 datasets across 16 scenarios, </a:t>
            </a:r>
            <a:r>
              <a:rPr lang="en-US" b="1" dirty="0"/>
              <a:t>even a trivial difference can be statistically significant</a:t>
            </a:r>
            <a:r>
              <a:rPr lang="en-US" dirty="0"/>
              <a:t>. So we pre-specified a </a:t>
            </a:r>
            <a:r>
              <a:rPr lang="en-US" b="1" dirty="0"/>
              <a:t>practical-equivalence band: a relative change smaller than 10% is not a meaningful difference</a:t>
            </a:r>
            <a:r>
              <a:rPr lang="en-US" dirty="0"/>
              <a:t>, even if the p-value is small.</a:t>
            </a:r>
          </a:p>
          <a:p>
            <a:pPr rtl="0"/>
            <a:endParaRPr lang="en-US" dirty="0"/>
          </a:p>
          <a:p>
            <a:pPr rtl="0"/>
            <a:r>
              <a:rPr lang="en-US" dirty="0"/>
              <a:t>You will see that band used on the scorecard at the end.</a:t>
            </a:r>
          </a:p>
          <a:p>
            <a:endParaRPr lang="en-US" sz="1200" b="0" i="0" kern="1200" dirty="0">
              <a:solidFill>
                <a:schemeClr val="tx1"/>
              </a:solidFill>
              <a:effectLst/>
              <a:latin typeface="+mj-lt"/>
              <a:ea typeface="+mn-ea"/>
              <a:cs typeface="+mn-cs"/>
            </a:endParaRPr>
          </a:p>
          <a:p>
            <a:endParaRPr lang="en-US" sz="1200" b="0" i="0" kern="1200" dirty="0">
              <a:solidFill>
                <a:schemeClr val="tx1"/>
              </a:solidFill>
              <a:effectLst/>
              <a:latin typeface="+mj-lt"/>
              <a:ea typeface="+mn-ea"/>
              <a:cs typeface="+mn-cs"/>
            </a:endParaRPr>
          </a:p>
          <a:p>
            <a:endParaRPr lang="en-US" sz="1200" b="0" i="0" kern="1200" dirty="0">
              <a:solidFill>
                <a:schemeClr val="tx1"/>
              </a:solidFill>
              <a:effectLst/>
              <a:latin typeface="+mj-lt"/>
              <a:ea typeface="+mn-ea"/>
              <a:cs typeface="+mn-cs"/>
            </a:endParaRPr>
          </a:p>
          <a:p>
            <a:endParaRPr lang="en-US" sz="1200" b="0" i="0" kern="1200" dirty="0">
              <a:solidFill>
                <a:schemeClr val="tx1"/>
              </a:solidFill>
              <a:effectLst/>
              <a:latin typeface="+mj-lt"/>
              <a:ea typeface="+mn-ea"/>
              <a:cs typeface="+mn-cs"/>
            </a:endParaRPr>
          </a:p>
          <a:p>
            <a:endParaRPr lang="en-US" sz="1200" b="0" i="0" kern="1200" dirty="0">
              <a:solidFill>
                <a:schemeClr val="tx1"/>
              </a:solidFill>
              <a:effectLst/>
              <a:latin typeface="+mj-lt"/>
              <a:ea typeface="+mn-ea"/>
              <a:cs typeface="+mn-cs"/>
            </a:endParaRPr>
          </a:p>
          <a:p>
            <a:endParaRPr lang="en-US" sz="1200" b="0" i="0" kern="1200" dirty="0">
              <a:solidFill>
                <a:schemeClr val="tx1"/>
              </a:solidFill>
              <a:effectLst/>
              <a:latin typeface="+mj-lt"/>
              <a:ea typeface="+mn-ea"/>
              <a:cs typeface="+mn-cs"/>
            </a:endParaRPr>
          </a:p>
          <a:p>
            <a:endParaRPr lang="en-US" sz="1200" b="0" i="0" kern="1200" dirty="0">
              <a:solidFill>
                <a:schemeClr val="tx1"/>
              </a:solidFill>
              <a:effectLst/>
              <a:latin typeface="+mj-lt"/>
              <a:ea typeface="+mn-ea"/>
              <a:cs typeface="+mn-cs"/>
            </a:endParaRPr>
          </a:p>
          <a:p>
            <a:endParaRPr lang="en-US" sz="1200" b="0" i="0" kern="1200" dirty="0">
              <a:solidFill>
                <a:schemeClr val="tx1"/>
              </a:solidFill>
              <a:effectLst/>
              <a:latin typeface="+mj-lt"/>
              <a:ea typeface="+mn-ea"/>
              <a:cs typeface="+mn-cs"/>
            </a:endParaRPr>
          </a:p>
          <a:p>
            <a:endParaRPr lang="en-US" sz="1200" b="0" i="0" kern="1200" dirty="0">
              <a:solidFill>
                <a:schemeClr val="tx1"/>
              </a:solidFill>
              <a:effectLst/>
              <a:latin typeface="+mj-lt"/>
              <a:ea typeface="+mn-ea"/>
              <a:cs typeface="+mn-cs"/>
            </a:endParaRPr>
          </a:p>
          <a:p>
            <a:r>
              <a:rPr lang="en-US" sz="1200" b="0" i="0" kern="1200" dirty="0">
                <a:solidFill>
                  <a:schemeClr val="tx1"/>
                </a:solidFill>
                <a:effectLst/>
                <a:latin typeface="+mj-lt"/>
                <a:ea typeface="+mn-ea"/>
                <a:cs typeface="+mn-cs"/>
              </a:rPr>
              <a:t>so each metric is tested on the raw per-replicate records (keyed by </a:t>
            </a:r>
            <a:r>
              <a:rPr lang="en-US" sz="1200" b="0" i="0" kern="1200" dirty="0" err="1">
                <a:solidFill>
                  <a:schemeClr val="tx1"/>
                </a:solidFill>
                <a:effectLst/>
                <a:latin typeface="+mj-lt"/>
                <a:ea typeface="+mn-ea"/>
                <a:cs typeface="+mn-cs"/>
              </a:rPr>
              <a:t>dataset_id</a:t>
            </a:r>
            <a:r>
              <a:rPr lang="en-US" sz="1200" b="0" i="0" kern="1200" dirty="0">
                <a:solidFill>
                  <a:schemeClr val="tx1"/>
                </a:solidFill>
                <a:effectLst/>
                <a:latin typeface="+mj-lt"/>
                <a:ea typeface="+mn-ea"/>
                <a:cs typeface="+mn-cs"/>
              </a:rPr>
              <a:t>) rather than on the aggregated medians, pairing on the composite key </a:t>
            </a:r>
            <a:r>
              <a:rPr lang="en-US" sz="1200" b="1" i="0" kern="1200" dirty="0">
                <a:solidFill>
                  <a:schemeClr val="tx1"/>
                </a:solidFill>
                <a:effectLst/>
                <a:latin typeface="+mj-lt"/>
                <a:ea typeface="+mn-ea"/>
                <a:cs typeface="+mn-cs"/>
              </a:rPr>
              <a:t>(scenario, </a:t>
            </a:r>
            <a:r>
              <a:rPr lang="en-US" sz="1200" b="1" i="0" kern="1200" dirty="0" err="1">
                <a:solidFill>
                  <a:schemeClr val="tx1"/>
                </a:solidFill>
                <a:effectLst/>
                <a:latin typeface="+mj-lt"/>
                <a:ea typeface="+mn-ea"/>
                <a:cs typeface="+mn-cs"/>
              </a:rPr>
              <a:t>dataset_id</a:t>
            </a:r>
            <a:r>
              <a:rPr lang="en-US" sz="1200" b="1" i="0" kern="1200" dirty="0">
                <a:solidFill>
                  <a:schemeClr val="tx1"/>
                </a:solidFill>
                <a:effectLst/>
                <a:latin typeface="+mj-lt"/>
                <a:ea typeface="+mn-ea"/>
                <a:cs typeface="+mn-cs"/>
              </a:rPr>
              <a:t>)</a:t>
            </a:r>
          </a:p>
          <a:p>
            <a:r>
              <a:rPr lang="en-US" sz="1200" b="0" i="0" kern="1200" dirty="0">
                <a:solidFill>
                  <a:schemeClr val="tx1"/>
                </a:solidFill>
                <a:effectLst/>
                <a:latin typeface="+mj-lt"/>
                <a:ea typeface="+mn-ea"/>
                <a:cs typeface="+mn-cs"/>
              </a:rPr>
              <a:t>Testing is </a:t>
            </a:r>
            <a:r>
              <a:rPr lang="en-US" sz="1200" b="1" i="0" kern="1200" dirty="0">
                <a:solidFill>
                  <a:schemeClr val="tx1"/>
                </a:solidFill>
                <a:effectLst/>
                <a:latin typeface="+mj-lt"/>
                <a:ea typeface="+mn-ea"/>
                <a:cs typeface="+mn-cs"/>
              </a:rPr>
              <a:t>stratified by structure</a:t>
            </a:r>
            <a:r>
              <a:rPr lang="en-US" sz="1200" b="0" i="0" kern="1200" dirty="0">
                <a:solidFill>
                  <a:schemeClr val="tx1"/>
                </a:solidFill>
                <a:effectLst/>
                <a:latin typeface="+mj-lt"/>
                <a:ea typeface="+mn-ea"/>
                <a:cs typeface="+mn-cs"/>
              </a:rPr>
              <a:t> (fit separately within Analytic and within ODE), </a:t>
            </a:r>
            <a:r>
              <a:rPr lang="en-US" sz="1200" b="1" i="0" kern="1200" dirty="0">
                <a:solidFill>
                  <a:schemeClr val="tx1"/>
                </a:solidFill>
                <a:effectLst/>
                <a:latin typeface="+mj-lt"/>
                <a:ea typeface="+mn-ea"/>
                <a:cs typeface="+mn-cs"/>
              </a:rPr>
              <a:t>Multiplicity</a:t>
            </a:r>
            <a:r>
              <a:rPr lang="en-US" sz="1200" b="0" i="0" kern="1200" dirty="0">
                <a:solidFill>
                  <a:schemeClr val="tx1"/>
                </a:solidFill>
                <a:effectLst/>
                <a:latin typeface="+mj-lt"/>
                <a:ea typeface="+mn-ea"/>
                <a:cs typeface="+mn-cs"/>
              </a:rPr>
              <a:t> across the tested comparisons is controlled with the </a:t>
            </a:r>
            <a:r>
              <a:rPr lang="en-US" sz="1200" b="1" i="0" kern="1200" dirty="0">
                <a:solidFill>
                  <a:schemeClr val="tx1"/>
                </a:solidFill>
                <a:effectLst/>
                <a:latin typeface="+mj-lt"/>
                <a:ea typeface="+mn-ea"/>
                <a:cs typeface="+mn-cs"/>
              </a:rPr>
              <a:t>Holm</a:t>
            </a:r>
            <a:r>
              <a:rPr lang="en-US" sz="1200" b="0" i="0" kern="1200" dirty="0">
                <a:solidFill>
                  <a:schemeClr val="tx1"/>
                </a:solidFill>
                <a:effectLst/>
                <a:latin typeface="+mj-lt"/>
                <a:ea typeface="+mn-ea"/>
                <a:cs typeface="+mn-cs"/>
              </a:rPr>
              <a:t> step-down correction. </a:t>
            </a:r>
          </a:p>
          <a:p>
            <a:pPr marL="0" marR="0" lvl="0" indent="0" algn="l" defTabSz="914400" rtl="0" eaLnBrk="1" fontAlgn="auto" latinLnBrk="0" hangingPunct="1">
              <a:lnSpc>
                <a:spcPct val="100000"/>
              </a:lnSpc>
              <a:spcBef>
                <a:spcPts val="1800"/>
              </a:spcBef>
              <a:spcAft>
                <a:spcPts val="0"/>
              </a:spcAft>
              <a:buClrTx/>
              <a:buSzTx/>
              <a:buFontTx/>
              <a:buNone/>
              <a:tabLst/>
              <a:defRPr/>
            </a:pPr>
            <a:r>
              <a:rPr lang="en-US" sz="1200" b="0" i="0" kern="1200" dirty="0">
                <a:solidFill>
                  <a:schemeClr val="tx1"/>
                </a:solidFill>
                <a:effectLst/>
                <a:latin typeface="+mj-lt"/>
                <a:ea typeface="+mn-ea"/>
                <a:cs typeface="+mn-cs"/>
              </a:rPr>
              <a:t>The primary test for each metric × structure is a </a:t>
            </a:r>
            <a:r>
              <a:rPr lang="en-US" sz="1200" b="1" i="0" kern="1200" dirty="0">
                <a:solidFill>
                  <a:schemeClr val="tx1"/>
                </a:solidFill>
                <a:effectLst/>
                <a:latin typeface="+mj-lt"/>
                <a:ea typeface="+mn-ea"/>
                <a:cs typeface="+mn-cs"/>
              </a:rPr>
              <a:t>mixed-effects model</a:t>
            </a:r>
            <a:r>
              <a:rPr lang="en-US" sz="1200" b="0" i="0" kern="1200" dirty="0">
                <a:solidFill>
                  <a:schemeClr val="tx1"/>
                </a:solidFill>
                <a:effectLst/>
                <a:latin typeface="+mj-lt"/>
                <a:ea typeface="+mn-ea"/>
                <a:cs typeface="+mn-cs"/>
              </a:rPr>
              <a:t> with </a:t>
            </a:r>
            <a:r>
              <a:rPr lang="en-US" sz="1200" b="0" i="0" kern="1200" dirty="0" err="1">
                <a:solidFill>
                  <a:schemeClr val="tx1"/>
                </a:solidFill>
                <a:effectLst/>
                <a:latin typeface="+mj-lt"/>
                <a:ea typeface="+mn-ea"/>
                <a:cs typeface="+mn-cs"/>
              </a:rPr>
              <a:t>PsN</a:t>
            </a:r>
            <a:r>
              <a:rPr lang="en-US" sz="1200" b="0" i="0" kern="1200" dirty="0">
                <a:solidFill>
                  <a:schemeClr val="tx1"/>
                </a:solidFill>
                <a:effectLst/>
                <a:latin typeface="+mj-lt"/>
                <a:ea typeface="+mn-ea"/>
                <a:cs typeface="+mn-cs"/>
              </a:rPr>
              <a:t>-SCM as the reference level of a two-level method factor</a:t>
            </a:r>
            <a:r>
              <a:rPr lang="zh-CN" altLang="en-US" sz="1200" b="0" i="0" kern="1200" dirty="0">
                <a:solidFill>
                  <a:schemeClr val="tx1"/>
                </a:solidFill>
                <a:effectLst/>
                <a:latin typeface="+mj-lt"/>
                <a:ea typeface="+mn-ea"/>
                <a:cs typeface="+mn-cs"/>
              </a:rPr>
              <a:t>。</a:t>
            </a:r>
            <a:br>
              <a:rPr lang="en-US" altLang="zh-CN" sz="1200" b="0" i="0" kern="1200" dirty="0">
                <a:solidFill>
                  <a:schemeClr val="tx1"/>
                </a:solidFill>
                <a:effectLst/>
                <a:latin typeface="+mj-lt"/>
                <a:ea typeface="+mn-ea"/>
                <a:cs typeface="+mn-cs"/>
              </a:rPr>
            </a:br>
            <a:br>
              <a:rPr lang="en-US" altLang="zh-CN" sz="1200" b="0" i="0" kern="1200" dirty="0">
                <a:solidFill>
                  <a:schemeClr val="tx1"/>
                </a:solidFill>
                <a:effectLst/>
                <a:latin typeface="+mj-lt"/>
                <a:ea typeface="+mn-ea"/>
                <a:cs typeface="+mn-cs"/>
              </a:rPr>
            </a:br>
            <a:r>
              <a:rPr lang="en-US" altLang="zh-CN" sz="1200" b="0" i="0" kern="1200" dirty="0">
                <a:solidFill>
                  <a:schemeClr val="tx1"/>
                </a:solidFill>
                <a:effectLst/>
                <a:latin typeface="+mj-lt"/>
                <a:ea typeface="+mn-ea"/>
                <a:cs typeface="+mn-cs"/>
              </a:rPr>
              <a:t>With 100 datasets * 16 scenario, trivial small gap </a:t>
            </a:r>
            <a:r>
              <a:rPr lang="en-US" altLang="zh-CN" sz="1200" b="0" i="0" kern="1200" dirty="0" err="1">
                <a:solidFill>
                  <a:schemeClr val="tx1"/>
                </a:solidFill>
                <a:effectLst/>
                <a:latin typeface="+mj-lt"/>
                <a:ea typeface="+mn-ea"/>
                <a:cs typeface="+mn-cs"/>
              </a:rPr>
              <a:t>canbe</a:t>
            </a:r>
            <a:r>
              <a:rPr lang="en-US" altLang="zh-CN" sz="1200" b="0" i="0" kern="1200" dirty="0">
                <a:solidFill>
                  <a:schemeClr val="tx1"/>
                </a:solidFill>
                <a:effectLst/>
                <a:latin typeface="+mj-lt"/>
                <a:ea typeface="+mn-ea"/>
                <a:cs typeface="+mn-cs"/>
              </a:rPr>
              <a:t> statistically significant. SO add a </a:t>
            </a:r>
            <a:r>
              <a:rPr lang="en-US" sz="1200" b="1" i="0" dirty="0">
                <a:solidFill>
                  <a:srgbClr val="0460A9"/>
                </a:solidFill>
                <a:latin typeface="+mj-lt"/>
                <a:cs typeface="Arial"/>
              </a:rPr>
              <a:t>Practical-equivalence band</a:t>
            </a:r>
          </a:p>
          <a:p>
            <a:endParaRPr lang="en-US" dirty="0"/>
          </a:p>
          <a:p>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15</a:t>
            </a:fld>
            <a:endParaRPr lang="en-US" sz="800"/>
          </a:p>
        </p:txBody>
      </p:sp>
    </p:spTree>
    <p:extLst>
      <p:ext uri="{BB962C8B-B14F-4D97-AF65-F5344CB8AC3E}">
        <p14:creationId xmlns:p14="http://schemas.microsoft.com/office/powerpoint/2010/main" val="8317642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results, I will compare the three workflows on the same four dimensions, in the same order: </a:t>
            </a:r>
            <a:r>
              <a:rPr lang="en-US" b="1" dirty="0"/>
              <a:t>reliability, power, accuracy, and runtime.</a:t>
            </a:r>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16</a:t>
            </a:fld>
            <a:endParaRPr lang="en-US" sz="800"/>
          </a:p>
        </p:txBody>
      </p:sp>
    </p:spTree>
    <p:extLst>
      <p:ext uri="{BB962C8B-B14F-4D97-AF65-F5344CB8AC3E}">
        <p14:creationId xmlns:p14="http://schemas.microsoft.com/office/powerpoint/2010/main" val="29852871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Before comparing methods, one sanity check: did the virtual patients come out right?</a:t>
            </a:r>
          </a:p>
          <a:p>
            <a:pPr rtl="0"/>
            <a:r>
              <a:rPr lang="en-US" dirty="0"/>
              <a:t>On the left is the covariate correlation structure from NHANES.</a:t>
            </a:r>
          </a:p>
          <a:p>
            <a:pPr rtl="0"/>
            <a:r>
              <a:rPr lang="en-US" dirty="0"/>
              <a:t> On the right, from our simulated datasets. </a:t>
            </a:r>
            <a:r>
              <a:rPr lang="en-US" b="1" dirty="0"/>
              <a:t>They look almost identical.</a:t>
            </a:r>
            <a:r>
              <a:rPr lang="en-US" dirty="0"/>
              <a:t> So the NHANES-based stratified bootstrap does preserve realistic correlations.</a:t>
            </a:r>
          </a:p>
          <a:p>
            <a:pPr rtl="0"/>
            <a:r>
              <a:rPr lang="en-US" dirty="0"/>
              <a:t>And notice this cell: </a:t>
            </a:r>
            <a:r>
              <a:rPr lang="en-US" b="1" dirty="0"/>
              <a:t>weight and BMI are strongly collinear.</a:t>
            </a:r>
            <a:r>
              <a:rPr lang="en-US" dirty="0"/>
              <a:t> That is intentional. It is our </a:t>
            </a:r>
            <a:r>
              <a:rPr lang="en-US" b="1" dirty="0"/>
              <a:t>selection trap</a:t>
            </a:r>
            <a:r>
              <a:rPr lang="en-US" dirty="0"/>
              <a:t>, and I will come back to it when we look at power.</a:t>
            </a:r>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17</a:t>
            </a:fld>
            <a:endParaRPr lang="en-US" sz="800"/>
          </a:p>
        </p:txBody>
      </p:sp>
    </p:spTree>
    <p:extLst>
      <p:ext uri="{BB962C8B-B14F-4D97-AF65-F5344CB8AC3E}">
        <p14:creationId xmlns:p14="http://schemas.microsoft.com/office/powerpoint/2010/main" val="31585664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This is nlmixr2-SCM alone.</a:t>
            </a:r>
          </a:p>
          <a:p>
            <a:pPr rtl="0"/>
            <a:r>
              <a:rPr lang="en-US" dirty="0"/>
              <a:t>For </a:t>
            </a:r>
            <a:r>
              <a:rPr lang="en-US" b="1" dirty="0"/>
              <a:t>both the analytic solution and the ODE model, and at every sample size, convergence is close to 100%</a:t>
            </a:r>
            <a:r>
              <a:rPr lang="en-US" dirty="0"/>
              <a:t>, with condition numbers below 1000.</a:t>
            </a:r>
          </a:p>
          <a:p>
            <a:r>
              <a:rPr lang="en-US" dirty="0"/>
              <a:t>This matters because it shows that the open-source R package can offer </a:t>
            </a:r>
            <a:r>
              <a:rPr lang="en-US" b="1" dirty="0"/>
              <a:t>stable estimation when run thousands of times</a:t>
            </a:r>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18</a:t>
            </a:fld>
            <a:endParaRPr lang="en-US" sz="800"/>
          </a:p>
        </p:txBody>
      </p:sp>
    </p:spTree>
    <p:extLst>
      <p:ext uri="{BB962C8B-B14F-4D97-AF65-F5344CB8AC3E}">
        <p14:creationId xmlns:p14="http://schemas.microsoft.com/office/powerpoint/2010/main" val="1294992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comparison.</a:t>
            </a:r>
            <a:endParaRPr lang="en-US" sz="1200" b="0" i="0" kern="1200" dirty="0">
              <a:solidFill>
                <a:schemeClr val="tx1"/>
              </a:solidFill>
              <a:effectLst/>
              <a:latin typeface="+mj-lt"/>
              <a:ea typeface="+mn-ea"/>
              <a:cs typeface="+mn-cs"/>
            </a:endParaRPr>
          </a:p>
          <a:p>
            <a:r>
              <a:rPr lang="en-US" b="1" dirty="0"/>
              <a:t>The nlmixr2-based workflows keep that very high convergence rate.</a:t>
            </a:r>
            <a:r>
              <a:rPr lang="en-US" dirty="0"/>
              <a:t> </a:t>
            </a:r>
          </a:p>
          <a:p>
            <a:r>
              <a:rPr lang="en-US" dirty="0"/>
              <a:t>NONMEM does not — and the gap is largest for </a:t>
            </a:r>
            <a:r>
              <a:rPr lang="en-US" b="1" dirty="0"/>
              <a:t>ODE models</a:t>
            </a:r>
            <a:r>
              <a:rPr lang="en-US" dirty="0"/>
              <a:t>, </a:t>
            </a:r>
          </a:p>
          <a:p>
            <a:r>
              <a:rPr lang="en-US" dirty="0"/>
              <a:t>where, under the same convergence settings, </a:t>
            </a:r>
            <a:r>
              <a:rPr lang="en-US" b="1" dirty="0"/>
              <a:t>NONMEM converges only about half the time</a:t>
            </a:r>
            <a:r>
              <a:rPr lang="en-US" dirty="0"/>
              <a:t>, and </a:t>
            </a:r>
            <a:r>
              <a:rPr lang="en-US" b="1" dirty="0"/>
              <a:t>fails to complete the covariance step.</a:t>
            </a:r>
          </a:p>
          <a:p>
            <a:endParaRPr lang="en-US" b="1" dirty="0"/>
          </a:p>
          <a:p>
            <a:r>
              <a:rPr lang="en-US" dirty="0"/>
              <a:t>So the first of my three messages: </a:t>
            </a:r>
            <a:r>
              <a:rPr lang="en-US" b="1" dirty="0"/>
              <a:t>on reliability, nlmixr2 does not merely match NONMEM — it is significantly better, and the difference is concentrated in ODE models.</a:t>
            </a:r>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19</a:t>
            </a:fld>
            <a:endParaRPr lang="en-US" sz="800"/>
          </a:p>
        </p:txBody>
      </p:sp>
    </p:spTree>
    <p:extLst>
      <p:ext uri="{BB962C8B-B14F-4D97-AF65-F5344CB8AC3E}">
        <p14:creationId xmlns:p14="http://schemas.microsoft.com/office/powerpoint/2010/main" val="42022036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But reliability only means the model runs. The real question is whether it finds the right covariates. That is power.</a:t>
            </a:r>
          </a:p>
          <a:p>
            <a:pPr rtl="0"/>
            <a:r>
              <a:rPr lang="en-US" dirty="0"/>
              <a:t>Again, nlmixr2-SCM alone first.</a:t>
            </a:r>
          </a:p>
          <a:p>
            <a:pPr rtl="0"/>
            <a:r>
              <a:rPr lang="en-US" dirty="0"/>
              <a:t>You see three curves and they </a:t>
            </a:r>
            <a:r>
              <a:rPr lang="en-US" b="1" dirty="0"/>
              <a:t>overlap almost completely</a:t>
            </a:r>
            <a:r>
              <a:rPr lang="en-US" dirty="0"/>
              <a:t> since convergence and condition number are near-perfect.</a:t>
            </a:r>
          </a:p>
          <a:p>
            <a:pPr rtl="0"/>
            <a:r>
              <a:rPr lang="en-US" dirty="0"/>
              <a:t>And the pattern is the same for the analytic and the ODE parameterization.</a:t>
            </a:r>
          </a:p>
          <a:p>
            <a:pPr rtl="0"/>
            <a:r>
              <a:rPr lang="en-US" dirty="0"/>
              <a:t>Two patterns hold everywhere, and they will hold for every method: </a:t>
            </a:r>
            <a:r>
              <a:rPr lang="en-US" b="1" dirty="0"/>
              <a:t>as model complexity increases, power decreases. As sample size decreases, power decreases.</a:t>
            </a:r>
            <a:endParaRPr lang="en-US" dirty="0"/>
          </a:p>
          <a:p>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20</a:t>
            </a:fld>
            <a:endParaRPr lang="en-US" sz="800"/>
          </a:p>
        </p:txBody>
      </p:sp>
    </p:spTree>
    <p:extLst>
      <p:ext uri="{BB962C8B-B14F-4D97-AF65-F5344CB8AC3E}">
        <p14:creationId xmlns:p14="http://schemas.microsoft.com/office/powerpoint/2010/main" val="6828444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DF30-4CD7-B5D2-BFC5-D875272313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6FAE0-EF08-5742-F317-C0FC45318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1FA99E-947B-EC8F-C8D7-D323751A81DC}"/>
              </a:ext>
            </a:extLst>
          </p:cNvPr>
          <p:cNvSpPr>
            <a:spLocks noGrp="1"/>
          </p:cNvSpPr>
          <p:nvPr>
            <p:ph type="body" idx="1"/>
          </p:nvPr>
        </p:nvSpPr>
        <p:spPr/>
        <p:txBody>
          <a:bodyPr/>
          <a:lstStyle/>
          <a:p>
            <a:pPr rtl="0"/>
            <a:r>
              <a:rPr lang="en-US" dirty="0"/>
              <a:t>Here are all three workflows. The two patterns still hold — complexity increase, power down; sample size decrease, power down.</a:t>
            </a:r>
          </a:p>
          <a:p>
            <a:pPr rtl="0"/>
            <a:r>
              <a:rPr lang="en-US" b="1" dirty="0"/>
              <a:t>Power for nlmixr2-SCM and NONMEM-SCM is very similar</a:t>
            </a:r>
            <a:r>
              <a:rPr lang="en-US" dirty="0"/>
              <a:t>, with nlmixr2 having a slightly higher median across the 16 scenarios. </a:t>
            </a:r>
            <a:r>
              <a:rPr lang="en-US" b="1" dirty="0"/>
              <a:t>Both SCM workflows are somewhat better than the VAE.</a:t>
            </a:r>
            <a:endParaRPr lang="en-US" dirty="0"/>
          </a:p>
          <a:p>
            <a:pPr rtl="0"/>
            <a:r>
              <a:rPr lang="en-US" dirty="0"/>
              <a:t>And the power loss </a:t>
            </a:r>
            <a:r>
              <a:rPr lang="en-US" b="1" dirty="0"/>
              <a:t>concentrates in two situations</a:t>
            </a:r>
            <a:r>
              <a:rPr lang="en-US" dirty="0"/>
              <a:t>.</a:t>
            </a:r>
          </a:p>
          <a:p>
            <a:pPr rtl="0"/>
            <a:r>
              <a:rPr lang="en-US" dirty="0"/>
              <a:t>The first is </a:t>
            </a:r>
            <a:r>
              <a:rPr lang="en-US" b="1" dirty="0"/>
              <a:t>competing shapes</a:t>
            </a:r>
            <a:r>
              <a:rPr lang="en-US" dirty="0"/>
              <a:t>: the same PK parameter and covariate pair can enter as linear or as power. That is particularly hard for the VAE, as you can see here.</a:t>
            </a:r>
          </a:p>
          <a:p>
            <a:pPr rtl="0"/>
            <a:r>
              <a:rPr lang="en-US" dirty="0"/>
              <a:t>The second is a </a:t>
            </a:r>
            <a:r>
              <a:rPr lang="en-US" b="1" dirty="0"/>
              <a:t>highly collinear covariate pair</a:t>
            </a:r>
            <a:r>
              <a:rPr lang="en-US" dirty="0"/>
              <a:t> — in our case weight and BMI.</a:t>
            </a:r>
          </a:p>
          <a:p>
            <a:pPr rtl="0"/>
            <a:endParaRPr lang="en-US" dirty="0"/>
          </a:p>
          <a:p>
            <a:pPr rtl="0"/>
            <a:r>
              <a:rPr lang="en-US" dirty="0"/>
              <a:t>So the second of my three messages: </a:t>
            </a:r>
            <a:r>
              <a:rPr lang="en-US" b="1" dirty="0"/>
              <a:t>for exact recovery of the true model, nlmixr2-SCM is on par with NONMEM. The VAE gives up some power, and it gives it up specifically where shapes compete.</a:t>
            </a:r>
            <a:r>
              <a:rPr lang="en-US" dirty="0"/>
              <a:t> </a:t>
            </a:r>
          </a:p>
        </p:txBody>
      </p:sp>
      <p:sp>
        <p:nvSpPr>
          <p:cNvPr id="4" name="Footer Placeholder 3">
            <a:extLst>
              <a:ext uri="{FF2B5EF4-FFF2-40B4-BE49-F238E27FC236}">
                <a16:creationId xmlns:a16="http://schemas.microsoft.com/office/drawing/2014/main" id="{3AB95509-B328-979E-5FFF-364A841D7879}"/>
              </a:ext>
            </a:extLst>
          </p:cNvPr>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a:extLst>
              <a:ext uri="{FF2B5EF4-FFF2-40B4-BE49-F238E27FC236}">
                <a16:creationId xmlns:a16="http://schemas.microsoft.com/office/drawing/2014/main" id="{9C7EBD53-ADF4-38EA-9137-D8EE210851CF}"/>
              </a:ext>
            </a:extLst>
          </p:cNvPr>
          <p:cNvSpPr>
            <a:spLocks noGrp="1"/>
          </p:cNvSpPr>
          <p:nvPr>
            <p:ph type="sldNum" sz="quarter" idx="5"/>
          </p:nvPr>
        </p:nvSpPr>
        <p:spPr/>
        <p:txBody>
          <a:bodyPr/>
          <a:lstStyle/>
          <a:p>
            <a:fld id="{CC452610-1F1A-48BB-81B3-3167D77B5272}" type="slidenum">
              <a:rPr lang="en-US" smtClean="0"/>
              <a:pPr/>
              <a:t>21</a:t>
            </a:fld>
            <a:endParaRPr lang="en-US" sz="800"/>
          </a:p>
        </p:txBody>
      </p:sp>
    </p:spTree>
    <p:extLst>
      <p:ext uri="{BB962C8B-B14F-4D97-AF65-F5344CB8AC3E}">
        <p14:creationId xmlns:p14="http://schemas.microsoft.com/office/powerpoint/2010/main" val="37023180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the right covariates is one thing. Estimating them correctly is another.</a:t>
            </a:r>
          </a:p>
          <a:p>
            <a:pPr rtl="0"/>
            <a:r>
              <a:rPr lang="en-US" dirty="0"/>
              <a:t>This is estimation accuracy for nlmixr2-SCM.</a:t>
            </a:r>
          </a:p>
          <a:p>
            <a:pPr rtl="0"/>
            <a:r>
              <a:rPr lang="en-US" dirty="0"/>
              <a:t>First, </a:t>
            </a:r>
            <a:r>
              <a:rPr lang="en-US" b="1" dirty="0"/>
              <a:t>the model parameterization does not matter much</a:t>
            </a:r>
            <a:r>
              <a:rPr lang="en-US" dirty="0"/>
              <a:t> — analytic and ODE give similar accuracy. Second, </a:t>
            </a:r>
            <a:r>
              <a:rPr lang="en-US" b="1" dirty="0"/>
              <a:t>as sample size decreases, accuracy gets worse</a:t>
            </a:r>
            <a:r>
              <a:rPr lang="en-US" dirty="0"/>
              <a:t>, which is what we would expect.</a:t>
            </a:r>
          </a:p>
          <a:p>
            <a:pPr rtl="0"/>
            <a:r>
              <a:rPr lang="en-US" dirty="0"/>
              <a:t>And there is a clear </a:t>
            </a:r>
            <a:r>
              <a:rPr lang="en-US" b="1" dirty="0"/>
              <a:t>ranking of difficulty</a:t>
            </a:r>
            <a:r>
              <a:rPr lang="en-US" dirty="0"/>
              <a:t>: the </a:t>
            </a:r>
            <a:r>
              <a:rPr lang="en-US" b="1" dirty="0"/>
              <a:t>covariance</a:t>
            </a:r>
            <a:r>
              <a:rPr lang="en-US" dirty="0"/>
              <a:t> terms are hardest to estimate, then the </a:t>
            </a:r>
            <a:r>
              <a:rPr lang="en-US" b="1" dirty="0"/>
              <a:t>variances</a:t>
            </a:r>
            <a:r>
              <a:rPr lang="en-US" dirty="0"/>
              <a:t>, then the </a:t>
            </a:r>
            <a:r>
              <a:rPr lang="en-US" b="1" dirty="0"/>
              <a:t>covariate effects</a:t>
            </a:r>
            <a:r>
              <a:rPr lang="en-US" dirty="0"/>
              <a:t>, and the </a:t>
            </a:r>
            <a:r>
              <a:rPr lang="en-US" b="1" dirty="0"/>
              <a:t>typical values</a:t>
            </a:r>
            <a:r>
              <a:rPr lang="en-US" dirty="0"/>
              <a:t> are easiest. </a:t>
            </a:r>
          </a:p>
          <a:p>
            <a:pPr rtl="0"/>
            <a:endParaRPr lang="en-US" dirty="0"/>
          </a:p>
          <a:p>
            <a:pPr rtl="0"/>
            <a:r>
              <a:rPr lang="en-US" dirty="0"/>
              <a:t>So the parameters we care most about for dose selection — the covariate effects — are estimated comparatively well.</a:t>
            </a:r>
          </a:p>
          <a:p>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22</a:t>
            </a:fld>
            <a:endParaRPr lang="en-US" sz="800"/>
          </a:p>
        </p:txBody>
      </p:sp>
    </p:spTree>
    <p:extLst>
      <p:ext uri="{BB962C8B-B14F-4D97-AF65-F5344CB8AC3E}">
        <p14:creationId xmlns:p14="http://schemas.microsoft.com/office/powerpoint/2010/main" val="40070499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And here is the comparison. </a:t>
            </a:r>
            <a:r>
              <a:rPr lang="en-US" b="1" dirty="0"/>
              <a:t>Estimation accuracy is very similar across all three workflows</a:t>
            </a:r>
            <a:r>
              <a:rPr lang="en-US" dirty="0"/>
              <a:t> </a:t>
            </a:r>
          </a:p>
          <a:p>
            <a:pPr rtl="0"/>
            <a:endParaRPr lang="en-US" dirty="0"/>
          </a:p>
          <a:p>
            <a:pPr rtl="0"/>
            <a:r>
              <a:rPr lang="en-US" dirty="0"/>
              <a:t>That is worth stating plainly: </a:t>
            </a:r>
            <a:r>
              <a:rPr lang="en-US" b="1" dirty="0"/>
              <a:t>the VAE's power cost does not come with an accuracy cost. When it picks the right model, it estimates it just as well.</a:t>
            </a:r>
            <a:endParaRPr lang="en-US" dirty="0"/>
          </a:p>
          <a:p>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23</a:t>
            </a:fld>
            <a:endParaRPr lang="en-US" sz="800"/>
          </a:p>
        </p:txBody>
      </p:sp>
    </p:spTree>
    <p:extLst>
      <p:ext uri="{BB962C8B-B14F-4D97-AF65-F5344CB8AC3E}">
        <p14:creationId xmlns:p14="http://schemas.microsoft.com/office/powerpoint/2010/main" val="41074233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F0FFF-F669-E91C-479B-66E18058E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C6DB42-90AD-BE46-CEDE-D204B1FE05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7BD1BB-6716-0560-6C3D-1B8D395CBD03}"/>
              </a:ext>
            </a:extLst>
          </p:cNvPr>
          <p:cNvSpPr>
            <a:spLocks noGrp="1"/>
          </p:cNvSpPr>
          <p:nvPr>
            <p:ph type="body" idx="1"/>
          </p:nvPr>
        </p:nvSpPr>
        <p:spPr/>
        <p:txBody>
          <a:bodyPr/>
          <a:lstStyle/>
          <a:p>
            <a:r>
              <a:rPr lang="en-US" dirty="0"/>
              <a:t>So far, reliability favors nlmixr2, and power and accuracy are a tie. The last dimension is the one where the differences are dramatic: runtime.</a:t>
            </a:r>
          </a:p>
          <a:p>
            <a:endParaRPr lang="en-US" dirty="0"/>
          </a:p>
          <a:p>
            <a:pPr rtl="0"/>
            <a:r>
              <a:rPr lang="en-US" dirty="0"/>
              <a:t>Every task here ran on the same cluster with four CPU cores. Note the </a:t>
            </a:r>
            <a:r>
              <a:rPr lang="en-US" b="1" dirty="0"/>
              <a:t>log scale</a:t>
            </a:r>
            <a:r>
              <a:rPr lang="en-US" dirty="0"/>
              <a:t> on the y-axis.</a:t>
            </a:r>
          </a:p>
          <a:p>
            <a:pPr rtl="0"/>
            <a:r>
              <a:rPr lang="en-US" dirty="0"/>
              <a:t>Three drivers for runtime difference : the workflow, the parameterization, and the sample size.</a:t>
            </a:r>
          </a:p>
          <a:p>
            <a:pPr rtl="0"/>
            <a:r>
              <a:rPr lang="en-US" b="1" dirty="0"/>
              <a:t>The purple curve is the VAE, and it is dramatically faster than both SCM workflows</a:t>
            </a:r>
            <a:r>
              <a:rPr lang="en-US" dirty="0"/>
              <a:t> — around one to two minutes, regardless of everything else. That makes sense: one fit instead of a search.</a:t>
            </a:r>
          </a:p>
          <a:p>
            <a:pPr rtl="0"/>
            <a:r>
              <a:rPr lang="en-US" dirty="0"/>
              <a:t>For the </a:t>
            </a:r>
            <a:r>
              <a:rPr lang="en-US" b="1" dirty="0"/>
              <a:t>analytic solution</a:t>
            </a:r>
            <a:r>
              <a:rPr lang="en-US" dirty="0"/>
              <a:t>, NONMEM is slightly faster than nlmixr2-SCM, and </a:t>
            </a:r>
            <a:r>
              <a:rPr lang="en-US" b="1" dirty="0"/>
              <a:t>both finish well inside about fifteen minutes</a:t>
            </a:r>
            <a:r>
              <a:rPr lang="en-US" dirty="0"/>
              <a:t>. That difference is small.</a:t>
            </a:r>
          </a:p>
          <a:p>
            <a:pPr rtl="0"/>
            <a:endParaRPr lang="en-US" dirty="0"/>
          </a:p>
          <a:p>
            <a:pPr rtl="0"/>
            <a:r>
              <a:rPr lang="en-US" dirty="0"/>
              <a:t>For </a:t>
            </a:r>
            <a:r>
              <a:rPr lang="en-US" b="1" dirty="0"/>
              <a:t>ODE models, </a:t>
            </a:r>
            <a:r>
              <a:rPr lang="en-US" dirty="0"/>
              <a:t>NONMEM is roughly </a:t>
            </a:r>
            <a:r>
              <a:rPr lang="en-US" b="1" dirty="0"/>
              <a:t>five times slower than nlmixr2-SCM</a:t>
            </a:r>
            <a:r>
              <a:rPr lang="en-US" dirty="0"/>
              <a:t> across all sixteen scenarios, with the hardest scenarios running well over two hours</a:t>
            </a:r>
          </a:p>
          <a:p>
            <a:pPr rtl="0"/>
            <a:endParaRPr lang="en-US" dirty="0"/>
          </a:p>
          <a:p>
            <a:pPr rtl="0"/>
            <a:r>
              <a:rPr lang="en-US" dirty="0"/>
              <a:t>And as sample size increases, runtime increases modestly, as you can see here.</a:t>
            </a:r>
          </a:p>
          <a:p>
            <a:endParaRPr lang="en-US" dirty="0"/>
          </a:p>
          <a:p>
            <a:endParaRPr lang="en-US" dirty="0"/>
          </a:p>
          <a:p>
            <a:endParaRPr lang="en-US" dirty="0"/>
          </a:p>
          <a:p>
            <a:endParaRPr lang="en-US" dirty="0"/>
          </a:p>
          <a:p>
            <a:r>
              <a:rPr lang="en-US" dirty="0"/>
              <a:t>Here is the runtime comparison across three platform.</a:t>
            </a:r>
          </a:p>
          <a:p>
            <a:r>
              <a:rPr lang="en-US" dirty="0"/>
              <a:t>Run time of covariate selection varies across workflow, and is associated with sample size and model structure. </a:t>
            </a:r>
          </a:p>
          <a:p>
            <a:endParaRPr lang="en-US" dirty="0"/>
          </a:p>
          <a:p>
            <a:r>
              <a:rPr lang="en-US" dirty="0"/>
              <a:t>For analytical solution, VAE is extremely faster than SCM, with NONMEM slightly faster than nlmixr2</a:t>
            </a:r>
          </a:p>
          <a:p>
            <a:r>
              <a:rPr lang="en-US" dirty="0"/>
              <a:t>For ODE, VAE is still extremely faster than SCM, with nlmixr2 substantially faster than NONMEM.</a:t>
            </a:r>
          </a:p>
          <a:p>
            <a:endParaRPr lang="en-US" dirty="0"/>
          </a:p>
          <a:p>
            <a:pPr marL="228600" indent="-228600">
              <a:buAutoNum type="arabicPeriod"/>
            </a:pPr>
            <a:r>
              <a:rPr lang="en-US" dirty="0"/>
              <a:t>Different optimizer </a:t>
            </a:r>
          </a:p>
          <a:p>
            <a:pPr marL="228600" indent="-228600">
              <a:buAutoNum type="arabicPeriod"/>
            </a:pPr>
            <a:r>
              <a:rPr lang="en-US" dirty="0"/>
              <a:t>Different covariate selection procedures. For nlmixr2, all var-</a:t>
            </a:r>
            <a:r>
              <a:rPr lang="en-US" dirty="0" err="1"/>
              <a:t>covar</a:t>
            </a:r>
            <a:r>
              <a:rPr lang="en-US" dirty="0"/>
              <a:t>-shape is fitted at each step, where as NONMEM deal with shape in a  </a:t>
            </a:r>
            <a:br>
              <a:rPr lang="en-US" dirty="0"/>
            </a:br>
            <a:r>
              <a:rPr lang="en-US" dirty="0"/>
              <a:t>Warmup</a:t>
            </a:r>
            <a:br>
              <a:rPr lang="en-US" dirty="0"/>
            </a:br>
            <a:endParaRPr lang="en-US" dirty="0"/>
          </a:p>
          <a:p>
            <a:r>
              <a:rPr lang="en-US" dirty="0"/>
              <a:t>Analytic (left): </a:t>
            </a:r>
            <a:r>
              <a:rPr lang="en-US" dirty="0" err="1"/>
              <a:t>PsN</a:t>
            </a:r>
            <a:r>
              <a:rPr lang="en-US" dirty="0"/>
              <a:t> (black) and nlmixr2-SCM (teal) are comparable — </a:t>
            </a:r>
            <a:r>
              <a:rPr lang="en-US" dirty="0" err="1"/>
              <a:t>PsN</a:t>
            </a:r>
            <a:r>
              <a:rPr lang="en-US" dirty="0"/>
              <a:t> slightly cheaper at low scenarios (2–9 min), nlmixr2-SCM ~10–13 min. Both climb mildly with scenario </a:t>
            </a:r>
            <a:r>
              <a:rPr lang="en-US" dirty="0" err="1"/>
              <a:t>complexity.ODE</a:t>
            </a:r>
            <a:r>
              <a:rPr lang="en-US" dirty="0"/>
              <a:t> (right) — the headline: </a:t>
            </a:r>
            <a:r>
              <a:rPr lang="en-US" dirty="0" err="1"/>
              <a:t>PsN</a:t>
            </a:r>
            <a:r>
              <a:rPr lang="en-US" dirty="0"/>
              <a:t> explodes to 15–95 min (median), roughly 3× nlmixr2-SCM across all 16 scenarios. nlmixr2-SCM stays flat at ~10–20 min. The gap is large and consistent — exactly where you </a:t>
            </a:r>
            <a:r>
              <a:rPr lang="en-US" dirty="0" err="1"/>
              <a:t>expected.VAE</a:t>
            </a:r>
            <a:r>
              <a:rPr lang="en-US" dirty="0"/>
              <a:t> (purple): flat ~1–1.5 min everywhere, structure-independent (single fit, no search) — an order of magnitude below both SCM pipelines. Caveat annotated.</a:t>
            </a:r>
          </a:p>
        </p:txBody>
      </p:sp>
      <p:sp>
        <p:nvSpPr>
          <p:cNvPr id="4" name="Footer Placeholder 3">
            <a:extLst>
              <a:ext uri="{FF2B5EF4-FFF2-40B4-BE49-F238E27FC236}">
                <a16:creationId xmlns:a16="http://schemas.microsoft.com/office/drawing/2014/main" id="{30B1EB25-B0E4-9A34-DCBC-B0C719D2767D}"/>
              </a:ext>
            </a:extLst>
          </p:cNvPr>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a:extLst>
              <a:ext uri="{FF2B5EF4-FFF2-40B4-BE49-F238E27FC236}">
                <a16:creationId xmlns:a16="http://schemas.microsoft.com/office/drawing/2014/main" id="{31819ABF-980F-EDF9-F42B-9DF0AD7B0D3E}"/>
              </a:ext>
            </a:extLst>
          </p:cNvPr>
          <p:cNvSpPr>
            <a:spLocks noGrp="1"/>
          </p:cNvSpPr>
          <p:nvPr>
            <p:ph type="sldNum" sz="quarter" idx="5"/>
          </p:nvPr>
        </p:nvSpPr>
        <p:spPr/>
        <p:txBody>
          <a:bodyPr/>
          <a:lstStyle/>
          <a:p>
            <a:fld id="{CC452610-1F1A-48BB-81B3-3167D77B5272}" type="slidenum">
              <a:rPr lang="en-US" smtClean="0"/>
              <a:pPr/>
              <a:t>24</a:t>
            </a:fld>
            <a:endParaRPr lang="en-US" sz="800"/>
          </a:p>
        </p:txBody>
      </p:sp>
    </p:spTree>
    <p:extLst>
      <p:ext uri="{BB962C8B-B14F-4D97-AF65-F5344CB8AC3E}">
        <p14:creationId xmlns:p14="http://schemas.microsoft.com/office/powerpoint/2010/main" val="5678289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This is the summary scorecard, and it carries three layers of information.</a:t>
            </a:r>
          </a:p>
          <a:p>
            <a:pPr rtl="0"/>
            <a:r>
              <a:rPr lang="en-US" b="1" dirty="0"/>
              <a:t>The numbers</a:t>
            </a:r>
            <a:r>
              <a:rPr lang="en-US" dirty="0"/>
              <a:t> inside each cell are the </a:t>
            </a:r>
            <a:r>
              <a:rPr lang="en-US" b="1" dirty="0"/>
              <a:t>median over the 16 scenarios, in natural units.</a:t>
            </a:r>
          </a:p>
          <a:p>
            <a:pPr rtl="0"/>
            <a:r>
              <a:rPr lang="en-US" b="1" dirty="0"/>
              <a:t>The color</a:t>
            </a:r>
            <a:r>
              <a:rPr lang="en-US" dirty="0"/>
              <a:t> shows the </a:t>
            </a:r>
            <a:r>
              <a:rPr lang="en-US" b="1" dirty="0"/>
              <a:t>relative change of the test method versus NONMEM.</a:t>
            </a:r>
            <a:r>
              <a:rPr lang="en-US" dirty="0"/>
              <a:t> </a:t>
            </a:r>
          </a:p>
          <a:p>
            <a:pPr rtl="0"/>
            <a:r>
              <a:rPr lang="en-US" dirty="0"/>
              <a:t>And </a:t>
            </a:r>
            <a:r>
              <a:rPr lang="en-US" b="1" dirty="0"/>
              <a:t>the asterisks</a:t>
            </a:r>
            <a:r>
              <a:rPr lang="en-US" dirty="0"/>
              <a:t> mark results that are both </a:t>
            </a:r>
            <a:r>
              <a:rPr lang="en-US" b="1" dirty="0"/>
              <a:t>statistically significant and meaningfully different</a:t>
            </a:r>
            <a:r>
              <a:rPr lang="en-US" dirty="0"/>
              <a:t> — that is, the relative change exceeds our pre-specified 10% threshold. </a:t>
            </a:r>
          </a:p>
          <a:p>
            <a:pPr rtl="0"/>
            <a:r>
              <a:rPr lang="en-US" dirty="0"/>
              <a:t>Where a difference is statistically significant but smaller than that, we mark it with the </a:t>
            </a:r>
            <a:r>
              <a:rPr lang="en-US" b="1" dirty="0"/>
              <a:t>approximately-equal sign</a:t>
            </a:r>
            <a:r>
              <a:rPr lang="en-US" dirty="0"/>
              <a:t> instead.</a:t>
            </a:r>
          </a:p>
          <a:p>
            <a:pPr rtl="0"/>
            <a:endParaRPr lang="en-US" dirty="0"/>
          </a:p>
          <a:p>
            <a:pPr rtl="0"/>
            <a:r>
              <a:rPr lang="en-US" dirty="0"/>
              <a:t>Reading it across, for </a:t>
            </a:r>
            <a:r>
              <a:rPr lang="en-US" b="1" dirty="0"/>
              <a:t>nlmixr2-SCM</a:t>
            </a:r>
            <a:r>
              <a:rPr lang="en-US" dirty="0"/>
              <a:t>: reliability is </a:t>
            </a:r>
            <a:r>
              <a:rPr lang="en-US" b="1" dirty="0"/>
              <a:t>consistently and significantly better than NONMEM</a:t>
            </a:r>
            <a:r>
              <a:rPr lang="en-US" dirty="0"/>
              <a:t>; power and estimation accuracy are </a:t>
            </a:r>
            <a:r>
              <a:rPr lang="en-US" b="1" dirty="0"/>
              <a:t>equivalent</a:t>
            </a:r>
            <a:r>
              <a:rPr lang="en-US" dirty="0"/>
              <a:t>; and for </a:t>
            </a:r>
            <a:r>
              <a:rPr lang="en-US" b="1" dirty="0"/>
              <a:t>ODE models it is significantly faster.</a:t>
            </a:r>
            <a:endParaRPr lang="en-US" dirty="0"/>
          </a:p>
          <a:p>
            <a:pPr rtl="0"/>
            <a:r>
              <a:rPr lang="en-US" dirty="0"/>
              <a:t>For </a:t>
            </a:r>
            <a:r>
              <a:rPr lang="en-US" b="1" dirty="0"/>
              <a:t>nlmixr2-VAE</a:t>
            </a:r>
            <a:r>
              <a:rPr lang="en-US" dirty="0"/>
              <a:t>: the headline is </a:t>
            </a:r>
            <a:r>
              <a:rPr lang="en-US" b="1" dirty="0"/>
              <a:t>speed — dramatically faster than NONMEM</a:t>
            </a:r>
            <a:r>
              <a:rPr lang="en-US" dirty="0"/>
              <a:t> — but that comes </a:t>
            </a:r>
            <a:r>
              <a:rPr lang="en-US" b="1" dirty="0"/>
              <a:t>at the expense of some selection power.</a:t>
            </a:r>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25</a:t>
            </a:fld>
            <a:endParaRPr lang="en-US" sz="800"/>
          </a:p>
        </p:txBody>
      </p:sp>
    </p:spTree>
    <p:extLst>
      <p:ext uri="{BB962C8B-B14F-4D97-AF65-F5344CB8AC3E}">
        <p14:creationId xmlns:p14="http://schemas.microsoft.com/office/powerpoint/2010/main" val="19881715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26</a:t>
            </a:fld>
            <a:endParaRPr lang="en-US" sz="800"/>
          </a:p>
        </p:txBody>
      </p:sp>
    </p:spTree>
    <p:extLst>
      <p:ext uri="{BB962C8B-B14F-4D97-AF65-F5344CB8AC3E}">
        <p14:creationId xmlns:p14="http://schemas.microsoft.com/office/powerpoint/2010/main" val="31506500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1800"/>
              </a:spcBef>
              <a:spcAft>
                <a:spcPts val="0"/>
              </a:spcAft>
              <a:buClrTx/>
              <a:buSzTx/>
              <a:buFontTx/>
              <a:buNone/>
              <a:tabLst/>
              <a:defRPr/>
            </a:pPr>
            <a:r>
              <a:rPr lang="en-US" dirty="0"/>
              <a:t>Let me finish with what this means in practice.</a:t>
            </a:r>
          </a:p>
          <a:p>
            <a:pPr rtl="0"/>
            <a:r>
              <a:rPr lang="en-US" dirty="0"/>
              <a:t>Four points.</a:t>
            </a:r>
          </a:p>
          <a:p>
            <a:pPr rtl="0"/>
            <a:endParaRPr lang="en-US" b="1" dirty="0"/>
          </a:p>
          <a:p>
            <a:pPr rtl="0"/>
            <a:r>
              <a:rPr lang="en-US" b="1" dirty="0"/>
              <a:t>First, covariate selection is confounded by competing shapes and by collinearity between covariates.</a:t>
            </a:r>
            <a:r>
              <a:rPr lang="en-US" dirty="0"/>
              <a:t> No method solved this — not NONMEM, not nlmixr2, not the VAE. That is why </a:t>
            </a:r>
            <a:r>
              <a:rPr lang="en-US" b="1" dirty="0"/>
              <a:t>domain knowledge is so valuable before you start</a:t>
            </a:r>
            <a:r>
              <a:rPr lang="en-US" dirty="0"/>
              <a:t>: the candidate covariate space should be curated for </a:t>
            </a:r>
            <a:r>
              <a:rPr lang="en-US" b="1" dirty="0"/>
              <a:t>clinical relevance and biological plausibility.</a:t>
            </a:r>
          </a:p>
          <a:p>
            <a:pPr rtl="0"/>
            <a:endParaRPr lang="en-US" dirty="0"/>
          </a:p>
          <a:p>
            <a:pPr rtl="0"/>
            <a:r>
              <a:rPr lang="en-US" b="1" dirty="0"/>
              <a:t>Second, small sample size sharply reduces power.</a:t>
            </a:r>
            <a:r>
              <a:rPr lang="en-US" dirty="0"/>
              <a:t> And small samples are exactly the situation in early-phase trials. So </a:t>
            </a:r>
            <a:r>
              <a:rPr lang="en-US" b="1" dirty="0"/>
              <a:t>covariate models built from early-phase data should be interpreted with </a:t>
            </a:r>
            <a:r>
              <a:rPr lang="en-US" b="1"/>
              <a:t>caution.</a:t>
            </a:r>
          </a:p>
          <a:p>
            <a:pPr rtl="0"/>
            <a:endParaRPr lang="en-US" dirty="0"/>
          </a:p>
          <a:p>
            <a:pPr rtl="0"/>
            <a:r>
              <a:rPr lang="en-US" b="1" dirty="0"/>
              <a:t>Third, a practical tip: when your PK model is linear, use the analytic solution rather than the ODE.</a:t>
            </a:r>
            <a:r>
              <a:rPr lang="en-US" dirty="0"/>
              <a:t> Our results show similar power with much faster runs.</a:t>
            </a:r>
          </a:p>
          <a:p>
            <a:pPr rtl="0"/>
            <a:r>
              <a:rPr lang="en-US" b="1" dirty="0"/>
              <a:t>Fourth, for complex ODE models, turn on the one-dimensional profile-based warm start.</a:t>
            </a:r>
            <a:r>
              <a:rPr lang="en-US" dirty="0"/>
              <a:t> In our runs it improved selection power</a:t>
            </a:r>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27</a:t>
            </a:fld>
            <a:endParaRPr lang="en-US" sz="800"/>
          </a:p>
        </p:txBody>
      </p:sp>
    </p:spTree>
    <p:extLst>
      <p:ext uri="{BB962C8B-B14F-4D97-AF65-F5344CB8AC3E}">
        <p14:creationId xmlns:p14="http://schemas.microsoft.com/office/powerpoint/2010/main" val="7220842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To conclude.</a:t>
            </a:r>
          </a:p>
          <a:p>
            <a:pPr rtl="0"/>
            <a:r>
              <a:rPr lang="en-US" dirty="0"/>
              <a:t>In this benchmark, </a:t>
            </a:r>
            <a:r>
              <a:rPr lang="en-US" b="1" dirty="0"/>
              <a:t>the open-source nlmixr2-SCM matched or outperformed </a:t>
            </a:r>
            <a:r>
              <a:rPr lang="en-US" b="1" dirty="0" err="1"/>
              <a:t>PsN</a:t>
            </a:r>
            <a:r>
              <a:rPr lang="en-US" b="1" dirty="0"/>
              <a:t>-NONMEM-SCM.</a:t>
            </a:r>
            <a:r>
              <a:rPr lang="en-US" dirty="0"/>
              <a:t> It gave </a:t>
            </a:r>
            <a:r>
              <a:rPr lang="en-US" b="1" dirty="0"/>
              <a:t>comparable power and estimation accuracy, better reliability, faster runtimes for ODE models</a:t>
            </a:r>
            <a:r>
              <a:rPr lang="en-US" dirty="0"/>
              <a:t> — and it is open source.</a:t>
            </a:r>
          </a:p>
          <a:p>
            <a:pPr rtl="0"/>
            <a:endParaRPr lang="en-US" dirty="0"/>
          </a:p>
          <a:p>
            <a:pPr rtl="0"/>
            <a:r>
              <a:rPr lang="en-US" b="1" dirty="0"/>
              <a:t>The VAE's strength is speed</a:t>
            </a:r>
            <a:r>
              <a:rPr lang="en-US" dirty="0"/>
              <a:t>, with comparable accuracy and reasonable power in the easier covariate scenarios.</a:t>
            </a:r>
          </a:p>
          <a:p>
            <a:pPr rtl="0"/>
            <a:endParaRPr lang="en-US" dirty="0"/>
          </a:p>
          <a:p>
            <a:pPr rtl="0"/>
            <a:r>
              <a:rPr lang="en-US" dirty="0"/>
              <a:t>So the take-home message is this. </a:t>
            </a:r>
            <a:r>
              <a:rPr lang="en-US" b="1" dirty="0"/>
              <a:t>nlmixr2-SCM is a credible open-source alternative to NONMEM-SCM. </a:t>
            </a:r>
          </a:p>
          <a:p>
            <a:pPr rtl="0"/>
            <a:r>
              <a:rPr lang="en-US" b="1" dirty="0"/>
              <a:t>And the VAE is a promising fast screening method that can complement traditional SCM — though not yet replace it in high-stakes confirmatory settings.</a:t>
            </a:r>
            <a:endParaRPr lang="en-US" dirty="0"/>
          </a:p>
          <a:p>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28</a:t>
            </a:fld>
            <a:endParaRPr lang="en-US" sz="800"/>
          </a:p>
        </p:txBody>
      </p:sp>
    </p:spTree>
    <p:extLst>
      <p:ext uri="{BB962C8B-B14F-4D97-AF65-F5344CB8AC3E}">
        <p14:creationId xmlns:p14="http://schemas.microsoft.com/office/powerpoint/2010/main" val="11220811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29</a:t>
            </a:fld>
            <a:endParaRPr lang="en-US" sz="800"/>
          </a:p>
        </p:txBody>
      </p:sp>
    </p:spTree>
    <p:extLst>
      <p:ext uri="{BB962C8B-B14F-4D97-AF65-F5344CB8AC3E}">
        <p14:creationId xmlns:p14="http://schemas.microsoft.com/office/powerpoint/2010/main" val="16426613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I am very grateful to my manager, </a:t>
            </a:r>
            <a:r>
              <a:rPr lang="en-US" b="1" dirty="0"/>
              <a:t>Matt Fidler</a:t>
            </a:r>
            <a:r>
              <a:rPr lang="en-US" dirty="0"/>
              <a:t> — this project would not have been possible without his guidance and support.</a:t>
            </a:r>
          </a:p>
          <a:p>
            <a:pPr rtl="0"/>
            <a:r>
              <a:rPr lang="en-US" dirty="0"/>
              <a:t>Thank you to </a:t>
            </a:r>
            <a:r>
              <a:rPr lang="en-US" b="1" dirty="0"/>
              <a:t>Justin Wilkins</a:t>
            </a:r>
            <a:r>
              <a:rPr lang="en-US" dirty="0"/>
              <a:t>, the other primary developer of the nlmixr2 SCM package, and to the whole </a:t>
            </a:r>
            <a:r>
              <a:rPr lang="en-US" b="1" dirty="0"/>
              <a:t>nlmixr2 development team</a:t>
            </a:r>
            <a:r>
              <a:rPr lang="en-US" dirty="0"/>
              <a:t>, whose commitment to open science genuinely inspired me.</a:t>
            </a:r>
          </a:p>
          <a:p>
            <a:pPr rtl="0"/>
            <a:r>
              <a:rPr lang="en-US" dirty="0"/>
              <a:t>Thank you to the </a:t>
            </a:r>
            <a:r>
              <a:rPr lang="en-US" b="1" dirty="0"/>
              <a:t>PMX, PKS, and AQS teams</a:t>
            </a:r>
            <a:r>
              <a:rPr lang="en-US" dirty="0"/>
              <a:t>, especially those who shared their career journeys with me, and to the </a:t>
            </a:r>
            <a:r>
              <a:rPr lang="en-US" b="1" dirty="0"/>
              <a:t>talent acquisition team</a:t>
            </a:r>
            <a:r>
              <a:rPr lang="en-US" dirty="0"/>
              <a:t> and my </a:t>
            </a:r>
            <a:r>
              <a:rPr lang="en-US" b="1" dirty="0"/>
              <a:t>fellow interns</a:t>
            </a:r>
            <a:r>
              <a:rPr lang="en-US" dirty="0"/>
              <a:t> for making this internship so memorable.</a:t>
            </a:r>
          </a:p>
          <a:p>
            <a:pPr marL="0" marR="0" lvl="0" indent="0" algn="l" defTabSz="914400" rtl="0" eaLnBrk="1" fontAlgn="auto" latinLnBrk="0" hangingPunct="1">
              <a:lnSpc>
                <a:spcPct val="100000"/>
              </a:lnSpc>
              <a:spcBef>
                <a:spcPts val="1800"/>
              </a:spcBef>
              <a:spcAft>
                <a:spcPts val="0"/>
              </a:spcAft>
              <a:buClrTx/>
              <a:buSzTx/>
              <a:buFontTx/>
              <a:buNone/>
              <a:tabLst/>
              <a:defRPr/>
            </a:pPr>
            <a:endParaRPr lang="en-US" dirty="0"/>
          </a:p>
          <a:p>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30</a:t>
            </a:fld>
            <a:endParaRPr lang="en-US" sz="800"/>
          </a:p>
        </p:txBody>
      </p:sp>
    </p:spTree>
    <p:extLst>
      <p:ext uri="{BB962C8B-B14F-4D97-AF65-F5344CB8AC3E}">
        <p14:creationId xmlns:p14="http://schemas.microsoft.com/office/powerpoint/2010/main" val="13332982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Equation?</a:t>
            </a:r>
            <a:br>
              <a:rPr lang="en-US" dirty="0"/>
            </a:br>
            <a:br>
              <a:rPr lang="en-US" dirty="0"/>
            </a:br>
            <a:r>
              <a:rPr lang="en-US" dirty="0"/>
              <a:t>I know many of you may come from a statistics background and are unfamiliar with population PK. </a:t>
            </a:r>
            <a:r>
              <a:rPr lang="en-US" sz="1200" b="0" i="0" kern="1200" dirty="0">
                <a:solidFill>
                  <a:schemeClr val="tx1"/>
                </a:solidFill>
                <a:effectLst/>
                <a:latin typeface="+mj-lt"/>
                <a:ea typeface="+mn-ea"/>
                <a:cs typeface="+mn-cs"/>
              </a:rPr>
              <a:t>Population pharmacokinetics, or </a:t>
            </a:r>
            <a:r>
              <a:rPr lang="en-US" sz="1200" b="0" i="0" kern="1200" dirty="0" err="1">
                <a:solidFill>
                  <a:schemeClr val="tx1"/>
                </a:solidFill>
                <a:effectLst/>
                <a:latin typeface="+mj-lt"/>
                <a:ea typeface="+mn-ea"/>
                <a:cs typeface="+mn-cs"/>
              </a:rPr>
              <a:t>PopPK</a:t>
            </a:r>
            <a:r>
              <a:rPr lang="en-US" sz="1200" b="0" i="0" kern="1200" dirty="0">
                <a:solidFill>
                  <a:schemeClr val="tx1"/>
                </a:solidFill>
                <a:effectLst/>
                <a:latin typeface="+mj-lt"/>
                <a:ea typeface="+mn-ea"/>
                <a:cs typeface="+mn-cs"/>
              </a:rPr>
              <a:t>, is used to explain why drug exposure differs across patients. </a:t>
            </a:r>
          </a:p>
          <a:p>
            <a:r>
              <a:rPr lang="en-US" dirty="0"/>
              <a:t>At its core, </a:t>
            </a:r>
            <a:r>
              <a:rPr lang="en-US" dirty="0" err="1"/>
              <a:t>popPK</a:t>
            </a:r>
            <a:r>
              <a:rPr lang="en-US" dirty="0"/>
              <a:t> models are </a:t>
            </a:r>
            <a:r>
              <a:rPr lang="en-US" sz="1200" b="0" i="0" kern="1200" dirty="0">
                <a:solidFill>
                  <a:schemeClr val="tx1"/>
                </a:solidFill>
                <a:effectLst/>
                <a:latin typeface="+mj-lt"/>
                <a:ea typeface="+mn-ea"/>
                <a:cs typeface="+mn-cs"/>
              </a:rPr>
              <a:t>nonlinear mixed-effects models, which separate variability into  three parts:</a:t>
            </a:r>
          </a:p>
          <a:p>
            <a:pPr lvl="0"/>
            <a:r>
              <a:rPr lang="en-US" sz="1200" b="1" i="0" kern="1200" dirty="0">
                <a:solidFill>
                  <a:schemeClr val="tx1"/>
                </a:solidFill>
                <a:effectLst/>
                <a:latin typeface="+mj-lt"/>
                <a:ea typeface="+mn-ea"/>
                <a:cs typeface="+mn-cs"/>
              </a:rPr>
              <a:t>fixed effects</a:t>
            </a:r>
            <a:r>
              <a:rPr lang="en-US" sz="1200" b="0" i="0" kern="1200" dirty="0">
                <a:solidFill>
                  <a:schemeClr val="tx1"/>
                </a:solidFill>
                <a:effectLst/>
                <a:latin typeface="+mj-lt"/>
                <a:ea typeface="+mn-ea"/>
                <a:cs typeface="+mn-cs"/>
              </a:rPr>
              <a:t>, which describe the typical value and explainable covariate effects,  for example, patients with different weights have different volume of distribution </a:t>
            </a:r>
          </a:p>
          <a:p>
            <a:pPr lvl="0"/>
            <a:r>
              <a:rPr lang="en-US" sz="1200" b="1" i="0" kern="1200" dirty="0">
                <a:solidFill>
                  <a:schemeClr val="tx1"/>
                </a:solidFill>
                <a:effectLst/>
                <a:latin typeface="+mj-lt"/>
                <a:ea typeface="+mn-ea"/>
                <a:cs typeface="+mn-cs"/>
              </a:rPr>
              <a:t>intersubject variability</a:t>
            </a:r>
            <a:r>
              <a:rPr lang="en-US" sz="1200" b="0" i="0" kern="1200" dirty="0">
                <a:solidFill>
                  <a:schemeClr val="tx1"/>
                </a:solidFill>
                <a:effectLst/>
                <a:latin typeface="+mj-lt"/>
                <a:ea typeface="+mn-ea"/>
                <a:cs typeface="+mn-cs"/>
              </a:rPr>
              <a:t>, which describes how individual patients differ from the typical patient,</a:t>
            </a:r>
          </a:p>
          <a:p>
            <a:pPr lvl="0"/>
            <a:r>
              <a:rPr lang="en-US" sz="1200" b="0" i="0" kern="1200" dirty="0">
                <a:solidFill>
                  <a:schemeClr val="tx1"/>
                </a:solidFill>
                <a:effectLst/>
                <a:latin typeface="+mj-lt"/>
                <a:ea typeface="+mn-ea"/>
                <a:cs typeface="+mn-cs"/>
              </a:rPr>
              <a:t>and </a:t>
            </a:r>
            <a:r>
              <a:rPr lang="en-US" sz="1200" b="1" i="0" kern="1200" dirty="0">
                <a:solidFill>
                  <a:schemeClr val="tx1"/>
                </a:solidFill>
                <a:effectLst/>
                <a:latin typeface="+mj-lt"/>
                <a:ea typeface="+mn-ea"/>
                <a:cs typeface="+mn-cs"/>
              </a:rPr>
              <a:t>residual variability</a:t>
            </a:r>
            <a:r>
              <a:rPr lang="en-US" sz="1200" b="0" i="0" kern="1200" dirty="0">
                <a:solidFill>
                  <a:schemeClr val="tx1"/>
                </a:solidFill>
                <a:effectLst/>
                <a:latin typeface="+mj-lt"/>
                <a:ea typeface="+mn-ea"/>
                <a:cs typeface="+mn-cs"/>
              </a:rPr>
              <a:t>, which captures unexplained error or measurement noise.</a:t>
            </a:r>
          </a:p>
          <a:p>
            <a:endParaRPr lang="en-US" dirty="0"/>
          </a:p>
          <a:p>
            <a:r>
              <a:rPr lang="en-US" dirty="0" err="1"/>
              <a:t>PopPk</a:t>
            </a:r>
            <a:r>
              <a:rPr lang="en-US" dirty="0"/>
              <a:t> optimize population parameters by </a:t>
            </a:r>
            <a:r>
              <a:rPr lang="en-US" sz="1200" b="0" i="0" kern="1200" dirty="0">
                <a:solidFill>
                  <a:schemeClr val="tx1"/>
                </a:solidFill>
                <a:effectLst/>
                <a:latin typeface="+mj-lt"/>
                <a:ea typeface="+mn-ea"/>
                <a:cs typeface="+mn-cs"/>
              </a:rPr>
              <a:t>maximize likelihood of observations</a:t>
            </a:r>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32</a:t>
            </a:fld>
            <a:endParaRPr lang="en-US" sz="800"/>
          </a:p>
        </p:txBody>
      </p:sp>
    </p:spTree>
    <p:extLst>
      <p:ext uri="{BB962C8B-B14F-4D97-AF65-F5344CB8AC3E}">
        <p14:creationId xmlns:p14="http://schemas.microsoft.com/office/powerpoint/2010/main" val="8344827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1800"/>
              </a:spcBef>
              <a:spcAft>
                <a:spcPts val="0"/>
              </a:spcAft>
              <a:buClrTx/>
              <a:buSzTx/>
              <a:buFontTx/>
              <a:buNone/>
              <a:tabLst/>
              <a:defRPr/>
            </a:pPr>
            <a:r>
              <a:rPr lang="en-US" sz="1200" b="0" i="1" dirty="0">
                <a:solidFill>
                  <a:srgbClr val="5A5A5A"/>
                </a:solidFill>
                <a:latin typeface="+mj-lt"/>
                <a:cs typeface="Arial"/>
              </a:rPr>
              <a:t>The FDA does not certify software; “accepted” = track record in submissions + reviewer use + sponsor validation (</a:t>
            </a:r>
            <a:r>
              <a:rPr lang="en-US" sz="1200" b="0" i="1" dirty="0" err="1">
                <a:solidFill>
                  <a:srgbClr val="5A5A5A"/>
                </a:solidFill>
                <a:latin typeface="+mj-lt"/>
                <a:cs typeface="Arial"/>
              </a:rPr>
              <a:t>GxP</a:t>
            </a:r>
            <a:r>
              <a:rPr lang="en-US" sz="1200" b="0" i="1" dirty="0">
                <a:solidFill>
                  <a:srgbClr val="5A5A5A"/>
                </a:solidFill>
                <a:latin typeface="+mj-lt"/>
                <a:cs typeface="Arial"/>
              </a:rPr>
              <a:t>). nlmixr2 &amp; the VAE are open-source/research — benchmarked here against the accepted NONMEM reference.</a:t>
            </a:r>
          </a:p>
          <a:p>
            <a:pPr marL="0" marR="0" lvl="0" indent="0" algn="l" defTabSz="914400" rtl="0" eaLnBrk="1" fontAlgn="auto" latinLnBrk="0" hangingPunct="1">
              <a:lnSpc>
                <a:spcPct val="100000"/>
              </a:lnSpc>
              <a:spcBef>
                <a:spcPts val="1800"/>
              </a:spcBef>
              <a:spcAft>
                <a:spcPts val="0"/>
              </a:spcAft>
              <a:buClrTx/>
              <a:buSzTx/>
              <a:buFontTx/>
              <a:buNone/>
              <a:tabLst/>
              <a:defRPr/>
            </a:pPr>
            <a:endParaRPr lang="en-US" sz="1200" b="0" i="1" dirty="0">
              <a:solidFill>
                <a:srgbClr val="5A5A5A"/>
              </a:solidFill>
              <a:latin typeface="+mj-lt"/>
              <a:cs typeface="Arial"/>
            </a:endParaRPr>
          </a:p>
          <a:p>
            <a:pPr marL="0" marR="0" lvl="0" indent="0" algn="l" defTabSz="914400" rtl="0" eaLnBrk="1" fontAlgn="auto" latinLnBrk="0" hangingPunct="1">
              <a:lnSpc>
                <a:spcPct val="100000"/>
              </a:lnSpc>
              <a:spcBef>
                <a:spcPts val="1800"/>
              </a:spcBef>
              <a:spcAft>
                <a:spcPts val="0"/>
              </a:spcAft>
              <a:buClrTx/>
              <a:buSzTx/>
              <a:buFontTx/>
              <a:buNone/>
              <a:tabLst/>
              <a:defRPr/>
            </a:pPr>
            <a:r>
              <a:rPr lang="en-US" sz="1200" b="1" i="0" kern="1200" dirty="0">
                <a:solidFill>
                  <a:schemeClr val="tx1"/>
                </a:solidFill>
                <a:effectLst/>
                <a:latin typeface="+mj-lt"/>
                <a:ea typeface="+mn-ea"/>
                <a:cs typeface="+mn-cs"/>
              </a:rPr>
              <a:t>nlmixr2</a:t>
            </a:r>
            <a:r>
              <a:rPr lang="en-US" sz="1200" b="0" i="0" kern="1200" dirty="0">
                <a:solidFill>
                  <a:schemeClr val="tx1"/>
                </a:solidFill>
                <a:effectLst/>
                <a:latin typeface="+mj-lt"/>
                <a:ea typeface="+mn-ea"/>
                <a:cs typeface="+mn-cs"/>
              </a:rPr>
              <a:t> is gaining acceptance, especially in </a:t>
            </a:r>
            <a:r>
              <a:rPr lang="en-US" sz="1200" b="1" i="0" kern="1200" dirty="0">
                <a:solidFill>
                  <a:schemeClr val="tx1"/>
                </a:solidFill>
                <a:effectLst/>
                <a:latin typeface="+mj-lt"/>
                <a:ea typeface="+mn-ea"/>
                <a:cs typeface="+mn-cs"/>
              </a:rPr>
              <a:t>academia</a:t>
            </a:r>
            <a:r>
              <a:rPr lang="en-US" sz="1200" b="0" i="0" kern="1200" dirty="0">
                <a:solidFill>
                  <a:schemeClr val="tx1"/>
                </a:solidFill>
                <a:effectLst/>
                <a:latin typeface="+mj-lt"/>
                <a:ea typeface="+mn-ea"/>
                <a:cs typeface="+mn-cs"/>
              </a:rPr>
              <a:t> and for </a:t>
            </a:r>
            <a:r>
              <a:rPr lang="en-US" sz="1200" b="1" i="0" kern="1200" dirty="0">
                <a:solidFill>
                  <a:schemeClr val="tx1"/>
                </a:solidFill>
                <a:effectLst/>
                <a:latin typeface="+mj-lt"/>
                <a:ea typeface="+mn-ea"/>
                <a:cs typeface="+mn-cs"/>
              </a:rPr>
              <a:t>research/exploratory pharmacometrics</a:t>
            </a:r>
            <a:r>
              <a:rPr lang="en-US" sz="1200" b="0" i="0" kern="1200" dirty="0">
                <a:solidFill>
                  <a:schemeClr val="tx1"/>
                </a:solidFill>
                <a:effectLst/>
                <a:latin typeface="+mj-lt"/>
                <a:ea typeface="+mn-ea"/>
                <a:cs typeface="+mn-cs"/>
              </a:rPr>
              <a:t>, but it is still less established than </a:t>
            </a:r>
            <a:r>
              <a:rPr lang="en-US" sz="1200" b="1" i="0" kern="1200" dirty="0">
                <a:solidFill>
                  <a:schemeClr val="tx1"/>
                </a:solidFill>
                <a:effectLst/>
                <a:latin typeface="+mj-lt"/>
                <a:ea typeface="+mn-ea"/>
                <a:cs typeface="+mn-cs"/>
              </a:rPr>
              <a:t>NONMEM</a:t>
            </a:r>
            <a:r>
              <a:rPr lang="en-US" sz="1200" b="0" i="0" kern="1200" dirty="0">
                <a:solidFill>
                  <a:schemeClr val="tx1"/>
                </a:solidFill>
                <a:effectLst/>
                <a:latin typeface="+mj-lt"/>
                <a:ea typeface="+mn-ea"/>
                <a:cs typeface="+mn-cs"/>
              </a:rPr>
              <a:t>, </a:t>
            </a:r>
            <a:r>
              <a:rPr lang="en-US" sz="1200" b="1" i="0" kern="1200" dirty="0" err="1">
                <a:solidFill>
                  <a:schemeClr val="tx1"/>
                </a:solidFill>
                <a:effectLst/>
                <a:latin typeface="+mj-lt"/>
                <a:ea typeface="+mn-ea"/>
                <a:cs typeface="+mn-cs"/>
              </a:rPr>
              <a:t>Monolix</a:t>
            </a:r>
            <a:r>
              <a:rPr lang="en-US" sz="1200" b="0" i="0" kern="1200" dirty="0">
                <a:solidFill>
                  <a:schemeClr val="tx1"/>
                </a:solidFill>
                <a:effectLst/>
                <a:latin typeface="+mj-lt"/>
                <a:ea typeface="+mn-ea"/>
                <a:cs typeface="+mn-cs"/>
              </a:rPr>
              <a:t>, or </a:t>
            </a:r>
            <a:r>
              <a:rPr lang="en-US" sz="1200" b="1" i="0" kern="1200" dirty="0">
                <a:solidFill>
                  <a:schemeClr val="tx1"/>
                </a:solidFill>
                <a:effectLst/>
                <a:latin typeface="+mj-lt"/>
                <a:ea typeface="+mn-ea"/>
                <a:cs typeface="+mn-cs"/>
              </a:rPr>
              <a:t>Phoenix NLME</a:t>
            </a:r>
            <a:r>
              <a:rPr lang="en-US" sz="1200" b="0" i="0" kern="1200" dirty="0">
                <a:solidFill>
                  <a:schemeClr val="tx1"/>
                </a:solidFill>
                <a:effectLst/>
                <a:latin typeface="+mj-lt"/>
                <a:ea typeface="+mn-ea"/>
                <a:cs typeface="+mn-cs"/>
              </a:rPr>
              <a:t> for high-stakes industry and FDA regulatory submissions. For FDA use, the key issue is not whether FDA has “approved” </a:t>
            </a:r>
            <a:r>
              <a:rPr lang="en-US" sz="1200" b="1" i="0" kern="1200" dirty="0">
                <a:solidFill>
                  <a:schemeClr val="tx1"/>
                </a:solidFill>
                <a:effectLst/>
                <a:latin typeface="+mj-lt"/>
                <a:ea typeface="+mn-ea"/>
                <a:cs typeface="+mn-cs"/>
              </a:rPr>
              <a:t>nlmixr2</a:t>
            </a:r>
            <a:r>
              <a:rPr lang="en-US" sz="1200" b="0" i="0" kern="1200" dirty="0">
                <a:solidFill>
                  <a:schemeClr val="tx1"/>
                </a:solidFill>
                <a:effectLst/>
                <a:latin typeface="+mj-lt"/>
                <a:ea typeface="+mn-ea"/>
                <a:cs typeface="+mn-cs"/>
              </a:rPr>
              <a:t>, but whether the sponsor can </a:t>
            </a:r>
            <a:r>
              <a:rPr lang="en-US" sz="1200" b="1" i="0" kern="1200" dirty="0">
                <a:solidFill>
                  <a:schemeClr val="tx1"/>
                </a:solidFill>
                <a:effectLst/>
                <a:latin typeface="+mj-lt"/>
                <a:ea typeface="+mn-ea"/>
                <a:cs typeface="+mn-cs"/>
              </a:rPr>
              <a:t>validate, document, reproduce, and justify</a:t>
            </a:r>
            <a:r>
              <a:rPr lang="en-US" sz="1200" b="0" i="0" kern="1200" dirty="0">
                <a:solidFill>
                  <a:schemeClr val="tx1"/>
                </a:solidFill>
                <a:effectLst/>
                <a:latin typeface="+mj-lt"/>
                <a:ea typeface="+mn-ea"/>
                <a:cs typeface="+mn-cs"/>
              </a:rPr>
              <a:t> the analysis.</a:t>
            </a:r>
          </a:p>
          <a:p>
            <a:pPr marL="0" marR="0" lvl="0" indent="0" algn="l" defTabSz="914400" rtl="0" eaLnBrk="1" fontAlgn="auto" latinLnBrk="0" hangingPunct="1">
              <a:lnSpc>
                <a:spcPct val="100000"/>
              </a:lnSpc>
              <a:spcBef>
                <a:spcPts val="1800"/>
              </a:spcBef>
              <a:spcAft>
                <a:spcPts val="0"/>
              </a:spcAft>
              <a:buClrTx/>
              <a:buSzTx/>
              <a:buFontTx/>
              <a:buNone/>
              <a:tabLst/>
              <a:defRPr/>
            </a:pPr>
            <a:endParaRPr lang="en-US" sz="1200" b="0" i="0" kern="1200" dirty="0">
              <a:solidFill>
                <a:schemeClr val="tx1"/>
              </a:solidFill>
              <a:effectLst/>
              <a:latin typeface="+mj-lt"/>
              <a:ea typeface="+mn-ea"/>
              <a:cs typeface="+mn-cs"/>
            </a:endParaRPr>
          </a:p>
          <a:p>
            <a:pPr marL="0" marR="0" lvl="0" indent="0" algn="l" defTabSz="914400" rtl="0" eaLnBrk="1" fontAlgn="auto" latinLnBrk="0" hangingPunct="1">
              <a:lnSpc>
                <a:spcPct val="100000"/>
              </a:lnSpc>
              <a:spcBef>
                <a:spcPts val="1800"/>
              </a:spcBef>
              <a:spcAft>
                <a:spcPts val="0"/>
              </a:spcAft>
              <a:buClrTx/>
              <a:buSzTx/>
              <a:buFontTx/>
              <a:buNone/>
              <a:tabLst/>
              <a:defRPr/>
            </a:pPr>
            <a:r>
              <a:rPr lang="en-US" sz="1200" b="1" i="0" kern="1200" dirty="0">
                <a:solidFill>
                  <a:schemeClr val="tx1"/>
                </a:solidFill>
                <a:effectLst/>
                <a:latin typeface="+mj-lt"/>
                <a:ea typeface="+mn-ea"/>
                <a:cs typeface="+mn-cs"/>
              </a:rPr>
              <a:t>nlmixr2</a:t>
            </a:r>
            <a:r>
              <a:rPr lang="en-US" sz="1200" b="0" i="0" kern="1200" dirty="0">
                <a:solidFill>
                  <a:schemeClr val="tx1"/>
                </a:solidFill>
                <a:effectLst/>
                <a:latin typeface="+mj-lt"/>
                <a:ea typeface="+mn-ea"/>
                <a:cs typeface="+mn-cs"/>
              </a:rPr>
              <a:t> is scientifically credible and increasingly used, especially in R-centered pharmacometrics workflows. But for FDA-facing analyses, it is still safer to view it as an </a:t>
            </a:r>
            <a:r>
              <a:rPr lang="en-US" sz="1200" b="1" i="0" kern="1200" dirty="0">
                <a:solidFill>
                  <a:schemeClr val="tx1"/>
                </a:solidFill>
                <a:effectLst/>
                <a:latin typeface="+mj-lt"/>
                <a:ea typeface="+mn-ea"/>
                <a:cs typeface="+mn-cs"/>
              </a:rPr>
              <a:t>emerging regulatory tool</a:t>
            </a:r>
            <a:r>
              <a:rPr lang="en-US" sz="1200" b="0" i="0" kern="1200" dirty="0">
                <a:solidFill>
                  <a:schemeClr val="tx1"/>
                </a:solidFill>
                <a:effectLst/>
                <a:latin typeface="+mj-lt"/>
                <a:ea typeface="+mn-ea"/>
                <a:cs typeface="+mn-cs"/>
              </a:rPr>
              <a:t> rather than a universally accepted standard. If used in a submission, the analysis should be highly reproducible, well validated, and ideally benchmarked against established software when possible.</a:t>
            </a:r>
          </a:p>
          <a:p>
            <a:pPr marL="0" marR="0" lvl="0" indent="0" algn="l" defTabSz="914400" rtl="0" eaLnBrk="1" fontAlgn="auto" latinLnBrk="0" hangingPunct="1">
              <a:lnSpc>
                <a:spcPct val="100000"/>
              </a:lnSpc>
              <a:spcBef>
                <a:spcPts val="1800"/>
              </a:spcBef>
              <a:spcAft>
                <a:spcPts val="0"/>
              </a:spcAft>
              <a:buClrTx/>
              <a:buSzTx/>
              <a:buFontTx/>
              <a:buNone/>
              <a:tabLst/>
              <a:defRPr/>
            </a:pPr>
            <a:endParaRPr lang="en-US" sz="1200" b="0" i="0" kern="1200" dirty="0">
              <a:solidFill>
                <a:schemeClr val="tx1"/>
              </a:solidFill>
              <a:effectLst/>
              <a:latin typeface="+mj-lt"/>
              <a:ea typeface="+mn-ea"/>
              <a:cs typeface="+mn-cs"/>
            </a:endParaRPr>
          </a:p>
          <a:p>
            <a:r>
              <a:rPr lang="en-US" sz="1200" b="1" i="0" kern="1200" dirty="0">
                <a:solidFill>
                  <a:schemeClr val="tx1"/>
                </a:solidFill>
                <a:effectLst/>
                <a:latin typeface="+mj-lt"/>
                <a:ea typeface="+mn-ea"/>
                <a:cs typeface="+mn-cs"/>
              </a:rPr>
              <a:t>nlmixr2</a:t>
            </a:r>
            <a:r>
              <a:rPr lang="en-US" sz="1200" b="0" i="0" kern="1200" dirty="0">
                <a:solidFill>
                  <a:schemeClr val="tx1"/>
                </a:solidFill>
                <a:effectLst/>
                <a:latin typeface="+mj-lt"/>
                <a:ea typeface="+mn-ea"/>
                <a:cs typeface="+mn-cs"/>
              </a:rPr>
              <a:t> may be used for:</a:t>
            </a:r>
          </a:p>
          <a:p>
            <a:pPr lvl="0"/>
            <a:r>
              <a:rPr lang="en-US" sz="1200" b="0" i="0" kern="1200" dirty="0">
                <a:solidFill>
                  <a:schemeClr val="tx1"/>
                </a:solidFill>
                <a:effectLst/>
                <a:latin typeface="+mj-lt"/>
                <a:ea typeface="+mn-ea"/>
                <a:cs typeface="+mn-cs"/>
              </a:rPr>
              <a:t>Exploratory modeling</a:t>
            </a:r>
          </a:p>
          <a:p>
            <a:pPr lvl="0"/>
            <a:r>
              <a:rPr lang="en-US" sz="1200" b="0" i="0" kern="1200" dirty="0">
                <a:solidFill>
                  <a:schemeClr val="tx1"/>
                </a:solidFill>
                <a:effectLst/>
                <a:latin typeface="+mj-lt"/>
                <a:ea typeface="+mn-ea"/>
                <a:cs typeface="+mn-cs"/>
              </a:rPr>
              <a:t>Internal benchmarking</a:t>
            </a:r>
          </a:p>
          <a:p>
            <a:pPr lvl="0"/>
            <a:r>
              <a:rPr lang="en-US" sz="1200" b="0" i="0" kern="1200" dirty="0">
                <a:solidFill>
                  <a:schemeClr val="tx1"/>
                </a:solidFill>
                <a:effectLst/>
                <a:latin typeface="+mj-lt"/>
                <a:ea typeface="+mn-ea"/>
                <a:cs typeface="+mn-cs"/>
              </a:rPr>
              <a:t>Rapid model prototyping</a:t>
            </a:r>
          </a:p>
          <a:p>
            <a:pPr lvl="0"/>
            <a:r>
              <a:rPr lang="en-US" sz="1200" b="0" i="0" kern="1200" dirty="0">
                <a:solidFill>
                  <a:schemeClr val="tx1"/>
                </a:solidFill>
                <a:effectLst/>
                <a:latin typeface="+mj-lt"/>
                <a:ea typeface="+mn-ea"/>
                <a:cs typeface="+mn-cs"/>
              </a:rPr>
              <a:t>Teaching and training</a:t>
            </a:r>
          </a:p>
          <a:p>
            <a:pPr lvl="0"/>
            <a:r>
              <a:rPr lang="en-US" sz="1200" b="0" i="0" kern="1200" dirty="0">
                <a:solidFill>
                  <a:schemeClr val="tx1"/>
                </a:solidFill>
                <a:effectLst/>
                <a:latin typeface="+mj-lt"/>
                <a:ea typeface="+mn-ea"/>
                <a:cs typeface="+mn-cs"/>
              </a:rPr>
              <a:t>Reproducible R-based workflows</a:t>
            </a:r>
          </a:p>
          <a:p>
            <a:pPr lvl="0"/>
            <a:r>
              <a:rPr lang="en-US" sz="1200" b="0" i="0" kern="1200" dirty="0">
                <a:solidFill>
                  <a:schemeClr val="tx1"/>
                </a:solidFill>
                <a:effectLst/>
                <a:latin typeface="+mj-lt"/>
                <a:ea typeface="+mn-ea"/>
                <a:cs typeface="+mn-cs"/>
              </a:rPr>
              <a:t>Cross-checking results from NONMEM or </a:t>
            </a:r>
            <a:r>
              <a:rPr lang="en-US" sz="1200" b="0" i="0" kern="1200" dirty="0" err="1">
                <a:solidFill>
                  <a:schemeClr val="tx1"/>
                </a:solidFill>
                <a:effectLst/>
                <a:latin typeface="+mj-lt"/>
                <a:ea typeface="+mn-ea"/>
                <a:cs typeface="+mn-cs"/>
              </a:rPr>
              <a:t>Monolix</a:t>
            </a:r>
            <a:endParaRPr lang="en-US" sz="1200" b="0" i="0" kern="1200">
              <a:solidFill>
                <a:schemeClr val="tx1"/>
              </a:solidFill>
              <a:effectLst/>
              <a:latin typeface="+mj-lt"/>
              <a:ea typeface="+mn-ea"/>
              <a:cs typeface="+mn-cs"/>
            </a:endParaRPr>
          </a:p>
          <a:p>
            <a:pPr marL="0" marR="0" lvl="0" indent="0" algn="l" defTabSz="914400" rtl="0" eaLnBrk="1" fontAlgn="auto" latinLnBrk="0" hangingPunct="1">
              <a:lnSpc>
                <a:spcPct val="100000"/>
              </a:lnSpc>
              <a:spcBef>
                <a:spcPts val="1800"/>
              </a:spcBef>
              <a:spcAft>
                <a:spcPts val="0"/>
              </a:spcAft>
              <a:buClrTx/>
              <a:buSzTx/>
              <a:buFontTx/>
              <a:buNone/>
              <a:tabLst/>
              <a:defRPr/>
            </a:pPr>
            <a:endParaRPr lang="en-US" sz="1200" b="0" i="0" kern="1200">
              <a:solidFill>
                <a:schemeClr val="tx1"/>
              </a:solidFill>
              <a:effectLst/>
              <a:latin typeface="+mj-lt"/>
              <a:ea typeface="+mn-ea"/>
              <a:cs typeface="+mn-cs"/>
            </a:endParaRPr>
          </a:p>
          <a:p>
            <a:pPr marL="0" marR="0" lvl="0" indent="0" algn="l" defTabSz="914400" rtl="0" eaLnBrk="1" fontAlgn="auto" latinLnBrk="0" hangingPunct="1">
              <a:lnSpc>
                <a:spcPct val="100000"/>
              </a:lnSpc>
              <a:spcBef>
                <a:spcPts val="1800"/>
              </a:spcBef>
              <a:spcAft>
                <a:spcPts val="0"/>
              </a:spcAft>
              <a:buClrTx/>
              <a:buSzTx/>
              <a:buFontTx/>
              <a:buNone/>
              <a:tabLst/>
              <a:defRPr/>
            </a:pPr>
            <a:endParaRPr lang="en-US" sz="1200" b="0" i="1" dirty="0">
              <a:solidFill>
                <a:srgbClr val="5A5A5A"/>
              </a:solidFill>
              <a:latin typeface="+mj-lt"/>
              <a:cs typeface="Arial"/>
            </a:endParaRPr>
          </a:p>
          <a:p>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33</a:t>
            </a:fld>
            <a:endParaRPr lang="en-US" sz="800"/>
          </a:p>
        </p:txBody>
      </p:sp>
    </p:spTree>
    <p:extLst>
      <p:ext uri="{BB962C8B-B14F-4D97-AF65-F5344CB8AC3E}">
        <p14:creationId xmlns:p14="http://schemas.microsoft.com/office/powerpoint/2010/main" val="40508122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D96F3-6663-E93B-8396-4E4B0A6C5B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C40A13-6AEC-4E21-82F5-0A3A4C65D8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11239-430B-2833-D1FF-1D0B19428173}"/>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ACC501EE-2738-6335-A377-B6F9298CC936}"/>
              </a:ext>
            </a:extLst>
          </p:cNvPr>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a:extLst>
              <a:ext uri="{FF2B5EF4-FFF2-40B4-BE49-F238E27FC236}">
                <a16:creationId xmlns:a16="http://schemas.microsoft.com/office/drawing/2014/main" id="{932DD722-EC63-F971-4D7A-CFEFF0BBD70C}"/>
              </a:ext>
            </a:extLst>
          </p:cNvPr>
          <p:cNvSpPr>
            <a:spLocks noGrp="1"/>
          </p:cNvSpPr>
          <p:nvPr>
            <p:ph type="sldNum" sz="quarter" idx="5"/>
          </p:nvPr>
        </p:nvSpPr>
        <p:spPr/>
        <p:txBody>
          <a:bodyPr/>
          <a:lstStyle/>
          <a:p>
            <a:fld id="{CC452610-1F1A-48BB-81B3-3167D77B5272}" type="slidenum">
              <a:rPr lang="en-US" smtClean="0"/>
              <a:pPr/>
              <a:t>34</a:t>
            </a:fld>
            <a:endParaRPr lang="en-US" sz="800"/>
          </a:p>
        </p:txBody>
      </p:sp>
    </p:spTree>
    <p:extLst>
      <p:ext uri="{BB962C8B-B14F-4D97-AF65-F5344CB8AC3E}">
        <p14:creationId xmlns:p14="http://schemas.microsoft.com/office/powerpoint/2010/main" val="33533266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a:spcBef>
                <a:spcPts val="800"/>
              </a:spcBef>
              <a:buFont typeface="Arial" panose="020B0604020202020204" pitchFamily="34" charset="0"/>
              <a:buChar char="•"/>
            </a:pPr>
            <a:r>
              <a:rPr lang="en-US" dirty="0"/>
              <a:t>Bootstrap stratified by Sex*Race to retain a realistic covariate correlation structure</a:t>
            </a:r>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35</a:t>
            </a:fld>
            <a:endParaRPr lang="en-US" sz="800"/>
          </a:p>
        </p:txBody>
      </p:sp>
    </p:spTree>
    <p:extLst>
      <p:ext uri="{BB962C8B-B14F-4D97-AF65-F5344CB8AC3E}">
        <p14:creationId xmlns:p14="http://schemas.microsoft.com/office/powerpoint/2010/main" val="26760950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C17CB-87E7-4009-FDD9-CBB17C313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B6DF7A-2941-DC30-3A89-0105C01A5F84}"/>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BA1C837-161A-341C-C019-720450B67AAE}"/>
                  </a:ext>
                </a:extLst>
              </p:cNvPr>
              <p:cNvSpPr>
                <a:spLocks noGrp="1"/>
              </p:cNvSpPr>
              <p:nvPr>
                <p:ph type="body" idx="1"/>
              </p:nvPr>
            </p:nvSpPr>
            <p:spPr/>
            <p:txBody>
              <a:bodyPr/>
              <a:lstStyle/>
              <a:p>
                <a:r>
                  <a:rPr lang="en-US" dirty="0"/>
                  <a:t>“This slide shows how the VAE-NLME workflow estimates population parameters and screens covariate effects in one training loop. First, the patient data, including observations, time, and covariates, are passed into an LSTM encoder. The encoder estimates an approximate posterior distribution for each subject’s latent individual parameters. From that distribution, the model samples individual parameters using the reparameterization trick, </a:t>
                </a:r>
                <a14:m>
                  <m:oMath xmlns:m="http://schemas.openxmlformats.org/officeDocument/2006/math">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𝑧</m:t>
                        </m:r>
                      </m:e>
                      <m:sub>
                        <m:r>
                          <a:rPr lang="en-US" sz="1200" i="1" kern="1200">
                            <a:solidFill>
                              <a:schemeClr val="tx1"/>
                            </a:solidFill>
                            <a:latin typeface="Cambria Math" panose="02040503050406030204" pitchFamily="18" charset="0"/>
                            <a:ea typeface="+mn-ea"/>
                            <a:cs typeface="+mn-cs"/>
                          </a:rPr>
                          <m:t>𝑖</m:t>
                        </m:r>
                      </m:sub>
                    </m:sSub>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𝜇</m:t>
                        </m:r>
                      </m:e>
                      <m:sub>
                        <m:r>
                          <a:rPr lang="en-US" sz="1200" i="1" kern="1200">
                            <a:solidFill>
                              <a:schemeClr val="tx1"/>
                            </a:solidFill>
                            <a:latin typeface="Cambria Math" panose="02040503050406030204" pitchFamily="18" charset="0"/>
                            <a:ea typeface="+mn-ea"/>
                            <a:cs typeface="+mn-cs"/>
                          </a:rPr>
                          <m:t>𝑖</m:t>
                        </m:r>
                      </m:sub>
                    </m:sSub>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𝐿</m:t>
                        </m:r>
                      </m:e>
                      <m:sub>
                        <m:r>
                          <a:rPr lang="en-US" sz="1200" i="1" kern="1200">
                            <a:solidFill>
                              <a:schemeClr val="tx1"/>
                            </a:solidFill>
                            <a:latin typeface="Cambria Math" panose="02040503050406030204" pitchFamily="18" charset="0"/>
                            <a:ea typeface="+mn-ea"/>
                            <a:cs typeface="+mn-cs"/>
                          </a:rPr>
                          <m:t>𝑖</m:t>
                        </m:r>
                      </m:sub>
                    </m:sSub>
                    <m:r>
                      <a:rPr lang="en-US" sz="1200" i="1" kern="1200">
                        <a:solidFill>
                          <a:schemeClr val="tx1"/>
                        </a:solidFill>
                        <a:latin typeface="Cambria Math" panose="02040503050406030204" pitchFamily="18" charset="0"/>
                        <a:ea typeface="+mn-ea"/>
                        <a:cs typeface="+mn-cs"/>
                      </a:rPr>
                      <m:t>𝜖</m:t>
                    </m:r>
                  </m:oMath>
                </a14:m>
                <a:r>
                  <a:rPr lang="en-US" dirty="0"/>
                  <a:t>.</a:t>
                </a:r>
              </a:p>
              <a:p>
                <a:r>
                  <a:rPr lang="en-US" dirty="0"/>
                  <a:t>These sampled individual parameters are then passed into the ODE decoder, which is the structural </a:t>
                </a:r>
                <a:r>
                  <a:rPr lang="en-US" dirty="0" err="1"/>
                  <a:t>pharmacometric</a:t>
                </a:r>
                <a:r>
                  <a:rPr lang="en-US" dirty="0"/>
                  <a:t> model. The decoder uses </a:t>
                </a:r>
                <a14:m>
                  <m:oMath xmlns:m="http://schemas.openxmlformats.org/officeDocument/2006/math">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𝑧</m:t>
                        </m:r>
                      </m:e>
                      <m:sub>
                        <m:r>
                          <a:rPr lang="en-US" sz="1200" i="1" kern="1200">
                            <a:solidFill>
                              <a:schemeClr val="tx1"/>
                            </a:solidFill>
                            <a:latin typeface="Cambria Math" panose="02040503050406030204" pitchFamily="18" charset="0"/>
                            <a:ea typeface="+mn-ea"/>
                            <a:cs typeface="+mn-cs"/>
                          </a:rPr>
                          <m:t>𝑖</m:t>
                        </m:r>
                      </m:sub>
                    </m:sSub>
                  </m:oMath>
                </a14:m>
                <a:r>
                  <a:rPr lang="en-US" dirty="0"/>
                  <a:t>to generate predictions and compare them with the observed data.</a:t>
                </a:r>
              </a:p>
              <a:p>
                <a:r>
                  <a:rPr lang="en-US" dirty="0"/>
                  <a:t>Next, the population M-step updates the population model. It explains the inferred individual parameters using population means, covariate effects, and random variability: </a:t>
                </a:r>
                <a14:m>
                  <m:oMath xmlns:m="http://schemas.openxmlformats.org/officeDocument/2006/math">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𝑧</m:t>
                        </m:r>
                      </m:e>
                      <m:sub>
                        <m:r>
                          <a:rPr lang="en-US" sz="1200" i="1" kern="1200">
                            <a:solidFill>
                              <a:schemeClr val="tx1"/>
                            </a:solidFill>
                            <a:latin typeface="Cambria Math" panose="02040503050406030204" pitchFamily="18" charset="0"/>
                            <a:ea typeface="+mn-ea"/>
                            <a:cs typeface="+mn-cs"/>
                          </a:rPr>
                          <m:t>𝑖</m:t>
                        </m:r>
                      </m:sub>
                    </m:sSub>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𝑧</m:t>
                        </m:r>
                      </m:e>
                      <m:sub>
                        <m:r>
                          <a:rPr lang="en-US" sz="1200" i="1" kern="1200">
                            <a:solidFill>
                              <a:schemeClr val="tx1"/>
                            </a:solidFill>
                            <a:latin typeface="Cambria Math" panose="02040503050406030204" pitchFamily="18" charset="0"/>
                            <a:ea typeface="+mn-ea"/>
                            <a:cs typeface="+mn-cs"/>
                          </a:rPr>
                          <m:t>𝑝𝑜𝑝</m:t>
                        </m:r>
                      </m:sub>
                    </m:sSub>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𝛽</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𝑐</m:t>
                        </m:r>
                      </m:e>
                      <m:sub>
                        <m:r>
                          <a:rPr lang="en-US" sz="1200" i="1" kern="1200">
                            <a:solidFill>
                              <a:schemeClr val="tx1"/>
                            </a:solidFill>
                            <a:latin typeface="Cambria Math" panose="02040503050406030204" pitchFamily="18" charset="0"/>
                            <a:ea typeface="+mn-ea"/>
                            <a:cs typeface="+mn-cs"/>
                          </a:rPr>
                          <m:t>𝑖</m:t>
                        </m:r>
                      </m:sub>
                    </m:sSub>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𝜂</m:t>
                        </m:r>
                      </m:e>
                      <m:sub>
                        <m:r>
                          <a:rPr lang="en-US" sz="1200" i="1" kern="1200">
                            <a:solidFill>
                              <a:schemeClr val="tx1"/>
                            </a:solidFill>
                            <a:latin typeface="Cambria Math" panose="02040503050406030204" pitchFamily="18" charset="0"/>
                            <a:ea typeface="+mn-ea"/>
                            <a:cs typeface="+mn-cs"/>
                          </a:rPr>
                          <m:t>𝑖</m:t>
                        </m:r>
                      </m:sub>
                    </m:sSub>
                  </m:oMath>
                </a14:m>
                <a:r>
                  <a:rPr lang="en-US" dirty="0"/>
                  <a:t>. This is also where covariate selection happens. Each latent parameter is regressed on candidate covariates, and an L0 </a:t>
                </a:r>
                <a:r>
                  <a:rPr lang="en-US" dirty="0" err="1"/>
                  <a:t>BICc</a:t>
                </a:r>
                <a:r>
                  <a:rPr lang="en-US" dirty="0"/>
                  <a:t>-style penalty keeps only covariate effects that improve the fit enough to justify the added complexity.</a:t>
                </a:r>
              </a:p>
              <a:p>
                <a:r>
                  <a:rPr lang="en-US" dirty="0"/>
                  <a:t>Finally, the algorithm checks whether the penalized objective has converged. If not, it updates the model parameters and repeats. If yes, the final output is the estimated parameters and selected covariate effects.”</a:t>
                </a:r>
              </a:p>
              <a:p>
                <a:r>
                  <a:rPr lang="en-US" sz="1200" b="0" i="0" kern="1200" dirty="0">
                    <a:solidFill>
                      <a:schemeClr val="tx1"/>
                    </a:solidFill>
                    <a:effectLst/>
                    <a:latin typeface="+mj-lt"/>
                    <a:ea typeface="+mn-ea"/>
                    <a:cs typeface="+mn-cs"/>
                  </a:rPr>
                  <a:t>individual parameters, and the decoder uses those parameters in the structural model to predict observations</a:t>
                </a:r>
                <a:r>
                  <a:rPr lang="en-US" sz="1200" b="1" i="0" kern="1200" dirty="0">
                    <a:solidFill>
                      <a:schemeClr val="tx1"/>
                    </a:solidFill>
                    <a:effectLst/>
                    <a:latin typeface="+mj-lt"/>
                    <a:ea typeface="+mn-ea"/>
                    <a:cs typeface="+mn-cs"/>
                  </a:rPr>
                  <a:t>’</a:t>
                </a:r>
              </a:p>
            </p:txBody>
          </p:sp>
        </mc:Choice>
        <mc:Fallback xmlns="">
          <p:sp>
            <p:nvSpPr>
              <p:cNvPr id="3" name="Notes Placeholder 2">
                <a:extLst>
                  <a:ext uri="{FF2B5EF4-FFF2-40B4-BE49-F238E27FC236}">
                    <a16:creationId xmlns:a16="http://schemas.microsoft.com/office/drawing/2014/main" id="{ABA1C837-161A-341C-C019-720450B67AAE}"/>
                  </a:ext>
                </a:extLst>
              </p:cNvPr>
              <p:cNvSpPr>
                <a:spLocks noGrp="1"/>
              </p:cNvSpPr>
              <p:nvPr>
                <p:ph type="body" idx="1"/>
              </p:nvPr>
            </p:nvSpPr>
            <p:spPr/>
            <p:txBody>
              <a:bodyPr/>
              <a:lstStyle/>
              <a:p>
                <a:r>
                  <a:rPr lang="en-US" dirty="0"/>
                  <a:t>“This slide shows how the VAE-NLME workflow estimates population parameters and screens covariate effects in one training loop. First, the patient data, including observations, time, and covariates, are passed into an LSTM encoder. The encoder estimates an approximate posterior distribution for each subject’s latent individual parameters. From that distribution, the model samples individual parameters using the reparameterization trick, </a:t>
                </a:r>
                <a:r>
                  <a:rPr lang="en-US" sz="1200" i="0" kern="1200">
                    <a:solidFill>
                      <a:schemeClr val="tx1"/>
                    </a:solidFill>
                    <a:latin typeface="Cambria Math" panose="02040503050406030204" pitchFamily="18" charset="0"/>
                    <a:ea typeface="+mn-ea"/>
                    <a:cs typeface="+mn-cs"/>
                  </a:rPr>
                  <a:t>𝑧_𝑖=𝜇_𝑖+𝐿_𝑖 𝜖</a:t>
                </a:r>
                <a:r>
                  <a:rPr lang="en-US" dirty="0"/>
                  <a:t>.</a:t>
                </a:r>
              </a:p>
              <a:p>
                <a:r>
                  <a:rPr lang="en-US" dirty="0"/>
                  <a:t>These sampled individual parameters are then passed into the ODE decoder, which is the structural </a:t>
                </a:r>
                <a:r>
                  <a:rPr lang="en-US" dirty="0" err="1"/>
                  <a:t>pharmacometric</a:t>
                </a:r>
                <a:r>
                  <a:rPr lang="en-US" dirty="0"/>
                  <a:t> model. The decoder uses </a:t>
                </a:r>
                <a:r>
                  <a:rPr lang="en-US" sz="1200" i="0" kern="1200">
                    <a:solidFill>
                      <a:schemeClr val="tx1"/>
                    </a:solidFill>
                    <a:latin typeface="Cambria Math" panose="02040503050406030204" pitchFamily="18" charset="0"/>
                    <a:ea typeface="+mn-ea"/>
                    <a:cs typeface="+mn-cs"/>
                  </a:rPr>
                  <a:t>𝑧_𝑖</a:t>
                </a:r>
                <a:r>
                  <a:rPr lang="en-US" dirty="0"/>
                  <a:t>to generate predictions and compare them with the observed data.</a:t>
                </a:r>
              </a:p>
              <a:p>
                <a:r>
                  <a:rPr lang="en-US" dirty="0"/>
                  <a:t>Next, the population M-step updates the population model. It explains the inferred individual parameters using population means, covariate effects, and random variability: </a:t>
                </a:r>
                <a:r>
                  <a:rPr lang="en-US" sz="1200" i="0" kern="1200">
                    <a:solidFill>
                      <a:schemeClr val="tx1"/>
                    </a:solidFill>
                    <a:latin typeface="Cambria Math" panose="02040503050406030204" pitchFamily="18" charset="0"/>
                    <a:ea typeface="+mn-ea"/>
                    <a:cs typeface="+mn-cs"/>
                  </a:rPr>
                  <a:t>𝑧_𝑖=𝑧_𝑝𝑜𝑝+𝛽𝑐_𝑖+𝜂_𝑖</a:t>
                </a:r>
                <a:r>
                  <a:rPr lang="en-US" dirty="0"/>
                  <a:t>. This is also where covariate selection happens. Each latent parameter is regressed on candidate covariates, and an L0 </a:t>
                </a:r>
                <a:r>
                  <a:rPr lang="en-US" dirty="0" err="1"/>
                  <a:t>BICc</a:t>
                </a:r>
                <a:r>
                  <a:rPr lang="en-US" dirty="0"/>
                  <a:t>-style penalty keeps only covariate effects that improve the fit enough to justify the added complexity.</a:t>
                </a:r>
              </a:p>
              <a:p>
                <a:r>
                  <a:rPr lang="en-US" dirty="0"/>
                  <a:t>Finally, the algorithm checks whether the penalized objective has converged. If not, it updates the model parameters and repeats. If yes, the final output is the estimated parameters and selected covariate effects.”</a:t>
                </a:r>
              </a:p>
              <a:p>
                <a:r>
                  <a:rPr lang="en-US" sz="1200" b="0" i="0" kern="1200" dirty="0">
                    <a:solidFill>
                      <a:schemeClr val="tx1"/>
                    </a:solidFill>
                    <a:effectLst/>
                    <a:latin typeface="+mj-lt"/>
                    <a:ea typeface="+mn-ea"/>
                    <a:cs typeface="+mn-cs"/>
                  </a:rPr>
                  <a:t>individual parameters, and the decoder uses those parameters in the structural model to predict observations</a:t>
                </a:r>
                <a:r>
                  <a:rPr lang="en-US" sz="1200" b="1" i="0" kern="1200" dirty="0">
                    <a:solidFill>
                      <a:schemeClr val="tx1"/>
                    </a:solidFill>
                    <a:effectLst/>
                    <a:latin typeface="+mj-lt"/>
                    <a:ea typeface="+mn-ea"/>
                    <a:cs typeface="+mn-cs"/>
                  </a:rPr>
                  <a:t>’</a:t>
                </a:r>
              </a:p>
            </p:txBody>
          </p:sp>
        </mc:Fallback>
      </mc:AlternateContent>
      <p:sp>
        <p:nvSpPr>
          <p:cNvPr id="4" name="Footer Placeholder 3">
            <a:extLst>
              <a:ext uri="{FF2B5EF4-FFF2-40B4-BE49-F238E27FC236}">
                <a16:creationId xmlns:a16="http://schemas.microsoft.com/office/drawing/2014/main" id="{E5E7E1FB-E41E-19D6-0711-16C778582D68}"/>
              </a:ext>
            </a:extLst>
          </p:cNvPr>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a:extLst>
              <a:ext uri="{FF2B5EF4-FFF2-40B4-BE49-F238E27FC236}">
                <a16:creationId xmlns:a16="http://schemas.microsoft.com/office/drawing/2014/main" id="{BA847DBB-8334-9ADF-94F0-6EE5B021C099}"/>
              </a:ext>
            </a:extLst>
          </p:cNvPr>
          <p:cNvSpPr>
            <a:spLocks noGrp="1"/>
          </p:cNvSpPr>
          <p:nvPr>
            <p:ph type="sldNum" sz="quarter" idx="5"/>
          </p:nvPr>
        </p:nvSpPr>
        <p:spPr/>
        <p:txBody>
          <a:bodyPr/>
          <a:lstStyle/>
          <a:p>
            <a:fld id="{CC452610-1F1A-48BB-81B3-3167D77B5272}" type="slidenum">
              <a:rPr lang="en-US" smtClean="0"/>
              <a:pPr/>
              <a:t>37</a:t>
            </a:fld>
            <a:endParaRPr lang="en-US" sz="800"/>
          </a:p>
        </p:txBody>
      </p:sp>
    </p:spTree>
    <p:extLst>
      <p:ext uri="{BB962C8B-B14F-4D97-AF65-F5344CB8AC3E}">
        <p14:creationId xmlns:p14="http://schemas.microsoft.com/office/powerpoint/2010/main" val="19952387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nested (candidate) model cannot legitimately be worse than its parent at a true optimum, because the parent is a special case (covariate coefficient = 0) nested inside the candidate. </a:t>
            </a:r>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39</a:t>
            </a:fld>
            <a:endParaRPr lang="en-US" sz="800"/>
          </a:p>
        </p:txBody>
      </p:sp>
    </p:spTree>
    <p:extLst>
      <p:ext uri="{BB962C8B-B14F-4D97-AF65-F5344CB8AC3E}">
        <p14:creationId xmlns:p14="http://schemas.microsoft.com/office/powerpoint/2010/main" val="16332760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NONMEM's FOCE uses its own line-search/quasi-Newton type scheme with analytic-</a:t>
            </a:r>
            <a:r>
              <a:rPr lang="en-US" dirty="0" err="1"/>
              <a:t>ish</a:t>
            </a:r>
            <a:r>
              <a:rPr lang="en-US" dirty="0"/>
              <a:t> gradients and internal step control that is robust at flat starting regions</a:t>
            </a:r>
            <a:br>
              <a:rPr lang="en-US" dirty="0"/>
            </a:br>
            <a:r>
              <a:rPr lang="en-US" dirty="0" err="1"/>
              <a:t>foceif</a:t>
            </a:r>
            <a:r>
              <a:rPr lang="en-US" dirty="0"/>
              <a:t> [try again] </a:t>
            </a:r>
            <a:r>
              <a:rPr lang="en-US" dirty="0" err="1"/>
              <a:t>lgfbsXX</a:t>
            </a:r>
            <a:r>
              <a:rPr lang="en-US" dirty="0"/>
              <a:t> – finite difference &amp; analytic gradient     </a:t>
            </a:r>
            <a:r>
              <a:rPr lang="en-US" dirty="0" err="1"/>
              <a:t>nonmem</a:t>
            </a:r>
            <a:r>
              <a:rPr lang="en-US" dirty="0"/>
              <a:t>-&gt; use </a:t>
            </a:r>
            <a:r>
              <a:rPr lang="en-US" dirty="0" err="1"/>
              <a:t>foceif</a:t>
            </a:r>
            <a:r>
              <a:rPr lang="en-US" dirty="0"/>
              <a:t> </a:t>
            </a:r>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40</a:t>
            </a:fld>
            <a:endParaRPr lang="en-US" sz="800"/>
          </a:p>
        </p:txBody>
      </p:sp>
    </p:spTree>
    <p:extLst>
      <p:ext uri="{BB962C8B-B14F-4D97-AF65-F5344CB8AC3E}">
        <p14:creationId xmlns:p14="http://schemas.microsoft.com/office/powerpoint/2010/main" val="22603407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41</a:t>
            </a:fld>
            <a:endParaRPr lang="en-US" sz="800"/>
          </a:p>
        </p:txBody>
      </p:sp>
    </p:spTree>
    <p:extLst>
      <p:ext uri="{BB962C8B-B14F-4D97-AF65-F5344CB8AC3E}">
        <p14:creationId xmlns:p14="http://schemas.microsoft.com/office/powerpoint/2010/main" val="34770608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sz="800"/>
              <a:t>Placeholder for the presentation title  |  Date (Insert → header and footer)</a:t>
            </a:r>
          </a:p>
        </p:txBody>
      </p:sp>
      <p:sp>
        <p:nvSpPr>
          <p:cNvPr id="5" name="Slide Number Placeholder 4"/>
          <p:cNvSpPr>
            <a:spLocks noGrp="1"/>
          </p:cNvSpPr>
          <p:nvPr>
            <p:ph type="sldNum" sz="quarter" idx="5"/>
          </p:nvPr>
        </p:nvSpPr>
        <p:spPr/>
        <p:txBody>
          <a:bodyPr/>
          <a:lstStyle/>
          <a:p>
            <a:fld id="{CC452610-1F1A-48BB-81B3-3167D77B5272}" type="slidenum">
              <a:rPr lang="en-US" smtClean="0"/>
              <a:pPr/>
              <a:t>46</a:t>
            </a:fld>
            <a:endParaRPr lang="en-US" sz="800"/>
          </a:p>
        </p:txBody>
      </p:sp>
    </p:spTree>
    <p:extLst>
      <p:ext uri="{BB962C8B-B14F-4D97-AF65-F5344CB8AC3E}">
        <p14:creationId xmlns:p14="http://schemas.microsoft.com/office/powerpoint/2010/main" val="36622482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age">
    <p:spTree>
      <p:nvGrpSpPr>
        <p:cNvPr id="1" name=""/>
        <p:cNvGrpSpPr/>
        <p:nvPr/>
      </p:nvGrpSpPr>
      <p:grpSpPr>
        <a:xfrm>
          <a:off x="0" y="0"/>
          <a:ext cx="0" cy="0"/>
          <a:chOff x="0" y="0"/>
          <a:chExt cx="0" cy="0"/>
        </a:xfrm>
      </p:grpSpPr>
      <p:pic>
        <p:nvPicPr>
          <p:cNvPr id="42" name="Logo">
            <a:extLst>
              <a:ext uri="{FF2B5EF4-FFF2-40B4-BE49-F238E27FC236}">
                <a16:creationId xmlns:a16="http://schemas.microsoft.com/office/drawing/2014/main" id="{572B6447-BD74-E19F-F82F-B6AB6B813F3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1419251497"/>
      </p:ext>
    </p:extLst>
  </p:cSld>
  <p:clrMapOvr>
    <a:masterClrMapping/>
  </p:clrMapOvr>
  <p:extLst>
    <p:ext uri="{DCECCB84-F9BA-43D5-87BE-67443E8EF086}">
      <p15:sldGuideLst xmlns:p15="http://schemas.microsoft.com/office/powerpoint/2012/main">
        <p15:guide id="3" pos="2615">
          <p15:clr>
            <a:srgbClr val="9FCC3B"/>
          </p15:clr>
        </p15:guide>
        <p15:guide id="4" pos="2706">
          <p15:clr>
            <a:srgbClr val="9FCC3B"/>
          </p15:clr>
        </p15:guide>
        <p15:guide id="5" pos="4974">
          <p15:clr>
            <a:srgbClr val="9FCC3B"/>
          </p15:clr>
        </p15:guide>
        <p15:guide id="6" pos="5065">
          <p15:clr>
            <a:srgbClr val="9FCC3B"/>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 Title slide 1">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6" name="Gradient background">
            <a:extLst>
              <a:ext uri="{FF2B5EF4-FFF2-40B4-BE49-F238E27FC236}">
                <a16:creationId xmlns:a16="http://schemas.microsoft.com/office/drawing/2014/main" id="{92928F57-07A1-1A1B-92F7-6684E21D98A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hidden">
          <a:xfrm>
            <a:off x="0" y="6057900"/>
            <a:ext cx="12192000" cy="800100"/>
          </a:xfrm>
          <a:prstGeom prst="rect">
            <a:avLst/>
          </a:prstGeom>
        </p:spPr>
      </p:pic>
      <p:sp>
        <p:nvSpPr>
          <p:cNvPr id="7" name="Title 1">
            <a:extLst>
              <a:ext uri="{FF2B5EF4-FFF2-40B4-BE49-F238E27FC236}">
                <a16:creationId xmlns:a16="http://schemas.microsoft.com/office/drawing/2014/main" id="{DE11E6EF-7DEE-709C-8F7C-C05A9D414CD0}"/>
              </a:ext>
            </a:extLst>
          </p:cNvPr>
          <p:cNvSpPr>
            <a:spLocks noGrp="1"/>
          </p:cNvSpPr>
          <p:nvPr>
            <p:ph type="ctrTitle" hasCustomPrompt="1"/>
          </p:nvPr>
        </p:nvSpPr>
        <p:spPr bwMode="gray">
          <a:xfrm>
            <a:off x="551384" y="726029"/>
            <a:ext cx="10080000" cy="3687997"/>
          </a:xfrm>
        </p:spPr>
        <p:txBody>
          <a:bodyPr anchor="t">
            <a:spAutoFit/>
          </a:bodyPr>
          <a:lstStyle>
            <a:lvl1pPr algn="l">
              <a:lnSpc>
                <a:spcPct val="83000"/>
              </a:lnSpc>
              <a:defRPr sz="9600" spc="0" baseline="0">
                <a:solidFill>
                  <a:schemeClr val="tx1"/>
                </a:solidFill>
              </a:defRPr>
            </a:lvl1pPr>
          </a:lstStyle>
          <a:p>
            <a:r>
              <a:rPr lang="en-US" noProof="0"/>
              <a:t>Edit presentation title (maximum three lines)</a:t>
            </a:r>
          </a:p>
        </p:txBody>
      </p:sp>
      <p:sp>
        <p:nvSpPr>
          <p:cNvPr id="8" name="Subtitle 2">
            <a:extLst>
              <a:ext uri="{FF2B5EF4-FFF2-40B4-BE49-F238E27FC236}">
                <a16:creationId xmlns:a16="http://schemas.microsoft.com/office/drawing/2014/main" id="{156DCA5C-54BE-B570-7771-24B6F32B8654}"/>
              </a:ext>
            </a:extLst>
          </p:cNvPr>
          <p:cNvSpPr>
            <a:spLocks noGrp="1"/>
          </p:cNvSpPr>
          <p:nvPr>
            <p:ph type="subTitle" idx="1" hasCustomPrompt="1"/>
          </p:nvPr>
        </p:nvSpPr>
        <p:spPr bwMode="gray">
          <a:xfrm>
            <a:off x="551384" y="4554387"/>
            <a:ext cx="5472608" cy="369332"/>
          </a:xfrm>
          <a:prstGeom prst="rect">
            <a:avLst/>
          </a:prstGeom>
        </p:spPr>
        <p:txBody>
          <a:bodyPr wrap="square">
            <a:spAutoFit/>
          </a:bodyPr>
          <a:lstStyle>
            <a:lvl1pPr marL="0" indent="0" algn="l">
              <a:spcBef>
                <a:spcPts val="0"/>
              </a:spcBef>
              <a:buNone/>
              <a:defRPr sz="2400" b="1">
                <a:solidFill>
                  <a:schemeClr val="tx1"/>
                </a:solidFill>
                <a:latin typeface="+mj-lt"/>
              </a:defRPr>
            </a:lvl1pPr>
            <a:lvl2pPr marL="0" indent="0" algn="l">
              <a:spcBef>
                <a:spcPts val="0"/>
              </a:spcBef>
              <a:buNone/>
              <a:defRPr sz="2400" b="1">
                <a:solidFill>
                  <a:schemeClr val="tx1"/>
                </a:solidFill>
                <a:latin typeface="+mj-lt"/>
              </a:defRPr>
            </a:lvl2pPr>
            <a:lvl3pPr marL="0" indent="0" algn="l">
              <a:spcBef>
                <a:spcPts val="0"/>
              </a:spcBef>
              <a:buNone/>
              <a:defRPr sz="2400" b="1">
                <a:solidFill>
                  <a:schemeClr val="tx1"/>
                </a:solidFill>
                <a:latin typeface="+mj-lt"/>
              </a:defRPr>
            </a:lvl3pPr>
            <a:lvl4pPr marL="0" indent="0" algn="l">
              <a:spcBef>
                <a:spcPts val="0"/>
              </a:spcBef>
              <a:buNone/>
              <a:defRPr sz="2400" b="1">
                <a:solidFill>
                  <a:schemeClr val="tx1"/>
                </a:solidFill>
                <a:latin typeface="+mj-lt"/>
              </a:defRPr>
            </a:lvl4pPr>
            <a:lvl5pPr marL="0" indent="0" algn="l">
              <a:spcBef>
                <a:spcPts val="0"/>
              </a:spcBef>
              <a:buNone/>
              <a:defRPr sz="2400" b="1">
                <a:solidFill>
                  <a:schemeClr val="tx1"/>
                </a:solidFill>
                <a:latin typeface="+mj-lt"/>
              </a:defRPr>
            </a:lvl5pPr>
            <a:lvl6pPr marL="0" indent="0" algn="l">
              <a:spcBef>
                <a:spcPts val="0"/>
              </a:spcBef>
              <a:buNone/>
              <a:defRPr sz="2400" b="1">
                <a:solidFill>
                  <a:schemeClr val="tx1"/>
                </a:solidFill>
                <a:latin typeface="+mj-lt"/>
              </a:defRPr>
            </a:lvl6pPr>
            <a:lvl7pPr marL="0" indent="0" algn="l">
              <a:spcBef>
                <a:spcPts val="0"/>
              </a:spcBef>
              <a:buNone/>
              <a:defRPr sz="2400" b="1">
                <a:solidFill>
                  <a:schemeClr val="tx1"/>
                </a:solidFill>
                <a:latin typeface="+mj-lt"/>
              </a:defRPr>
            </a:lvl7pPr>
            <a:lvl8pPr marL="0" indent="0" algn="l">
              <a:spcBef>
                <a:spcPts val="0"/>
              </a:spcBef>
              <a:buNone/>
              <a:defRPr sz="2400" b="1">
                <a:solidFill>
                  <a:schemeClr val="tx1"/>
                </a:solidFill>
                <a:latin typeface="+mj-lt"/>
              </a:defRPr>
            </a:lvl8pPr>
            <a:lvl9pPr marL="0" indent="0" algn="l">
              <a:spcBef>
                <a:spcPts val="0"/>
              </a:spcBef>
              <a:buNone/>
              <a:defRPr sz="2400" b="1">
                <a:solidFill>
                  <a:schemeClr val="tx1"/>
                </a:solidFill>
                <a:latin typeface="+mj-lt"/>
              </a:defRPr>
            </a:lvl9pPr>
          </a:lstStyle>
          <a:p>
            <a:pPr lvl="0"/>
            <a:r>
              <a:rPr lang="en-US" noProof="0"/>
              <a:t>Click to edit Name Surname</a:t>
            </a:r>
          </a:p>
        </p:txBody>
      </p:sp>
      <p:sp>
        <p:nvSpPr>
          <p:cNvPr id="9" name="Text Placeholder 1">
            <a:extLst>
              <a:ext uri="{FF2B5EF4-FFF2-40B4-BE49-F238E27FC236}">
                <a16:creationId xmlns:a16="http://schemas.microsoft.com/office/drawing/2014/main" id="{9CEC8C55-6D9F-A0BC-1D15-F83CA5ED26DA}"/>
              </a:ext>
            </a:extLst>
          </p:cNvPr>
          <p:cNvSpPr>
            <a:spLocks noGrp="1"/>
          </p:cNvSpPr>
          <p:nvPr>
            <p:ph type="body" sz="quarter" idx="12" hasCustomPrompt="1"/>
          </p:nvPr>
        </p:nvSpPr>
        <p:spPr bwMode="gray">
          <a:xfrm>
            <a:off x="6168505" y="4554387"/>
            <a:ext cx="4464000" cy="369332"/>
          </a:xfrm>
        </p:spPr>
        <p:txBody>
          <a:bodyPr>
            <a:noAutofit/>
          </a:bodyPr>
          <a:lstStyle>
            <a:lvl1pPr marL="0" indent="0" algn="r">
              <a:spcBef>
                <a:spcPts val="0"/>
              </a:spcBef>
              <a:buFont typeface="Arial" panose="020B0604020202020204" pitchFamily="34" charset="0"/>
              <a:buNone/>
              <a:defRPr sz="2400" b="0">
                <a:solidFill>
                  <a:schemeClr val="tx1"/>
                </a:solidFill>
                <a:latin typeface="+mn-lt"/>
              </a:defRPr>
            </a:lvl1pPr>
            <a:lvl2pPr marL="0" indent="0" algn="r">
              <a:spcBef>
                <a:spcPts val="0"/>
              </a:spcBef>
              <a:buFont typeface="Arial" panose="020B0604020202020204" pitchFamily="34" charset="0"/>
              <a:buNone/>
              <a:defRPr sz="2400" b="0">
                <a:solidFill>
                  <a:schemeClr val="tx1"/>
                </a:solidFill>
                <a:latin typeface="+mn-lt"/>
              </a:defRPr>
            </a:lvl2pPr>
            <a:lvl3pPr marL="0" indent="0" algn="r">
              <a:spcBef>
                <a:spcPts val="0"/>
              </a:spcBef>
              <a:buNone/>
              <a:defRPr sz="2400" b="0">
                <a:solidFill>
                  <a:schemeClr val="tx1"/>
                </a:solidFill>
                <a:latin typeface="+mn-lt"/>
              </a:defRPr>
            </a:lvl3pPr>
            <a:lvl4pPr marL="0" indent="0" algn="r">
              <a:spcBef>
                <a:spcPts val="0"/>
              </a:spcBef>
              <a:buNone/>
              <a:defRPr sz="2400" b="0">
                <a:solidFill>
                  <a:schemeClr val="tx1"/>
                </a:solidFill>
                <a:latin typeface="+mn-lt"/>
              </a:defRPr>
            </a:lvl4pPr>
            <a:lvl5pPr marL="0" indent="0" algn="r">
              <a:spcBef>
                <a:spcPts val="0"/>
              </a:spcBef>
              <a:buNone/>
              <a:defRPr sz="2400" b="0">
                <a:solidFill>
                  <a:schemeClr val="tx1"/>
                </a:solidFill>
                <a:latin typeface="+mn-lt"/>
              </a:defRPr>
            </a:lvl5pPr>
            <a:lvl6pPr marL="0" indent="0" algn="r">
              <a:spcBef>
                <a:spcPts val="0"/>
              </a:spcBef>
              <a:buNone/>
              <a:defRPr sz="2400" b="0">
                <a:solidFill>
                  <a:schemeClr val="tx1"/>
                </a:solidFill>
                <a:latin typeface="+mn-lt"/>
              </a:defRPr>
            </a:lvl6pPr>
            <a:lvl7pPr marL="0" indent="0" algn="r">
              <a:spcBef>
                <a:spcPts val="0"/>
              </a:spcBef>
              <a:buNone/>
              <a:defRPr sz="2400" b="0">
                <a:solidFill>
                  <a:schemeClr val="tx1"/>
                </a:solidFill>
                <a:latin typeface="+mn-lt"/>
              </a:defRPr>
            </a:lvl7pPr>
            <a:lvl8pPr marL="0" indent="0" algn="r">
              <a:spcBef>
                <a:spcPts val="0"/>
              </a:spcBef>
              <a:buNone/>
              <a:defRPr sz="2400" b="0">
                <a:solidFill>
                  <a:schemeClr val="tx1"/>
                </a:solidFill>
                <a:latin typeface="+mn-lt"/>
              </a:defRPr>
            </a:lvl8pPr>
            <a:lvl9pPr marL="0" indent="0" algn="r">
              <a:spcBef>
                <a:spcPts val="0"/>
              </a:spcBef>
              <a:buNone/>
              <a:defRPr sz="2400" b="0">
                <a:solidFill>
                  <a:schemeClr val="tx1"/>
                </a:solidFill>
                <a:latin typeface="+mn-lt"/>
              </a:defRPr>
            </a:lvl9pPr>
          </a:lstStyle>
          <a:p>
            <a:pPr lvl="0"/>
            <a:r>
              <a:rPr lang="en-US" noProof="0"/>
              <a:t>Click to edit date</a:t>
            </a:r>
          </a:p>
        </p:txBody>
      </p:sp>
      <p:sp>
        <p:nvSpPr>
          <p:cNvPr id="10" name="Text Placeholder 2">
            <a:extLst>
              <a:ext uri="{FF2B5EF4-FFF2-40B4-BE49-F238E27FC236}">
                <a16:creationId xmlns:a16="http://schemas.microsoft.com/office/drawing/2014/main" id="{F5B90D9E-31F6-9A74-2145-A6288C92CE44}"/>
              </a:ext>
            </a:extLst>
          </p:cNvPr>
          <p:cNvSpPr>
            <a:spLocks noGrp="1"/>
          </p:cNvSpPr>
          <p:nvPr>
            <p:ph type="body" sz="quarter" idx="13" hasCustomPrompt="1"/>
          </p:nvPr>
        </p:nvSpPr>
        <p:spPr bwMode="gray">
          <a:xfrm>
            <a:off x="551383" y="5022439"/>
            <a:ext cx="5472000" cy="184666"/>
          </a:xfrm>
        </p:spPr>
        <p:txBody>
          <a:bodyPr>
            <a:spAutoFit/>
          </a:bodyPr>
          <a:lstStyle>
            <a:lvl1pPr marL="0" indent="0">
              <a:spcBef>
                <a:spcPts val="400"/>
              </a:spcBef>
              <a:buFont typeface="Arial" panose="020B0604020202020204" pitchFamily="34" charset="0"/>
              <a:buNone/>
              <a:defRPr sz="1200" b="0">
                <a:solidFill>
                  <a:schemeClr val="tx1"/>
                </a:solidFill>
                <a:latin typeface="+mn-lt"/>
              </a:defRPr>
            </a:lvl1pPr>
            <a:lvl2pPr marL="0" indent="0">
              <a:spcBef>
                <a:spcPts val="400"/>
              </a:spcBef>
              <a:buFont typeface="Arial" panose="020B0604020202020204" pitchFamily="34" charset="0"/>
              <a:buNone/>
              <a:defRPr sz="1200" b="0">
                <a:solidFill>
                  <a:schemeClr val="tx1"/>
                </a:solidFill>
                <a:latin typeface="+mn-lt"/>
              </a:defRPr>
            </a:lvl2pPr>
            <a:lvl3pPr marL="0" indent="0">
              <a:spcBef>
                <a:spcPts val="400"/>
              </a:spcBef>
              <a:buNone/>
              <a:defRPr sz="1200" b="0">
                <a:solidFill>
                  <a:schemeClr val="tx1"/>
                </a:solidFill>
                <a:latin typeface="+mn-lt"/>
              </a:defRPr>
            </a:lvl3pPr>
            <a:lvl4pPr marL="0" indent="0">
              <a:spcBef>
                <a:spcPts val="400"/>
              </a:spcBef>
              <a:buNone/>
              <a:defRPr sz="1200" b="0">
                <a:solidFill>
                  <a:schemeClr val="tx1"/>
                </a:solidFill>
                <a:latin typeface="+mn-lt"/>
              </a:defRPr>
            </a:lvl4pPr>
            <a:lvl5pPr marL="0" indent="0">
              <a:spcBef>
                <a:spcPts val="400"/>
              </a:spcBef>
              <a:buNone/>
              <a:defRPr sz="1200" b="0">
                <a:solidFill>
                  <a:schemeClr val="tx1"/>
                </a:solidFill>
                <a:latin typeface="+mn-lt"/>
              </a:defRPr>
            </a:lvl5pPr>
            <a:lvl6pPr marL="0" indent="0">
              <a:spcBef>
                <a:spcPts val="400"/>
              </a:spcBef>
              <a:buNone/>
              <a:defRPr sz="1200" b="0">
                <a:solidFill>
                  <a:schemeClr val="tx1"/>
                </a:solidFill>
                <a:latin typeface="+mn-lt"/>
              </a:defRPr>
            </a:lvl6pPr>
            <a:lvl7pPr marL="0" indent="0">
              <a:spcBef>
                <a:spcPts val="400"/>
              </a:spcBef>
              <a:buNone/>
              <a:defRPr sz="1200" b="0">
                <a:solidFill>
                  <a:schemeClr val="tx1"/>
                </a:solidFill>
                <a:latin typeface="+mn-lt"/>
              </a:defRPr>
            </a:lvl7pPr>
            <a:lvl8pPr marL="0" indent="0">
              <a:spcBef>
                <a:spcPts val="400"/>
              </a:spcBef>
              <a:buNone/>
              <a:defRPr sz="1200" b="0">
                <a:solidFill>
                  <a:schemeClr val="tx1"/>
                </a:solidFill>
                <a:latin typeface="+mn-lt"/>
              </a:defRPr>
            </a:lvl8pPr>
            <a:lvl9pPr marL="0" indent="0">
              <a:spcBef>
                <a:spcPts val="400"/>
              </a:spcBef>
              <a:buNone/>
              <a:defRPr sz="1200" b="0">
                <a:solidFill>
                  <a:schemeClr val="tx1"/>
                </a:solidFill>
                <a:latin typeface="+mn-lt"/>
              </a:defRPr>
            </a:lvl9pPr>
          </a:lstStyle>
          <a:p>
            <a:pPr lvl="0"/>
            <a:r>
              <a:rPr lang="en-US" noProof="0"/>
              <a:t>Click to edit subtitle, speaker info, function name, field of research, etc.</a:t>
            </a:r>
          </a:p>
        </p:txBody>
      </p:sp>
      <p:pic>
        <p:nvPicPr>
          <p:cNvPr id="19" name="Logo">
            <a:extLst>
              <a:ext uri="{FF2B5EF4-FFF2-40B4-BE49-F238E27FC236}">
                <a16:creationId xmlns:a16="http://schemas.microsoft.com/office/drawing/2014/main" id="{E1618CDF-9C19-3C90-0476-C964BD896D81}"/>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bwMode="gray">
          <a:xfrm>
            <a:off x="551394" y="6301888"/>
            <a:ext cx="1691980" cy="252837"/>
          </a:xfrm>
          <a:prstGeom prst="rect">
            <a:avLst/>
          </a:prstGeom>
        </p:spPr>
      </p:pic>
      <p:sp>
        <p:nvSpPr>
          <p:cNvPr id="3" name="Footer Placeholder 2">
            <a:extLst>
              <a:ext uri="{FF2B5EF4-FFF2-40B4-BE49-F238E27FC236}">
                <a16:creationId xmlns:a16="http://schemas.microsoft.com/office/drawing/2014/main" id="{C2AEE872-17BA-5687-6409-5D696FD2CCF8}"/>
              </a:ext>
            </a:extLst>
          </p:cNvPr>
          <p:cNvSpPr>
            <a:spLocks noGrp="1"/>
          </p:cNvSpPr>
          <p:nvPr>
            <p:ph type="ftr" sz="quarter" idx="15"/>
          </p:nvPr>
        </p:nvSpPr>
        <p:spPr/>
        <p:txBody>
          <a:bodyPr/>
          <a:lstStyle/>
          <a:p>
            <a:pPr algn="l"/>
            <a:endParaRPr lang="en-US" noProof="0"/>
          </a:p>
        </p:txBody>
      </p:sp>
      <p:sp>
        <p:nvSpPr>
          <p:cNvPr id="4" name="Slide Number Placeholder 3">
            <a:extLst>
              <a:ext uri="{FF2B5EF4-FFF2-40B4-BE49-F238E27FC236}">
                <a16:creationId xmlns:a16="http://schemas.microsoft.com/office/drawing/2014/main" id="{E100544A-606F-A954-EFCC-B2A52625FFC6}"/>
              </a:ext>
            </a:extLst>
          </p:cNvPr>
          <p:cNvSpPr>
            <a:spLocks noGrp="1"/>
          </p:cNvSpPr>
          <p:nvPr>
            <p:ph type="sldNum" sz="quarter" idx="16"/>
          </p:nvPr>
        </p:nvSpPr>
        <p:spPr/>
        <p:txBody>
          <a:bodyPr/>
          <a:lstStyle/>
          <a:p>
            <a:fld id="{1EDD9F3E-8BFD-4E3C-98D1-767322780FDD}" type="slidenum">
              <a:rPr lang="en-US" noProof="0" smtClean="0"/>
              <a:pPr/>
              <a:t>‹#›</a:t>
            </a:fld>
            <a:endParaRPr lang="en-US" noProof="0"/>
          </a:p>
        </p:txBody>
      </p:sp>
    </p:spTree>
    <p:extLst>
      <p:ext uri="{BB962C8B-B14F-4D97-AF65-F5344CB8AC3E}">
        <p14:creationId xmlns:p14="http://schemas.microsoft.com/office/powerpoint/2010/main" val="3599719141"/>
      </p:ext>
    </p:extLst>
  </p:cSld>
  <p:clrMapOvr>
    <a:masterClrMapping/>
  </p:clrMapOvr>
  <p:extLst>
    <p:ext uri="{DCECCB84-F9BA-43D5-87BE-67443E8EF086}">
      <p15:sldGuideLst xmlns:p15="http://schemas.microsoft.com/office/powerpoint/2012/main">
        <p15:guide id="1" pos="669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 Title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95B2D-557F-82D7-1FBB-918B87784154}"/>
              </a:ext>
            </a:extLst>
          </p:cNvPr>
          <p:cNvSpPr>
            <a:spLocks noGrp="1"/>
          </p:cNvSpPr>
          <p:nvPr>
            <p:ph type="ctrTitle" hasCustomPrompt="1"/>
          </p:nvPr>
        </p:nvSpPr>
        <p:spPr bwMode="gray">
          <a:xfrm>
            <a:off x="551384" y="726029"/>
            <a:ext cx="10080000" cy="3687997"/>
          </a:xfrm>
        </p:spPr>
        <p:txBody>
          <a:bodyPr anchor="t">
            <a:spAutoFit/>
          </a:bodyPr>
          <a:lstStyle>
            <a:lvl1pPr algn="l">
              <a:lnSpc>
                <a:spcPct val="83000"/>
              </a:lnSpc>
              <a:defRPr sz="9600" spc="0" baseline="0">
                <a:solidFill>
                  <a:schemeClr val="tx1"/>
                </a:solidFill>
              </a:defRPr>
            </a:lvl1pPr>
          </a:lstStyle>
          <a:p>
            <a:r>
              <a:rPr lang="en-US" noProof="0"/>
              <a:t>Edit presentation title (maximum three lines)</a:t>
            </a:r>
          </a:p>
        </p:txBody>
      </p:sp>
      <p:sp>
        <p:nvSpPr>
          <p:cNvPr id="3" name="Subtitle 2">
            <a:extLst>
              <a:ext uri="{FF2B5EF4-FFF2-40B4-BE49-F238E27FC236}">
                <a16:creationId xmlns:a16="http://schemas.microsoft.com/office/drawing/2014/main" id="{B0416517-6E31-5EB2-9E14-48277588B58E}"/>
              </a:ext>
            </a:extLst>
          </p:cNvPr>
          <p:cNvSpPr>
            <a:spLocks noGrp="1"/>
          </p:cNvSpPr>
          <p:nvPr>
            <p:ph type="subTitle" idx="1" hasCustomPrompt="1"/>
          </p:nvPr>
        </p:nvSpPr>
        <p:spPr bwMode="gray">
          <a:xfrm>
            <a:off x="551384" y="4554387"/>
            <a:ext cx="5472608" cy="369332"/>
          </a:xfrm>
          <a:prstGeom prst="rect">
            <a:avLst/>
          </a:prstGeom>
        </p:spPr>
        <p:txBody>
          <a:bodyPr wrap="square">
            <a:spAutoFit/>
          </a:bodyPr>
          <a:lstStyle>
            <a:lvl1pPr marL="0" indent="0" algn="l">
              <a:spcBef>
                <a:spcPts val="0"/>
              </a:spcBef>
              <a:buNone/>
              <a:defRPr sz="2400" b="1">
                <a:solidFill>
                  <a:schemeClr val="tx1"/>
                </a:solidFill>
                <a:latin typeface="+mj-lt"/>
              </a:defRPr>
            </a:lvl1pPr>
            <a:lvl2pPr marL="0" indent="0" algn="l">
              <a:spcBef>
                <a:spcPts val="0"/>
              </a:spcBef>
              <a:buNone/>
              <a:defRPr sz="2400" b="1">
                <a:solidFill>
                  <a:schemeClr val="tx1"/>
                </a:solidFill>
                <a:latin typeface="+mj-lt"/>
              </a:defRPr>
            </a:lvl2pPr>
            <a:lvl3pPr marL="0" indent="0" algn="l">
              <a:spcBef>
                <a:spcPts val="0"/>
              </a:spcBef>
              <a:buNone/>
              <a:defRPr sz="2400" b="1">
                <a:solidFill>
                  <a:schemeClr val="tx1"/>
                </a:solidFill>
                <a:latin typeface="+mj-lt"/>
              </a:defRPr>
            </a:lvl3pPr>
            <a:lvl4pPr marL="0" indent="0" algn="l">
              <a:spcBef>
                <a:spcPts val="0"/>
              </a:spcBef>
              <a:buNone/>
              <a:defRPr sz="2400" b="1">
                <a:solidFill>
                  <a:schemeClr val="tx1"/>
                </a:solidFill>
                <a:latin typeface="+mj-lt"/>
              </a:defRPr>
            </a:lvl4pPr>
            <a:lvl5pPr marL="0" indent="0" algn="l">
              <a:spcBef>
                <a:spcPts val="0"/>
              </a:spcBef>
              <a:buNone/>
              <a:defRPr sz="2400" b="1">
                <a:solidFill>
                  <a:schemeClr val="tx1"/>
                </a:solidFill>
                <a:latin typeface="+mj-lt"/>
              </a:defRPr>
            </a:lvl5pPr>
            <a:lvl6pPr marL="0" indent="0" algn="l">
              <a:spcBef>
                <a:spcPts val="0"/>
              </a:spcBef>
              <a:buNone/>
              <a:defRPr sz="2400" b="1">
                <a:solidFill>
                  <a:schemeClr val="tx1"/>
                </a:solidFill>
                <a:latin typeface="+mj-lt"/>
              </a:defRPr>
            </a:lvl6pPr>
            <a:lvl7pPr marL="0" indent="0" algn="l">
              <a:spcBef>
                <a:spcPts val="0"/>
              </a:spcBef>
              <a:buNone/>
              <a:defRPr sz="2400" b="1">
                <a:solidFill>
                  <a:schemeClr val="tx1"/>
                </a:solidFill>
                <a:latin typeface="+mj-lt"/>
              </a:defRPr>
            </a:lvl7pPr>
            <a:lvl8pPr marL="0" indent="0" algn="l">
              <a:spcBef>
                <a:spcPts val="0"/>
              </a:spcBef>
              <a:buNone/>
              <a:defRPr sz="2400" b="1">
                <a:solidFill>
                  <a:schemeClr val="tx1"/>
                </a:solidFill>
                <a:latin typeface="+mj-lt"/>
              </a:defRPr>
            </a:lvl8pPr>
            <a:lvl9pPr marL="0" indent="0" algn="l">
              <a:spcBef>
                <a:spcPts val="0"/>
              </a:spcBef>
              <a:buNone/>
              <a:defRPr sz="2400" b="1">
                <a:solidFill>
                  <a:schemeClr val="tx1"/>
                </a:solidFill>
                <a:latin typeface="+mj-lt"/>
              </a:defRPr>
            </a:lvl9pPr>
          </a:lstStyle>
          <a:p>
            <a:pPr lvl="0"/>
            <a:r>
              <a:rPr lang="en-US" noProof="0"/>
              <a:t>Click to edit Name Surname</a:t>
            </a:r>
          </a:p>
        </p:txBody>
      </p:sp>
      <p:sp>
        <p:nvSpPr>
          <p:cNvPr id="5" name="Text Placeholder 1">
            <a:extLst>
              <a:ext uri="{FF2B5EF4-FFF2-40B4-BE49-F238E27FC236}">
                <a16:creationId xmlns:a16="http://schemas.microsoft.com/office/drawing/2014/main" id="{9652521A-CD45-F485-9C10-82CE67ACE2F5}"/>
              </a:ext>
            </a:extLst>
          </p:cNvPr>
          <p:cNvSpPr>
            <a:spLocks noGrp="1"/>
          </p:cNvSpPr>
          <p:nvPr>
            <p:ph type="body" sz="quarter" idx="12" hasCustomPrompt="1"/>
          </p:nvPr>
        </p:nvSpPr>
        <p:spPr bwMode="gray">
          <a:xfrm>
            <a:off x="6168505" y="4554387"/>
            <a:ext cx="4464000" cy="369332"/>
          </a:xfrm>
        </p:spPr>
        <p:txBody>
          <a:bodyPr>
            <a:noAutofit/>
          </a:bodyPr>
          <a:lstStyle>
            <a:lvl1pPr marL="0" indent="0" algn="r">
              <a:spcBef>
                <a:spcPts val="0"/>
              </a:spcBef>
              <a:buFont typeface="Arial" panose="020B0604020202020204" pitchFamily="34" charset="0"/>
              <a:buNone/>
              <a:defRPr sz="2400" b="0">
                <a:solidFill>
                  <a:schemeClr val="tx1"/>
                </a:solidFill>
                <a:latin typeface="+mn-lt"/>
              </a:defRPr>
            </a:lvl1pPr>
            <a:lvl2pPr marL="0" indent="0" algn="r">
              <a:spcBef>
                <a:spcPts val="0"/>
              </a:spcBef>
              <a:buFont typeface="Arial" panose="020B0604020202020204" pitchFamily="34" charset="0"/>
              <a:buNone/>
              <a:defRPr sz="2400" b="0">
                <a:solidFill>
                  <a:schemeClr val="tx1"/>
                </a:solidFill>
                <a:latin typeface="+mn-lt"/>
              </a:defRPr>
            </a:lvl2pPr>
            <a:lvl3pPr marL="0" indent="0" algn="r">
              <a:spcBef>
                <a:spcPts val="0"/>
              </a:spcBef>
              <a:buNone/>
              <a:defRPr sz="2400" b="0">
                <a:solidFill>
                  <a:schemeClr val="tx1"/>
                </a:solidFill>
                <a:latin typeface="+mn-lt"/>
              </a:defRPr>
            </a:lvl3pPr>
            <a:lvl4pPr marL="0" indent="0" algn="r">
              <a:spcBef>
                <a:spcPts val="0"/>
              </a:spcBef>
              <a:buNone/>
              <a:defRPr sz="2400" b="0">
                <a:solidFill>
                  <a:schemeClr val="tx1"/>
                </a:solidFill>
                <a:latin typeface="+mn-lt"/>
              </a:defRPr>
            </a:lvl4pPr>
            <a:lvl5pPr marL="0" indent="0" algn="r">
              <a:spcBef>
                <a:spcPts val="0"/>
              </a:spcBef>
              <a:buNone/>
              <a:defRPr sz="2400" b="0">
                <a:solidFill>
                  <a:schemeClr val="tx1"/>
                </a:solidFill>
                <a:latin typeface="+mn-lt"/>
              </a:defRPr>
            </a:lvl5pPr>
            <a:lvl6pPr marL="0" indent="0" algn="r">
              <a:spcBef>
                <a:spcPts val="0"/>
              </a:spcBef>
              <a:buNone/>
              <a:defRPr sz="2400" b="0">
                <a:solidFill>
                  <a:schemeClr val="tx1"/>
                </a:solidFill>
                <a:latin typeface="+mn-lt"/>
              </a:defRPr>
            </a:lvl6pPr>
            <a:lvl7pPr marL="0" indent="0" algn="r">
              <a:spcBef>
                <a:spcPts val="0"/>
              </a:spcBef>
              <a:buNone/>
              <a:defRPr sz="2400" b="0">
                <a:solidFill>
                  <a:schemeClr val="tx1"/>
                </a:solidFill>
                <a:latin typeface="+mn-lt"/>
              </a:defRPr>
            </a:lvl7pPr>
            <a:lvl8pPr marL="0" indent="0" algn="r">
              <a:spcBef>
                <a:spcPts val="0"/>
              </a:spcBef>
              <a:buNone/>
              <a:defRPr sz="2400" b="0">
                <a:solidFill>
                  <a:schemeClr val="tx1"/>
                </a:solidFill>
                <a:latin typeface="+mn-lt"/>
              </a:defRPr>
            </a:lvl8pPr>
            <a:lvl9pPr marL="0" indent="0" algn="r">
              <a:spcBef>
                <a:spcPts val="0"/>
              </a:spcBef>
              <a:buNone/>
              <a:defRPr sz="2400" b="0">
                <a:solidFill>
                  <a:schemeClr val="tx1"/>
                </a:solidFill>
                <a:latin typeface="+mn-lt"/>
              </a:defRPr>
            </a:lvl9pPr>
          </a:lstStyle>
          <a:p>
            <a:pPr lvl="0"/>
            <a:r>
              <a:rPr lang="en-US" noProof="0"/>
              <a:t>Click to edit date</a:t>
            </a:r>
          </a:p>
        </p:txBody>
      </p:sp>
      <p:sp>
        <p:nvSpPr>
          <p:cNvPr id="11" name="Text Placeholder 2">
            <a:extLst>
              <a:ext uri="{FF2B5EF4-FFF2-40B4-BE49-F238E27FC236}">
                <a16:creationId xmlns:a16="http://schemas.microsoft.com/office/drawing/2014/main" id="{E6ED980B-9D65-A198-AE5E-5981B5E21230}"/>
              </a:ext>
            </a:extLst>
          </p:cNvPr>
          <p:cNvSpPr>
            <a:spLocks noGrp="1"/>
          </p:cNvSpPr>
          <p:nvPr>
            <p:ph type="body" sz="quarter" idx="13" hasCustomPrompt="1"/>
          </p:nvPr>
        </p:nvSpPr>
        <p:spPr bwMode="gray">
          <a:xfrm>
            <a:off x="551383" y="5022439"/>
            <a:ext cx="5472000" cy="184666"/>
          </a:xfrm>
        </p:spPr>
        <p:txBody>
          <a:bodyPr>
            <a:spAutoFit/>
          </a:bodyPr>
          <a:lstStyle>
            <a:lvl1pPr marL="0" indent="0">
              <a:spcBef>
                <a:spcPts val="400"/>
              </a:spcBef>
              <a:buFont typeface="Arial" panose="020B0604020202020204" pitchFamily="34" charset="0"/>
              <a:buNone/>
              <a:defRPr sz="1200" b="0">
                <a:solidFill>
                  <a:schemeClr val="tx1"/>
                </a:solidFill>
                <a:latin typeface="+mn-lt"/>
              </a:defRPr>
            </a:lvl1pPr>
            <a:lvl2pPr marL="0" indent="0">
              <a:spcBef>
                <a:spcPts val="400"/>
              </a:spcBef>
              <a:buFont typeface="Arial" panose="020B0604020202020204" pitchFamily="34" charset="0"/>
              <a:buNone/>
              <a:defRPr sz="1200" b="0">
                <a:solidFill>
                  <a:schemeClr val="tx1"/>
                </a:solidFill>
                <a:latin typeface="+mn-lt"/>
              </a:defRPr>
            </a:lvl2pPr>
            <a:lvl3pPr marL="0" indent="0">
              <a:spcBef>
                <a:spcPts val="400"/>
              </a:spcBef>
              <a:buNone/>
              <a:defRPr sz="1200" b="0">
                <a:solidFill>
                  <a:schemeClr val="tx1"/>
                </a:solidFill>
                <a:latin typeface="+mn-lt"/>
              </a:defRPr>
            </a:lvl3pPr>
            <a:lvl4pPr marL="0" indent="0">
              <a:spcBef>
                <a:spcPts val="400"/>
              </a:spcBef>
              <a:buNone/>
              <a:defRPr sz="1200" b="0">
                <a:solidFill>
                  <a:schemeClr val="tx1"/>
                </a:solidFill>
                <a:latin typeface="+mn-lt"/>
              </a:defRPr>
            </a:lvl4pPr>
            <a:lvl5pPr marL="0" indent="0">
              <a:spcBef>
                <a:spcPts val="400"/>
              </a:spcBef>
              <a:buNone/>
              <a:defRPr sz="1200" b="0">
                <a:solidFill>
                  <a:schemeClr val="tx1"/>
                </a:solidFill>
                <a:latin typeface="+mn-lt"/>
              </a:defRPr>
            </a:lvl5pPr>
            <a:lvl6pPr marL="0" indent="0">
              <a:spcBef>
                <a:spcPts val="400"/>
              </a:spcBef>
              <a:buNone/>
              <a:defRPr sz="1200" b="0">
                <a:solidFill>
                  <a:schemeClr val="tx1"/>
                </a:solidFill>
                <a:latin typeface="+mn-lt"/>
              </a:defRPr>
            </a:lvl6pPr>
            <a:lvl7pPr marL="0" indent="0">
              <a:spcBef>
                <a:spcPts val="400"/>
              </a:spcBef>
              <a:buNone/>
              <a:defRPr sz="1200" b="0">
                <a:solidFill>
                  <a:schemeClr val="tx1"/>
                </a:solidFill>
                <a:latin typeface="+mn-lt"/>
              </a:defRPr>
            </a:lvl7pPr>
            <a:lvl8pPr marL="0" indent="0">
              <a:spcBef>
                <a:spcPts val="400"/>
              </a:spcBef>
              <a:buNone/>
              <a:defRPr sz="1200" b="0">
                <a:solidFill>
                  <a:schemeClr val="tx1"/>
                </a:solidFill>
                <a:latin typeface="+mn-lt"/>
              </a:defRPr>
            </a:lvl8pPr>
            <a:lvl9pPr marL="0" indent="0">
              <a:spcBef>
                <a:spcPts val="400"/>
              </a:spcBef>
              <a:buNone/>
              <a:defRPr sz="1200" b="0">
                <a:solidFill>
                  <a:schemeClr val="tx1"/>
                </a:solidFill>
                <a:latin typeface="+mn-lt"/>
              </a:defRPr>
            </a:lvl9pPr>
          </a:lstStyle>
          <a:p>
            <a:pPr lvl="0"/>
            <a:r>
              <a:rPr lang="en-US" noProof="0"/>
              <a:t>Click to edit subtitle, speaker info, function name, field of research, etc.</a:t>
            </a:r>
          </a:p>
        </p:txBody>
      </p:sp>
      <p:pic>
        <p:nvPicPr>
          <p:cNvPr id="19" name="Logo">
            <a:extLst>
              <a:ext uri="{FF2B5EF4-FFF2-40B4-BE49-F238E27FC236}">
                <a16:creationId xmlns:a16="http://schemas.microsoft.com/office/drawing/2014/main" id="{E1618CDF-9C19-3C90-0476-C964BD896D8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pic>
        <p:nvPicPr>
          <p:cNvPr id="4" name="Gradient background">
            <a:extLst>
              <a:ext uri="{FF2B5EF4-FFF2-40B4-BE49-F238E27FC236}">
                <a16:creationId xmlns:a16="http://schemas.microsoft.com/office/drawing/2014/main" id="{8724D9F6-3E07-EAAB-9C0A-FB3B644A654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hidden">
          <a:xfrm>
            <a:off x="0" y="1"/>
            <a:ext cx="12192000" cy="303274"/>
          </a:xfrm>
          <a:prstGeom prst="rect">
            <a:avLst/>
          </a:prstGeom>
        </p:spPr>
      </p:pic>
    </p:spTree>
    <p:extLst>
      <p:ext uri="{BB962C8B-B14F-4D97-AF65-F5344CB8AC3E}">
        <p14:creationId xmlns:p14="http://schemas.microsoft.com/office/powerpoint/2010/main" val="4236221130"/>
      </p:ext>
    </p:extLst>
  </p:cSld>
  <p:clrMapOvr>
    <a:masterClrMapping/>
  </p:clrMapOvr>
  <p:extLst>
    <p:ext uri="{DCECCB84-F9BA-43D5-87BE-67443E8EF086}">
      <p15:sldGuideLst xmlns:p15="http://schemas.microsoft.com/office/powerpoint/2012/main">
        <p15:guide id="1" pos="669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 Title slide 3">
    <p:spTree>
      <p:nvGrpSpPr>
        <p:cNvPr id="1" name=""/>
        <p:cNvGrpSpPr/>
        <p:nvPr/>
      </p:nvGrpSpPr>
      <p:grpSpPr>
        <a:xfrm>
          <a:off x="0" y="0"/>
          <a:ext cx="0" cy="0"/>
          <a:chOff x="0" y="0"/>
          <a:chExt cx="0" cy="0"/>
        </a:xfrm>
      </p:grpSpPr>
      <p:pic>
        <p:nvPicPr>
          <p:cNvPr id="19" name="Logo">
            <a:extLst>
              <a:ext uri="{FF2B5EF4-FFF2-40B4-BE49-F238E27FC236}">
                <a16:creationId xmlns:a16="http://schemas.microsoft.com/office/drawing/2014/main" id="{E1618CDF-9C19-3C90-0476-C964BD896D8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
        <p:nvSpPr>
          <p:cNvPr id="4" name="Title 1">
            <a:extLst>
              <a:ext uri="{FF2B5EF4-FFF2-40B4-BE49-F238E27FC236}">
                <a16:creationId xmlns:a16="http://schemas.microsoft.com/office/drawing/2014/main" id="{751C14DD-9794-E6F9-AF00-3571E64B8936}"/>
              </a:ext>
            </a:extLst>
          </p:cNvPr>
          <p:cNvSpPr>
            <a:spLocks noGrp="1"/>
          </p:cNvSpPr>
          <p:nvPr>
            <p:ph type="ctrTitle" hasCustomPrompt="1"/>
          </p:nvPr>
        </p:nvSpPr>
        <p:spPr bwMode="gray">
          <a:xfrm>
            <a:off x="551384" y="726029"/>
            <a:ext cx="10080000" cy="3687997"/>
          </a:xfrm>
        </p:spPr>
        <p:txBody>
          <a:bodyPr anchor="t">
            <a:spAutoFit/>
          </a:bodyPr>
          <a:lstStyle>
            <a:lvl1pPr algn="l">
              <a:lnSpc>
                <a:spcPct val="83000"/>
              </a:lnSpc>
              <a:defRPr sz="9600" spc="0" baseline="0">
                <a:solidFill>
                  <a:schemeClr val="tx1"/>
                </a:solidFill>
              </a:defRPr>
            </a:lvl1pPr>
          </a:lstStyle>
          <a:p>
            <a:r>
              <a:rPr lang="en-US" noProof="0"/>
              <a:t>Edit presentation title (maximum three lines)</a:t>
            </a:r>
          </a:p>
        </p:txBody>
      </p:sp>
      <p:sp>
        <p:nvSpPr>
          <p:cNvPr id="7" name="Subtitle 2">
            <a:extLst>
              <a:ext uri="{FF2B5EF4-FFF2-40B4-BE49-F238E27FC236}">
                <a16:creationId xmlns:a16="http://schemas.microsoft.com/office/drawing/2014/main" id="{1DBE46BF-4100-2DC3-ABDE-7C925CA29CCA}"/>
              </a:ext>
            </a:extLst>
          </p:cNvPr>
          <p:cNvSpPr>
            <a:spLocks noGrp="1"/>
          </p:cNvSpPr>
          <p:nvPr>
            <p:ph type="subTitle" idx="1" hasCustomPrompt="1"/>
          </p:nvPr>
        </p:nvSpPr>
        <p:spPr bwMode="gray">
          <a:xfrm>
            <a:off x="551384" y="4554387"/>
            <a:ext cx="5472608" cy="369332"/>
          </a:xfrm>
          <a:prstGeom prst="rect">
            <a:avLst/>
          </a:prstGeom>
        </p:spPr>
        <p:txBody>
          <a:bodyPr wrap="square">
            <a:spAutoFit/>
          </a:bodyPr>
          <a:lstStyle>
            <a:lvl1pPr marL="0" indent="0" algn="l">
              <a:spcBef>
                <a:spcPts val="0"/>
              </a:spcBef>
              <a:buNone/>
              <a:defRPr sz="2400" b="1">
                <a:solidFill>
                  <a:schemeClr val="tx1"/>
                </a:solidFill>
                <a:latin typeface="+mj-lt"/>
              </a:defRPr>
            </a:lvl1pPr>
            <a:lvl2pPr marL="0" indent="0" algn="l">
              <a:spcBef>
                <a:spcPts val="0"/>
              </a:spcBef>
              <a:buNone/>
              <a:defRPr sz="2400" b="1">
                <a:solidFill>
                  <a:schemeClr val="tx1"/>
                </a:solidFill>
                <a:latin typeface="+mj-lt"/>
              </a:defRPr>
            </a:lvl2pPr>
            <a:lvl3pPr marL="0" indent="0" algn="l">
              <a:spcBef>
                <a:spcPts val="0"/>
              </a:spcBef>
              <a:buNone/>
              <a:defRPr sz="2400" b="1">
                <a:solidFill>
                  <a:schemeClr val="tx1"/>
                </a:solidFill>
                <a:latin typeface="+mj-lt"/>
              </a:defRPr>
            </a:lvl3pPr>
            <a:lvl4pPr marL="0" indent="0" algn="l">
              <a:spcBef>
                <a:spcPts val="0"/>
              </a:spcBef>
              <a:buNone/>
              <a:defRPr sz="2400" b="1">
                <a:solidFill>
                  <a:schemeClr val="tx1"/>
                </a:solidFill>
                <a:latin typeface="+mj-lt"/>
              </a:defRPr>
            </a:lvl4pPr>
            <a:lvl5pPr marL="0" indent="0" algn="l">
              <a:spcBef>
                <a:spcPts val="0"/>
              </a:spcBef>
              <a:buNone/>
              <a:defRPr sz="2400" b="1">
                <a:solidFill>
                  <a:schemeClr val="tx1"/>
                </a:solidFill>
                <a:latin typeface="+mj-lt"/>
              </a:defRPr>
            </a:lvl5pPr>
            <a:lvl6pPr marL="0" indent="0" algn="l">
              <a:spcBef>
                <a:spcPts val="0"/>
              </a:spcBef>
              <a:buNone/>
              <a:defRPr sz="2400" b="1">
                <a:solidFill>
                  <a:schemeClr val="tx1"/>
                </a:solidFill>
                <a:latin typeface="+mj-lt"/>
              </a:defRPr>
            </a:lvl6pPr>
            <a:lvl7pPr marL="0" indent="0" algn="l">
              <a:spcBef>
                <a:spcPts val="0"/>
              </a:spcBef>
              <a:buNone/>
              <a:defRPr sz="2400" b="1">
                <a:solidFill>
                  <a:schemeClr val="tx1"/>
                </a:solidFill>
                <a:latin typeface="+mj-lt"/>
              </a:defRPr>
            </a:lvl7pPr>
            <a:lvl8pPr marL="0" indent="0" algn="l">
              <a:spcBef>
                <a:spcPts val="0"/>
              </a:spcBef>
              <a:buNone/>
              <a:defRPr sz="2400" b="1">
                <a:solidFill>
                  <a:schemeClr val="tx1"/>
                </a:solidFill>
                <a:latin typeface="+mj-lt"/>
              </a:defRPr>
            </a:lvl8pPr>
            <a:lvl9pPr marL="0" indent="0" algn="l">
              <a:spcBef>
                <a:spcPts val="0"/>
              </a:spcBef>
              <a:buNone/>
              <a:defRPr sz="2400" b="1">
                <a:solidFill>
                  <a:schemeClr val="tx1"/>
                </a:solidFill>
                <a:latin typeface="+mj-lt"/>
              </a:defRPr>
            </a:lvl9pPr>
          </a:lstStyle>
          <a:p>
            <a:pPr lvl="0"/>
            <a:r>
              <a:rPr lang="en-US" noProof="0"/>
              <a:t>Click to edit Name Surname</a:t>
            </a:r>
          </a:p>
        </p:txBody>
      </p:sp>
      <p:sp>
        <p:nvSpPr>
          <p:cNvPr id="8" name="Text Placeholder 1">
            <a:extLst>
              <a:ext uri="{FF2B5EF4-FFF2-40B4-BE49-F238E27FC236}">
                <a16:creationId xmlns:a16="http://schemas.microsoft.com/office/drawing/2014/main" id="{88B367B8-A7CD-7CB8-9517-8197F72C4C2B}"/>
              </a:ext>
            </a:extLst>
          </p:cNvPr>
          <p:cNvSpPr>
            <a:spLocks noGrp="1"/>
          </p:cNvSpPr>
          <p:nvPr>
            <p:ph type="body" sz="quarter" idx="12" hasCustomPrompt="1"/>
          </p:nvPr>
        </p:nvSpPr>
        <p:spPr bwMode="gray">
          <a:xfrm>
            <a:off x="6168505" y="4554387"/>
            <a:ext cx="4464000" cy="369332"/>
          </a:xfrm>
        </p:spPr>
        <p:txBody>
          <a:bodyPr>
            <a:noAutofit/>
          </a:bodyPr>
          <a:lstStyle>
            <a:lvl1pPr marL="0" indent="0" algn="r">
              <a:spcBef>
                <a:spcPts val="0"/>
              </a:spcBef>
              <a:buFont typeface="Arial" panose="020B0604020202020204" pitchFamily="34" charset="0"/>
              <a:buNone/>
              <a:defRPr sz="2400" b="0">
                <a:solidFill>
                  <a:schemeClr val="tx1"/>
                </a:solidFill>
                <a:latin typeface="+mn-lt"/>
              </a:defRPr>
            </a:lvl1pPr>
            <a:lvl2pPr marL="0" indent="0" algn="r">
              <a:spcBef>
                <a:spcPts val="0"/>
              </a:spcBef>
              <a:buFont typeface="Arial" panose="020B0604020202020204" pitchFamily="34" charset="0"/>
              <a:buNone/>
              <a:defRPr sz="2400" b="0">
                <a:solidFill>
                  <a:schemeClr val="tx1"/>
                </a:solidFill>
                <a:latin typeface="+mn-lt"/>
              </a:defRPr>
            </a:lvl2pPr>
            <a:lvl3pPr marL="0" indent="0" algn="r">
              <a:spcBef>
                <a:spcPts val="0"/>
              </a:spcBef>
              <a:buNone/>
              <a:defRPr sz="2400" b="0">
                <a:solidFill>
                  <a:schemeClr val="tx1"/>
                </a:solidFill>
                <a:latin typeface="+mn-lt"/>
              </a:defRPr>
            </a:lvl3pPr>
            <a:lvl4pPr marL="0" indent="0" algn="r">
              <a:spcBef>
                <a:spcPts val="0"/>
              </a:spcBef>
              <a:buNone/>
              <a:defRPr sz="2400" b="0">
                <a:solidFill>
                  <a:schemeClr val="tx1"/>
                </a:solidFill>
                <a:latin typeface="+mn-lt"/>
              </a:defRPr>
            </a:lvl4pPr>
            <a:lvl5pPr marL="0" indent="0" algn="r">
              <a:spcBef>
                <a:spcPts val="0"/>
              </a:spcBef>
              <a:buNone/>
              <a:defRPr sz="2400" b="0">
                <a:solidFill>
                  <a:schemeClr val="tx1"/>
                </a:solidFill>
                <a:latin typeface="+mn-lt"/>
              </a:defRPr>
            </a:lvl5pPr>
            <a:lvl6pPr marL="0" indent="0" algn="r">
              <a:spcBef>
                <a:spcPts val="0"/>
              </a:spcBef>
              <a:buNone/>
              <a:defRPr sz="2400" b="0">
                <a:solidFill>
                  <a:schemeClr val="tx1"/>
                </a:solidFill>
                <a:latin typeface="+mn-lt"/>
              </a:defRPr>
            </a:lvl6pPr>
            <a:lvl7pPr marL="0" indent="0" algn="r">
              <a:spcBef>
                <a:spcPts val="0"/>
              </a:spcBef>
              <a:buNone/>
              <a:defRPr sz="2400" b="0">
                <a:solidFill>
                  <a:schemeClr val="tx1"/>
                </a:solidFill>
                <a:latin typeface="+mn-lt"/>
              </a:defRPr>
            </a:lvl7pPr>
            <a:lvl8pPr marL="0" indent="0" algn="r">
              <a:spcBef>
                <a:spcPts val="0"/>
              </a:spcBef>
              <a:buNone/>
              <a:defRPr sz="2400" b="0">
                <a:solidFill>
                  <a:schemeClr val="tx1"/>
                </a:solidFill>
                <a:latin typeface="+mn-lt"/>
              </a:defRPr>
            </a:lvl8pPr>
            <a:lvl9pPr marL="0" indent="0" algn="r">
              <a:spcBef>
                <a:spcPts val="0"/>
              </a:spcBef>
              <a:buNone/>
              <a:defRPr sz="2400" b="0">
                <a:solidFill>
                  <a:schemeClr val="tx1"/>
                </a:solidFill>
                <a:latin typeface="+mn-lt"/>
              </a:defRPr>
            </a:lvl9pPr>
          </a:lstStyle>
          <a:p>
            <a:pPr lvl="0"/>
            <a:r>
              <a:rPr lang="en-US" noProof="0"/>
              <a:t>Click to edit date</a:t>
            </a:r>
          </a:p>
        </p:txBody>
      </p:sp>
      <p:sp>
        <p:nvSpPr>
          <p:cNvPr id="9" name="Text Placeholder 2">
            <a:extLst>
              <a:ext uri="{FF2B5EF4-FFF2-40B4-BE49-F238E27FC236}">
                <a16:creationId xmlns:a16="http://schemas.microsoft.com/office/drawing/2014/main" id="{E5AA0FEE-BD89-5565-F585-CC60A499B784}"/>
              </a:ext>
            </a:extLst>
          </p:cNvPr>
          <p:cNvSpPr>
            <a:spLocks noGrp="1"/>
          </p:cNvSpPr>
          <p:nvPr>
            <p:ph type="body" sz="quarter" idx="13" hasCustomPrompt="1"/>
          </p:nvPr>
        </p:nvSpPr>
        <p:spPr bwMode="gray">
          <a:xfrm>
            <a:off x="551383" y="5022439"/>
            <a:ext cx="5472000" cy="184666"/>
          </a:xfrm>
        </p:spPr>
        <p:txBody>
          <a:bodyPr>
            <a:spAutoFit/>
          </a:bodyPr>
          <a:lstStyle>
            <a:lvl1pPr marL="0" indent="0">
              <a:spcBef>
                <a:spcPts val="400"/>
              </a:spcBef>
              <a:buFont typeface="Arial" panose="020B0604020202020204" pitchFamily="34" charset="0"/>
              <a:buNone/>
              <a:defRPr sz="1200" b="0">
                <a:solidFill>
                  <a:schemeClr val="tx1"/>
                </a:solidFill>
                <a:latin typeface="+mn-lt"/>
              </a:defRPr>
            </a:lvl1pPr>
            <a:lvl2pPr marL="0" indent="0">
              <a:spcBef>
                <a:spcPts val="400"/>
              </a:spcBef>
              <a:buFont typeface="Arial" panose="020B0604020202020204" pitchFamily="34" charset="0"/>
              <a:buNone/>
              <a:defRPr sz="1200" b="0">
                <a:solidFill>
                  <a:schemeClr val="tx1"/>
                </a:solidFill>
                <a:latin typeface="+mn-lt"/>
              </a:defRPr>
            </a:lvl2pPr>
            <a:lvl3pPr marL="0" indent="0">
              <a:spcBef>
                <a:spcPts val="400"/>
              </a:spcBef>
              <a:buNone/>
              <a:defRPr sz="1200" b="0">
                <a:solidFill>
                  <a:schemeClr val="tx1"/>
                </a:solidFill>
                <a:latin typeface="+mn-lt"/>
              </a:defRPr>
            </a:lvl3pPr>
            <a:lvl4pPr marL="0" indent="0">
              <a:spcBef>
                <a:spcPts val="400"/>
              </a:spcBef>
              <a:buNone/>
              <a:defRPr sz="1200" b="0">
                <a:solidFill>
                  <a:schemeClr val="tx1"/>
                </a:solidFill>
                <a:latin typeface="+mn-lt"/>
              </a:defRPr>
            </a:lvl4pPr>
            <a:lvl5pPr marL="0" indent="0">
              <a:spcBef>
                <a:spcPts val="400"/>
              </a:spcBef>
              <a:buNone/>
              <a:defRPr sz="1200" b="0">
                <a:solidFill>
                  <a:schemeClr val="tx1"/>
                </a:solidFill>
                <a:latin typeface="+mn-lt"/>
              </a:defRPr>
            </a:lvl5pPr>
            <a:lvl6pPr marL="0" indent="0">
              <a:spcBef>
                <a:spcPts val="400"/>
              </a:spcBef>
              <a:buNone/>
              <a:defRPr sz="1200" b="0">
                <a:solidFill>
                  <a:schemeClr val="tx1"/>
                </a:solidFill>
                <a:latin typeface="+mn-lt"/>
              </a:defRPr>
            </a:lvl6pPr>
            <a:lvl7pPr marL="0" indent="0">
              <a:spcBef>
                <a:spcPts val="400"/>
              </a:spcBef>
              <a:buNone/>
              <a:defRPr sz="1200" b="0">
                <a:solidFill>
                  <a:schemeClr val="tx1"/>
                </a:solidFill>
                <a:latin typeface="+mn-lt"/>
              </a:defRPr>
            </a:lvl7pPr>
            <a:lvl8pPr marL="0" indent="0">
              <a:spcBef>
                <a:spcPts val="400"/>
              </a:spcBef>
              <a:buNone/>
              <a:defRPr sz="1200" b="0">
                <a:solidFill>
                  <a:schemeClr val="tx1"/>
                </a:solidFill>
                <a:latin typeface="+mn-lt"/>
              </a:defRPr>
            </a:lvl8pPr>
            <a:lvl9pPr marL="0" indent="0">
              <a:spcBef>
                <a:spcPts val="400"/>
              </a:spcBef>
              <a:buNone/>
              <a:defRPr sz="1200" b="0">
                <a:solidFill>
                  <a:schemeClr val="tx1"/>
                </a:solidFill>
                <a:latin typeface="+mn-lt"/>
              </a:defRPr>
            </a:lvl9pPr>
          </a:lstStyle>
          <a:p>
            <a:pPr lvl="0"/>
            <a:r>
              <a:rPr lang="en-US" noProof="0"/>
              <a:t>Click to edit subtitle, speaker info, function name, field of research, etc.</a:t>
            </a:r>
          </a:p>
        </p:txBody>
      </p:sp>
    </p:spTree>
    <p:extLst>
      <p:ext uri="{BB962C8B-B14F-4D97-AF65-F5344CB8AC3E}">
        <p14:creationId xmlns:p14="http://schemas.microsoft.com/office/powerpoint/2010/main" val="2235553671"/>
      </p:ext>
    </p:extLst>
  </p:cSld>
  <p:clrMapOvr>
    <a:masterClrMapping/>
  </p:clrMapOvr>
  <p:extLst>
    <p:ext uri="{DCECCB84-F9BA-43D5-87BE-67443E8EF086}">
      <p15:sldGuideLst xmlns:p15="http://schemas.microsoft.com/office/powerpoint/2012/main">
        <p15:guide id="1" pos="669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 Title slide with image 4">
    <p:spTree>
      <p:nvGrpSpPr>
        <p:cNvPr id="1" name=""/>
        <p:cNvGrpSpPr/>
        <p:nvPr/>
      </p:nvGrpSpPr>
      <p:grpSpPr>
        <a:xfrm>
          <a:off x="0" y="0"/>
          <a:ext cx="0" cy="0"/>
          <a:chOff x="0" y="0"/>
          <a:chExt cx="0" cy="0"/>
        </a:xfrm>
      </p:grpSpPr>
      <p:sp>
        <p:nvSpPr>
          <p:cNvPr id="6" name="Gradient background">
            <a:extLst>
              <a:ext uri="{FF2B5EF4-FFF2-40B4-BE49-F238E27FC236}">
                <a16:creationId xmlns:a16="http://schemas.microsoft.com/office/drawing/2014/main" id="{7129C899-CA72-B0BF-E98C-9CCD2CE9E8B9}"/>
              </a:ext>
            </a:extLst>
          </p:cNvPr>
          <p:cNvSpPr/>
          <p:nvPr userDrawn="1"/>
        </p:nvSpPr>
        <p:spPr bwMode="hidden">
          <a:xfrm flipH="1">
            <a:off x="-1" y="2420888"/>
            <a:ext cx="4281056" cy="4437112"/>
          </a:xfrm>
          <a:prstGeom prst="rect">
            <a:avLst/>
          </a:prstGeom>
          <a:blipFill>
            <a:blip>
              <a:extLst>
                <a:ext uri="{96DAC541-7B7A-43D3-8B79-37D633B846F1}">
                  <asvg:svgBlip xmlns:asvg="http://schemas.microsoft.com/office/drawing/2016/SVG/main" r:embed="rId2"/>
                </a:ext>
              </a:extLst>
            </a:blip>
            <a:stretch>
              <a:fillRect l="-811" t="-811" r="-811" b="-81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noProof="0"/>
          </a:p>
        </p:txBody>
      </p:sp>
      <p:sp>
        <p:nvSpPr>
          <p:cNvPr id="2" name="Title 1">
            <a:extLst>
              <a:ext uri="{FF2B5EF4-FFF2-40B4-BE49-F238E27FC236}">
                <a16:creationId xmlns:a16="http://schemas.microsoft.com/office/drawing/2014/main" id="{B3595B2D-557F-82D7-1FBB-918B87784154}"/>
              </a:ext>
            </a:extLst>
          </p:cNvPr>
          <p:cNvSpPr>
            <a:spLocks noGrp="1"/>
          </p:cNvSpPr>
          <p:nvPr>
            <p:ph type="ctrTitle" hasCustomPrompt="1"/>
          </p:nvPr>
        </p:nvSpPr>
        <p:spPr bwMode="gray">
          <a:xfrm>
            <a:off x="551385" y="3429000"/>
            <a:ext cx="3384607" cy="1532727"/>
          </a:xfrm>
        </p:spPr>
        <p:txBody>
          <a:bodyPr wrap="square" anchor="t">
            <a:spAutoFit/>
          </a:bodyPr>
          <a:lstStyle>
            <a:lvl1pPr algn="l">
              <a:lnSpc>
                <a:spcPct val="83000"/>
              </a:lnSpc>
              <a:defRPr sz="4000" spc="0" baseline="0">
                <a:solidFill>
                  <a:schemeClr val="tx1"/>
                </a:solidFill>
              </a:defRPr>
            </a:lvl1pPr>
          </a:lstStyle>
          <a:p>
            <a:r>
              <a:rPr lang="en-US" noProof="0"/>
              <a:t>Presentation title (max. three lines)</a:t>
            </a:r>
          </a:p>
        </p:txBody>
      </p:sp>
      <p:sp>
        <p:nvSpPr>
          <p:cNvPr id="3" name="Subtitle 2">
            <a:extLst>
              <a:ext uri="{FF2B5EF4-FFF2-40B4-BE49-F238E27FC236}">
                <a16:creationId xmlns:a16="http://schemas.microsoft.com/office/drawing/2014/main" id="{B0416517-6E31-5EB2-9E14-48277588B58E}"/>
              </a:ext>
            </a:extLst>
          </p:cNvPr>
          <p:cNvSpPr>
            <a:spLocks noGrp="1"/>
          </p:cNvSpPr>
          <p:nvPr>
            <p:ph type="subTitle" idx="1" hasCustomPrompt="1"/>
          </p:nvPr>
        </p:nvSpPr>
        <p:spPr bwMode="gray">
          <a:xfrm>
            <a:off x="551384" y="470856"/>
            <a:ext cx="3240000" cy="369332"/>
          </a:xfrm>
          <a:prstGeom prst="rect">
            <a:avLst/>
          </a:prstGeom>
        </p:spPr>
        <p:txBody>
          <a:bodyPr wrap="square">
            <a:spAutoFit/>
          </a:bodyPr>
          <a:lstStyle>
            <a:lvl1pPr marL="0" indent="0" algn="l">
              <a:spcBef>
                <a:spcPts val="0"/>
              </a:spcBef>
              <a:buNone/>
              <a:defRPr sz="2400" b="1">
                <a:solidFill>
                  <a:schemeClr val="tx1"/>
                </a:solidFill>
                <a:latin typeface="+mj-lt"/>
              </a:defRPr>
            </a:lvl1pPr>
            <a:lvl2pPr marL="0" indent="0" algn="l">
              <a:spcBef>
                <a:spcPts val="0"/>
              </a:spcBef>
              <a:buNone/>
              <a:defRPr sz="2400" b="1">
                <a:solidFill>
                  <a:schemeClr val="tx1"/>
                </a:solidFill>
                <a:latin typeface="+mj-lt"/>
              </a:defRPr>
            </a:lvl2pPr>
            <a:lvl3pPr marL="0" indent="0" algn="l">
              <a:spcBef>
                <a:spcPts val="0"/>
              </a:spcBef>
              <a:buNone/>
              <a:defRPr sz="2400" b="1">
                <a:solidFill>
                  <a:schemeClr val="tx1"/>
                </a:solidFill>
                <a:latin typeface="+mj-lt"/>
              </a:defRPr>
            </a:lvl3pPr>
            <a:lvl4pPr marL="0" indent="0" algn="l">
              <a:spcBef>
                <a:spcPts val="0"/>
              </a:spcBef>
              <a:buNone/>
              <a:defRPr sz="2400" b="1">
                <a:solidFill>
                  <a:schemeClr val="tx1"/>
                </a:solidFill>
                <a:latin typeface="+mj-lt"/>
              </a:defRPr>
            </a:lvl4pPr>
            <a:lvl5pPr marL="0" indent="0" algn="l">
              <a:spcBef>
                <a:spcPts val="0"/>
              </a:spcBef>
              <a:buNone/>
              <a:defRPr sz="2400" b="1">
                <a:solidFill>
                  <a:schemeClr val="tx1"/>
                </a:solidFill>
                <a:latin typeface="+mj-lt"/>
              </a:defRPr>
            </a:lvl5pPr>
            <a:lvl6pPr marL="0" indent="0" algn="l">
              <a:spcBef>
                <a:spcPts val="0"/>
              </a:spcBef>
              <a:buNone/>
              <a:defRPr sz="2400" b="1">
                <a:solidFill>
                  <a:schemeClr val="tx1"/>
                </a:solidFill>
                <a:latin typeface="+mj-lt"/>
              </a:defRPr>
            </a:lvl6pPr>
            <a:lvl7pPr marL="0" indent="0" algn="l">
              <a:spcBef>
                <a:spcPts val="0"/>
              </a:spcBef>
              <a:buNone/>
              <a:defRPr sz="2400" b="1">
                <a:solidFill>
                  <a:schemeClr val="tx1"/>
                </a:solidFill>
                <a:latin typeface="+mj-lt"/>
              </a:defRPr>
            </a:lvl7pPr>
            <a:lvl8pPr marL="0" indent="0" algn="l">
              <a:spcBef>
                <a:spcPts val="0"/>
              </a:spcBef>
              <a:buNone/>
              <a:defRPr sz="2400" b="1">
                <a:solidFill>
                  <a:schemeClr val="tx1"/>
                </a:solidFill>
                <a:latin typeface="+mj-lt"/>
              </a:defRPr>
            </a:lvl8pPr>
            <a:lvl9pPr marL="0" indent="0" algn="l">
              <a:spcBef>
                <a:spcPts val="0"/>
              </a:spcBef>
              <a:buNone/>
              <a:defRPr sz="2400" b="1">
                <a:solidFill>
                  <a:schemeClr val="tx1"/>
                </a:solidFill>
                <a:latin typeface="+mj-lt"/>
              </a:defRPr>
            </a:lvl9pPr>
          </a:lstStyle>
          <a:p>
            <a:pPr lvl="0"/>
            <a:r>
              <a:rPr lang="en-US" noProof="0"/>
              <a:t>Edit Name Surname</a:t>
            </a:r>
          </a:p>
        </p:txBody>
      </p:sp>
      <p:sp>
        <p:nvSpPr>
          <p:cNvPr id="5" name="Text Placeholder 1">
            <a:extLst>
              <a:ext uri="{FF2B5EF4-FFF2-40B4-BE49-F238E27FC236}">
                <a16:creationId xmlns:a16="http://schemas.microsoft.com/office/drawing/2014/main" id="{08C8A5A2-EC78-EC54-A690-5119D6E64A2E}"/>
              </a:ext>
            </a:extLst>
          </p:cNvPr>
          <p:cNvSpPr>
            <a:spLocks noGrp="1"/>
          </p:cNvSpPr>
          <p:nvPr>
            <p:ph type="body" sz="quarter" idx="12" hasCustomPrompt="1"/>
          </p:nvPr>
        </p:nvSpPr>
        <p:spPr bwMode="gray">
          <a:xfrm>
            <a:off x="3935992" y="470856"/>
            <a:ext cx="2088000" cy="369332"/>
          </a:xfrm>
        </p:spPr>
        <p:txBody>
          <a:bodyPr>
            <a:noAutofit/>
          </a:bodyPr>
          <a:lstStyle>
            <a:lvl1pPr marL="0" indent="0" algn="r">
              <a:spcBef>
                <a:spcPts val="0"/>
              </a:spcBef>
              <a:buFont typeface="Arial" panose="020B0604020202020204" pitchFamily="34" charset="0"/>
              <a:buNone/>
              <a:defRPr sz="2400" b="0">
                <a:solidFill>
                  <a:schemeClr val="tx1"/>
                </a:solidFill>
                <a:latin typeface="+mn-lt"/>
              </a:defRPr>
            </a:lvl1pPr>
            <a:lvl2pPr marL="0" indent="0" algn="r">
              <a:spcBef>
                <a:spcPts val="0"/>
              </a:spcBef>
              <a:buFont typeface="Arial" panose="020B0604020202020204" pitchFamily="34" charset="0"/>
              <a:buNone/>
              <a:defRPr sz="2400" b="0">
                <a:solidFill>
                  <a:schemeClr val="tx1"/>
                </a:solidFill>
                <a:latin typeface="+mn-lt"/>
              </a:defRPr>
            </a:lvl2pPr>
            <a:lvl3pPr marL="0" indent="0" algn="r">
              <a:spcBef>
                <a:spcPts val="0"/>
              </a:spcBef>
              <a:buNone/>
              <a:defRPr sz="2400" b="0">
                <a:solidFill>
                  <a:schemeClr val="tx1"/>
                </a:solidFill>
                <a:latin typeface="+mn-lt"/>
              </a:defRPr>
            </a:lvl3pPr>
            <a:lvl4pPr marL="0" indent="0" algn="r">
              <a:spcBef>
                <a:spcPts val="0"/>
              </a:spcBef>
              <a:buNone/>
              <a:defRPr sz="2400" b="0">
                <a:solidFill>
                  <a:schemeClr val="tx1"/>
                </a:solidFill>
                <a:latin typeface="+mn-lt"/>
              </a:defRPr>
            </a:lvl4pPr>
            <a:lvl5pPr marL="0" indent="0" algn="r">
              <a:spcBef>
                <a:spcPts val="0"/>
              </a:spcBef>
              <a:buNone/>
              <a:defRPr sz="2400" b="0">
                <a:solidFill>
                  <a:schemeClr val="tx1"/>
                </a:solidFill>
                <a:latin typeface="+mn-lt"/>
              </a:defRPr>
            </a:lvl5pPr>
            <a:lvl6pPr marL="0" indent="0" algn="r">
              <a:spcBef>
                <a:spcPts val="0"/>
              </a:spcBef>
              <a:buNone/>
              <a:defRPr sz="2400" b="0">
                <a:solidFill>
                  <a:schemeClr val="tx1"/>
                </a:solidFill>
                <a:latin typeface="+mn-lt"/>
              </a:defRPr>
            </a:lvl6pPr>
            <a:lvl7pPr marL="0" indent="0" algn="r">
              <a:spcBef>
                <a:spcPts val="0"/>
              </a:spcBef>
              <a:buNone/>
              <a:defRPr sz="2400" b="0">
                <a:solidFill>
                  <a:schemeClr val="tx1"/>
                </a:solidFill>
                <a:latin typeface="+mn-lt"/>
              </a:defRPr>
            </a:lvl7pPr>
            <a:lvl8pPr marL="0" indent="0" algn="r">
              <a:spcBef>
                <a:spcPts val="0"/>
              </a:spcBef>
              <a:buNone/>
              <a:defRPr sz="2400" b="0">
                <a:solidFill>
                  <a:schemeClr val="tx1"/>
                </a:solidFill>
                <a:latin typeface="+mn-lt"/>
              </a:defRPr>
            </a:lvl8pPr>
            <a:lvl9pPr marL="0" indent="0" algn="r">
              <a:spcBef>
                <a:spcPts val="0"/>
              </a:spcBef>
              <a:buNone/>
              <a:defRPr sz="2400" b="0">
                <a:solidFill>
                  <a:schemeClr val="tx1"/>
                </a:solidFill>
                <a:latin typeface="+mn-lt"/>
              </a:defRPr>
            </a:lvl9pPr>
          </a:lstStyle>
          <a:p>
            <a:pPr lvl="0"/>
            <a:r>
              <a:rPr lang="en-US" noProof="0"/>
              <a:t>Edit date</a:t>
            </a:r>
          </a:p>
        </p:txBody>
      </p:sp>
      <p:sp>
        <p:nvSpPr>
          <p:cNvPr id="11" name="Text Placeholder 2">
            <a:extLst>
              <a:ext uri="{FF2B5EF4-FFF2-40B4-BE49-F238E27FC236}">
                <a16:creationId xmlns:a16="http://schemas.microsoft.com/office/drawing/2014/main" id="{E6ED980B-9D65-A198-AE5E-5981B5E21230}"/>
              </a:ext>
            </a:extLst>
          </p:cNvPr>
          <p:cNvSpPr>
            <a:spLocks noGrp="1"/>
          </p:cNvSpPr>
          <p:nvPr>
            <p:ph type="body" sz="quarter" idx="13" hasCustomPrompt="1"/>
          </p:nvPr>
        </p:nvSpPr>
        <p:spPr bwMode="gray">
          <a:xfrm>
            <a:off x="551381" y="938908"/>
            <a:ext cx="5472000" cy="184666"/>
          </a:xfrm>
        </p:spPr>
        <p:txBody>
          <a:bodyPr wrap="square">
            <a:spAutoFit/>
          </a:bodyPr>
          <a:lstStyle>
            <a:lvl1pPr marL="0" indent="0">
              <a:spcBef>
                <a:spcPts val="400"/>
              </a:spcBef>
              <a:buFont typeface="Arial" panose="020B0604020202020204" pitchFamily="34" charset="0"/>
              <a:buNone/>
              <a:defRPr sz="1200" b="0">
                <a:solidFill>
                  <a:schemeClr val="tx1"/>
                </a:solidFill>
                <a:latin typeface="+mn-lt"/>
              </a:defRPr>
            </a:lvl1pPr>
            <a:lvl2pPr marL="0" indent="0">
              <a:spcBef>
                <a:spcPts val="400"/>
              </a:spcBef>
              <a:buFont typeface="Arial" panose="020B0604020202020204" pitchFamily="34" charset="0"/>
              <a:buNone/>
              <a:defRPr sz="1200" b="0">
                <a:solidFill>
                  <a:schemeClr val="tx1"/>
                </a:solidFill>
                <a:latin typeface="+mn-lt"/>
              </a:defRPr>
            </a:lvl2pPr>
            <a:lvl3pPr marL="0" indent="0">
              <a:spcBef>
                <a:spcPts val="400"/>
              </a:spcBef>
              <a:buNone/>
              <a:defRPr sz="1200" b="0">
                <a:solidFill>
                  <a:schemeClr val="tx1"/>
                </a:solidFill>
                <a:latin typeface="+mn-lt"/>
              </a:defRPr>
            </a:lvl3pPr>
            <a:lvl4pPr marL="0" indent="0">
              <a:spcBef>
                <a:spcPts val="400"/>
              </a:spcBef>
              <a:buNone/>
              <a:defRPr sz="1200" b="0">
                <a:solidFill>
                  <a:schemeClr val="tx1"/>
                </a:solidFill>
                <a:latin typeface="+mn-lt"/>
              </a:defRPr>
            </a:lvl4pPr>
            <a:lvl5pPr marL="0" indent="0">
              <a:spcBef>
                <a:spcPts val="400"/>
              </a:spcBef>
              <a:buNone/>
              <a:defRPr sz="1200" b="0">
                <a:solidFill>
                  <a:schemeClr val="tx1"/>
                </a:solidFill>
                <a:latin typeface="+mn-lt"/>
              </a:defRPr>
            </a:lvl5pPr>
            <a:lvl6pPr marL="0" indent="0">
              <a:spcBef>
                <a:spcPts val="400"/>
              </a:spcBef>
              <a:buNone/>
              <a:defRPr sz="1200" b="0">
                <a:solidFill>
                  <a:schemeClr val="tx1"/>
                </a:solidFill>
                <a:latin typeface="+mn-lt"/>
              </a:defRPr>
            </a:lvl6pPr>
            <a:lvl7pPr marL="0" indent="0">
              <a:spcBef>
                <a:spcPts val="400"/>
              </a:spcBef>
              <a:buNone/>
              <a:defRPr sz="1200" b="0">
                <a:solidFill>
                  <a:schemeClr val="tx1"/>
                </a:solidFill>
                <a:latin typeface="+mn-lt"/>
              </a:defRPr>
            </a:lvl7pPr>
            <a:lvl8pPr marL="0" indent="0">
              <a:spcBef>
                <a:spcPts val="400"/>
              </a:spcBef>
              <a:buNone/>
              <a:defRPr sz="1200" b="0">
                <a:solidFill>
                  <a:schemeClr val="tx1"/>
                </a:solidFill>
                <a:latin typeface="+mn-lt"/>
              </a:defRPr>
            </a:lvl8pPr>
            <a:lvl9pPr marL="0" indent="0">
              <a:spcBef>
                <a:spcPts val="400"/>
              </a:spcBef>
              <a:buNone/>
              <a:defRPr sz="1200" b="0">
                <a:solidFill>
                  <a:schemeClr val="tx1"/>
                </a:solidFill>
                <a:latin typeface="+mn-lt"/>
              </a:defRPr>
            </a:lvl9pPr>
          </a:lstStyle>
          <a:p>
            <a:pPr lvl="0"/>
            <a:r>
              <a:rPr lang="en-US" noProof="0"/>
              <a:t>Click to edit subtitle, speaker info, function name, field of research, etc.</a:t>
            </a:r>
          </a:p>
        </p:txBody>
      </p:sp>
      <p:sp>
        <p:nvSpPr>
          <p:cNvPr id="8" name="Picture Placeholder 1">
            <a:extLst>
              <a:ext uri="{FF2B5EF4-FFF2-40B4-BE49-F238E27FC236}">
                <a16:creationId xmlns:a16="http://schemas.microsoft.com/office/drawing/2014/main" id="{30DD2D3B-1714-F49A-B6C1-3FDB1CE0D98F}"/>
              </a:ext>
            </a:extLst>
          </p:cNvPr>
          <p:cNvSpPr>
            <a:spLocks noGrp="1"/>
          </p:cNvSpPr>
          <p:nvPr>
            <p:ph type="pic" sz="quarter" idx="14"/>
          </p:nvPr>
        </p:nvSpPr>
        <p:spPr bwMode="gray">
          <a:xfrm>
            <a:off x="4425055" y="2420888"/>
            <a:ext cx="7766945" cy="4437112"/>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7" name="Rectangle orange">
            <a:extLst>
              <a:ext uri="{FF2B5EF4-FFF2-40B4-BE49-F238E27FC236}">
                <a16:creationId xmlns:a16="http://schemas.microsoft.com/office/drawing/2014/main" id="{812F2B87-FA36-EC70-E097-2108BCF02D3B}"/>
              </a:ext>
            </a:extLst>
          </p:cNvPr>
          <p:cNvSpPr/>
          <p:nvPr userDrawn="1"/>
        </p:nvSpPr>
        <p:spPr bwMode="gray">
          <a:xfrm>
            <a:off x="4281055" y="1844824"/>
            <a:ext cx="144000" cy="57606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19" name="Logo">
            <a:extLst>
              <a:ext uri="{FF2B5EF4-FFF2-40B4-BE49-F238E27FC236}">
                <a16:creationId xmlns:a16="http://schemas.microsoft.com/office/drawing/2014/main" id="{E1618CDF-9C19-3C90-0476-C964BD896D8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1468821111"/>
      </p:ext>
    </p:extLst>
  </p:cSld>
  <p:clrMapOvr>
    <a:masterClrMapping/>
  </p:clrMapOvr>
  <p:extLst>
    <p:ext uri="{DCECCB84-F9BA-43D5-87BE-67443E8EF086}">
      <p15:sldGuideLst xmlns:p15="http://schemas.microsoft.com/office/powerpoint/2012/main">
        <p15:guide id="2" pos="3885" userDrawn="1">
          <p15:clr>
            <a:srgbClr val="FBAE40"/>
          </p15:clr>
        </p15:guide>
        <p15:guide id="3" pos="379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 Title slide with image 5">
    <p:spTree>
      <p:nvGrpSpPr>
        <p:cNvPr id="1" name=""/>
        <p:cNvGrpSpPr/>
        <p:nvPr/>
      </p:nvGrpSpPr>
      <p:grpSpPr>
        <a:xfrm>
          <a:off x="0" y="0"/>
          <a:ext cx="0" cy="0"/>
          <a:chOff x="0" y="0"/>
          <a:chExt cx="0" cy="0"/>
        </a:xfrm>
      </p:grpSpPr>
      <p:sp>
        <p:nvSpPr>
          <p:cNvPr id="6" name="Gradient background">
            <a:extLst>
              <a:ext uri="{FF2B5EF4-FFF2-40B4-BE49-F238E27FC236}">
                <a16:creationId xmlns:a16="http://schemas.microsoft.com/office/drawing/2014/main" id="{7129C899-CA72-B0BF-E98C-9CCD2CE9E8B9}"/>
              </a:ext>
            </a:extLst>
          </p:cNvPr>
          <p:cNvSpPr/>
          <p:nvPr userDrawn="1"/>
        </p:nvSpPr>
        <p:spPr bwMode="hidden">
          <a:xfrm>
            <a:off x="0" y="2420888"/>
            <a:ext cx="4281056" cy="4437112"/>
          </a:xfrm>
          <a:prstGeom prst="rect">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noProof="0"/>
          </a:p>
        </p:txBody>
      </p:sp>
      <p:sp>
        <p:nvSpPr>
          <p:cNvPr id="3" name="Subtitle 2">
            <a:extLst>
              <a:ext uri="{FF2B5EF4-FFF2-40B4-BE49-F238E27FC236}">
                <a16:creationId xmlns:a16="http://schemas.microsoft.com/office/drawing/2014/main" id="{B0416517-6E31-5EB2-9E14-48277588B58E}"/>
              </a:ext>
            </a:extLst>
          </p:cNvPr>
          <p:cNvSpPr>
            <a:spLocks noGrp="1"/>
          </p:cNvSpPr>
          <p:nvPr>
            <p:ph type="subTitle" idx="1" hasCustomPrompt="1"/>
          </p:nvPr>
        </p:nvSpPr>
        <p:spPr bwMode="gray">
          <a:xfrm>
            <a:off x="551384" y="470856"/>
            <a:ext cx="3240000" cy="369332"/>
          </a:xfrm>
          <a:prstGeom prst="rect">
            <a:avLst/>
          </a:prstGeom>
        </p:spPr>
        <p:txBody>
          <a:bodyPr wrap="square">
            <a:spAutoFit/>
          </a:bodyPr>
          <a:lstStyle>
            <a:lvl1pPr marL="0" indent="0" algn="l">
              <a:spcBef>
                <a:spcPts val="0"/>
              </a:spcBef>
              <a:buNone/>
              <a:defRPr sz="2400" b="1">
                <a:solidFill>
                  <a:schemeClr val="tx1"/>
                </a:solidFill>
                <a:latin typeface="+mj-lt"/>
              </a:defRPr>
            </a:lvl1pPr>
            <a:lvl2pPr marL="0" indent="0" algn="l">
              <a:spcBef>
                <a:spcPts val="0"/>
              </a:spcBef>
              <a:buNone/>
              <a:defRPr sz="2400" b="1">
                <a:solidFill>
                  <a:schemeClr val="tx1"/>
                </a:solidFill>
                <a:latin typeface="+mj-lt"/>
              </a:defRPr>
            </a:lvl2pPr>
            <a:lvl3pPr marL="0" indent="0" algn="l">
              <a:spcBef>
                <a:spcPts val="0"/>
              </a:spcBef>
              <a:buNone/>
              <a:defRPr sz="2400" b="1">
                <a:solidFill>
                  <a:schemeClr val="tx1"/>
                </a:solidFill>
                <a:latin typeface="+mj-lt"/>
              </a:defRPr>
            </a:lvl3pPr>
            <a:lvl4pPr marL="0" indent="0" algn="l">
              <a:spcBef>
                <a:spcPts val="0"/>
              </a:spcBef>
              <a:buNone/>
              <a:defRPr sz="2400" b="1">
                <a:solidFill>
                  <a:schemeClr val="tx1"/>
                </a:solidFill>
                <a:latin typeface="+mj-lt"/>
              </a:defRPr>
            </a:lvl4pPr>
            <a:lvl5pPr marL="0" indent="0" algn="l">
              <a:spcBef>
                <a:spcPts val="0"/>
              </a:spcBef>
              <a:buNone/>
              <a:defRPr sz="2400" b="1">
                <a:solidFill>
                  <a:schemeClr val="tx1"/>
                </a:solidFill>
                <a:latin typeface="+mj-lt"/>
              </a:defRPr>
            </a:lvl5pPr>
            <a:lvl6pPr marL="0" indent="0" algn="l">
              <a:spcBef>
                <a:spcPts val="0"/>
              </a:spcBef>
              <a:buNone/>
              <a:defRPr sz="2400" b="1">
                <a:solidFill>
                  <a:schemeClr val="tx1"/>
                </a:solidFill>
                <a:latin typeface="+mj-lt"/>
              </a:defRPr>
            </a:lvl6pPr>
            <a:lvl7pPr marL="0" indent="0" algn="l">
              <a:spcBef>
                <a:spcPts val="0"/>
              </a:spcBef>
              <a:buNone/>
              <a:defRPr sz="2400" b="1">
                <a:solidFill>
                  <a:schemeClr val="tx1"/>
                </a:solidFill>
                <a:latin typeface="+mj-lt"/>
              </a:defRPr>
            </a:lvl7pPr>
            <a:lvl8pPr marL="0" indent="0" algn="l">
              <a:spcBef>
                <a:spcPts val="0"/>
              </a:spcBef>
              <a:buNone/>
              <a:defRPr sz="2400" b="1">
                <a:solidFill>
                  <a:schemeClr val="tx1"/>
                </a:solidFill>
                <a:latin typeface="+mj-lt"/>
              </a:defRPr>
            </a:lvl8pPr>
            <a:lvl9pPr marL="0" indent="0" algn="l">
              <a:spcBef>
                <a:spcPts val="0"/>
              </a:spcBef>
              <a:buNone/>
              <a:defRPr sz="2400" b="1">
                <a:solidFill>
                  <a:schemeClr val="tx1"/>
                </a:solidFill>
                <a:latin typeface="+mj-lt"/>
              </a:defRPr>
            </a:lvl9pPr>
          </a:lstStyle>
          <a:p>
            <a:pPr lvl="0"/>
            <a:r>
              <a:rPr lang="en-US" noProof="0"/>
              <a:t>Edit Name Surname</a:t>
            </a:r>
          </a:p>
        </p:txBody>
      </p:sp>
      <p:sp>
        <p:nvSpPr>
          <p:cNvPr id="5" name="Text Placeholder 1">
            <a:extLst>
              <a:ext uri="{FF2B5EF4-FFF2-40B4-BE49-F238E27FC236}">
                <a16:creationId xmlns:a16="http://schemas.microsoft.com/office/drawing/2014/main" id="{08C8A5A2-EC78-EC54-A690-5119D6E64A2E}"/>
              </a:ext>
            </a:extLst>
          </p:cNvPr>
          <p:cNvSpPr>
            <a:spLocks noGrp="1"/>
          </p:cNvSpPr>
          <p:nvPr>
            <p:ph type="body" sz="quarter" idx="12" hasCustomPrompt="1"/>
          </p:nvPr>
        </p:nvSpPr>
        <p:spPr bwMode="gray">
          <a:xfrm>
            <a:off x="3935992" y="470856"/>
            <a:ext cx="2088000" cy="369332"/>
          </a:xfrm>
        </p:spPr>
        <p:txBody>
          <a:bodyPr>
            <a:noAutofit/>
          </a:bodyPr>
          <a:lstStyle>
            <a:lvl1pPr marL="0" indent="0" algn="r">
              <a:spcBef>
                <a:spcPts val="0"/>
              </a:spcBef>
              <a:buFont typeface="Arial" panose="020B0604020202020204" pitchFamily="34" charset="0"/>
              <a:buNone/>
              <a:defRPr sz="2400" b="0">
                <a:solidFill>
                  <a:schemeClr val="tx1"/>
                </a:solidFill>
                <a:latin typeface="+mn-lt"/>
              </a:defRPr>
            </a:lvl1pPr>
            <a:lvl2pPr marL="0" indent="0" algn="r">
              <a:spcBef>
                <a:spcPts val="0"/>
              </a:spcBef>
              <a:buFont typeface="Arial" panose="020B0604020202020204" pitchFamily="34" charset="0"/>
              <a:buNone/>
              <a:defRPr sz="2400" b="0">
                <a:solidFill>
                  <a:schemeClr val="tx1"/>
                </a:solidFill>
                <a:latin typeface="+mn-lt"/>
              </a:defRPr>
            </a:lvl2pPr>
            <a:lvl3pPr marL="0" indent="0" algn="r">
              <a:spcBef>
                <a:spcPts val="0"/>
              </a:spcBef>
              <a:buNone/>
              <a:defRPr sz="2400" b="0">
                <a:solidFill>
                  <a:schemeClr val="tx1"/>
                </a:solidFill>
                <a:latin typeface="+mn-lt"/>
              </a:defRPr>
            </a:lvl3pPr>
            <a:lvl4pPr marL="0" indent="0" algn="r">
              <a:spcBef>
                <a:spcPts val="0"/>
              </a:spcBef>
              <a:buNone/>
              <a:defRPr sz="2400" b="0">
                <a:solidFill>
                  <a:schemeClr val="tx1"/>
                </a:solidFill>
                <a:latin typeface="+mn-lt"/>
              </a:defRPr>
            </a:lvl4pPr>
            <a:lvl5pPr marL="0" indent="0" algn="r">
              <a:spcBef>
                <a:spcPts val="0"/>
              </a:spcBef>
              <a:buNone/>
              <a:defRPr sz="2400" b="0">
                <a:solidFill>
                  <a:schemeClr val="tx1"/>
                </a:solidFill>
                <a:latin typeface="+mn-lt"/>
              </a:defRPr>
            </a:lvl5pPr>
            <a:lvl6pPr marL="0" indent="0" algn="r">
              <a:spcBef>
                <a:spcPts val="0"/>
              </a:spcBef>
              <a:buNone/>
              <a:defRPr sz="2400" b="0">
                <a:solidFill>
                  <a:schemeClr val="tx1"/>
                </a:solidFill>
                <a:latin typeface="+mn-lt"/>
              </a:defRPr>
            </a:lvl6pPr>
            <a:lvl7pPr marL="0" indent="0" algn="r">
              <a:spcBef>
                <a:spcPts val="0"/>
              </a:spcBef>
              <a:buNone/>
              <a:defRPr sz="2400" b="0">
                <a:solidFill>
                  <a:schemeClr val="tx1"/>
                </a:solidFill>
                <a:latin typeface="+mn-lt"/>
              </a:defRPr>
            </a:lvl7pPr>
            <a:lvl8pPr marL="0" indent="0" algn="r">
              <a:spcBef>
                <a:spcPts val="0"/>
              </a:spcBef>
              <a:buNone/>
              <a:defRPr sz="2400" b="0">
                <a:solidFill>
                  <a:schemeClr val="tx1"/>
                </a:solidFill>
                <a:latin typeface="+mn-lt"/>
              </a:defRPr>
            </a:lvl8pPr>
            <a:lvl9pPr marL="0" indent="0" algn="r">
              <a:spcBef>
                <a:spcPts val="0"/>
              </a:spcBef>
              <a:buNone/>
              <a:defRPr sz="2400" b="0">
                <a:solidFill>
                  <a:schemeClr val="tx1"/>
                </a:solidFill>
                <a:latin typeface="+mn-lt"/>
              </a:defRPr>
            </a:lvl9pPr>
          </a:lstStyle>
          <a:p>
            <a:pPr lvl="0"/>
            <a:r>
              <a:rPr lang="en-US" noProof="0"/>
              <a:t>Edit date</a:t>
            </a:r>
          </a:p>
        </p:txBody>
      </p:sp>
      <p:sp>
        <p:nvSpPr>
          <p:cNvPr id="11" name="Text Placeholder 2">
            <a:extLst>
              <a:ext uri="{FF2B5EF4-FFF2-40B4-BE49-F238E27FC236}">
                <a16:creationId xmlns:a16="http://schemas.microsoft.com/office/drawing/2014/main" id="{E6ED980B-9D65-A198-AE5E-5981B5E21230}"/>
              </a:ext>
            </a:extLst>
          </p:cNvPr>
          <p:cNvSpPr>
            <a:spLocks noGrp="1"/>
          </p:cNvSpPr>
          <p:nvPr>
            <p:ph type="body" sz="quarter" idx="13" hasCustomPrompt="1"/>
          </p:nvPr>
        </p:nvSpPr>
        <p:spPr bwMode="gray">
          <a:xfrm>
            <a:off x="551381" y="938908"/>
            <a:ext cx="5472000" cy="184666"/>
          </a:xfrm>
        </p:spPr>
        <p:txBody>
          <a:bodyPr wrap="square">
            <a:spAutoFit/>
          </a:bodyPr>
          <a:lstStyle>
            <a:lvl1pPr marL="0" indent="0">
              <a:spcBef>
                <a:spcPts val="400"/>
              </a:spcBef>
              <a:buFont typeface="Arial" panose="020B0604020202020204" pitchFamily="34" charset="0"/>
              <a:buNone/>
              <a:defRPr sz="1200" b="0">
                <a:solidFill>
                  <a:schemeClr val="tx1"/>
                </a:solidFill>
                <a:latin typeface="+mn-lt"/>
              </a:defRPr>
            </a:lvl1pPr>
            <a:lvl2pPr marL="0" indent="0">
              <a:spcBef>
                <a:spcPts val="400"/>
              </a:spcBef>
              <a:buFont typeface="Arial" panose="020B0604020202020204" pitchFamily="34" charset="0"/>
              <a:buNone/>
              <a:defRPr sz="1200" b="0">
                <a:solidFill>
                  <a:schemeClr val="tx1"/>
                </a:solidFill>
                <a:latin typeface="+mn-lt"/>
              </a:defRPr>
            </a:lvl2pPr>
            <a:lvl3pPr marL="0" indent="0">
              <a:spcBef>
                <a:spcPts val="400"/>
              </a:spcBef>
              <a:buNone/>
              <a:defRPr sz="1200" b="0">
                <a:solidFill>
                  <a:schemeClr val="tx1"/>
                </a:solidFill>
                <a:latin typeface="+mn-lt"/>
              </a:defRPr>
            </a:lvl3pPr>
            <a:lvl4pPr marL="0" indent="0">
              <a:spcBef>
                <a:spcPts val="400"/>
              </a:spcBef>
              <a:buNone/>
              <a:defRPr sz="1200" b="0">
                <a:solidFill>
                  <a:schemeClr val="tx1"/>
                </a:solidFill>
                <a:latin typeface="+mn-lt"/>
              </a:defRPr>
            </a:lvl4pPr>
            <a:lvl5pPr marL="0" indent="0">
              <a:spcBef>
                <a:spcPts val="400"/>
              </a:spcBef>
              <a:buNone/>
              <a:defRPr sz="1200" b="0">
                <a:solidFill>
                  <a:schemeClr val="tx1"/>
                </a:solidFill>
                <a:latin typeface="+mn-lt"/>
              </a:defRPr>
            </a:lvl5pPr>
            <a:lvl6pPr marL="0" indent="0">
              <a:spcBef>
                <a:spcPts val="400"/>
              </a:spcBef>
              <a:buNone/>
              <a:defRPr sz="1200" b="0">
                <a:solidFill>
                  <a:schemeClr val="tx1"/>
                </a:solidFill>
                <a:latin typeface="+mn-lt"/>
              </a:defRPr>
            </a:lvl6pPr>
            <a:lvl7pPr marL="0" indent="0">
              <a:spcBef>
                <a:spcPts val="400"/>
              </a:spcBef>
              <a:buNone/>
              <a:defRPr sz="1200" b="0">
                <a:solidFill>
                  <a:schemeClr val="tx1"/>
                </a:solidFill>
                <a:latin typeface="+mn-lt"/>
              </a:defRPr>
            </a:lvl7pPr>
            <a:lvl8pPr marL="0" indent="0">
              <a:spcBef>
                <a:spcPts val="400"/>
              </a:spcBef>
              <a:buNone/>
              <a:defRPr sz="1200" b="0">
                <a:solidFill>
                  <a:schemeClr val="tx1"/>
                </a:solidFill>
                <a:latin typeface="+mn-lt"/>
              </a:defRPr>
            </a:lvl8pPr>
            <a:lvl9pPr marL="0" indent="0">
              <a:spcBef>
                <a:spcPts val="400"/>
              </a:spcBef>
              <a:buNone/>
              <a:defRPr sz="1200" b="0">
                <a:solidFill>
                  <a:schemeClr val="tx1"/>
                </a:solidFill>
                <a:latin typeface="+mn-lt"/>
              </a:defRPr>
            </a:lvl9pPr>
          </a:lstStyle>
          <a:p>
            <a:pPr lvl="0"/>
            <a:r>
              <a:rPr lang="en-US" noProof="0"/>
              <a:t>Click to edit subtitle, speaker info, function name, field of research, etc.</a:t>
            </a:r>
          </a:p>
        </p:txBody>
      </p:sp>
      <p:sp>
        <p:nvSpPr>
          <p:cNvPr id="8" name="Picture Placeholder 1">
            <a:extLst>
              <a:ext uri="{FF2B5EF4-FFF2-40B4-BE49-F238E27FC236}">
                <a16:creationId xmlns:a16="http://schemas.microsoft.com/office/drawing/2014/main" id="{30DD2D3B-1714-F49A-B6C1-3FDB1CE0D98F}"/>
              </a:ext>
            </a:extLst>
          </p:cNvPr>
          <p:cNvSpPr>
            <a:spLocks noGrp="1"/>
          </p:cNvSpPr>
          <p:nvPr>
            <p:ph type="pic" sz="quarter" idx="14"/>
          </p:nvPr>
        </p:nvSpPr>
        <p:spPr bwMode="gray">
          <a:xfrm>
            <a:off x="4425056" y="2420888"/>
            <a:ext cx="7766944" cy="4437112"/>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7" name="Rectangle orange">
            <a:extLst>
              <a:ext uri="{FF2B5EF4-FFF2-40B4-BE49-F238E27FC236}">
                <a16:creationId xmlns:a16="http://schemas.microsoft.com/office/drawing/2014/main" id="{812F2B87-FA36-EC70-E097-2108BCF02D3B}"/>
              </a:ext>
            </a:extLst>
          </p:cNvPr>
          <p:cNvSpPr/>
          <p:nvPr userDrawn="1"/>
        </p:nvSpPr>
        <p:spPr bwMode="gray">
          <a:xfrm>
            <a:off x="4281056" y="1844824"/>
            <a:ext cx="144000" cy="57606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19" name="Logo">
            <a:extLst>
              <a:ext uri="{FF2B5EF4-FFF2-40B4-BE49-F238E27FC236}">
                <a16:creationId xmlns:a16="http://schemas.microsoft.com/office/drawing/2014/main" id="{E1618CDF-9C19-3C90-0476-C964BD896D8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bwMode="gray">
          <a:xfrm>
            <a:off x="551394" y="6301888"/>
            <a:ext cx="1691980" cy="252837"/>
          </a:xfrm>
          <a:prstGeom prst="rect">
            <a:avLst/>
          </a:prstGeom>
        </p:spPr>
      </p:pic>
      <p:sp>
        <p:nvSpPr>
          <p:cNvPr id="2" name="Title 1">
            <a:extLst>
              <a:ext uri="{FF2B5EF4-FFF2-40B4-BE49-F238E27FC236}">
                <a16:creationId xmlns:a16="http://schemas.microsoft.com/office/drawing/2014/main" id="{7C4A620D-E72D-0599-539C-16ECD62CD3D9}"/>
              </a:ext>
            </a:extLst>
          </p:cNvPr>
          <p:cNvSpPr>
            <a:spLocks noGrp="1"/>
          </p:cNvSpPr>
          <p:nvPr>
            <p:ph type="ctrTitle" hasCustomPrompt="1"/>
          </p:nvPr>
        </p:nvSpPr>
        <p:spPr bwMode="gray">
          <a:xfrm>
            <a:off x="551385" y="3429000"/>
            <a:ext cx="3384607" cy="1532727"/>
          </a:xfrm>
        </p:spPr>
        <p:txBody>
          <a:bodyPr wrap="square" anchor="t">
            <a:spAutoFit/>
          </a:bodyPr>
          <a:lstStyle>
            <a:lvl1pPr algn="l">
              <a:lnSpc>
                <a:spcPct val="83000"/>
              </a:lnSpc>
              <a:defRPr sz="4000" spc="0" baseline="0">
                <a:solidFill>
                  <a:schemeClr val="tx1"/>
                </a:solidFill>
              </a:defRPr>
            </a:lvl1pPr>
          </a:lstStyle>
          <a:p>
            <a:r>
              <a:rPr lang="en-US" noProof="0"/>
              <a:t>Presentation title (max. three lines)</a:t>
            </a:r>
          </a:p>
        </p:txBody>
      </p:sp>
    </p:spTree>
    <p:extLst>
      <p:ext uri="{BB962C8B-B14F-4D97-AF65-F5344CB8AC3E}">
        <p14:creationId xmlns:p14="http://schemas.microsoft.com/office/powerpoint/2010/main" val="2718179317"/>
      </p:ext>
    </p:extLst>
  </p:cSld>
  <p:clrMapOvr>
    <a:masterClrMapping/>
  </p:clrMapOvr>
  <p:extLst>
    <p:ext uri="{DCECCB84-F9BA-43D5-87BE-67443E8EF086}">
      <p15:sldGuideLst xmlns:p15="http://schemas.microsoft.com/office/powerpoint/2012/main">
        <p15:guide id="2" pos="3885" userDrawn="1">
          <p15:clr>
            <a:srgbClr val="FBAE40"/>
          </p15:clr>
        </p15:guide>
        <p15:guide id="3" pos="3795"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 Title slide with image 6">
    <p:spTree>
      <p:nvGrpSpPr>
        <p:cNvPr id="1" name=""/>
        <p:cNvGrpSpPr/>
        <p:nvPr/>
      </p:nvGrpSpPr>
      <p:grpSpPr>
        <a:xfrm>
          <a:off x="0" y="0"/>
          <a:ext cx="0" cy="0"/>
          <a:chOff x="0" y="0"/>
          <a:chExt cx="0" cy="0"/>
        </a:xfrm>
      </p:grpSpPr>
      <p:sp>
        <p:nvSpPr>
          <p:cNvPr id="6" name="Gradient background">
            <a:extLst>
              <a:ext uri="{FF2B5EF4-FFF2-40B4-BE49-F238E27FC236}">
                <a16:creationId xmlns:a16="http://schemas.microsoft.com/office/drawing/2014/main" id="{7129C899-CA72-B0BF-E98C-9CCD2CE9E8B9}"/>
              </a:ext>
            </a:extLst>
          </p:cNvPr>
          <p:cNvSpPr/>
          <p:nvPr userDrawn="1"/>
        </p:nvSpPr>
        <p:spPr bwMode="hidden">
          <a:xfrm flipH="1">
            <a:off x="615" y="2420888"/>
            <a:ext cx="4280440" cy="4437112"/>
          </a:xfrm>
          <a:prstGeom prst="rect">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noProof="0"/>
          </a:p>
        </p:txBody>
      </p:sp>
      <p:sp>
        <p:nvSpPr>
          <p:cNvPr id="3" name="Subtitle 2">
            <a:extLst>
              <a:ext uri="{FF2B5EF4-FFF2-40B4-BE49-F238E27FC236}">
                <a16:creationId xmlns:a16="http://schemas.microsoft.com/office/drawing/2014/main" id="{B0416517-6E31-5EB2-9E14-48277588B58E}"/>
              </a:ext>
            </a:extLst>
          </p:cNvPr>
          <p:cNvSpPr>
            <a:spLocks noGrp="1"/>
          </p:cNvSpPr>
          <p:nvPr>
            <p:ph type="subTitle" idx="1" hasCustomPrompt="1"/>
          </p:nvPr>
        </p:nvSpPr>
        <p:spPr bwMode="gray">
          <a:xfrm>
            <a:off x="551384" y="470856"/>
            <a:ext cx="3240000" cy="369332"/>
          </a:xfrm>
          <a:prstGeom prst="rect">
            <a:avLst/>
          </a:prstGeom>
        </p:spPr>
        <p:txBody>
          <a:bodyPr wrap="square">
            <a:spAutoFit/>
          </a:bodyPr>
          <a:lstStyle>
            <a:lvl1pPr marL="0" indent="0" algn="l">
              <a:spcBef>
                <a:spcPts val="0"/>
              </a:spcBef>
              <a:buNone/>
              <a:defRPr sz="2400" b="1">
                <a:solidFill>
                  <a:schemeClr val="tx1"/>
                </a:solidFill>
                <a:latin typeface="+mj-lt"/>
              </a:defRPr>
            </a:lvl1pPr>
            <a:lvl2pPr marL="0" indent="0" algn="l">
              <a:spcBef>
                <a:spcPts val="0"/>
              </a:spcBef>
              <a:buNone/>
              <a:defRPr sz="2400" b="1">
                <a:solidFill>
                  <a:schemeClr val="tx1"/>
                </a:solidFill>
                <a:latin typeface="+mj-lt"/>
              </a:defRPr>
            </a:lvl2pPr>
            <a:lvl3pPr marL="0" indent="0" algn="l">
              <a:spcBef>
                <a:spcPts val="0"/>
              </a:spcBef>
              <a:buNone/>
              <a:defRPr sz="2400" b="1">
                <a:solidFill>
                  <a:schemeClr val="tx1"/>
                </a:solidFill>
                <a:latin typeface="+mj-lt"/>
              </a:defRPr>
            </a:lvl3pPr>
            <a:lvl4pPr marL="0" indent="0" algn="l">
              <a:spcBef>
                <a:spcPts val="0"/>
              </a:spcBef>
              <a:buNone/>
              <a:defRPr sz="2400" b="1">
                <a:solidFill>
                  <a:schemeClr val="tx1"/>
                </a:solidFill>
                <a:latin typeface="+mj-lt"/>
              </a:defRPr>
            </a:lvl4pPr>
            <a:lvl5pPr marL="0" indent="0" algn="l">
              <a:spcBef>
                <a:spcPts val="0"/>
              </a:spcBef>
              <a:buNone/>
              <a:defRPr sz="2400" b="1">
                <a:solidFill>
                  <a:schemeClr val="tx1"/>
                </a:solidFill>
                <a:latin typeface="+mj-lt"/>
              </a:defRPr>
            </a:lvl5pPr>
            <a:lvl6pPr marL="0" indent="0" algn="l">
              <a:spcBef>
                <a:spcPts val="0"/>
              </a:spcBef>
              <a:buNone/>
              <a:defRPr sz="2400" b="1">
                <a:solidFill>
                  <a:schemeClr val="tx1"/>
                </a:solidFill>
                <a:latin typeface="+mj-lt"/>
              </a:defRPr>
            </a:lvl6pPr>
            <a:lvl7pPr marL="0" indent="0" algn="l">
              <a:spcBef>
                <a:spcPts val="0"/>
              </a:spcBef>
              <a:buNone/>
              <a:defRPr sz="2400" b="1">
                <a:solidFill>
                  <a:schemeClr val="tx1"/>
                </a:solidFill>
                <a:latin typeface="+mj-lt"/>
              </a:defRPr>
            </a:lvl7pPr>
            <a:lvl8pPr marL="0" indent="0" algn="l">
              <a:spcBef>
                <a:spcPts val="0"/>
              </a:spcBef>
              <a:buNone/>
              <a:defRPr sz="2400" b="1">
                <a:solidFill>
                  <a:schemeClr val="tx1"/>
                </a:solidFill>
                <a:latin typeface="+mj-lt"/>
              </a:defRPr>
            </a:lvl8pPr>
            <a:lvl9pPr marL="0" indent="0" algn="l">
              <a:spcBef>
                <a:spcPts val="0"/>
              </a:spcBef>
              <a:buNone/>
              <a:defRPr sz="2400" b="1">
                <a:solidFill>
                  <a:schemeClr val="tx1"/>
                </a:solidFill>
                <a:latin typeface="+mj-lt"/>
              </a:defRPr>
            </a:lvl9pPr>
          </a:lstStyle>
          <a:p>
            <a:pPr lvl="0"/>
            <a:r>
              <a:rPr lang="en-US" noProof="0"/>
              <a:t>Edit Name Surname</a:t>
            </a:r>
          </a:p>
        </p:txBody>
      </p:sp>
      <p:sp>
        <p:nvSpPr>
          <p:cNvPr id="5" name="Text Placeholder 1">
            <a:extLst>
              <a:ext uri="{FF2B5EF4-FFF2-40B4-BE49-F238E27FC236}">
                <a16:creationId xmlns:a16="http://schemas.microsoft.com/office/drawing/2014/main" id="{08C8A5A2-EC78-EC54-A690-5119D6E64A2E}"/>
              </a:ext>
            </a:extLst>
          </p:cNvPr>
          <p:cNvSpPr>
            <a:spLocks noGrp="1"/>
          </p:cNvSpPr>
          <p:nvPr>
            <p:ph type="body" sz="quarter" idx="12" hasCustomPrompt="1"/>
          </p:nvPr>
        </p:nvSpPr>
        <p:spPr bwMode="gray">
          <a:xfrm>
            <a:off x="3935992" y="470856"/>
            <a:ext cx="2088000" cy="369332"/>
          </a:xfrm>
        </p:spPr>
        <p:txBody>
          <a:bodyPr>
            <a:noAutofit/>
          </a:bodyPr>
          <a:lstStyle>
            <a:lvl1pPr marL="0" indent="0" algn="r">
              <a:spcBef>
                <a:spcPts val="0"/>
              </a:spcBef>
              <a:buFont typeface="Arial" panose="020B0604020202020204" pitchFamily="34" charset="0"/>
              <a:buNone/>
              <a:defRPr sz="2400" b="0">
                <a:solidFill>
                  <a:schemeClr val="tx1"/>
                </a:solidFill>
                <a:latin typeface="+mn-lt"/>
              </a:defRPr>
            </a:lvl1pPr>
            <a:lvl2pPr marL="0" indent="0" algn="r">
              <a:spcBef>
                <a:spcPts val="0"/>
              </a:spcBef>
              <a:buFont typeface="Arial" panose="020B0604020202020204" pitchFamily="34" charset="0"/>
              <a:buNone/>
              <a:defRPr sz="2400" b="0">
                <a:solidFill>
                  <a:schemeClr val="tx1"/>
                </a:solidFill>
                <a:latin typeface="+mn-lt"/>
              </a:defRPr>
            </a:lvl2pPr>
            <a:lvl3pPr marL="0" indent="0" algn="r">
              <a:spcBef>
                <a:spcPts val="0"/>
              </a:spcBef>
              <a:buNone/>
              <a:defRPr sz="2400" b="0">
                <a:solidFill>
                  <a:schemeClr val="tx1"/>
                </a:solidFill>
                <a:latin typeface="+mn-lt"/>
              </a:defRPr>
            </a:lvl3pPr>
            <a:lvl4pPr marL="0" indent="0" algn="r">
              <a:spcBef>
                <a:spcPts val="0"/>
              </a:spcBef>
              <a:buNone/>
              <a:defRPr sz="2400" b="0">
                <a:solidFill>
                  <a:schemeClr val="tx1"/>
                </a:solidFill>
                <a:latin typeface="+mn-lt"/>
              </a:defRPr>
            </a:lvl4pPr>
            <a:lvl5pPr marL="0" indent="0" algn="r">
              <a:spcBef>
                <a:spcPts val="0"/>
              </a:spcBef>
              <a:buNone/>
              <a:defRPr sz="2400" b="0">
                <a:solidFill>
                  <a:schemeClr val="tx1"/>
                </a:solidFill>
                <a:latin typeface="+mn-lt"/>
              </a:defRPr>
            </a:lvl5pPr>
            <a:lvl6pPr marL="0" indent="0" algn="r">
              <a:spcBef>
                <a:spcPts val="0"/>
              </a:spcBef>
              <a:buNone/>
              <a:defRPr sz="2400" b="0">
                <a:solidFill>
                  <a:schemeClr val="tx1"/>
                </a:solidFill>
                <a:latin typeface="+mn-lt"/>
              </a:defRPr>
            </a:lvl6pPr>
            <a:lvl7pPr marL="0" indent="0" algn="r">
              <a:spcBef>
                <a:spcPts val="0"/>
              </a:spcBef>
              <a:buNone/>
              <a:defRPr sz="2400" b="0">
                <a:solidFill>
                  <a:schemeClr val="tx1"/>
                </a:solidFill>
                <a:latin typeface="+mn-lt"/>
              </a:defRPr>
            </a:lvl7pPr>
            <a:lvl8pPr marL="0" indent="0" algn="r">
              <a:spcBef>
                <a:spcPts val="0"/>
              </a:spcBef>
              <a:buNone/>
              <a:defRPr sz="2400" b="0">
                <a:solidFill>
                  <a:schemeClr val="tx1"/>
                </a:solidFill>
                <a:latin typeface="+mn-lt"/>
              </a:defRPr>
            </a:lvl8pPr>
            <a:lvl9pPr marL="0" indent="0" algn="r">
              <a:spcBef>
                <a:spcPts val="0"/>
              </a:spcBef>
              <a:buNone/>
              <a:defRPr sz="2400" b="0">
                <a:solidFill>
                  <a:schemeClr val="tx1"/>
                </a:solidFill>
                <a:latin typeface="+mn-lt"/>
              </a:defRPr>
            </a:lvl9pPr>
          </a:lstStyle>
          <a:p>
            <a:pPr lvl="0"/>
            <a:r>
              <a:rPr lang="en-US" noProof="0"/>
              <a:t>Edit date</a:t>
            </a:r>
          </a:p>
        </p:txBody>
      </p:sp>
      <p:sp>
        <p:nvSpPr>
          <p:cNvPr id="11" name="Text Placeholder 2">
            <a:extLst>
              <a:ext uri="{FF2B5EF4-FFF2-40B4-BE49-F238E27FC236}">
                <a16:creationId xmlns:a16="http://schemas.microsoft.com/office/drawing/2014/main" id="{E6ED980B-9D65-A198-AE5E-5981B5E21230}"/>
              </a:ext>
            </a:extLst>
          </p:cNvPr>
          <p:cNvSpPr>
            <a:spLocks noGrp="1"/>
          </p:cNvSpPr>
          <p:nvPr>
            <p:ph type="body" sz="quarter" idx="13" hasCustomPrompt="1"/>
          </p:nvPr>
        </p:nvSpPr>
        <p:spPr bwMode="gray">
          <a:xfrm>
            <a:off x="551381" y="938908"/>
            <a:ext cx="5472000" cy="184666"/>
          </a:xfrm>
        </p:spPr>
        <p:txBody>
          <a:bodyPr wrap="square">
            <a:spAutoFit/>
          </a:bodyPr>
          <a:lstStyle>
            <a:lvl1pPr marL="0" indent="0">
              <a:spcBef>
                <a:spcPts val="400"/>
              </a:spcBef>
              <a:buFont typeface="Arial" panose="020B0604020202020204" pitchFamily="34" charset="0"/>
              <a:buNone/>
              <a:defRPr sz="1200" b="0">
                <a:solidFill>
                  <a:schemeClr val="tx1"/>
                </a:solidFill>
                <a:latin typeface="+mn-lt"/>
              </a:defRPr>
            </a:lvl1pPr>
            <a:lvl2pPr marL="0" indent="0">
              <a:spcBef>
                <a:spcPts val="400"/>
              </a:spcBef>
              <a:buFont typeface="Arial" panose="020B0604020202020204" pitchFamily="34" charset="0"/>
              <a:buNone/>
              <a:defRPr sz="1200" b="0">
                <a:solidFill>
                  <a:schemeClr val="tx1"/>
                </a:solidFill>
                <a:latin typeface="+mn-lt"/>
              </a:defRPr>
            </a:lvl2pPr>
            <a:lvl3pPr marL="0" indent="0">
              <a:spcBef>
                <a:spcPts val="400"/>
              </a:spcBef>
              <a:buNone/>
              <a:defRPr sz="1200" b="0">
                <a:solidFill>
                  <a:schemeClr val="tx1"/>
                </a:solidFill>
                <a:latin typeface="+mn-lt"/>
              </a:defRPr>
            </a:lvl3pPr>
            <a:lvl4pPr marL="0" indent="0">
              <a:spcBef>
                <a:spcPts val="400"/>
              </a:spcBef>
              <a:buNone/>
              <a:defRPr sz="1200" b="0">
                <a:solidFill>
                  <a:schemeClr val="tx1"/>
                </a:solidFill>
                <a:latin typeface="+mn-lt"/>
              </a:defRPr>
            </a:lvl4pPr>
            <a:lvl5pPr marL="0" indent="0">
              <a:spcBef>
                <a:spcPts val="400"/>
              </a:spcBef>
              <a:buNone/>
              <a:defRPr sz="1200" b="0">
                <a:solidFill>
                  <a:schemeClr val="tx1"/>
                </a:solidFill>
                <a:latin typeface="+mn-lt"/>
              </a:defRPr>
            </a:lvl5pPr>
            <a:lvl6pPr marL="0" indent="0">
              <a:spcBef>
                <a:spcPts val="400"/>
              </a:spcBef>
              <a:buNone/>
              <a:defRPr sz="1200" b="0">
                <a:solidFill>
                  <a:schemeClr val="tx1"/>
                </a:solidFill>
                <a:latin typeface="+mn-lt"/>
              </a:defRPr>
            </a:lvl6pPr>
            <a:lvl7pPr marL="0" indent="0">
              <a:spcBef>
                <a:spcPts val="400"/>
              </a:spcBef>
              <a:buNone/>
              <a:defRPr sz="1200" b="0">
                <a:solidFill>
                  <a:schemeClr val="tx1"/>
                </a:solidFill>
                <a:latin typeface="+mn-lt"/>
              </a:defRPr>
            </a:lvl7pPr>
            <a:lvl8pPr marL="0" indent="0">
              <a:spcBef>
                <a:spcPts val="400"/>
              </a:spcBef>
              <a:buNone/>
              <a:defRPr sz="1200" b="0">
                <a:solidFill>
                  <a:schemeClr val="tx1"/>
                </a:solidFill>
                <a:latin typeface="+mn-lt"/>
              </a:defRPr>
            </a:lvl8pPr>
            <a:lvl9pPr marL="0" indent="0">
              <a:spcBef>
                <a:spcPts val="400"/>
              </a:spcBef>
              <a:buNone/>
              <a:defRPr sz="1200" b="0">
                <a:solidFill>
                  <a:schemeClr val="tx1"/>
                </a:solidFill>
                <a:latin typeface="+mn-lt"/>
              </a:defRPr>
            </a:lvl9pPr>
          </a:lstStyle>
          <a:p>
            <a:pPr lvl="0"/>
            <a:r>
              <a:rPr lang="en-US" noProof="0"/>
              <a:t>Click to edit subtitle, speaker info, function name, field of research, etc.</a:t>
            </a:r>
          </a:p>
        </p:txBody>
      </p:sp>
      <p:sp>
        <p:nvSpPr>
          <p:cNvPr id="8" name="Picture Placeholder 1">
            <a:extLst>
              <a:ext uri="{FF2B5EF4-FFF2-40B4-BE49-F238E27FC236}">
                <a16:creationId xmlns:a16="http://schemas.microsoft.com/office/drawing/2014/main" id="{30DD2D3B-1714-F49A-B6C1-3FDB1CE0D98F}"/>
              </a:ext>
            </a:extLst>
          </p:cNvPr>
          <p:cNvSpPr>
            <a:spLocks noGrp="1"/>
          </p:cNvSpPr>
          <p:nvPr>
            <p:ph type="pic" sz="quarter" idx="14"/>
          </p:nvPr>
        </p:nvSpPr>
        <p:spPr bwMode="gray">
          <a:xfrm>
            <a:off x="4425055" y="2420888"/>
            <a:ext cx="7766945" cy="4437112"/>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7" name="Rectangle orange">
            <a:extLst>
              <a:ext uri="{FF2B5EF4-FFF2-40B4-BE49-F238E27FC236}">
                <a16:creationId xmlns:a16="http://schemas.microsoft.com/office/drawing/2014/main" id="{812F2B87-FA36-EC70-E097-2108BCF02D3B}"/>
              </a:ext>
            </a:extLst>
          </p:cNvPr>
          <p:cNvSpPr/>
          <p:nvPr userDrawn="1"/>
        </p:nvSpPr>
        <p:spPr bwMode="gray">
          <a:xfrm>
            <a:off x="4281055" y="1844824"/>
            <a:ext cx="144000" cy="57606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19" name="Logo">
            <a:extLst>
              <a:ext uri="{FF2B5EF4-FFF2-40B4-BE49-F238E27FC236}">
                <a16:creationId xmlns:a16="http://schemas.microsoft.com/office/drawing/2014/main" id="{E1618CDF-9C19-3C90-0476-C964BD896D8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bwMode="gray">
          <a:xfrm>
            <a:off x="551394" y="6301888"/>
            <a:ext cx="1691980" cy="252837"/>
          </a:xfrm>
          <a:prstGeom prst="rect">
            <a:avLst/>
          </a:prstGeom>
        </p:spPr>
      </p:pic>
      <p:sp>
        <p:nvSpPr>
          <p:cNvPr id="9" name="Title 1">
            <a:extLst>
              <a:ext uri="{FF2B5EF4-FFF2-40B4-BE49-F238E27FC236}">
                <a16:creationId xmlns:a16="http://schemas.microsoft.com/office/drawing/2014/main" id="{FEDBD3AB-8D5C-9430-21B5-DB44408225B2}"/>
              </a:ext>
            </a:extLst>
          </p:cNvPr>
          <p:cNvSpPr>
            <a:spLocks noGrp="1"/>
          </p:cNvSpPr>
          <p:nvPr>
            <p:ph type="ctrTitle" hasCustomPrompt="1"/>
          </p:nvPr>
        </p:nvSpPr>
        <p:spPr bwMode="gray">
          <a:xfrm>
            <a:off x="551385" y="3429000"/>
            <a:ext cx="3384607" cy="1532727"/>
          </a:xfrm>
        </p:spPr>
        <p:txBody>
          <a:bodyPr wrap="square" anchor="t">
            <a:spAutoFit/>
          </a:bodyPr>
          <a:lstStyle>
            <a:lvl1pPr algn="l">
              <a:lnSpc>
                <a:spcPct val="83000"/>
              </a:lnSpc>
              <a:defRPr sz="4000" spc="0" baseline="0">
                <a:solidFill>
                  <a:schemeClr val="tx1"/>
                </a:solidFill>
              </a:defRPr>
            </a:lvl1pPr>
          </a:lstStyle>
          <a:p>
            <a:r>
              <a:rPr lang="en-US" noProof="0"/>
              <a:t>Presentation title (max. three lines)</a:t>
            </a:r>
          </a:p>
        </p:txBody>
      </p:sp>
    </p:spTree>
    <p:extLst>
      <p:ext uri="{BB962C8B-B14F-4D97-AF65-F5344CB8AC3E}">
        <p14:creationId xmlns:p14="http://schemas.microsoft.com/office/powerpoint/2010/main" val="1433433258"/>
      </p:ext>
    </p:extLst>
  </p:cSld>
  <p:clrMapOvr>
    <a:masterClrMapping/>
  </p:clrMapOvr>
  <p:extLst>
    <p:ext uri="{DCECCB84-F9BA-43D5-87BE-67443E8EF086}">
      <p15:sldGuideLst xmlns:p15="http://schemas.microsoft.com/office/powerpoint/2012/main">
        <p15:guide id="2" pos="3885" userDrawn="1">
          <p15:clr>
            <a:srgbClr val="FBAE40"/>
          </p15:clr>
        </p15:guide>
        <p15:guide id="3" pos="3795"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Table of contents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26664"/>
            <a:ext cx="11088000" cy="914096"/>
          </a:xfrm>
        </p:spPr>
        <p:txBody>
          <a:bodyPr/>
          <a:lstStyle>
            <a:lvl1pPr>
              <a:defRPr sz="6600">
                <a:solidFill>
                  <a:schemeClr val="tx1"/>
                </a:solidFill>
              </a:defRPr>
            </a:lvl1pPr>
          </a:lstStyle>
          <a:p>
            <a:r>
              <a:rPr lang="en-US" noProof="0"/>
              <a:t>Edit table of contents</a:t>
            </a:r>
          </a:p>
        </p:txBody>
      </p:sp>
      <p:sp>
        <p:nvSpPr>
          <p:cNvPr id="15" name="Picture Placeholder 1">
            <a:extLst>
              <a:ext uri="{FF2B5EF4-FFF2-40B4-BE49-F238E27FC236}">
                <a16:creationId xmlns:a16="http://schemas.microsoft.com/office/drawing/2014/main" id="{35F424A1-9BB3-B324-997B-7DA2CBB4B02B}"/>
              </a:ext>
            </a:extLst>
          </p:cNvPr>
          <p:cNvSpPr>
            <a:spLocks noGrp="1"/>
          </p:cNvSpPr>
          <p:nvPr>
            <p:ph type="pic" sz="quarter" idx="15"/>
          </p:nvPr>
        </p:nvSpPr>
        <p:spPr bwMode="gray">
          <a:xfrm>
            <a:off x="551384" y="1844824"/>
            <a:ext cx="2664000" cy="266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13" name="Text Placeholder 1">
            <a:extLst>
              <a:ext uri="{FF2B5EF4-FFF2-40B4-BE49-F238E27FC236}">
                <a16:creationId xmlns:a16="http://schemas.microsoft.com/office/drawing/2014/main" id="{FF5F6786-619A-37D6-0082-EDF431617447}"/>
              </a:ext>
            </a:extLst>
          </p:cNvPr>
          <p:cNvSpPr>
            <a:spLocks noGrp="1"/>
          </p:cNvSpPr>
          <p:nvPr>
            <p:ph type="body" sz="quarter" idx="13" hasCustomPrompt="1"/>
          </p:nvPr>
        </p:nvSpPr>
        <p:spPr bwMode="gray">
          <a:xfrm>
            <a:off x="551384" y="4653136"/>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14" name="Text Placeholder 2">
            <a:extLst>
              <a:ext uri="{FF2B5EF4-FFF2-40B4-BE49-F238E27FC236}">
                <a16:creationId xmlns:a16="http://schemas.microsoft.com/office/drawing/2014/main" id="{C8CA8EA4-F7B2-6078-77B7-8F2AB8EFAB03}"/>
              </a:ext>
            </a:extLst>
          </p:cNvPr>
          <p:cNvSpPr>
            <a:spLocks noGrp="1"/>
          </p:cNvSpPr>
          <p:nvPr>
            <p:ph type="body" sz="quarter" idx="14" hasCustomPrompt="1"/>
          </p:nvPr>
        </p:nvSpPr>
        <p:spPr bwMode="gray">
          <a:xfrm>
            <a:off x="803412" y="4653136"/>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20" name="Picture Placeholder 2">
            <a:extLst>
              <a:ext uri="{FF2B5EF4-FFF2-40B4-BE49-F238E27FC236}">
                <a16:creationId xmlns:a16="http://schemas.microsoft.com/office/drawing/2014/main" id="{77D9958F-D7E9-E341-64EF-0414563D58C9}"/>
              </a:ext>
            </a:extLst>
          </p:cNvPr>
          <p:cNvSpPr>
            <a:spLocks noGrp="1"/>
          </p:cNvSpPr>
          <p:nvPr>
            <p:ph type="pic" sz="quarter" idx="18"/>
          </p:nvPr>
        </p:nvSpPr>
        <p:spPr bwMode="gray">
          <a:xfrm>
            <a:off x="3359696" y="1844824"/>
            <a:ext cx="2664000" cy="266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18" name="Text Placeholder 3">
            <a:extLst>
              <a:ext uri="{FF2B5EF4-FFF2-40B4-BE49-F238E27FC236}">
                <a16:creationId xmlns:a16="http://schemas.microsoft.com/office/drawing/2014/main" id="{55806D21-D8B0-D169-3BEA-BE646E92C058}"/>
              </a:ext>
            </a:extLst>
          </p:cNvPr>
          <p:cNvSpPr>
            <a:spLocks noGrp="1"/>
          </p:cNvSpPr>
          <p:nvPr>
            <p:ph type="body" sz="quarter" idx="16" hasCustomPrompt="1"/>
          </p:nvPr>
        </p:nvSpPr>
        <p:spPr bwMode="gray">
          <a:xfrm>
            <a:off x="3359696" y="4653136"/>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19" name="Text Placeholder 4">
            <a:extLst>
              <a:ext uri="{FF2B5EF4-FFF2-40B4-BE49-F238E27FC236}">
                <a16:creationId xmlns:a16="http://schemas.microsoft.com/office/drawing/2014/main" id="{F1E53736-3FEA-0BB6-0AEC-B1FB5B19F9F4}"/>
              </a:ext>
            </a:extLst>
          </p:cNvPr>
          <p:cNvSpPr>
            <a:spLocks noGrp="1"/>
          </p:cNvSpPr>
          <p:nvPr>
            <p:ph type="body" sz="quarter" idx="17" hasCustomPrompt="1"/>
          </p:nvPr>
        </p:nvSpPr>
        <p:spPr bwMode="gray">
          <a:xfrm>
            <a:off x="3611724" y="4653136"/>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23" name="Picture Placeholder 3">
            <a:extLst>
              <a:ext uri="{FF2B5EF4-FFF2-40B4-BE49-F238E27FC236}">
                <a16:creationId xmlns:a16="http://schemas.microsoft.com/office/drawing/2014/main" id="{BF6F1D10-A4CD-E6DC-2DE0-E4703326DA5B}"/>
              </a:ext>
            </a:extLst>
          </p:cNvPr>
          <p:cNvSpPr>
            <a:spLocks noGrp="1"/>
          </p:cNvSpPr>
          <p:nvPr>
            <p:ph type="pic" sz="quarter" idx="21"/>
          </p:nvPr>
        </p:nvSpPr>
        <p:spPr bwMode="gray">
          <a:xfrm>
            <a:off x="6168008" y="1844824"/>
            <a:ext cx="2664000" cy="266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21" name="Text Placeholder 5">
            <a:extLst>
              <a:ext uri="{FF2B5EF4-FFF2-40B4-BE49-F238E27FC236}">
                <a16:creationId xmlns:a16="http://schemas.microsoft.com/office/drawing/2014/main" id="{98EB2553-2FBB-C46C-B935-78FBAF6AAD00}"/>
              </a:ext>
            </a:extLst>
          </p:cNvPr>
          <p:cNvSpPr>
            <a:spLocks noGrp="1"/>
          </p:cNvSpPr>
          <p:nvPr>
            <p:ph type="body" sz="quarter" idx="19" hasCustomPrompt="1"/>
          </p:nvPr>
        </p:nvSpPr>
        <p:spPr bwMode="gray">
          <a:xfrm>
            <a:off x="6168008" y="4653136"/>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22" name="Text Placeholder 6">
            <a:extLst>
              <a:ext uri="{FF2B5EF4-FFF2-40B4-BE49-F238E27FC236}">
                <a16:creationId xmlns:a16="http://schemas.microsoft.com/office/drawing/2014/main" id="{24CDD227-79BA-3E0A-A169-54BDF73EDD11}"/>
              </a:ext>
            </a:extLst>
          </p:cNvPr>
          <p:cNvSpPr>
            <a:spLocks noGrp="1"/>
          </p:cNvSpPr>
          <p:nvPr>
            <p:ph type="body" sz="quarter" idx="20" hasCustomPrompt="1"/>
          </p:nvPr>
        </p:nvSpPr>
        <p:spPr bwMode="gray">
          <a:xfrm>
            <a:off x="6420036" y="4653136"/>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26" name="Picture Placeholder 4">
            <a:extLst>
              <a:ext uri="{FF2B5EF4-FFF2-40B4-BE49-F238E27FC236}">
                <a16:creationId xmlns:a16="http://schemas.microsoft.com/office/drawing/2014/main" id="{8EFC52AE-56A9-D690-BC97-D54E2DB805C9}"/>
              </a:ext>
            </a:extLst>
          </p:cNvPr>
          <p:cNvSpPr>
            <a:spLocks noGrp="1"/>
          </p:cNvSpPr>
          <p:nvPr>
            <p:ph type="pic" sz="quarter" idx="24"/>
          </p:nvPr>
        </p:nvSpPr>
        <p:spPr bwMode="gray">
          <a:xfrm>
            <a:off x="8976320" y="1844824"/>
            <a:ext cx="2664000" cy="266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24" name="Text Placeholder 7">
            <a:extLst>
              <a:ext uri="{FF2B5EF4-FFF2-40B4-BE49-F238E27FC236}">
                <a16:creationId xmlns:a16="http://schemas.microsoft.com/office/drawing/2014/main" id="{2245BFC4-DD57-EE1C-86D1-53BBE74E9EF2}"/>
              </a:ext>
            </a:extLst>
          </p:cNvPr>
          <p:cNvSpPr>
            <a:spLocks noGrp="1"/>
          </p:cNvSpPr>
          <p:nvPr>
            <p:ph type="body" sz="quarter" idx="22" hasCustomPrompt="1"/>
          </p:nvPr>
        </p:nvSpPr>
        <p:spPr bwMode="gray">
          <a:xfrm>
            <a:off x="8976320" y="4653136"/>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25" name="Text Placeholder 8">
            <a:extLst>
              <a:ext uri="{FF2B5EF4-FFF2-40B4-BE49-F238E27FC236}">
                <a16:creationId xmlns:a16="http://schemas.microsoft.com/office/drawing/2014/main" id="{FA44FE0D-01E5-CFDE-EB9B-8D1C77A8FED6}"/>
              </a:ext>
            </a:extLst>
          </p:cNvPr>
          <p:cNvSpPr>
            <a:spLocks noGrp="1"/>
          </p:cNvSpPr>
          <p:nvPr>
            <p:ph type="body" sz="quarter" idx="23" hasCustomPrompt="1"/>
          </p:nvPr>
        </p:nvSpPr>
        <p:spPr bwMode="gray">
          <a:xfrm>
            <a:off x="9228348" y="4653136"/>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pic>
        <p:nvPicPr>
          <p:cNvPr id="27" name="Logo">
            <a:extLst>
              <a:ext uri="{FF2B5EF4-FFF2-40B4-BE49-F238E27FC236}">
                <a16:creationId xmlns:a16="http://schemas.microsoft.com/office/drawing/2014/main" id="{6CB62FDA-7C32-F694-6DE6-E1D01DA97A1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2602281755"/>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7" pos="2026">
          <p15:clr>
            <a:srgbClr val="FBAE40"/>
          </p15:clr>
        </p15:guide>
        <p15:guide id="8" pos="2116">
          <p15:clr>
            <a:srgbClr val="FBAE40"/>
          </p15:clr>
        </p15:guide>
        <p15:guide id="9" pos="5564">
          <p15:clr>
            <a:srgbClr val="FBAE40"/>
          </p15:clr>
        </p15:guide>
        <p15:guide id="10" pos="565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 Table of content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26664"/>
            <a:ext cx="11088000" cy="914096"/>
          </a:xfrm>
        </p:spPr>
        <p:txBody>
          <a:bodyPr/>
          <a:lstStyle>
            <a:lvl1pPr>
              <a:defRPr sz="6600">
                <a:solidFill>
                  <a:schemeClr val="tx1"/>
                </a:solidFill>
              </a:defRPr>
            </a:lvl1pPr>
          </a:lstStyle>
          <a:p>
            <a:r>
              <a:rPr lang="en-US" noProof="0"/>
              <a:t>Edit table of contents</a:t>
            </a:r>
          </a:p>
        </p:txBody>
      </p:sp>
      <p:sp>
        <p:nvSpPr>
          <p:cNvPr id="15" name="Picture Placeholder 1">
            <a:extLst>
              <a:ext uri="{FF2B5EF4-FFF2-40B4-BE49-F238E27FC236}">
                <a16:creationId xmlns:a16="http://schemas.microsoft.com/office/drawing/2014/main" id="{35F424A1-9BB3-B324-997B-7DA2CBB4B02B}"/>
              </a:ext>
            </a:extLst>
          </p:cNvPr>
          <p:cNvSpPr>
            <a:spLocks noGrp="1"/>
          </p:cNvSpPr>
          <p:nvPr>
            <p:ph type="pic" sz="quarter" idx="15"/>
          </p:nvPr>
        </p:nvSpPr>
        <p:spPr bwMode="gray">
          <a:xfrm>
            <a:off x="551384" y="1844824"/>
            <a:ext cx="2664000" cy="122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13" name="Text Placeholder 1">
            <a:extLst>
              <a:ext uri="{FF2B5EF4-FFF2-40B4-BE49-F238E27FC236}">
                <a16:creationId xmlns:a16="http://schemas.microsoft.com/office/drawing/2014/main" id="{FF5F6786-619A-37D6-0082-EDF431617447}"/>
              </a:ext>
            </a:extLst>
          </p:cNvPr>
          <p:cNvSpPr>
            <a:spLocks noGrp="1"/>
          </p:cNvSpPr>
          <p:nvPr>
            <p:ph type="body" sz="quarter" idx="13" hasCustomPrompt="1"/>
          </p:nvPr>
        </p:nvSpPr>
        <p:spPr bwMode="gray">
          <a:xfrm>
            <a:off x="551384" y="3213136"/>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14" name="Text Placeholder 2">
            <a:extLst>
              <a:ext uri="{FF2B5EF4-FFF2-40B4-BE49-F238E27FC236}">
                <a16:creationId xmlns:a16="http://schemas.microsoft.com/office/drawing/2014/main" id="{C8CA8EA4-F7B2-6078-77B7-8F2AB8EFAB03}"/>
              </a:ext>
            </a:extLst>
          </p:cNvPr>
          <p:cNvSpPr>
            <a:spLocks noGrp="1"/>
          </p:cNvSpPr>
          <p:nvPr>
            <p:ph type="body" sz="quarter" idx="14" hasCustomPrompt="1"/>
          </p:nvPr>
        </p:nvSpPr>
        <p:spPr bwMode="gray">
          <a:xfrm>
            <a:off x="803412" y="3213136"/>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20" name="Picture Placeholder 2">
            <a:extLst>
              <a:ext uri="{FF2B5EF4-FFF2-40B4-BE49-F238E27FC236}">
                <a16:creationId xmlns:a16="http://schemas.microsoft.com/office/drawing/2014/main" id="{77D9958F-D7E9-E341-64EF-0414563D58C9}"/>
              </a:ext>
            </a:extLst>
          </p:cNvPr>
          <p:cNvSpPr>
            <a:spLocks noGrp="1"/>
          </p:cNvSpPr>
          <p:nvPr>
            <p:ph type="pic" sz="quarter" idx="18"/>
          </p:nvPr>
        </p:nvSpPr>
        <p:spPr bwMode="gray">
          <a:xfrm>
            <a:off x="3359696" y="1844824"/>
            <a:ext cx="2664000" cy="122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18" name="Text Placeholder 3">
            <a:extLst>
              <a:ext uri="{FF2B5EF4-FFF2-40B4-BE49-F238E27FC236}">
                <a16:creationId xmlns:a16="http://schemas.microsoft.com/office/drawing/2014/main" id="{55806D21-D8B0-D169-3BEA-BE646E92C058}"/>
              </a:ext>
            </a:extLst>
          </p:cNvPr>
          <p:cNvSpPr>
            <a:spLocks noGrp="1"/>
          </p:cNvSpPr>
          <p:nvPr>
            <p:ph type="body" sz="quarter" idx="16" hasCustomPrompt="1"/>
          </p:nvPr>
        </p:nvSpPr>
        <p:spPr bwMode="gray">
          <a:xfrm>
            <a:off x="3359696" y="3213136"/>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19" name="Text Placeholder 4">
            <a:extLst>
              <a:ext uri="{FF2B5EF4-FFF2-40B4-BE49-F238E27FC236}">
                <a16:creationId xmlns:a16="http://schemas.microsoft.com/office/drawing/2014/main" id="{F1E53736-3FEA-0BB6-0AEC-B1FB5B19F9F4}"/>
              </a:ext>
            </a:extLst>
          </p:cNvPr>
          <p:cNvSpPr>
            <a:spLocks noGrp="1"/>
          </p:cNvSpPr>
          <p:nvPr>
            <p:ph type="body" sz="quarter" idx="17" hasCustomPrompt="1"/>
          </p:nvPr>
        </p:nvSpPr>
        <p:spPr bwMode="gray">
          <a:xfrm>
            <a:off x="3611724" y="3213136"/>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23" name="Picture Placeholder 3">
            <a:extLst>
              <a:ext uri="{FF2B5EF4-FFF2-40B4-BE49-F238E27FC236}">
                <a16:creationId xmlns:a16="http://schemas.microsoft.com/office/drawing/2014/main" id="{BF6F1D10-A4CD-E6DC-2DE0-E4703326DA5B}"/>
              </a:ext>
            </a:extLst>
          </p:cNvPr>
          <p:cNvSpPr>
            <a:spLocks noGrp="1"/>
          </p:cNvSpPr>
          <p:nvPr>
            <p:ph type="pic" sz="quarter" idx="21"/>
          </p:nvPr>
        </p:nvSpPr>
        <p:spPr bwMode="gray">
          <a:xfrm>
            <a:off x="6168008" y="1844824"/>
            <a:ext cx="2664000" cy="122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21" name="Text Placeholder 5">
            <a:extLst>
              <a:ext uri="{FF2B5EF4-FFF2-40B4-BE49-F238E27FC236}">
                <a16:creationId xmlns:a16="http://schemas.microsoft.com/office/drawing/2014/main" id="{98EB2553-2FBB-C46C-B935-78FBAF6AAD00}"/>
              </a:ext>
            </a:extLst>
          </p:cNvPr>
          <p:cNvSpPr>
            <a:spLocks noGrp="1"/>
          </p:cNvSpPr>
          <p:nvPr>
            <p:ph type="body" sz="quarter" idx="19" hasCustomPrompt="1"/>
          </p:nvPr>
        </p:nvSpPr>
        <p:spPr bwMode="gray">
          <a:xfrm>
            <a:off x="6168008" y="3213136"/>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22" name="Text Placeholder 6">
            <a:extLst>
              <a:ext uri="{FF2B5EF4-FFF2-40B4-BE49-F238E27FC236}">
                <a16:creationId xmlns:a16="http://schemas.microsoft.com/office/drawing/2014/main" id="{24CDD227-79BA-3E0A-A169-54BDF73EDD11}"/>
              </a:ext>
            </a:extLst>
          </p:cNvPr>
          <p:cNvSpPr>
            <a:spLocks noGrp="1"/>
          </p:cNvSpPr>
          <p:nvPr>
            <p:ph type="body" sz="quarter" idx="20" hasCustomPrompt="1"/>
          </p:nvPr>
        </p:nvSpPr>
        <p:spPr bwMode="gray">
          <a:xfrm>
            <a:off x="6420036" y="3213136"/>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26" name="Picture Placeholder 4">
            <a:extLst>
              <a:ext uri="{FF2B5EF4-FFF2-40B4-BE49-F238E27FC236}">
                <a16:creationId xmlns:a16="http://schemas.microsoft.com/office/drawing/2014/main" id="{8EFC52AE-56A9-D690-BC97-D54E2DB805C9}"/>
              </a:ext>
            </a:extLst>
          </p:cNvPr>
          <p:cNvSpPr>
            <a:spLocks noGrp="1"/>
          </p:cNvSpPr>
          <p:nvPr>
            <p:ph type="pic" sz="quarter" idx="24"/>
          </p:nvPr>
        </p:nvSpPr>
        <p:spPr bwMode="gray">
          <a:xfrm>
            <a:off x="8976320" y="1844824"/>
            <a:ext cx="2664000" cy="122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24" name="Text Placeholder 7">
            <a:extLst>
              <a:ext uri="{FF2B5EF4-FFF2-40B4-BE49-F238E27FC236}">
                <a16:creationId xmlns:a16="http://schemas.microsoft.com/office/drawing/2014/main" id="{2245BFC4-DD57-EE1C-86D1-53BBE74E9EF2}"/>
              </a:ext>
            </a:extLst>
          </p:cNvPr>
          <p:cNvSpPr>
            <a:spLocks noGrp="1"/>
          </p:cNvSpPr>
          <p:nvPr>
            <p:ph type="body" sz="quarter" idx="22" hasCustomPrompt="1"/>
          </p:nvPr>
        </p:nvSpPr>
        <p:spPr bwMode="gray">
          <a:xfrm>
            <a:off x="8976320" y="3213136"/>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25" name="Text Placeholder 8">
            <a:extLst>
              <a:ext uri="{FF2B5EF4-FFF2-40B4-BE49-F238E27FC236}">
                <a16:creationId xmlns:a16="http://schemas.microsoft.com/office/drawing/2014/main" id="{FA44FE0D-01E5-CFDE-EB9B-8D1C77A8FED6}"/>
              </a:ext>
            </a:extLst>
          </p:cNvPr>
          <p:cNvSpPr>
            <a:spLocks noGrp="1"/>
          </p:cNvSpPr>
          <p:nvPr>
            <p:ph type="body" sz="quarter" idx="23" hasCustomPrompt="1"/>
          </p:nvPr>
        </p:nvSpPr>
        <p:spPr bwMode="gray">
          <a:xfrm>
            <a:off x="9228348" y="3213136"/>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10" name="Picture Placeholder 5">
            <a:extLst>
              <a:ext uri="{FF2B5EF4-FFF2-40B4-BE49-F238E27FC236}">
                <a16:creationId xmlns:a16="http://schemas.microsoft.com/office/drawing/2014/main" id="{87E83465-E936-9562-7382-58B2C6BC3AC5}"/>
              </a:ext>
            </a:extLst>
          </p:cNvPr>
          <p:cNvSpPr>
            <a:spLocks noGrp="1"/>
          </p:cNvSpPr>
          <p:nvPr>
            <p:ph type="pic" sz="quarter" idx="27"/>
          </p:nvPr>
        </p:nvSpPr>
        <p:spPr bwMode="gray">
          <a:xfrm>
            <a:off x="551384" y="3933056"/>
            <a:ext cx="2664000" cy="122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8" name="Text Placeholder 9">
            <a:extLst>
              <a:ext uri="{FF2B5EF4-FFF2-40B4-BE49-F238E27FC236}">
                <a16:creationId xmlns:a16="http://schemas.microsoft.com/office/drawing/2014/main" id="{CEE294DF-F384-A74E-EE39-69C112F65FC7}"/>
              </a:ext>
            </a:extLst>
          </p:cNvPr>
          <p:cNvSpPr>
            <a:spLocks noGrp="1"/>
          </p:cNvSpPr>
          <p:nvPr>
            <p:ph type="body" sz="quarter" idx="25" hasCustomPrompt="1"/>
          </p:nvPr>
        </p:nvSpPr>
        <p:spPr bwMode="gray">
          <a:xfrm>
            <a:off x="551384" y="5301368"/>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9" name="Text Placeholder 10">
            <a:extLst>
              <a:ext uri="{FF2B5EF4-FFF2-40B4-BE49-F238E27FC236}">
                <a16:creationId xmlns:a16="http://schemas.microsoft.com/office/drawing/2014/main" id="{E3654B84-E40B-FCB1-3724-1DABC8B1737D}"/>
              </a:ext>
            </a:extLst>
          </p:cNvPr>
          <p:cNvSpPr>
            <a:spLocks noGrp="1"/>
          </p:cNvSpPr>
          <p:nvPr>
            <p:ph type="body" sz="quarter" idx="26" hasCustomPrompt="1"/>
          </p:nvPr>
        </p:nvSpPr>
        <p:spPr bwMode="gray">
          <a:xfrm>
            <a:off x="803384" y="5301368"/>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17" name="Picture Placeholder 6">
            <a:extLst>
              <a:ext uri="{FF2B5EF4-FFF2-40B4-BE49-F238E27FC236}">
                <a16:creationId xmlns:a16="http://schemas.microsoft.com/office/drawing/2014/main" id="{26F7F342-6CB9-4537-438D-BA9E5446D5C5}"/>
              </a:ext>
            </a:extLst>
          </p:cNvPr>
          <p:cNvSpPr>
            <a:spLocks noGrp="1"/>
          </p:cNvSpPr>
          <p:nvPr>
            <p:ph type="pic" sz="quarter" idx="30"/>
          </p:nvPr>
        </p:nvSpPr>
        <p:spPr bwMode="gray">
          <a:xfrm>
            <a:off x="3359696" y="3933056"/>
            <a:ext cx="2664000" cy="122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12" name="Text Placeholder 11">
            <a:extLst>
              <a:ext uri="{FF2B5EF4-FFF2-40B4-BE49-F238E27FC236}">
                <a16:creationId xmlns:a16="http://schemas.microsoft.com/office/drawing/2014/main" id="{78586DED-D6C9-416B-DE95-E998EB52076F}"/>
              </a:ext>
            </a:extLst>
          </p:cNvPr>
          <p:cNvSpPr>
            <a:spLocks noGrp="1"/>
          </p:cNvSpPr>
          <p:nvPr>
            <p:ph type="body" sz="quarter" idx="28" hasCustomPrompt="1"/>
          </p:nvPr>
        </p:nvSpPr>
        <p:spPr bwMode="gray">
          <a:xfrm>
            <a:off x="3359696" y="5301368"/>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16" name="Text Placeholder 12">
            <a:extLst>
              <a:ext uri="{FF2B5EF4-FFF2-40B4-BE49-F238E27FC236}">
                <a16:creationId xmlns:a16="http://schemas.microsoft.com/office/drawing/2014/main" id="{CB2BFA5B-027E-0A7B-FD2A-AAC3CBC9749C}"/>
              </a:ext>
            </a:extLst>
          </p:cNvPr>
          <p:cNvSpPr>
            <a:spLocks noGrp="1"/>
          </p:cNvSpPr>
          <p:nvPr>
            <p:ph type="body" sz="quarter" idx="29" hasCustomPrompt="1"/>
          </p:nvPr>
        </p:nvSpPr>
        <p:spPr bwMode="gray">
          <a:xfrm>
            <a:off x="3611724" y="5301368"/>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29" name="Picture Placeholder 7">
            <a:extLst>
              <a:ext uri="{FF2B5EF4-FFF2-40B4-BE49-F238E27FC236}">
                <a16:creationId xmlns:a16="http://schemas.microsoft.com/office/drawing/2014/main" id="{0F726FBF-CB4A-AF8D-5B1E-DCD4213344B7}"/>
              </a:ext>
            </a:extLst>
          </p:cNvPr>
          <p:cNvSpPr>
            <a:spLocks noGrp="1"/>
          </p:cNvSpPr>
          <p:nvPr>
            <p:ph type="pic" sz="quarter" idx="33"/>
          </p:nvPr>
        </p:nvSpPr>
        <p:spPr bwMode="gray">
          <a:xfrm>
            <a:off x="6168008" y="3933056"/>
            <a:ext cx="2664000" cy="122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27" name="Text Placeholder 13">
            <a:extLst>
              <a:ext uri="{FF2B5EF4-FFF2-40B4-BE49-F238E27FC236}">
                <a16:creationId xmlns:a16="http://schemas.microsoft.com/office/drawing/2014/main" id="{D0D834FA-1583-AE1B-9B41-FD20F66F2287}"/>
              </a:ext>
            </a:extLst>
          </p:cNvPr>
          <p:cNvSpPr>
            <a:spLocks noGrp="1"/>
          </p:cNvSpPr>
          <p:nvPr>
            <p:ph type="body" sz="quarter" idx="31" hasCustomPrompt="1"/>
          </p:nvPr>
        </p:nvSpPr>
        <p:spPr bwMode="gray">
          <a:xfrm>
            <a:off x="6168008" y="5301368"/>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28" name="Text Placeholder 14">
            <a:extLst>
              <a:ext uri="{FF2B5EF4-FFF2-40B4-BE49-F238E27FC236}">
                <a16:creationId xmlns:a16="http://schemas.microsoft.com/office/drawing/2014/main" id="{D640CFF1-EE63-44B9-98DB-23D254A8FD24}"/>
              </a:ext>
            </a:extLst>
          </p:cNvPr>
          <p:cNvSpPr>
            <a:spLocks noGrp="1"/>
          </p:cNvSpPr>
          <p:nvPr>
            <p:ph type="body" sz="quarter" idx="32" hasCustomPrompt="1"/>
          </p:nvPr>
        </p:nvSpPr>
        <p:spPr bwMode="gray">
          <a:xfrm>
            <a:off x="6420036" y="5301368"/>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sp>
        <p:nvSpPr>
          <p:cNvPr id="32" name="Picture Placeholder 8">
            <a:extLst>
              <a:ext uri="{FF2B5EF4-FFF2-40B4-BE49-F238E27FC236}">
                <a16:creationId xmlns:a16="http://schemas.microsoft.com/office/drawing/2014/main" id="{EAC21E38-8163-B540-E913-991D485220F7}"/>
              </a:ext>
            </a:extLst>
          </p:cNvPr>
          <p:cNvSpPr>
            <a:spLocks noGrp="1"/>
          </p:cNvSpPr>
          <p:nvPr>
            <p:ph type="pic" sz="quarter" idx="36"/>
          </p:nvPr>
        </p:nvSpPr>
        <p:spPr bwMode="gray">
          <a:xfrm>
            <a:off x="8976320" y="3933056"/>
            <a:ext cx="2664000" cy="122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30" name="Text Placeholder 15">
            <a:extLst>
              <a:ext uri="{FF2B5EF4-FFF2-40B4-BE49-F238E27FC236}">
                <a16:creationId xmlns:a16="http://schemas.microsoft.com/office/drawing/2014/main" id="{1F29D8D5-6E5E-8B9E-0128-955D7E46C229}"/>
              </a:ext>
            </a:extLst>
          </p:cNvPr>
          <p:cNvSpPr>
            <a:spLocks noGrp="1"/>
          </p:cNvSpPr>
          <p:nvPr>
            <p:ph type="body" sz="quarter" idx="34" hasCustomPrompt="1"/>
          </p:nvPr>
        </p:nvSpPr>
        <p:spPr bwMode="gray">
          <a:xfrm>
            <a:off x="8976320" y="5301368"/>
            <a:ext cx="216000" cy="184666"/>
          </a:xfrm>
        </p:spPr>
        <p:txBody>
          <a:bodyPr wrap="square">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0X</a:t>
            </a:r>
          </a:p>
        </p:txBody>
      </p:sp>
      <p:sp>
        <p:nvSpPr>
          <p:cNvPr id="31" name="Text Placeholder 16">
            <a:extLst>
              <a:ext uri="{FF2B5EF4-FFF2-40B4-BE49-F238E27FC236}">
                <a16:creationId xmlns:a16="http://schemas.microsoft.com/office/drawing/2014/main" id="{841AE9E9-C6DA-13DA-947A-F29639F25832}"/>
              </a:ext>
            </a:extLst>
          </p:cNvPr>
          <p:cNvSpPr>
            <a:spLocks noGrp="1"/>
          </p:cNvSpPr>
          <p:nvPr>
            <p:ph type="body" sz="quarter" idx="35" hasCustomPrompt="1"/>
          </p:nvPr>
        </p:nvSpPr>
        <p:spPr bwMode="gray">
          <a:xfrm>
            <a:off x="9228348" y="5301368"/>
            <a:ext cx="2412000" cy="396000"/>
          </a:xfrm>
        </p:spPr>
        <p:txBody>
          <a:bodyPr wrap="square">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chapter headline (maximum two lines)</a:t>
            </a:r>
          </a:p>
        </p:txBody>
      </p:sp>
      <p:pic>
        <p:nvPicPr>
          <p:cNvPr id="33" name="Logo">
            <a:extLst>
              <a:ext uri="{FF2B5EF4-FFF2-40B4-BE49-F238E27FC236}">
                <a16:creationId xmlns:a16="http://schemas.microsoft.com/office/drawing/2014/main" id="{7D38B19B-8E1F-2476-5E13-10CCDB1136E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879574332"/>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7" pos="2026">
          <p15:clr>
            <a:srgbClr val="FBAE40"/>
          </p15:clr>
        </p15:guide>
        <p15:guide id="8" pos="2116">
          <p15:clr>
            <a:srgbClr val="FBAE40"/>
          </p15:clr>
        </p15:guide>
        <p15:guide id="9" pos="5564">
          <p15:clr>
            <a:srgbClr val="FBAE40"/>
          </p15:clr>
        </p15:guide>
        <p15:guide id="10" pos="565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26664"/>
            <a:ext cx="11088000" cy="914096"/>
          </a:xfrm>
        </p:spPr>
        <p:txBody>
          <a:bodyPr/>
          <a:lstStyle>
            <a:lvl1pPr>
              <a:defRPr sz="6600">
                <a:solidFill>
                  <a:schemeClr val="tx1"/>
                </a:solidFill>
              </a:defRPr>
            </a:lvl1pPr>
          </a:lstStyle>
          <a:p>
            <a:r>
              <a:rPr lang="en-US" noProof="0"/>
              <a:t>Agenda</a:t>
            </a:r>
          </a:p>
        </p:txBody>
      </p:sp>
      <p:pic>
        <p:nvPicPr>
          <p:cNvPr id="3" name="Logo">
            <a:extLst>
              <a:ext uri="{FF2B5EF4-FFF2-40B4-BE49-F238E27FC236}">
                <a16:creationId xmlns:a16="http://schemas.microsoft.com/office/drawing/2014/main" id="{80A9B968-2C0B-3E87-C3F8-5A609C6918BD}"/>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1007747967"/>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 Section Divider 1">
    <p:bg>
      <p:bgPr>
        <a:solidFill>
          <a:srgbClr val="FFFFFF"/>
        </a:solidFill>
        <a:effectLst/>
      </p:bgPr>
    </p:bg>
    <p:spTree>
      <p:nvGrpSpPr>
        <p:cNvPr id="1" name=""/>
        <p:cNvGrpSpPr/>
        <p:nvPr/>
      </p:nvGrpSpPr>
      <p:grpSpPr>
        <a:xfrm>
          <a:off x="0" y="0"/>
          <a:ext cx="0" cy="0"/>
          <a:chOff x="0" y="0"/>
          <a:chExt cx="0" cy="0"/>
        </a:xfrm>
      </p:grpSpPr>
      <p:pic>
        <p:nvPicPr>
          <p:cNvPr id="4" name="Gradient background">
            <a:extLst>
              <a:ext uri="{FF2B5EF4-FFF2-40B4-BE49-F238E27FC236}">
                <a16:creationId xmlns:a16="http://schemas.microsoft.com/office/drawing/2014/main" id="{95B531DC-EDFA-F406-F1A3-7CCD05D79506}"/>
              </a:ext>
            </a:extLst>
          </p:cNvPr>
          <p:cNvPicPr>
            <a:picLocks/>
          </p:cNvPicPr>
          <p:nvPr userDrawn="1"/>
        </p:nvPicPr>
        <p:blipFill>
          <a:blip>
            <a:extLst>
              <a:ext uri="{96DAC541-7B7A-43D3-8B79-37D633B846F1}">
                <asvg:svgBlip xmlns:asvg="http://schemas.microsoft.com/office/drawing/2016/SVG/main" r:embed="rId2"/>
              </a:ext>
            </a:extLst>
          </a:blip>
          <a:srcRect l="83735" t="784" r="487" b="784"/>
          <a:stretch>
            <a:fillRect/>
          </a:stretch>
        </p:blipFill>
        <p:spPr bwMode="hidden">
          <a:xfrm>
            <a:off x="11641138" y="1"/>
            <a:ext cx="555184" cy="6858000"/>
          </a:xfrm>
          <a:prstGeom prst="rect">
            <a:avLst/>
          </a:prstGeom>
        </p:spPr>
      </p:pic>
      <p:sp>
        <p:nvSpPr>
          <p:cNvPr id="2" name="Title 1">
            <a:extLst>
              <a:ext uri="{FF2B5EF4-FFF2-40B4-BE49-F238E27FC236}">
                <a16:creationId xmlns:a16="http://schemas.microsoft.com/office/drawing/2014/main" id="{B85CC55B-C320-BCEE-F065-D9048F6029B9}"/>
              </a:ext>
            </a:extLst>
          </p:cNvPr>
          <p:cNvSpPr>
            <a:spLocks noGrp="1"/>
          </p:cNvSpPr>
          <p:nvPr>
            <p:ph type="title" hasCustomPrompt="1"/>
          </p:nvPr>
        </p:nvSpPr>
        <p:spPr bwMode="gray">
          <a:xfrm>
            <a:off x="551384" y="512676"/>
            <a:ext cx="10440000" cy="2528962"/>
          </a:xfrm>
        </p:spPr>
        <p:txBody>
          <a:bodyPr anchor="t"/>
          <a:lstStyle>
            <a:lvl1pPr>
              <a:lnSpc>
                <a:spcPct val="83000"/>
              </a:lnSpc>
              <a:defRPr sz="6600"/>
            </a:lvl1pPr>
          </a:lstStyle>
          <a:p>
            <a:r>
              <a:rPr lang="en-US" noProof="0"/>
              <a:t>X. Click to edit section name (maximum three lines)</a:t>
            </a:r>
          </a:p>
        </p:txBody>
      </p:sp>
      <p:sp>
        <p:nvSpPr>
          <p:cNvPr id="3" name="Text Placeholder 1">
            <a:extLst>
              <a:ext uri="{FF2B5EF4-FFF2-40B4-BE49-F238E27FC236}">
                <a16:creationId xmlns:a16="http://schemas.microsoft.com/office/drawing/2014/main" id="{8656E0B2-AAD7-833E-F127-94C389D991A9}"/>
              </a:ext>
            </a:extLst>
          </p:cNvPr>
          <p:cNvSpPr>
            <a:spLocks noGrp="1"/>
          </p:cNvSpPr>
          <p:nvPr>
            <p:ph type="body" idx="1" hasCustomPrompt="1"/>
          </p:nvPr>
        </p:nvSpPr>
        <p:spPr bwMode="gray">
          <a:xfrm>
            <a:off x="551384" y="3320988"/>
            <a:ext cx="10440000" cy="369332"/>
          </a:xfrm>
          <a:prstGeom prst="rect">
            <a:avLst/>
          </a:prstGeom>
        </p:spPr>
        <p:txBody>
          <a:bodyPr>
            <a:spAutoFit/>
          </a:bodyPr>
          <a:lstStyle>
            <a:lvl1pPr marL="216000" indent="-216000">
              <a:spcBef>
                <a:spcPts val="800"/>
              </a:spcBef>
              <a:buFont typeface="Arial" panose="020B0604020202020204" pitchFamily="34" charset="0"/>
              <a:buChar char="•"/>
              <a:defRPr sz="2400" b="0">
                <a:solidFill>
                  <a:schemeClr val="tx1"/>
                </a:solidFill>
                <a:latin typeface="+mn-lt"/>
              </a:defRPr>
            </a:lvl1pPr>
            <a:lvl2pPr marL="216000" indent="-216000">
              <a:spcBef>
                <a:spcPts val="800"/>
              </a:spcBef>
              <a:buFont typeface="Arial" panose="020B0604020202020204" pitchFamily="34" charset="0"/>
              <a:buChar char="•"/>
              <a:defRPr sz="2400" b="0">
                <a:solidFill>
                  <a:schemeClr val="tx1"/>
                </a:solidFill>
                <a:latin typeface="+mn-lt"/>
              </a:defRPr>
            </a:lvl2pPr>
            <a:lvl3pPr marL="216000" indent="-216000">
              <a:spcBef>
                <a:spcPts val="800"/>
              </a:spcBef>
              <a:buFont typeface="Arial" panose="020B0604020202020204" pitchFamily="34" charset="0"/>
              <a:buChar char="•"/>
              <a:defRPr sz="2400" b="0">
                <a:solidFill>
                  <a:schemeClr val="tx1"/>
                </a:solidFill>
                <a:latin typeface="+mn-lt"/>
              </a:defRPr>
            </a:lvl3pPr>
            <a:lvl4pPr marL="216000" indent="-216000">
              <a:spcBef>
                <a:spcPts val="800"/>
              </a:spcBef>
              <a:buFont typeface="Arial" panose="020B0604020202020204" pitchFamily="34" charset="0"/>
              <a:buChar char="•"/>
              <a:defRPr sz="2400" b="0">
                <a:solidFill>
                  <a:schemeClr val="tx1"/>
                </a:solidFill>
                <a:latin typeface="+mn-lt"/>
              </a:defRPr>
            </a:lvl4pPr>
            <a:lvl5pPr marL="216000" indent="-216000">
              <a:spcBef>
                <a:spcPts val="800"/>
              </a:spcBef>
              <a:buFont typeface="Arial" panose="020B0604020202020204" pitchFamily="34" charset="0"/>
              <a:buChar char="•"/>
              <a:defRPr sz="2400" b="0">
                <a:solidFill>
                  <a:schemeClr val="tx1"/>
                </a:solidFill>
                <a:latin typeface="+mn-lt"/>
              </a:defRPr>
            </a:lvl5pPr>
            <a:lvl6pPr marL="216000" indent="-216000">
              <a:spcBef>
                <a:spcPts val="800"/>
              </a:spcBef>
              <a:buFont typeface="Arial" panose="020B0604020202020204" pitchFamily="34" charset="0"/>
              <a:buChar char="•"/>
              <a:defRPr sz="2400" b="0">
                <a:solidFill>
                  <a:schemeClr val="tx1"/>
                </a:solidFill>
                <a:latin typeface="+mn-lt"/>
              </a:defRPr>
            </a:lvl6pPr>
            <a:lvl7pPr marL="216000" indent="-216000">
              <a:spcBef>
                <a:spcPts val="800"/>
              </a:spcBef>
              <a:buFont typeface="Arial" panose="020B0604020202020204" pitchFamily="34" charset="0"/>
              <a:buChar char="•"/>
              <a:defRPr sz="2400" b="0">
                <a:solidFill>
                  <a:schemeClr val="tx1"/>
                </a:solidFill>
                <a:latin typeface="+mn-lt"/>
              </a:defRPr>
            </a:lvl7pPr>
            <a:lvl8pPr marL="216000" indent="-216000">
              <a:spcBef>
                <a:spcPts val="800"/>
              </a:spcBef>
              <a:buFont typeface="Arial" panose="020B0604020202020204" pitchFamily="34" charset="0"/>
              <a:buChar char="•"/>
              <a:defRPr sz="2400" b="0">
                <a:solidFill>
                  <a:schemeClr val="tx1"/>
                </a:solidFill>
                <a:latin typeface="+mn-lt"/>
              </a:defRPr>
            </a:lvl8pPr>
            <a:lvl9pPr marL="216000" indent="-216000">
              <a:spcBef>
                <a:spcPts val="800"/>
              </a:spcBef>
              <a:buFont typeface="Arial" panose="020B0604020202020204" pitchFamily="34" charset="0"/>
              <a:buChar char="•"/>
              <a:defRPr sz="2400" b="0">
                <a:solidFill>
                  <a:schemeClr val="tx1"/>
                </a:solidFill>
                <a:latin typeface="+mn-lt"/>
              </a:defRPr>
            </a:lvl9pPr>
          </a:lstStyle>
          <a:p>
            <a:pPr lvl="0"/>
            <a:r>
              <a:rPr lang="en-US" noProof="0"/>
              <a:t>Click to edit optional subpoint(s)</a:t>
            </a:r>
          </a:p>
        </p:txBody>
      </p:sp>
      <p:pic>
        <p:nvPicPr>
          <p:cNvPr id="10" name="Logo">
            <a:extLst>
              <a:ext uri="{FF2B5EF4-FFF2-40B4-BE49-F238E27FC236}">
                <a16:creationId xmlns:a16="http://schemas.microsoft.com/office/drawing/2014/main" id="{F5F7C4CC-8B8D-1C83-BF94-876E28A3522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2209270349"/>
      </p:ext>
    </p:extLst>
  </p:cSld>
  <p:clrMapOvr>
    <a:masterClrMapping/>
  </p:clrMapOvr>
  <p:extLst>
    <p:ext uri="{DCECCB84-F9BA-43D5-87BE-67443E8EF086}">
      <p15:sldGuideLst xmlns:p15="http://schemas.microsoft.com/office/powerpoint/2012/main">
        <p15:guide id="1" pos="692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 Section Divid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CC55B-C320-BCEE-F065-D9048F6029B9}"/>
              </a:ext>
            </a:extLst>
          </p:cNvPr>
          <p:cNvSpPr>
            <a:spLocks noGrp="1"/>
          </p:cNvSpPr>
          <p:nvPr>
            <p:ph type="title" hasCustomPrompt="1"/>
          </p:nvPr>
        </p:nvSpPr>
        <p:spPr bwMode="gray">
          <a:xfrm>
            <a:off x="551384" y="512676"/>
            <a:ext cx="10440000" cy="2528962"/>
          </a:xfrm>
        </p:spPr>
        <p:txBody>
          <a:bodyPr anchor="t"/>
          <a:lstStyle>
            <a:lvl1pPr>
              <a:lnSpc>
                <a:spcPct val="83000"/>
              </a:lnSpc>
              <a:defRPr sz="6600"/>
            </a:lvl1pPr>
          </a:lstStyle>
          <a:p>
            <a:r>
              <a:rPr lang="en-US" noProof="0"/>
              <a:t>X. Click to edit section name (maximum three lines)</a:t>
            </a:r>
          </a:p>
        </p:txBody>
      </p:sp>
      <p:sp>
        <p:nvSpPr>
          <p:cNvPr id="3" name="Text Placeholder 1">
            <a:extLst>
              <a:ext uri="{FF2B5EF4-FFF2-40B4-BE49-F238E27FC236}">
                <a16:creationId xmlns:a16="http://schemas.microsoft.com/office/drawing/2014/main" id="{8656E0B2-AAD7-833E-F127-94C389D991A9}"/>
              </a:ext>
            </a:extLst>
          </p:cNvPr>
          <p:cNvSpPr>
            <a:spLocks noGrp="1"/>
          </p:cNvSpPr>
          <p:nvPr>
            <p:ph type="body" idx="1" hasCustomPrompt="1"/>
          </p:nvPr>
        </p:nvSpPr>
        <p:spPr bwMode="gray">
          <a:xfrm>
            <a:off x="551384" y="3320988"/>
            <a:ext cx="10440000" cy="369332"/>
          </a:xfrm>
          <a:prstGeom prst="rect">
            <a:avLst/>
          </a:prstGeom>
        </p:spPr>
        <p:txBody>
          <a:bodyPr>
            <a:spAutoFit/>
          </a:bodyPr>
          <a:lstStyle>
            <a:lvl1pPr marL="216000" indent="-216000">
              <a:spcBef>
                <a:spcPts val="800"/>
              </a:spcBef>
              <a:buFont typeface="Arial" panose="020B0604020202020204" pitchFamily="34" charset="0"/>
              <a:buChar char="•"/>
              <a:defRPr sz="2400" b="0">
                <a:solidFill>
                  <a:schemeClr val="tx1"/>
                </a:solidFill>
                <a:latin typeface="+mn-lt"/>
              </a:defRPr>
            </a:lvl1pPr>
            <a:lvl2pPr marL="216000" indent="-216000">
              <a:spcBef>
                <a:spcPts val="800"/>
              </a:spcBef>
              <a:buFont typeface="Arial" panose="020B0604020202020204" pitchFamily="34" charset="0"/>
              <a:buChar char="•"/>
              <a:defRPr sz="2400" b="0">
                <a:solidFill>
                  <a:schemeClr val="tx1"/>
                </a:solidFill>
                <a:latin typeface="+mn-lt"/>
              </a:defRPr>
            </a:lvl2pPr>
            <a:lvl3pPr marL="216000" indent="-216000">
              <a:spcBef>
                <a:spcPts val="800"/>
              </a:spcBef>
              <a:buFont typeface="Arial" panose="020B0604020202020204" pitchFamily="34" charset="0"/>
              <a:buChar char="•"/>
              <a:defRPr sz="2400" b="0">
                <a:solidFill>
                  <a:schemeClr val="tx1"/>
                </a:solidFill>
                <a:latin typeface="+mn-lt"/>
              </a:defRPr>
            </a:lvl3pPr>
            <a:lvl4pPr marL="216000" indent="-216000">
              <a:spcBef>
                <a:spcPts val="800"/>
              </a:spcBef>
              <a:buFont typeface="Arial" panose="020B0604020202020204" pitchFamily="34" charset="0"/>
              <a:buChar char="•"/>
              <a:defRPr sz="2400" b="0">
                <a:solidFill>
                  <a:schemeClr val="tx1"/>
                </a:solidFill>
                <a:latin typeface="+mn-lt"/>
              </a:defRPr>
            </a:lvl4pPr>
            <a:lvl5pPr marL="216000" indent="-216000">
              <a:spcBef>
                <a:spcPts val="800"/>
              </a:spcBef>
              <a:buFont typeface="Arial" panose="020B0604020202020204" pitchFamily="34" charset="0"/>
              <a:buChar char="•"/>
              <a:defRPr sz="2400" b="0">
                <a:solidFill>
                  <a:schemeClr val="tx1"/>
                </a:solidFill>
                <a:latin typeface="+mn-lt"/>
              </a:defRPr>
            </a:lvl5pPr>
            <a:lvl6pPr marL="216000" indent="-216000">
              <a:spcBef>
                <a:spcPts val="800"/>
              </a:spcBef>
              <a:buFont typeface="Arial" panose="020B0604020202020204" pitchFamily="34" charset="0"/>
              <a:buChar char="•"/>
              <a:defRPr sz="2400" b="0">
                <a:solidFill>
                  <a:schemeClr val="tx1"/>
                </a:solidFill>
                <a:latin typeface="+mn-lt"/>
              </a:defRPr>
            </a:lvl6pPr>
            <a:lvl7pPr marL="216000" indent="-216000">
              <a:spcBef>
                <a:spcPts val="800"/>
              </a:spcBef>
              <a:buFont typeface="Arial" panose="020B0604020202020204" pitchFamily="34" charset="0"/>
              <a:buChar char="•"/>
              <a:defRPr sz="2400" b="0">
                <a:solidFill>
                  <a:schemeClr val="tx1"/>
                </a:solidFill>
                <a:latin typeface="+mn-lt"/>
              </a:defRPr>
            </a:lvl7pPr>
            <a:lvl8pPr marL="216000" indent="-216000">
              <a:spcBef>
                <a:spcPts val="800"/>
              </a:spcBef>
              <a:buFont typeface="Arial" panose="020B0604020202020204" pitchFamily="34" charset="0"/>
              <a:buChar char="•"/>
              <a:defRPr sz="2400" b="0">
                <a:solidFill>
                  <a:schemeClr val="tx1"/>
                </a:solidFill>
                <a:latin typeface="+mn-lt"/>
              </a:defRPr>
            </a:lvl8pPr>
            <a:lvl9pPr marL="216000" indent="-216000">
              <a:spcBef>
                <a:spcPts val="800"/>
              </a:spcBef>
              <a:buFont typeface="Arial" panose="020B0604020202020204" pitchFamily="34" charset="0"/>
              <a:buChar char="•"/>
              <a:defRPr sz="2400" b="0">
                <a:solidFill>
                  <a:schemeClr val="tx1"/>
                </a:solidFill>
                <a:latin typeface="+mn-lt"/>
              </a:defRPr>
            </a:lvl9pPr>
          </a:lstStyle>
          <a:p>
            <a:pPr lvl="0"/>
            <a:r>
              <a:rPr lang="en-US" noProof="0"/>
              <a:t>Click to edit optional subpoint(s)</a:t>
            </a:r>
          </a:p>
        </p:txBody>
      </p:sp>
      <p:pic>
        <p:nvPicPr>
          <p:cNvPr id="10" name="Logo">
            <a:extLst>
              <a:ext uri="{FF2B5EF4-FFF2-40B4-BE49-F238E27FC236}">
                <a16:creationId xmlns:a16="http://schemas.microsoft.com/office/drawing/2014/main" id="{F5F7C4CC-8B8D-1C83-BF94-876E28A3522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pic>
        <p:nvPicPr>
          <p:cNvPr id="7" name="Graphic 6">
            <a:extLst>
              <a:ext uri="{FF2B5EF4-FFF2-40B4-BE49-F238E27FC236}">
                <a16:creationId xmlns:a16="http://schemas.microsoft.com/office/drawing/2014/main" id="{C319D055-168E-C9A6-4B8C-59B80F8FA40D}"/>
              </a:ext>
            </a:extLst>
          </p:cNvPr>
          <p:cNvPicPr>
            <a:picLocks noChangeAspect="1"/>
          </p:cNvPicPr>
          <p:nvPr userDrawn="1"/>
        </p:nvPicPr>
        <p:blipFill>
          <a:blip>
            <a:extLst>
              <a:ext uri="{96DAC541-7B7A-43D3-8B79-37D633B846F1}">
                <asvg:svgBlip xmlns:asvg="http://schemas.microsoft.com/office/drawing/2016/SVG/main" r:embed="rId3"/>
              </a:ext>
            </a:extLst>
          </a:blip>
          <a:srcRect r="90878"/>
          <a:stretch>
            <a:fillRect/>
          </a:stretch>
        </p:blipFill>
        <p:spPr>
          <a:xfrm flipH="1">
            <a:off x="11641138" y="0"/>
            <a:ext cx="558232" cy="6858000"/>
          </a:xfrm>
          <a:prstGeom prst="rect">
            <a:avLst/>
          </a:prstGeom>
        </p:spPr>
      </p:pic>
    </p:spTree>
    <p:extLst>
      <p:ext uri="{BB962C8B-B14F-4D97-AF65-F5344CB8AC3E}">
        <p14:creationId xmlns:p14="http://schemas.microsoft.com/office/powerpoint/2010/main" val="2429747305"/>
      </p:ext>
    </p:extLst>
  </p:cSld>
  <p:clrMapOvr>
    <a:masterClrMapping/>
  </p:clrMapOvr>
  <p:extLst>
    <p:ext uri="{DCECCB84-F9BA-43D5-87BE-67443E8EF086}">
      <p15:sldGuideLst xmlns:p15="http://schemas.microsoft.com/office/powerpoint/2012/main">
        <p15:guide id="1" pos="692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 Section Divider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CC55B-C320-BCEE-F065-D9048F6029B9}"/>
              </a:ext>
            </a:extLst>
          </p:cNvPr>
          <p:cNvSpPr>
            <a:spLocks noGrp="1"/>
          </p:cNvSpPr>
          <p:nvPr>
            <p:ph type="title" hasCustomPrompt="1"/>
          </p:nvPr>
        </p:nvSpPr>
        <p:spPr bwMode="gray">
          <a:xfrm>
            <a:off x="551384" y="512676"/>
            <a:ext cx="4926549" cy="2528962"/>
          </a:xfrm>
        </p:spPr>
        <p:txBody>
          <a:bodyPr anchor="t"/>
          <a:lstStyle>
            <a:lvl1pPr>
              <a:lnSpc>
                <a:spcPct val="83000"/>
              </a:lnSpc>
              <a:defRPr sz="6600"/>
            </a:lvl1pPr>
          </a:lstStyle>
          <a:p>
            <a:r>
              <a:rPr lang="en-US" noProof="0"/>
              <a:t>X. Section name (max. three lines)</a:t>
            </a:r>
          </a:p>
        </p:txBody>
      </p:sp>
      <p:sp>
        <p:nvSpPr>
          <p:cNvPr id="3" name="Text Placeholder 1">
            <a:extLst>
              <a:ext uri="{FF2B5EF4-FFF2-40B4-BE49-F238E27FC236}">
                <a16:creationId xmlns:a16="http://schemas.microsoft.com/office/drawing/2014/main" id="{8656E0B2-AAD7-833E-F127-94C389D991A9}"/>
              </a:ext>
            </a:extLst>
          </p:cNvPr>
          <p:cNvSpPr>
            <a:spLocks noGrp="1"/>
          </p:cNvSpPr>
          <p:nvPr>
            <p:ph type="body" idx="1" hasCustomPrompt="1"/>
          </p:nvPr>
        </p:nvSpPr>
        <p:spPr bwMode="gray">
          <a:xfrm>
            <a:off x="551384" y="3593291"/>
            <a:ext cx="5072628" cy="369332"/>
          </a:xfrm>
          <a:prstGeom prst="rect">
            <a:avLst/>
          </a:prstGeom>
        </p:spPr>
        <p:txBody>
          <a:bodyPr wrap="square">
            <a:spAutoFit/>
          </a:bodyPr>
          <a:lstStyle>
            <a:lvl1pPr marL="216000" indent="-216000">
              <a:spcBef>
                <a:spcPts val="800"/>
              </a:spcBef>
              <a:buFont typeface="Arial" panose="020B0604020202020204" pitchFamily="34" charset="0"/>
              <a:buChar char="•"/>
              <a:defRPr sz="2400" b="0">
                <a:solidFill>
                  <a:schemeClr val="tx1"/>
                </a:solidFill>
                <a:latin typeface="+mn-lt"/>
              </a:defRPr>
            </a:lvl1pPr>
            <a:lvl2pPr marL="216000" indent="-216000">
              <a:spcBef>
                <a:spcPts val="800"/>
              </a:spcBef>
              <a:buFont typeface="Arial" panose="020B0604020202020204" pitchFamily="34" charset="0"/>
              <a:buChar char="•"/>
              <a:defRPr sz="2400" b="0">
                <a:solidFill>
                  <a:schemeClr val="tx1"/>
                </a:solidFill>
                <a:latin typeface="+mn-lt"/>
              </a:defRPr>
            </a:lvl2pPr>
            <a:lvl3pPr marL="216000" indent="-216000">
              <a:spcBef>
                <a:spcPts val="800"/>
              </a:spcBef>
              <a:buFont typeface="Arial" panose="020B0604020202020204" pitchFamily="34" charset="0"/>
              <a:buChar char="•"/>
              <a:defRPr sz="2400" b="0">
                <a:solidFill>
                  <a:schemeClr val="tx1"/>
                </a:solidFill>
                <a:latin typeface="+mn-lt"/>
              </a:defRPr>
            </a:lvl3pPr>
            <a:lvl4pPr marL="216000" indent="-216000">
              <a:spcBef>
                <a:spcPts val="800"/>
              </a:spcBef>
              <a:buFont typeface="Arial" panose="020B0604020202020204" pitchFamily="34" charset="0"/>
              <a:buChar char="•"/>
              <a:defRPr sz="2400" b="0">
                <a:solidFill>
                  <a:schemeClr val="tx1"/>
                </a:solidFill>
                <a:latin typeface="+mn-lt"/>
              </a:defRPr>
            </a:lvl4pPr>
            <a:lvl5pPr marL="216000" indent="-216000">
              <a:spcBef>
                <a:spcPts val="800"/>
              </a:spcBef>
              <a:buFont typeface="Arial" panose="020B0604020202020204" pitchFamily="34" charset="0"/>
              <a:buChar char="•"/>
              <a:defRPr sz="2400" b="0">
                <a:solidFill>
                  <a:schemeClr val="tx1"/>
                </a:solidFill>
                <a:latin typeface="+mn-lt"/>
              </a:defRPr>
            </a:lvl5pPr>
            <a:lvl6pPr marL="216000" indent="-216000">
              <a:spcBef>
                <a:spcPts val="800"/>
              </a:spcBef>
              <a:buFont typeface="Arial" panose="020B0604020202020204" pitchFamily="34" charset="0"/>
              <a:buChar char="•"/>
              <a:defRPr sz="2400" b="0">
                <a:solidFill>
                  <a:schemeClr val="tx1"/>
                </a:solidFill>
                <a:latin typeface="+mn-lt"/>
              </a:defRPr>
            </a:lvl6pPr>
            <a:lvl7pPr marL="216000" indent="-216000">
              <a:spcBef>
                <a:spcPts val="800"/>
              </a:spcBef>
              <a:buFont typeface="Arial" panose="020B0604020202020204" pitchFamily="34" charset="0"/>
              <a:buChar char="•"/>
              <a:defRPr sz="2400" b="0">
                <a:solidFill>
                  <a:schemeClr val="tx1"/>
                </a:solidFill>
                <a:latin typeface="+mn-lt"/>
              </a:defRPr>
            </a:lvl7pPr>
            <a:lvl8pPr marL="216000" indent="-216000">
              <a:spcBef>
                <a:spcPts val="800"/>
              </a:spcBef>
              <a:buFont typeface="Arial" panose="020B0604020202020204" pitchFamily="34" charset="0"/>
              <a:buChar char="•"/>
              <a:defRPr sz="2400" b="0">
                <a:solidFill>
                  <a:schemeClr val="tx1"/>
                </a:solidFill>
                <a:latin typeface="+mn-lt"/>
              </a:defRPr>
            </a:lvl8pPr>
            <a:lvl9pPr marL="216000" indent="-216000">
              <a:spcBef>
                <a:spcPts val="800"/>
              </a:spcBef>
              <a:buFont typeface="Arial" panose="020B0604020202020204" pitchFamily="34" charset="0"/>
              <a:buChar char="•"/>
              <a:defRPr sz="2400" b="0">
                <a:solidFill>
                  <a:schemeClr val="tx1"/>
                </a:solidFill>
                <a:latin typeface="+mn-lt"/>
              </a:defRPr>
            </a:lvl9pPr>
          </a:lstStyle>
          <a:p>
            <a:pPr lvl="0"/>
            <a:r>
              <a:rPr lang="en-US" noProof="0"/>
              <a:t>Click to edit optional subpoint(s)</a:t>
            </a:r>
          </a:p>
        </p:txBody>
      </p:sp>
      <p:sp>
        <p:nvSpPr>
          <p:cNvPr id="4" name="Picture Placeholder 1">
            <a:extLst>
              <a:ext uri="{FF2B5EF4-FFF2-40B4-BE49-F238E27FC236}">
                <a16:creationId xmlns:a16="http://schemas.microsoft.com/office/drawing/2014/main" id="{4CA65FF8-CA33-78E1-DB61-531BB02E1EBD}"/>
              </a:ext>
            </a:extLst>
          </p:cNvPr>
          <p:cNvSpPr>
            <a:spLocks noGrp="1"/>
          </p:cNvSpPr>
          <p:nvPr>
            <p:ph type="pic" sz="quarter" idx="14"/>
          </p:nvPr>
        </p:nvSpPr>
        <p:spPr bwMode="gray">
          <a:xfrm>
            <a:off x="6168008" y="0"/>
            <a:ext cx="6023992" cy="6858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pic>
        <p:nvPicPr>
          <p:cNvPr id="10" name="Logo">
            <a:extLst>
              <a:ext uri="{FF2B5EF4-FFF2-40B4-BE49-F238E27FC236}">
                <a16:creationId xmlns:a16="http://schemas.microsoft.com/office/drawing/2014/main" id="{F5F7C4CC-8B8D-1C83-BF94-876E28A3522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2375465181"/>
      </p:ext>
    </p:extLst>
  </p:cSld>
  <p:clrMapOvr>
    <a:masterClrMapping/>
  </p:clrMapOvr>
  <p:extLst>
    <p:ext uri="{DCECCB84-F9BA-43D5-87BE-67443E8EF086}">
      <p15:sldGuideLst xmlns:p15="http://schemas.microsoft.com/office/powerpoint/2012/main">
        <p15:guide id="2" pos="3795" userDrawn="1">
          <p15:clr>
            <a:srgbClr val="FBAE40"/>
          </p15:clr>
        </p15:guide>
        <p15:guide id="3" pos="3885"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p:txBody>
          <a:bodyPr/>
          <a:lstStyle/>
          <a:p>
            <a:r>
              <a:rPr lang="en-US" noProof="0"/>
              <a:t>Click to edit slide title (maximum two lines)</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3" name="Logo">
            <a:extLst>
              <a:ext uri="{FF2B5EF4-FFF2-40B4-BE49-F238E27FC236}">
                <a16:creationId xmlns:a16="http://schemas.microsoft.com/office/drawing/2014/main" id="{3F156D71-E0B5-D6E1-661C-545C3C90E20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391501942"/>
      </p:ext>
    </p:extLst>
  </p:cSld>
  <p:clrMapOvr>
    <a:masterClrMapping/>
  </p:clrMapOvr>
  <p:extLst>
    <p:ext uri="{DCECCB84-F9BA-43D5-87BE-67443E8EF086}">
      <p15:sldGuideLst xmlns:p15="http://schemas.microsoft.com/office/powerpoint/2012/main">
        <p15:guide id="1" pos="3795" userDrawn="1">
          <p15:clr>
            <a:srgbClr val="FBAE40"/>
          </p15:clr>
        </p15:guide>
        <p15:guide id="2" pos="3885" userDrawn="1">
          <p15:clr>
            <a:srgbClr val="FBAE40"/>
          </p15:clr>
        </p15:guide>
        <p15:guide id="3" pos="2615" userDrawn="1">
          <p15:clr>
            <a:srgbClr val="9FCC3B"/>
          </p15:clr>
        </p15:guide>
        <p15:guide id="4" pos="2706" userDrawn="1">
          <p15:clr>
            <a:srgbClr val="9FCC3B"/>
          </p15:clr>
        </p15:guide>
        <p15:guide id="5" pos="4974" userDrawn="1">
          <p15:clr>
            <a:srgbClr val="9FCC3B"/>
          </p15:clr>
        </p15:guide>
        <p15:guide id="6" pos="5065" userDrawn="1">
          <p15:clr>
            <a:srgbClr val="9FCC3B"/>
          </p15:clr>
        </p15:guide>
        <p15:guide id="7" pos="2026" userDrawn="1">
          <p15:clr>
            <a:srgbClr val="FBAE40"/>
          </p15:clr>
        </p15:guide>
        <p15:guide id="8" pos="2116" userDrawn="1">
          <p15:clr>
            <a:srgbClr val="FBAE40"/>
          </p15:clr>
        </p15:guide>
        <p15:guide id="9" pos="5564" userDrawn="1">
          <p15:clr>
            <a:srgbClr val="FBAE40"/>
          </p15:clr>
        </p15:guide>
        <p15:guide id="10" pos="5654" userDrawn="1">
          <p15:clr>
            <a:srgbClr val="FBAE40"/>
          </p15:clr>
        </p15:guide>
        <p15:guide id="11" pos="1436" userDrawn="1">
          <p15:clr>
            <a:srgbClr val="9FCC3B"/>
          </p15:clr>
        </p15:guide>
        <p15:guide id="12" pos="1527" userDrawn="1">
          <p15:clr>
            <a:srgbClr val="9FCC3B"/>
          </p15:clr>
        </p15:guide>
        <p15:guide id="13" pos="6244" userDrawn="1">
          <p15:clr>
            <a:srgbClr val="9FCC3B"/>
          </p15:clr>
        </p15:guide>
        <p15:guide id="14" pos="6153" userDrawn="1">
          <p15:clr>
            <a:srgbClr val="9FCC3B"/>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76672"/>
            <a:ext cx="11088000" cy="415498"/>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551384" y="1844824"/>
            <a:ext cx="11088000"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10" name="Logo">
            <a:extLst>
              <a:ext uri="{FF2B5EF4-FFF2-40B4-BE49-F238E27FC236}">
                <a16:creationId xmlns:a16="http://schemas.microsoft.com/office/drawing/2014/main" id="{B4620EFA-9440-BC50-A006-00442344819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1810162051"/>
      </p:ext>
    </p:extLst>
  </p:cSld>
  <p:clrMapOvr>
    <a:masterClrMapping/>
  </p:clrMapOvr>
  <p:extLst>
    <p:ext uri="{DCECCB84-F9BA-43D5-87BE-67443E8EF086}">
      <p15:sldGuideLst xmlns:p15="http://schemas.microsoft.com/office/powerpoint/2012/main">
        <p15:guide id="1" pos="3795" userDrawn="1">
          <p15:clr>
            <a:srgbClr val="FBAE40"/>
          </p15:clr>
        </p15:guide>
        <p15:guide id="2" pos="3885" userDrawn="1">
          <p15:clr>
            <a:srgbClr val="FBAE40"/>
          </p15:clr>
        </p15:guide>
        <p15:guide id="3" pos="2615" userDrawn="1">
          <p15:clr>
            <a:srgbClr val="9FCC3B"/>
          </p15:clr>
        </p15:guide>
        <p15:guide id="4" pos="2706" userDrawn="1">
          <p15:clr>
            <a:srgbClr val="9FCC3B"/>
          </p15:clr>
        </p15:guide>
        <p15:guide id="5" pos="4974" userDrawn="1">
          <p15:clr>
            <a:srgbClr val="9FCC3B"/>
          </p15:clr>
        </p15:guide>
        <p15:guide id="6" pos="5065" userDrawn="1">
          <p15:clr>
            <a:srgbClr val="9FCC3B"/>
          </p15:clr>
        </p15:guide>
        <p15:guide id="7" pos="2026" userDrawn="1">
          <p15:clr>
            <a:srgbClr val="FBAE40"/>
          </p15:clr>
        </p15:guide>
        <p15:guide id="8" pos="2116" userDrawn="1">
          <p15:clr>
            <a:srgbClr val="FBAE40"/>
          </p15:clr>
        </p15:guide>
        <p15:guide id="9" pos="5564" userDrawn="1">
          <p15:clr>
            <a:srgbClr val="FBAE40"/>
          </p15:clr>
        </p15:guide>
        <p15:guide id="10" pos="5654" userDrawn="1">
          <p15:clr>
            <a:srgbClr val="FBAE40"/>
          </p15:clr>
        </p15:guide>
        <p15:guide id="11" pos="1436" userDrawn="1">
          <p15:clr>
            <a:srgbClr val="9FCC3B"/>
          </p15:clr>
        </p15:guide>
        <p15:guide id="12" pos="1527" userDrawn="1">
          <p15:clr>
            <a:srgbClr val="9FCC3B"/>
          </p15:clr>
        </p15:guide>
        <p15:guide id="13" pos="6244" userDrawn="1">
          <p15:clr>
            <a:srgbClr val="9FCC3B"/>
          </p15:clr>
        </p15:guide>
        <p15:guide id="14" pos="6153" userDrawn="1">
          <p15:clr>
            <a:srgbClr val="9FCC3B"/>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76672"/>
            <a:ext cx="5473179" cy="415498"/>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551384" y="1844824"/>
            <a:ext cx="5473179"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10" name="Logo">
            <a:extLst>
              <a:ext uri="{FF2B5EF4-FFF2-40B4-BE49-F238E27FC236}">
                <a16:creationId xmlns:a16="http://schemas.microsoft.com/office/drawing/2014/main" id="{B4620EFA-9440-BC50-A006-00442344819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2512917900"/>
      </p:ext>
    </p:extLst>
  </p:cSld>
  <p:clrMapOvr>
    <a:masterClrMapping/>
  </p:clrMapOvr>
  <p:extLst>
    <p:ext uri="{DCECCB84-F9BA-43D5-87BE-67443E8EF086}">
      <p15:sldGuideLst xmlns:p15="http://schemas.microsoft.com/office/powerpoint/2012/main">
        <p15:guide id="1" pos="3795" userDrawn="1">
          <p15:clr>
            <a:srgbClr val="FBAE40"/>
          </p15:clr>
        </p15:guide>
        <p15:guide id="2" pos="3885" userDrawn="1">
          <p15:clr>
            <a:srgbClr val="FBAE40"/>
          </p15:clr>
        </p15:guide>
        <p15:guide id="3" pos="2615" userDrawn="1">
          <p15:clr>
            <a:srgbClr val="9FCC3B"/>
          </p15:clr>
        </p15:guide>
        <p15:guide id="4" pos="2706" userDrawn="1">
          <p15:clr>
            <a:srgbClr val="9FCC3B"/>
          </p15:clr>
        </p15:guide>
        <p15:guide id="5" pos="4974" userDrawn="1">
          <p15:clr>
            <a:srgbClr val="9FCC3B"/>
          </p15:clr>
        </p15:guide>
        <p15:guide id="6" pos="5065" userDrawn="1">
          <p15:clr>
            <a:srgbClr val="9FCC3B"/>
          </p15:clr>
        </p15:guide>
        <p15:guide id="7" pos="2026" userDrawn="1">
          <p15:clr>
            <a:srgbClr val="FBAE40"/>
          </p15:clr>
        </p15:guide>
        <p15:guide id="8" pos="2116" userDrawn="1">
          <p15:clr>
            <a:srgbClr val="FBAE40"/>
          </p15:clr>
        </p15:guide>
        <p15:guide id="9" pos="5564" userDrawn="1">
          <p15:clr>
            <a:srgbClr val="FBAE40"/>
          </p15:clr>
        </p15:guide>
        <p15:guide id="10" pos="5654" userDrawn="1">
          <p15:clr>
            <a:srgbClr val="FBAE40"/>
          </p15:clr>
        </p15:guide>
        <p15:guide id="11" pos="1436" userDrawn="1">
          <p15:clr>
            <a:srgbClr val="9FCC3B"/>
          </p15:clr>
        </p15:guide>
        <p15:guide id="12" pos="1527" userDrawn="1">
          <p15:clr>
            <a:srgbClr val="9FCC3B"/>
          </p15:clr>
        </p15:guide>
        <p15:guide id="13" pos="6244" userDrawn="1">
          <p15:clr>
            <a:srgbClr val="9FCC3B"/>
          </p15:clr>
        </p15:guide>
        <p15:guide id="14" pos="6153" userDrawn="1">
          <p15:clr>
            <a:srgbClr val="9FCC3B"/>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 Title and tex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76672"/>
            <a:ext cx="11088000" cy="415498"/>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551384" y="1844824"/>
            <a:ext cx="5472000"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2">
            <a:extLst>
              <a:ext uri="{FF2B5EF4-FFF2-40B4-BE49-F238E27FC236}">
                <a16:creationId xmlns:a16="http://schemas.microsoft.com/office/drawing/2014/main" id="{969B420C-8A57-5FE0-A3B3-87E196E65D2A}"/>
              </a:ext>
            </a:extLst>
          </p:cNvPr>
          <p:cNvSpPr>
            <a:spLocks noGrp="1"/>
          </p:cNvSpPr>
          <p:nvPr>
            <p:ph type="body" sz="quarter" idx="14" hasCustomPrompt="1"/>
          </p:nvPr>
        </p:nvSpPr>
        <p:spPr bwMode="gray">
          <a:xfrm>
            <a:off x="6168008" y="1844824"/>
            <a:ext cx="5472000"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7" name="Logo">
            <a:extLst>
              <a:ext uri="{FF2B5EF4-FFF2-40B4-BE49-F238E27FC236}">
                <a16:creationId xmlns:a16="http://schemas.microsoft.com/office/drawing/2014/main" id="{3044E95F-CA3F-13A8-2786-33924D4D7A0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3179520501"/>
      </p:ext>
    </p:extLst>
  </p:cSld>
  <p:clrMapOvr>
    <a:masterClrMapping/>
  </p:clrMapOvr>
  <p:extLst>
    <p:ext uri="{DCECCB84-F9BA-43D5-87BE-67443E8EF086}">
      <p15:sldGuideLst xmlns:p15="http://schemas.microsoft.com/office/powerpoint/2012/main">
        <p15:guide id="1" pos="3795" userDrawn="1">
          <p15:clr>
            <a:srgbClr val="FBAE40"/>
          </p15:clr>
        </p15:guide>
        <p15:guide id="2" pos="3885" userDrawn="1">
          <p15:clr>
            <a:srgbClr val="FBAE40"/>
          </p15:clr>
        </p15:guide>
        <p15:guide id="3" pos="2615" userDrawn="1">
          <p15:clr>
            <a:srgbClr val="9FCC3B"/>
          </p15:clr>
        </p15:guide>
        <p15:guide id="4" pos="2706" userDrawn="1">
          <p15:clr>
            <a:srgbClr val="9FCC3B"/>
          </p15:clr>
        </p15:guide>
        <p15:guide id="5" pos="4974" userDrawn="1">
          <p15:clr>
            <a:srgbClr val="9FCC3B"/>
          </p15:clr>
        </p15:guide>
        <p15:guide id="6" pos="5065" userDrawn="1">
          <p15:clr>
            <a:srgbClr val="9FCC3B"/>
          </p15:clr>
        </p15:guide>
        <p15:guide id="7" pos="2026" userDrawn="1">
          <p15:clr>
            <a:srgbClr val="FBAE40"/>
          </p15:clr>
        </p15:guide>
        <p15:guide id="8" pos="2116" userDrawn="1">
          <p15:clr>
            <a:srgbClr val="FBAE40"/>
          </p15:clr>
        </p15:guide>
        <p15:guide id="9" pos="5564" userDrawn="1">
          <p15:clr>
            <a:srgbClr val="FBAE40"/>
          </p15:clr>
        </p15:guide>
        <p15:guide id="10" pos="5654" userDrawn="1">
          <p15:clr>
            <a:srgbClr val="FBAE40"/>
          </p15:clr>
        </p15:guide>
        <p15:guide id="11" pos="1436" userDrawn="1">
          <p15:clr>
            <a:srgbClr val="9FCC3B"/>
          </p15:clr>
        </p15:guide>
        <p15:guide id="12" pos="1527" userDrawn="1">
          <p15:clr>
            <a:srgbClr val="9FCC3B"/>
          </p15:clr>
        </p15:guide>
        <p15:guide id="13" pos="6153" userDrawn="1">
          <p15:clr>
            <a:srgbClr val="9FCC3B"/>
          </p15:clr>
        </p15:guide>
        <p15:guide id="14" pos="6244" userDrawn="1">
          <p15:clr>
            <a:srgbClr val="9FCC3B"/>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 Title and text (three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76672"/>
            <a:ext cx="11088000" cy="415498"/>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551383" y="1844824"/>
            <a:ext cx="3600000"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2">
            <a:extLst>
              <a:ext uri="{FF2B5EF4-FFF2-40B4-BE49-F238E27FC236}">
                <a16:creationId xmlns:a16="http://schemas.microsoft.com/office/drawing/2014/main" id="{969B420C-8A57-5FE0-A3B3-87E196E65D2A}"/>
              </a:ext>
            </a:extLst>
          </p:cNvPr>
          <p:cNvSpPr>
            <a:spLocks noGrp="1"/>
          </p:cNvSpPr>
          <p:nvPr>
            <p:ph type="body" sz="quarter" idx="14" hasCustomPrompt="1"/>
          </p:nvPr>
        </p:nvSpPr>
        <p:spPr bwMode="gray">
          <a:xfrm>
            <a:off x="4295800" y="1844824"/>
            <a:ext cx="3600000"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3">
            <a:extLst>
              <a:ext uri="{FF2B5EF4-FFF2-40B4-BE49-F238E27FC236}">
                <a16:creationId xmlns:a16="http://schemas.microsoft.com/office/drawing/2014/main" id="{41804F57-3A4A-9DF7-253D-B1D02A1E5C58}"/>
              </a:ext>
            </a:extLst>
          </p:cNvPr>
          <p:cNvSpPr>
            <a:spLocks noGrp="1"/>
          </p:cNvSpPr>
          <p:nvPr>
            <p:ph type="body" sz="quarter" idx="15" hasCustomPrompt="1"/>
          </p:nvPr>
        </p:nvSpPr>
        <p:spPr bwMode="gray">
          <a:xfrm>
            <a:off x="8040216" y="1844824"/>
            <a:ext cx="3600000"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8" name="Logo">
            <a:extLst>
              <a:ext uri="{FF2B5EF4-FFF2-40B4-BE49-F238E27FC236}">
                <a16:creationId xmlns:a16="http://schemas.microsoft.com/office/drawing/2014/main" id="{E285D2F7-CECB-F944-A2C5-B4FE6727F64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1072958554"/>
      </p:ext>
    </p:extLst>
  </p:cSld>
  <p:clrMapOvr>
    <a:masterClrMapping/>
  </p:clrMapOvr>
  <p:extLst>
    <p:ext uri="{DCECCB84-F9BA-43D5-87BE-67443E8EF086}">
      <p15:sldGuideLst xmlns:p15="http://schemas.microsoft.com/office/powerpoint/2012/main">
        <p15:guide id="1" pos="3795" userDrawn="1">
          <p15:clr>
            <a:srgbClr val="FBAE40"/>
          </p15:clr>
        </p15:guide>
        <p15:guide id="2" pos="3885" userDrawn="1">
          <p15:clr>
            <a:srgbClr val="FBAE40"/>
          </p15:clr>
        </p15:guide>
        <p15:guide id="3" pos="2615" userDrawn="1">
          <p15:clr>
            <a:srgbClr val="9FCC3B"/>
          </p15:clr>
        </p15:guide>
        <p15:guide id="4" pos="2706" userDrawn="1">
          <p15:clr>
            <a:srgbClr val="9FCC3B"/>
          </p15:clr>
        </p15:guide>
        <p15:guide id="5" pos="4974" userDrawn="1">
          <p15:clr>
            <a:srgbClr val="9FCC3B"/>
          </p15:clr>
        </p15:guide>
        <p15:guide id="6" pos="5065" userDrawn="1">
          <p15:clr>
            <a:srgbClr val="9FCC3B"/>
          </p15:clr>
        </p15:guide>
        <p15:guide id="7" pos="2026" userDrawn="1">
          <p15:clr>
            <a:srgbClr val="FBAE40"/>
          </p15:clr>
        </p15:guide>
        <p15:guide id="8" pos="2116" userDrawn="1">
          <p15:clr>
            <a:srgbClr val="FBAE40"/>
          </p15:clr>
        </p15:guide>
        <p15:guide id="9" pos="5564" userDrawn="1">
          <p15:clr>
            <a:srgbClr val="FBAE40"/>
          </p15:clr>
        </p15:guide>
        <p15:guide id="10" pos="5654" userDrawn="1">
          <p15:clr>
            <a:srgbClr val="FBAE40"/>
          </p15:clr>
        </p15:guide>
        <p15:guide id="11" pos="1527" userDrawn="1">
          <p15:clr>
            <a:srgbClr val="9FCC3B"/>
          </p15:clr>
        </p15:guide>
        <p15:guide id="12" pos="1436" userDrawn="1">
          <p15:clr>
            <a:srgbClr val="9FCC3B"/>
          </p15:clr>
        </p15:guide>
        <p15:guide id="13" pos="6244" userDrawn="1">
          <p15:clr>
            <a:srgbClr val="9FCC3B"/>
          </p15:clr>
        </p15:guide>
        <p15:guide id="14" pos="6153" userDrawn="1">
          <p15:clr>
            <a:srgbClr val="9FCC3B"/>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 Title, text and image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6569120" y="476672"/>
            <a:ext cx="5072018" cy="830997"/>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6569120" y="1844824"/>
            <a:ext cx="5072018"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Picture Placeholder 1">
            <a:extLst>
              <a:ext uri="{FF2B5EF4-FFF2-40B4-BE49-F238E27FC236}">
                <a16:creationId xmlns:a16="http://schemas.microsoft.com/office/drawing/2014/main" id="{D3568213-EF68-936E-27E2-B491177E3D8B}"/>
              </a:ext>
            </a:extLst>
          </p:cNvPr>
          <p:cNvSpPr>
            <a:spLocks noGrp="1"/>
          </p:cNvSpPr>
          <p:nvPr>
            <p:ph type="pic" sz="quarter" idx="14"/>
          </p:nvPr>
        </p:nvSpPr>
        <p:spPr bwMode="gray">
          <a:xfrm>
            <a:off x="0" y="0"/>
            <a:ext cx="6023992" cy="6858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pic>
        <p:nvPicPr>
          <p:cNvPr id="3" name="Logo">
            <a:extLst>
              <a:ext uri="{FF2B5EF4-FFF2-40B4-BE49-F238E27FC236}">
                <a16:creationId xmlns:a16="http://schemas.microsoft.com/office/drawing/2014/main" id="{8DF71F51-0B3A-FA94-83C0-0892861AA27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9912350" y="6301888"/>
            <a:ext cx="1691980" cy="252837"/>
          </a:xfrm>
          <a:prstGeom prst="rect">
            <a:avLst/>
          </a:prstGeom>
        </p:spPr>
      </p:pic>
    </p:spTree>
    <p:extLst>
      <p:ext uri="{BB962C8B-B14F-4D97-AF65-F5344CB8AC3E}">
        <p14:creationId xmlns:p14="http://schemas.microsoft.com/office/powerpoint/2010/main" val="4275244884"/>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436" userDrawn="1">
          <p15:clr>
            <a:srgbClr val="9FCC3B"/>
          </p15:clr>
        </p15:guide>
        <p15:guide id="12" pos="1527" userDrawn="1">
          <p15:clr>
            <a:srgbClr val="9FCC3B"/>
          </p15:clr>
        </p15:guide>
        <p15:guide id="13" pos="6244" userDrawn="1">
          <p15:clr>
            <a:srgbClr val="9FCC3B"/>
          </p15:clr>
        </p15:guide>
        <p15:guide id="14" pos="6153" userDrawn="1">
          <p15:clr>
            <a:srgbClr val="9FCC3B"/>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Title, text and image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76672"/>
            <a:ext cx="5072018" cy="830997"/>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551384" y="1844824"/>
            <a:ext cx="5072018"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Picture Placeholder 1">
            <a:extLst>
              <a:ext uri="{FF2B5EF4-FFF2-40B4-BE49-F238E27FC236}">
                <a16:creationId xmlns:a16="http://schemas.microsoft.com/office/drawing/2014/main" id="{D3568213-EF68-936E-27E2-B491177E3D8B}"/>
              </a:ext>
            </a:extLst>
          </p:cNvPr>
          <p:cNvSpPr>
            <a:spLocks noGrp="1"/>
          </p:cNvSpPr>
          <p:nvPr>
            <p:ph type="pic" sz="quarter" idx="14"/>
          </p:nvPr>
        </p:nvSpPr>
        <p:spPr bwMode="gray">
          <a:xfrm>
            <a:off x="6168008" y="0"/>
            <a:ext cx="6023992" cy="6858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pic>
        <p:nvPicPr>
          <p:cNvPr id="3" name="Logo">
            <a:extLst>
              <a:ext uri="{FF2B5EF4-FFF2-40B4-BE49-F238E27FC236}">
                <a16:creationId xmlns:a16="http://schemas.microsoft.com/office/drawing/2014/main" id="{8DF71F51-0B3A-FA94-83C0-0892861AA27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2058958028"/>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436" userDrawn="1">
          <p15:clr>
            <a:srgbClr val="9FCC3B"/>
          </p15:clr>
        </p15:guide>
        <p15:guide id="12" pos="1527" userDrawn="1">
          <p15:clr>
            <a:srgbClr val="9FCC3B"/>
          </p15:clr>
        </p15:guide>
        <p15:guide id="13" pos="6244" userDrawn="1">
          <p15:clr>
            <a:srgbClr val="9FCC3B"/>
          </p15:clr>
        </p15:guide>
        <p15:guide id="14" pos="6153" userDrawn="1">
          <p15:clr>
            <a:srgbClr val="9FCC3B"/>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 Title, text and two images (Left)">
    <p:spTree>
      <p:nvGrpSpPr>
        <p:cNvPr id="1" name=""/>
        <p:cNvGrpSpPr/>
        <p:nvPr/>
      </p:nvGrpSpPr>
      <p:grpSpPr>
        <a:xfrm>
          <a:off x="0" y="0"/>
          <a:ext cx="0" cy="0"/>
          <a:chOff x="0" y="0"/>
          <a:chExt cx="0" cy="0"/>
        </a:xfrm>
      </p:grpSpPr>
      <p:sp>
        <p:nvSpPr>
          <p:cNvPr id="8" name="Picture Placeholder 1">
            <a:extLst>
              <a:ext uri="{FF2B5EF4-FFF2-40B4-BE49-F238E27FC236}">
                <a16:creationId xmlns:a16="http://schemas.microsoft.com/office/drawing/2014/main" id="{D3568213-EF68-936E-27E2-B491177E3D8B}"/>
              </a:ext>
            </a:extLst>
          </p:cNvPr>
          <p:cNvSpPr>
            <a:spLocks noGrp="1"/>
          </p:cNvSpPr>
          <p:nvPr>
            <p:ph type="pic" sz="quarter" idx="14"/>
          </p:nvPr>
        </p:nvSpPr>
        <p:spPr bwMode="gray">
          <a:xfrm>
            <a:off x="0" y="0"/>
            <a:ext cx="6023992" cy="3357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4" name="Picture Placeholder 2">
            <a:extLst>
              <a:ext uri="{FF2B5EF4-FFF2-40B4-BE49-F238E27FC236}">
                <a16:creationId xmlns:a16="http://schemas.microsoft.com/office/drawing/2014/main" id="{1572822B-059A-B7AD-0BBE-CC9F10D80A89}"/>
              </a:ext>
            </a:extLst>
          </p:cNvPr>
          <p:cNvSpPr>
            <a:spLocks noGrp="1"/>
          </p:cNvSpPr>
          <p:nvPr>
            <p:ph type="pic" sz="quarter" idx="15"/>
          </p:nvPr>
        </p:nvSpPr>
        <p:spPr bwMode="gray">
          <a:xfrm>
            <a:off x="0" y="3501000"/>
            <a:ext cx="6023992" cy="3357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pic>
        <p:nvPicPr>
          <p:cNvPr id="5" name="Logo">
            <a:extLst>
              <a:ext uri="{FF2B5EF4-FFF2-40B4-BE49-F238E27FC236}">
                <a16:creationId xmlns:a16="http://schemas.microsoft.com/office/drawing/2014/main" id="{BF778B60-B2B6-2C1B-6489-97359DB6250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9912350" y="6301888"/>
            <a:ext cx="1691980" cy="252837"/>
          </a:xfrm>
          <a:prstGeom prst="rect">
            <a:avLst/>
          </a:prstGeom>
        </p:spPr>
      </p:pic>
      <p:sp>
        <p:nvSpPr>
          <p:cNvPr id="7" name="Title 1">
            <a:extLst>
              <a:ext uri="{FF2B5EF4-FFF2-40B4-BE49-F238E27FC236}">
                <a16:creationId xmlns:a16="http://schemas.microsoft.com/office/drawing/2014/main" id="{E2DDFF32-ABCB-33C4-9D6C-A673B4B538DF}"/>
              </a:ext>
            </a:extLst>
          </p:cNvPr>
          <p:cNvSpPr>
            <a:spLocks noGrp="1"/>
          </p:cNvSpPr>
          <p:nvPr>
            <p:ph type="title" hasCustomPrompt="1"/>
          </p:nvPr>
        </p:nvSpPr>
        <p:spPr bwMode="gray">
          <a:xfrm>
            <a:off x="6569120" y="476672"/>
            <a:ext cx="5072018" cy="830997"/>
          </a:xfrm>
        </p:spPr>
        <p:txBody>
          <a:bodyPr/>
          <a:lstStyle>
            <a:lvl1pPr>
              <a:defRPr/>
            </a:lvl1pPr>
          </a:lstStyle>
          <a:p>
            <a:r>
              <a:rPr lang="en-US" noProof="0"/>
              <a:t>Click to edit slide title (maximum two lines)</a:t>
            </a:r>
          </a:p>
        </p:txBody>
      </p:sp>
      <p:sp>
        <p:nvSpPr>
          <p:cNvPr id="9" name="Text Placeholder 1">
            <a:extLst>
              <a:ext uri="{FF2B5EF4-FFF2-40B4-BE49-F238E27FC236}">
                <a16:creationId xmlns:a16="http://schemas.microsoft.com/office/drawing/2014/main" id="{E09FD615-2E6A-9A47-5949-05F77046EE40}"/>
              </a:ext>
            </a:extLst>
          </p:cNvPr>
          <p:cNvSpPr>
            <a:spLocks noGrp="1"/>
          </p:cNvSpPr>
          <p:nvPr>
            <p:ph type="body" sz="quarter" idx="13" hasCustomPrompt="1"/>
          </p:nvPr>
        </p:nvSpPr>
        <p:spPr bwMode="gray">
          <a:xfrm>
            <a:off x="6569120" y="1844824"/>
            <a:ext cx="5072018"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12890186"/>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436" userDrawn="1">
          <p15:clr>
            <a:srgbClr val="9FCC3B"/>
          </p15:clr>
        </p15:guide>
        <p15:guide id="12" pos="1527" userDrawn="1">
          <p15:clr>
            <a:srgbClr val="9FCC3B"/>
          </p15:clr>
        </p15:guide>
        <p15:guide id="13" pos="6153" userDrawn="1">
          <p15:clr>
            <a:srgbClr val="9FCC3B"/>
          </p15:clr>
        </p15:guide>
        <p15:guide id="14" pos="6244" userDrawn="1">
          <p15:clr>
            <a:srgbClr val="9FCC3B"/>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 Title, text and two images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76672"/>
            <a:ext cx="5072018" cy="830997"/>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551384" y="1844824"/>
            <a:ext cx="5072018"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Picture Placeholder 1">
            <a:extLst>
              <a:ext uri="{FF2B5EF4-FFF2-40B4-BE49-F238E27FC236}">
                <a16:creationId xmlns:a16="http://schemas.microsoft.com/office/drawing/2014/main" id="{D3568213-EF68-936E-27E2-B491177E3D8B}"/>
              </a:ext>
            </a:extLst>
          </p:cNvPr>
          <p:cNvSpPr>
            <a:spLocks noGrp="1"/>
          </p:cNvSpPr>
          <p:nvPr>
            <p:ph type="pic" sz="quarter" idx="14"/>
          </p:nvPr>
        </p:nvSpPr>
        <p:spPr bwMode="gray">
          <a:xfrm>
            <a:off x="6168008" y="0"/>
            <a:ext cx="6023992" cy="3357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4" name="Picture Placeholder 2">
            <a:extLst>
              <a:ext uri="{FF2B5EF4-FFF2-40B4-BE49-F238E27FC236}">
                <a16:creationId xmlns:a16="http://schemas.microsoft.com/office/drawing/2014/main" id="{1572822B-059A-B7AD-0BBE-CC9F10D80A89}"/>
              </a:ext>
            </a:extLst>
          </p:cNvPr>
          <p:cNvSpPr>
            <a:spLocks noGrp="1"/>
          </p:cNvSpPr>
          <p:nvPr>
            <p:ph type="pic" sz="quarter" idx="15"/>
          </p:nvPr>
        </p:nvSpPr>
        <p:spPr bwMode="gray">
          <a:xfrm>
            <a:off x="6168008" y="3501000"/>
            <a:ext cx="6023992" cy="3357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pic>
        <p:nvPicPr>
          <p:cNvPr id="3" name="Logo">
            <a:extLst>
              <a:ext uri="{FF2B5EF4-FFF2-40B4-BE49-F238E27FC236}">
                <a16:creationId xmlns:a16="http://schemas.microsoft.com/office/drawing/2014/main" id="{82BC9066-B5D9-AF6D-6531-C5B70B0F4BE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1218287839"/>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436" userDrawn="1">
          <p15:clr>
            <a:srgbClr val="9FCC3B"/>
          </p15:clr>
        </p15:guide>
        <p15:guide id="12" pos="1527" userDrawn="1">
          <p15:clr>
            <a:srgbClr val="9FCC3B"/>
          </p15:clr>
        </p15:guide>
        <p15:guide id="13" pos="6153" userDrawn="1">
          <p15:clr>
            <a:srgbClr val="9FCC3B"/>
          </p15:clr>
        </p15:guide>
        <p15:guide id="14" pos="6244" userDrawn="1">
          <p15:clr>
            <a:srgbClr val="9FCC3B"/>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 Two images, title and text">
    <p:spTree>
      <p:nvGrpSpPr>
        <p:cNvPr id="1" name=""/>
        <p:cNvGrpSpPr/>
        <p:nvPr/>
      </p:nvGrpSpPr>
      <p:grpSpPr>
        <a:xfrm>
          <a:off x="0" y="0"/>
          <a:ext cx="0" cy="0"/>
          <a:chOff x="0" y="0"/>
          <a:chExt cx="0" cy="0"/>
        </a:xfrm>
      </p:grpSpPr>
      <p:sp>
        <p:nvSpPr>
          <p:cNvPr id="8" name="Picture Placeholder 1">
            <a:extLst>
              <a:ext uri="{FF2B5EF4-FFF2-40B4-BE49-F238E27FC236}">
                <a16:creationId xmlns:a16="http://schemas.microsoft.com/office/drawing/2014/main" id="{D3568213-EF68-936E-27E2-B491177E3D8B}"/>
              </a:ext>
            </a:extLst>
          </p:cNvPr>
          <p:cNvSpPr>
            <a:spLocks noGrp="1"/>
          </p:cNvSpPr>
          <p:nvPr>
            <p:ph type="pic" sz="quarter" idx="14"/>
          </p:nvPr>
        </p:nvSpPr>
        <p:spPr bwMode="gray">
          <a:xfrm>
            <a:off x="0" y="0"/>
            <a:ext cx="6023992" cy="31788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4" name="Picture Placeholder 2">
            <a:extLst>
              <a:ext uri="{FF2B5EF4-FFF2-40B4-BE49-F238E27FC236}">
                <a16:creationId xmlns:a16="http://schemas.microsoft.com/office/drawing/2014/main" id="{1572822B-059A-B7AD-0BBE-CC9F10D80A89}"/>
              </a:ext>
            </a:extLst>
          </p:cNvPr>
          <p:cNvSpPr>
            <a:spLocks noGrp="1"/>
          </p:cNvSpPr>
          <p:nvPr>
            <p:ph type="pic" sz="quarter" idx="15"/>
          </p:nvPr>
        </p:nvSpPr>
        <p:spPr bwMode="gray">
          <a:xfrm>
            <a:off x="6168008" y="0"/>
            <a:ext cx="6023992" cy="31788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3717032"/>
            <a:ext cx="5472000" cy="830997"/>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6168008" y="3717032"/>
            <a:ext cx="5472000" cy="2340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a:extLst>
              <a:ext uri="{FF2B5EF4-FFF2-40B4-BE49-F238E27FC236}">
                <a16:creationId xmlns:a16="http://schemas.microsoft.com/office/drawing/2014/main" id="{F1CE46F8-E5F0-79EC-BCFD-07B38471E427}"/>
              </a:ext>
            </a:extLst>
          </p:cNvPr>
          <p:cNvSpPr>
            <a:spLocks noGrp="1"/>
          </p:cNvSpPr>
          <p:nvPr>
            <p:ph type="ftr" sz="quarter" idx="16"/>
          </p:nvPr>
        </p:nvSpPr>
        <p:spPr bwMode="gray"/>
        <p:txBody>
          <a:bodyPr/>
          <a:lstStyle/>
          <a:p>
            <a:pPr algn="l"/>
            <a:endParaRPr lang="en-US" noProof="0"/>
          </a:p>
        </p:txBody>
      </p:sp>
      <p:sp>
        <p:nvSpPr>
          <p:cNvPr id="7" name="Slide Number Placeholder">
            <a:extLst>
              <a:ext uri="{FF2B5EF4-FFF2-40B4-BE49-F238E27FC236}">
                <a16:creationId xmlns:a16="http://schemas.microsoft.com/office/drawing/2014/main" id="{D132686C-3404-59C2-A915-D1BF3E01084B}"/>
              </a:ext>
            </a:extLst>
          </p:cNvPr>
          <p:cNvSpPr>
            <a:spLocks noGrp="1"/>
          </p:cNvSpPr>
          <p:nvPr>
            <p:ph type="sldNum" sz="quarter" idx="17"/>
          </p:nvPr>
        </p:nvSpPr>
        <p:spPr bwMode="gray"/>
        <p:txBody>
          <a:bodyPr/>
          <a:lstStyle/>
          <a:p>
            <a:fld id="{1EDD9F3E-8BFD-4E3C-98D1-767322780FDD}" type="slidenum">
              <a:rPr lang="en-US" noProof="0" smtClean="0"/>
              <a:pPr/>
              <a:t>‹#›</a:t>
            </a:fld>
            <a:endParaRPr lang="en-US" noProof="0"/>
          </a:p>
        </p:txBody>
      </p:sp>
      <p:pic>
        <p:nvPicPr>
          <p:cNvPr id="3" name="Logo">
            <a:extLst>
              <a:ext uri="{FF2B5EF4-FFF2-40B4-BE49-F238E27FC236}">
                <a16:creationId xmlns:a16="http://schemas.microsoft.com/office/drawing/2014/main" id="{3C98B57A-3555-40BA-AB17-E55AA71BD4C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376122892"/>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436" userDrawn="1">
          <p15:clr>
            <a:srgbClr val="9FCC3B"/>
          </p15:clr>
        </p15:guide>
        <p15:guide id="12" pos="1527" userDrawn="1">
          <p15:clr>
            <a:srgbClr val="9FCC3B"/>
          </p15:clr>
        </p15:guide>
        <p15:guide id="13" pos="6153" userDrawn="1">
          <p15:clr>
            <a:srgbClr val="9FCC3B"/>
          </p15:clr>
        </p15:guide>
        <p15:guide id="14" pos="6244" userDrawn="1">
          <p15:clr>
            <a:srgbClr val="9FCC3B"/>
          </p15:clr>
        </p15:guide>
        <p15:guide id="15" orient="horz" pos="2341"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 Title and three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p:txBody>
          <a:bodyPr/>
          <a:lstStyle/>
          <a:p>
            <a:r>
              <a:rPr lang="en-US" noProof="0"/>
              <a:t>Click to edit slide title (maximum two lines)</a:t>
            </a:r>
          </a:p>
        </p:txBody>
      </p:sp>
      <p:sp>
        <p:nvSpPr>
          <p:cNvPr id="8" name="Text Placeholder 1">
            <a:extLst>
              <a:ext uri="{FF2B5EF4-FFF2-40B4-BE49-F238E27FC236}">
                <a16:creationId xmlns:a16="http://schemas.microsoft.com/office/drawing/2014/main" id="{261E2592-C1EF-3D9B-8998-9CBE468D2E23}"/>
              </a:ext>
            </a:extLst>
          </p:cNvPr>
          <p:cNvSpPr>
            <a:spLocks noGrp="1"/>
          </p:cNvSpPr>
          <p:nvPr>
            <p:ph type="body" sz="quarter" idx="13" hasCustomPrompt="1"/>
          </p:nvPr>
        </p:nvSpPr>
        <p:spPr bwMode="gray">
          <a:xfrm>
            <a:off x="551384" y="1844824"/>
            <a:ext cx="3600000" cy="276999"/>
          </a:xfrm>
        </p:spPr>
        <p:txBody>
          <a:bodyPr>
            <a:spAutoFit/>
          </a:bodyPr>
          <a:lstStyle>
            <a:lvl1pPr marL="0" indent="0">
              <a:spcBef>
                <a:spcPts val="0"/>
              </a:spcBef>
              <a:buFont typeface="Arial" panose="020B0604020202020204" pitchFamily="34" charset="0"/>
              <a:buNone/>
              <a:defRPr b="0">
                <a:solidFill>
                  <a:schemeClr val="tx1"/>
                </a:solidFill>
                <a:latin typeface="+mn-lt"/>
              </a:defRPr>
            </a:lvl1pPr>
            <a:lvl2pPr marL="0" indent="0">
              <a:spcBef>
                <a:spcPts val="0"/>
              </a:spcBef>
              <a:buFont typeface="Arial" panose="020B0604020202020204" pitchFamily="34" charset="0"/>
              <a:buNone/>
              <a:defRPr b="0">
                <a:solidFill>
                  <a:schemeClr val="tx1"/>
                </a:solidFill>
                <a:latin typeface="+mn-lt"/>
              </a:defRPr>
            </a:lvl2pPr>
            <a:lvl3pPr marL="0" indent="0">
              <a:spcBef>
                <a:spcPts val="0"/>
              </a:spcBef>
              <a:buNone/>
              <a:defRPr b="0">
                <a:solidFill>
                  <a:schemeClr val="tx1"/>
                </a:solidFill>
                <a:latin typeface="+mn-lt"/>
              </a:defRPr>
            </a:lvl3pPr>
            <a:lvl4pPr marL="0" indent="0">
              <a:spcBef>
                <a:spcPts val="0"/>
              </a:spcBef>
              <a:buNone/>
              <a:defRPr b="0">
                <a:solidFill>
                  <a:schemeClr val="tx1"/>
                </a:solidFill>
                <a:latin typeface="+mn-lt"/>
              </a:defRPr>
            </a:lvl4pPr>
            <a:lvl5pPr marL="0" indent="0">
              <a:spcBef>
                <a:spcPts val="0"/>
              </a:spcBef>
              <a:buNone/>
              <a:defRPr b="0">
                <a:solidFill>
                  <a:schemeClr val="tx1"/>
                </a:solidFill>
                <a:latin typeface="+mn-lt"/>
              </a:defRPr>
            </a:lvl5pPr>
            <a:lvl6pPr marL="0" indent="0">
              <a:spcBef>
                <a:spcPts val="0"/>
              </a:spcBef>
              <a:buNone/>
              <a:defRPr b="0">
                <a:solidFill>
                  <a:schemeClr val="tx1"/>
                </a:solidFill>
                <a:latin typeface="+mn-lt"/>
              </a:defRPr>
            </a:lvl6pPr>
            <a:lvl7pPr marL="0" indent="0">
              <a:spcBef>
                <a:spcPts val="0"/>
              </a:spcBef>
              <a:buNone/>
              <a:defRPr b="0">
                <a:solidFill>
                  <a:schemeClr val="tx1"/>
                </a:solidFill>
                <a:latin typeface="+mn-lt"/>
              </a:defRPr>
            </a:lvl7pPr>
            <a:lvl8pPr marL="0" indent="0">
              <a:spcBef>
                <a:spcPts val="0"/>
              </a:spcBef>
              <a:buNone/>
              <a:defRPr b="0">
                <a:solidFill>
                  <a:schemeClr val="tx1"/>
                </a:solidFill>
                <a:latin typeface="+mn-lt"/>
              </a:defRPr>
            </a:lvl8pPr>
            <a:lvl9pPr marL="0" indent="0">
              <a:spcBef>
                <a:spcPts val="0"/>
              </a:spcBef>
              <a:buNone/>
              <a:defRPr b="0">
                <a:solidFill>
                  <a:schemeClr val="tx1"/>
                </a:solidFill>
                <a:latin typeface="+mn-lt"/>
              </a:defRPr>
            </a:lvl9pPr>
          </a:lstStyle>
          <a:p>
            <a:pPr lvl="0"/>
            <a:r>
              <a:rPr lang="en-US" noProof="0"/>
              <a:t>Click to edit caption</a:t>
            </a:r>
          </a:p>
        </p:txBody>
      </p:sp>
      <p:sp>
        <p:nvSpPr>
          <p:cNvPr id="11" name="Picture Placeholder 1">
            <a:extLst>
              <a:ext uri="{FF2B5EF4-FFF2-40B4-BE49-F238E27FC236}">
                <a16:creationId xmlns:a16="http://schemas.microsoft.com/office/drawing/2014/main" id="{214862B1-1BEA-07E1-834B-64536F34BB66}"/>
              </a:ext>
            </a:extLst>
          </p:cNvPr>
          <p:cNvSpPr>
            <a:spLocks noGrp="1"/>
          </p:cNvSpPr>
          <p:nvPr>
            <p:ph type="pic" sz="quarter" idx="16"/>
          </p:nvPr>
        </p:nvSpPr>
        <p:spPr bwMode="gray">
          <a:xfrm>
            <a:off x="551384" y="2240868"/>
            <a:ext cx="3600000" cy="266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12" name="Text Placeholder 2">
            <a:extLst>
              <a:ext uri="{FF2B5EF4-FFF2-40B4-BE49-F238E27FC236}">
                <a16:creationId xmlns:a16="http://schemas.microsoft.com/office/drawing/2014/main" id="{8FDE0631-BFE0-D7CB-B38E-9800DAD94A74}"/>
              </a:ext>
            </a:extLst>
          </p:cNvPr>
          <p:cNvSpPr>
            <a:spLocks noGrp="1"/>
          </p:cNvSpPr>
          <p:nvPr>
            <p:ph type="body" sz="quarter" idx="17" hasCustomPrompt="1"/>
          </p:nvPr>
        </p:nvSpPr>
        <p:spPr bwMode="gray">
          <a:xfrm>
            <a:off x="551384" y="5049180"/>
            <a:ext cx="3600000" cy="1008000"/>
          </a:xfrm>
        </p:spPr>
        <p:txBody>
          <a:bodyPr>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text</a:t>
            </a:r>
          </a:p>
        </p:txBody>
      </p:sp>
      <p:sp>
        <p:nvSpPr>
          <p:cNvPr id="9" name="Text Placeholder 3">
            <a:extLst>
              <a:ext uri="{FF2B5EF4-FFF2-40B4-BE49-F238E27FC236}">
                <a16:creationId xmlns:a16="http://schemas.microsoft.com/office/drawing/2014/main" id="{0625D5CD-EB13-7B23-8CE8-72C1140C3D1F}"/>
              </a:ext>
            </a:extLst>
          </p:cNvPr>
          <p:cNvSpPr>
            <a:spLocks noGrp="1"/>
          </p:cNvSpPr>
          <p:nvPr>
            <p:ph type="body" sz="quarter" idx="14" hasCustomPrompt="1"/>
          </p:nvPr>
        </p:nvSpPr>
        <p:spPr bwMode="gray">
          <a:xfrm>
            <a:off x="4295800" y="1844824"/>
            <a:ext cx="3600000" cy="276999"/>
          </a:xfrm>
        </p:spPr>
        <p:txBody>
          <a:bodyPr>
            <a:spAutoFit/>
          </a:bodyPr>
          <a:lstStyle>
            <a:lvl1pPr marL="0" indent="0">
              <a:spcBef>
                <a:spcPts val="0"/>
              </a:spcBef>
              <a:buFont typeface="Arial" panose="020B0604020202020204" pitchFamily="34" charset="0"/>
              <a:buNone/>
              <a:defRPr b="0">
                <a:solidFill>
                  <a:schemeClr val="tx1"/>
                </a:solidFill>
                <a:latin typeface="+mn-lt"/>
              </a:defRPr>
            </a:lvl1pPr>
            <a:lvl2pPr marL="0" indent="0">
              <a:spcBef>
                <a:spcPts val="0"/>
              </a:spcBef>
              <a:buFont typeface="Arial" panose="020B0604020202020204" pitchFamily="34" charset="0"/>
              <a:buNone/>
              <a:defRPr b="0">
                <a:solidFill>
                  <a:schemeClr val="tx1"/>
                </a:solidFill>
                <a:latin typeface="+mn-lt"/>
              </a:defRPr>
            </a:lvl2pPr>
            <a:lvl3pPr marL="0" indent="0">
              <a:spcBef>
                <a:spcPts val="0"/>
              </a:spcBef>
              <a:buNone/>
              <a:defRPr b="0">
                <a:solidFill>
                  <a:schemeClr val="tx1"/>
                </a:solidFill>
                <a:latin typeface="+mn-lt"/>
              </a:defRPr>
            </a:lvl3pPr>
            <a:lvl4pPr marL="0" indent="0">
              <a:spcBef>
                <a:spcPts val="0"/>
              </a:spcBef>
              <a:buNone/>
              <a:defRPr b="0">
                <a:solidFill>
                  <a:schemeClr val="tx1"/>
                </a:solidFill>
                <a:latin typeface="+mn-lt"/>
              </a:defRPr>
            </a:lvl4pPr>
            <a:lvl5pPr marL="0" indent="0">
              <a:spcBef>
                <a:spcPts val="0"/>
              </a:spcBef>
              <a:buNone/>
              <a:defRPr b="0">
                <a:solidFill>
                  <a:schemeClr val="tx1"/>
                </a:solidFill>
                <a:latin typeface="+mn-lt"/>
              </a:defRPr>
            </a:lvl5pPr>
            <a:lvl6pPr marL="0" indent="0">
              <a:spcBef>
                <a:spcPts val="0"/>
              </a:spcBef>
              <a:buNone/>
              <a:defRPr b="0">
                <a:solidFill>
                  <a:schemeClr val="tx1"/>
                </a:solidFill>
                <a:latin typeface="+mn-lt"/>
              </a:defRPr>
            </a:lvl6pPr>
            <a:lvl7pPr marL="0" indent="0">
              <a:spcBef>
                <a:spcPts val="0"/>
              </a:spcBef>
              <a:buNone/>
              <a:defRPr b="0">
                <a:solidFill>
                  <a:schemeClr val="tx1"/>
                </a:solidFill>
                <a:latin typeface="+mn-lt"/>
              </a:defRPr>
            </a:lvl7pPr>
            <a:lvl8pPr marL="0" indent="0">
              <a:spcBef>
                <a:spcPts val="0"/>
              </a:spcBef>
              <a:buNone/>
              <a:defRPr b="0">
                <a:solidFill>
                  <a:schemeClr val="tx1"/>
                </a:solidFill>
                <a:latin typeface="+mn-lt"/>
              </a:defRPr>
            </a:lvl8pPr>
            <a:lvl9pPr marL="0" indent="0">
              <a:spcBef>
                <a:spcPts val="0"/>
              </a:spcBef>
              <a:buNone/>
              <a:defRPr b="0">
                <a:solidFill>
                  <a:schemeClr val="tx1"/>
                </a:solidFill>
                <a:latin typeface="+mn-lt"/>
              </a:defRPr>
            </a:lvl9pPr>
          </a:lstStyle>
          <a:p>
            <a:pPr lvl="0"/>
            <a:r>
              <a:rPr lang="en-US" noProof="0"/>
              <a:t>Click to edit caption</a:t>
            </a:r>
          </a:p>
        </p:txBody>
      </p:sp>
      <p:sp>
        <p:nvSpPr>
          <p:cNvPr id="13" name="Picture Placeholder 2">
            <a:extLst>
              <a:ext uri="{FF2B5EF4-FFF2-40B4-BE49-F238E27FC236}">
                <a16:creationId xmlns:a16="http://schemas.microsoft.com/office/drawing/2014/main" id="{79D56707-D9C5-867A-9B10-EEE16F55F40B}"/>
              </a:ext>
            </a:extLst>
          </p:cNvPr>
          <p:cNvSpPr>
            <a:spLocks noGrp="1"/>
          </p:cNvSpPr>
          <p:nvPr>
            <p:ph type="pic" sz="quarter" idx="18"/>
          </p:nvPr>
        </p:nvSpPr>
        <p:spPr bwMode="gray">
          <a:xfrm>
            <a:off x="4295800" y="2240868"/>
            <a:ext cx="3600000" cy="266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14" name="Text Placeholder 4">
            <a:extLst>
              <a:ext uri="{FF2B5EF4-FFF2-40B4-BE49-F238E27FC236}">
                <a16:creationId xmlns:a16="http://schemas.microsoft.com/office/drawing/2014/main" id="{618DCF02-18F0-F413-650A-1BBBB77FE2FC}"/>
              </a:ext>
            </a:extLst>
          </p:cNvPr>
          <p:cNvSpPr>
            <a:spLocks noGrp="1"/>
          </p:cNvSpPr>
          <p:nvPr>
            <p:ph type="body" sz="quarter" idx="19" hasCustomPrompt="1"/>
          </p:nvPr>
        </p:nvSpPr>
        <p:spPr bwMode="gray">
          <a:xfrm>
            <a:off x="4295800" y="5049180"/>
            <a:ext cx="3600000" cy="1008000"/>
          </a:xfrm>
        </p:spPr>
        <p:txBody>
          <a:bodyPr>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text</a:t>
            </a:r>
          </a:p>
        </p:txBody>
      </p:sp>
      <p:sp>
        <p:nvSpPr>
          <p:cNvPr id="10" name="Text Placeholder 5">
            <a:extLst>
              <a:ext uri="{FF2B5EF4-FFF2-40B4-BE49-F238E27FC236}">
                <a16:creationId xmlns:a16="http://schemas.microsoft.com/office/drawing/2014/main" id="{70B06B7A-FFCC-5BC2-0870-633DD5EE8002}"/>
              </a:ext>
            </a:extLst>
          </p:cNvPr>
          <p:cNvSpPr>
            <a:spLocks noGrp="1"/>
          </p:cNvSpPr>
          <p:nvPr>
            <p:ph type="body" sz="quarter" idx="15" hasCustomPrompt="1"/>
          </p:nvPr>
        </p:nvSpPr>
        <p:spPr bwMode="gray">
          <a:xfrm>
            <a:off x="8040216" y="1844824"/>
            <a:ext cx="3600000" cy="276999"/>
          </a:xfrm>
        </p:spPr>
        <p:txBody>
          <a:bodyPr>
            <a:spAutoFit/>
          </a:bodyPr>
          <a:lstStyle>
            <a:lvl1pPr marL="0" indent="0">
              <a:spcBef>
                <a:spcPts val="0"/>
              </a:spcBef>
              <a:buFont typeface="Arial" panose="020B0604020202020204" pitchFamily="34" charset="0"/>
              <a:buNone/>
              <a:defRPr b="0">
                <a:solidFill>
                  <a:schemeClr val="tx1"/>
                </a:solidFill>
                <a:latin typeface="+mn-lt"/>
              </a:defRPr>
            </a:lvl1pPr>
            <a:lvl2pPr marL="0" indent="0">
              <a:spcBef>
                <a:spcPts val="0"/>
              </a:spcBef>
              <a:buFont typeface="Arial" panose="020B0604020202020204" pitchFamily="34" charset="0"/>
              <a:buNone/>
              <a:defRPr b="0">
                <a:solidFill>
                  <a:schemeClr val="tx1"/>
                </a:solidFill>
                <a:latin typeface="+mn-lt"/>
              </a:defRPr>
            </a:lvl2pPr>
            <a:lvl3pPr marL="0" indent="0">
              <a:spcBef>
                <a:spcPts val="0"/>
              </a:spcBef>
              <a:buNone/>
              <a:defRPr b="0">
                <a:solidFill>
                  <a:schemeClr val="tx1"/>
                </a:solidFill>
                <a:latin typeface="+mn-lt"/>
              </a:defRPr>
            </a:lvl3pPr>
            <a:lvl4pPr marL="0" indent="0">
              <a:spcBef>
                <a:spcPts val="0"/>
              </a:spcBef>
              <a:buNone/>
              <a:defRPr b="0">
                <a:solidFill>
                  <a:schemeClr val="tx1"/>
                </a:solidFill>
                <a:latin typeface="+mn-lt"/>
              </a:defRPr>
            </a:lvl4pPr>
            <a:lvl5pPr marL="0" indent="0">
              <a:spcBef>
                <a:spcPts val="0"/>
              </a:spcBef>
              <a:buNone/>
              <a:defRPr b="0">
                <a:solidFill>
                  <a:schemeClr val="tx1"/>
                </a:solidFill>
                <a:latin typeface="+mn-lt"/>
              </a:defRPr>
            </a:lvl5pPr>
            <a:lvl6pPr marL="0" indent="0">
              <a:spcBef>
                <a:spcPts val="0"/>
              </a:spcBef>
              <a:buNone/>
              <a:defRPr b="0">
                <a:solidFill>
                  <a:schemeClr val="tx1"/>
                </a:solidFill>
                <a:latin typeface="+mn-lt"/>
              </a:defRPr>
            </a:lvl6pPr>
            <a:lvl7pPr marL="0" indent="0">
              <a:spcBef>
                <a:spcPts val="0"/>
              </a:spcBef>
              <a:buNone/>
              <a:defRPr b="0">
                <a:solidFill>
                  <a:schemeClr val="tx1"/>
                </a:solidFill>
                <a:latin typeface="+mn-lt"/>
              </a:defRPr>
            </a:lvl7pPr>
            <a:lvl8pPr marL="0" indent="0">
              <a:spcBef>
                <a:spcPts val="0"/>
              </a:spcBef>
              <a:buNone/>
              <a:defRPr b="0">
                <a:solidFill>
                  <a:schemeClr val="tx1"/>
                </a:solidFill>
                <a:latin typeface="+mn-lt"/>
              </a:defRPr>
            </a:lvl8pPr>
            <a:lvl9pPr marL="0" indent="0">
              <a:spcBef>
                <a:spcPts val="0"/>
              </a:spcBef>
              <a:buNone/>
              <a:defRPr b="0">
                <a:solidFill>
                  <a:schemeClr val="tx1"/>
                </a:solidFill>
                <a:latin typeface="+mn-lt"/>
              </a:defRPr>
            </a:lvl9pPr>
          </a:lstStyle>
          <a:p>
            <a:pPr lvl="0"/>
            <a:r>
              <a:rPr lang="en-US" noProof="0"/>
              <a:t>Click to edit caption</a:t>
            </a:r>
          </a:p>
        </p:txBody>
      </p:sp>
      <p:sp>
        <p:nvSpPr>
          <p:cNvPr id="15" name="Picture Placeholder 3">
            <a:extLst>
              <a:ext uri="{FF2B5EF4-FFF2-40B4-BE49-F238E27FC236}">
                <a16:creationId xmlns:a16="http://schemas.microsoft.com/office/drawing/2014/main" id="{08F0C17C-68B4-7D82-079D-FE5525B2C862}"/>
              </a:ext>
            </a:extLst>
          </p:cNvPr>
          <p:cNvSpPr>
            <a:spLocks noGrp="1"/>
          </p:cNvSpPr>
          <p:nvPr>
            <p:ph type="pic" sz="quarter" idx="20"/>
          </p:nvPr>
        </p:nvSpPr>
        <p:spPr bwMode="gray">
          <a:xfrm>
            <a:off x="8040216" y="2240868"/>
            <a:ext cx="3600000" cy="266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16" name="Text Placeholder 6">
            <a:extLst>
              <a:ext uri="{FF2B5EF4-FFF2-40B4-BE49-F238E27FC236}">
                <a16:creationId xmlns:a16="http://schemas.microsoft.com/office/drawing/2014/main" id="{4C875757-40AA-FFE0-19F9-4B08BD4DB8EB}"/>
              </a:ext>
            </a:extLst>
          </p:cNvPr>
          <p:cNvSpPr>
            <a:spLocks noGrp="1"/>
          </p:cNvSpPr>
          <p:nvPr>
            <p:ph type="body" sz="quarter" idx="21" hasCustomPrompt="1"/>
          </p:nvPr>
        </p:nvSpPr>
        <p:spPr bwMode="gray">
          <a:xfrm>
            <a:off x="8040216" y="5049180"/>
            <a:ext cx="3600000" cy="1008000"/>
          </a:xfrm>
        </p:spPr>
        <p:txBody>
          <a:bodyPr>
            <a:no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text</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3" name="Logo">
            <a:extLst>
              <a:ext uri="{FF2B5EF4-FFF2-40B4-BE49-F238E27FC236}">
                <a16:creationId xmlns:a16="http://schemas.microsoft.com/office/drawing/2014/main" id="{3F156D71-E0B5-D6E1-661C-545C3C90E20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260542196"/>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436">
          <p15:clr>
            <a:srgbClr val="9FCC3B"/>
          </p15:clr>
        </p15:guide>
        <p15:guide id="12" pos="1527">
          <p15:clr>
            <a:srgbClr val="9FCC3B"/>
          </p15:clr>
        </p15:guide>
        <p15:guide id="13" pos="6244">
          <p15:clr>
            <a:srgbClr val="9FCC3B"/>
          </p15:clr>
        </p15:guide>
        <p15:guide id="14" pos="6153">
          <p15:clr>
            <a:srgbClr val="9FCC3B"/>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 Full image  (name and position)">
    <p:spTree>
      <p:nvGrpSpPr>
        <p:cNvPr id="1" name=""/>
        <p:cNvGrpSpPr/>
        <p:nvPr/>
      </p:nvGrpSpPr>
      <p:grpSpPr>
        <a:xfrm>
          <a:off x="0" y="0"/>
          <a:ext cx="0" cy="0"/>
          <a:chOff x="0" y="0"/>
          <a:chExt cx="0" cy="0"/>
        </a:xfrm>
      </p:grpSpPr>
      <p:sp>
        <p:nvSpPr>
          <p:cNvPr id="8" name="Picture Placeholder 1">
            <a:extLst>
              <a:ext uri="{FF2B5EF4-FFF2-40B4-BE49-F238E27FC236}">
                <a16:creationId xmlns:a16="http://schemas.microsoft.com/office/drawing/2014/main" id="{D3568213-EF68-936E-27E2-B491177E3D8B}"/>
              </a:ext>
            </a:extLst>
          </p:cNvPr>
          <p:cNvSpPr>
            <a:spLocks noGrp="1"/>
          </p:cNvSpPr>
          <p:nvPr>
            <p:ph type="pic" sz="quarter" idx="14"/>
          </p:nvPr>
        </p:nvSpPr>
        <p:spPr bwMode="gray">
          <a:xfrm>
            <a:off x="-600" y="0"/>
            <a:ext cx="12193200" cy="6858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5" name="Text Placeholder 5">
            <a:extLst>
              <a:ext uri="{FF2B5EF4-FFF2-40B4-BE49-F238E27FC236}">
                <a16:creationId xmlns:a16="http://schemas.microsoft.com/office/drawing/2014/main" id="{8CE8921B-3DA6-94DA-A776-DD044CCFAE46}"/>
              </a:ext>
            </a:extLst>
          </p:cNvPr>
          <p:cNvSpPr>
            <a:spLocks noGrp="1"/>
          </p:cNvSpPr>
          <p:nvPr>
            <p:ph type="body" sz="quarter" idx="12" hasCustomPrompt="1"/>
          </p:nvPr>
        </p:nvSpPr>
        <p:spPr bwMode="gray">
          <a:xfrm>
            <a:off x="551384" y="5264626"/>
            <a:ext cx="2398193" cy="792666"/>
          </a:xfrm>
          <a:solidFill>
            <a:schemeClr val="bg1"/>
          </a:solidFill>
        </p:spPr>
        <p:txBody>
          <a:bodyPr wrap="none" lIns="108000" tIns="133200" rIns="108000" bIns="169200" anchor="b">
            <a:spAutoFit/>
          </a:bodyPr>
          <a:lstStyle>
            <a:lvl1pPr marL="0" indent="0">
              <a:spcBef>
                <a:spcPts val="0"/>
              </a:spcBef>
              <a:buFont typeface="Arial" panose="020B0604020202020204" pitchFamily="34" charset="0"/>
              <a:buNone/>
              <a:defRPr b="1">
                <a:solidFill>
                  <a:schemeClr val="tx1"/>
                </a:solidFill>
              </a:defRPr>
            </a:lvl1pPr>
            <a:lvl2pPr marL="0" indent="0">
              <a:spcBef>
                <a:spcPts val="200"/>
              </a:spcBef>
              <a:buFont typeface="Arial" panose="020B0604020202020204" pitchFamily="34" charset="0"/>
              <a:buNone/>
              <a:defRPr sz="1200" b="0">
                <a:solidFill>
                  <a:schemeClr val="tx1"/>
                </a:solidFill>
              </a:defRPr>
            </a:lvl2pPr>
            <a:lvl3pPr marL="0" indent="0">
              <a:spcBef>
                <a:spcPts val="200"/>
              </a:spcBef>
              <a:buNone/>
              <a:defRPr sz="1200" b="0">
                <a:solidFill>
                  <a:schemeClr val="tx1"/>
                </a:solidFill>
              </a:defRPr>
            </a:lvl3pPr>
            <a:lvl4pPr marL="0" indent="0">
              <a:spcBef>
                <a:spcPts val="200"/>
              </a:spcBef>
              <a:buNone/>
              <a:defRPr sz="1200" b="0">
                <a:solidFill>
                  <a:schemeClr val="tx1"/>
                </a:solidFill>
              </a:defRPr>
            </a:lvl4pPr>
            <a:lvl5pPr marL="0" indent="0">
              <a:spcBef>
                <a:spcPts val="200"/>
              </a:spcBef>
              <a:buNone/>
              <a:defRPr sz="1200" b="0">
                <a:solidFill>
                  <a:schemeClr val="tx1"/>
                </a:solidFill>
              </a:defRPr>
            </a:lvl5pPr>
            <a:lvl6pPr marL="0" indent="0">
              <a:spcBef>
                <a:spcPts val="200"/>
              </a:spcBef>
              <a:buNone/>
              <a:defRPr sz="1200" b="0">
                <a:solidFill>
                  <a:schemeClr val="tx1"/>
                </a:solidFill>
              </a:defRPr>
            </a:lvl6pPr>
            <a:lvl7pPr marL="0" indent="0">
              <a:spcBef>
                <a:spcPts val="200"/>
              </a:spcBef>
              <a:buNone/>
              <a:defRPr sz="1200" b="0">
                <a:solidFill>
                  <a:schemeClr val="tx1"/>
                </a:solidFill>
              </a:defRPr>
            </a:lvl7pPr>
            <a:lvl8pPr marL="0" indent="0">
              <a:spcBef>
                <a:spcPts val="200"/>
              </a:spcBef>
              <a:buNone/>
              <a:defRPr sz="1200" b="0">
                <a:solidFill>
                  <a:schemeClr val="tx1"/>
                </a:solidFill>
              </a:defRPr>
            </a:lvl8pPr>
            <a:lvl9pPr marL="0" indent="0">
              <a:spcBef>
                <a:spcPts val="200"/>
              </a:spcBef>
              <a:buNone/>
              <a:defRPr sz="1200" b="0">
                <a:solidFill>
                  <a:schemeClr val="tx1"/>
                </a:solidFill>
              </a:defRPr>
            </a:lvl9pPr>
          </a:lstStyle>
          <a:p>
            <a:pPr lvl="0"/>
            <a:r>
              <a:rPr lang="en-US" noProof="0"/>
              <a:t>Edit Name Surname</a:t>
            </a:r>
          </a:p>
          <a:p>
            <a:pPr lvl="1"/>
            <a:r>
              <a:rPr lang="en-US" noProof="0"/>
              <a:t>Second level</a:t>
            </a:r>
          </a:p>
        </p:txBody>
      </p:sp>
    </p:spTree>
    <p:extLst>
      <p:ext uri="{BB962C8B-B14F-4D97-AF65-F5344CB8AC3E}">
        <p14:creationId xmlns:p14="http://schemas.microsoft.com/office/powerpoint/2010/main" val="31069105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 Media (fullscreen)">
    <p:spTree>
      <p:nvGrpSpPr>
        <p:cNvPr id="1" name=""/>
        <p:cNvGrpSpPr/>
        <p:nvPr/>
      </p:nvGrpSpPr>
      <p:grpSpPr>
        <a:xfrm>
          <a:off x="0" y="0"/>
          <a:ext cx="0" cy="0"/>
          <a:chOff x="0" y="0"/>
          <a:chExt cx="0" cy="0"/>
        </a:xfrm>
      </p:grpSpPr>
      <p:sp>
        <p:nvSpPr>
          <p:cNvPr id="3" name="Media Placeholder 1">
            <a:extLst>
              <a:ext uri="{FF2B5EF4-FFF2-40B4-BE49-F238E27FC236}">
                <a16:creationId xmlns:a16="http://schemas.microsoft.com/office/drawing/2014/main" id="{CBB6E684-2097-3EE4-C891-8AFA7D49DEA4}"/>
              </a:ext>
            </a:extLst>
          </p:cNvPr>
          <p:cNvSpPr>
            <a:spLocks noGrp="1"/>
          </p:cNvSpPr>
          <p:nvPr>
            <p:ph type="media" sz="quarter" idx="10"/>
          </p:nvPr>
        </p:nvSpPr>
        <p:spPr bwMode="gray">
          <a:xfrm>
            <a:off x="-600" y="0"/>
            <a:ext cx="12193200" cy="6858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media</a:t>
            </a:r>
          </a:p>
        </p:txBody>
      </p:sp>
    </p:spTree>
    <p:extLst>
      <p:ext uri="{BB962C8B-B14F-4D97-AF65-F5344CB8AC3E}">
        <p14:creationId xmlns:p14="http://schemas.microsoft.com/office/powerpoint/2010/main" val="9570896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 Key message 1 (gradient)">
    <p:spTree>
      <p:nvGrpSpPr>
        <p:cNvPr id="1" name=""/>
        <p:cNvGrpSpPr/>
        <p:nvPr/>
      </p:nvGrpSpPr>
      <p:grpSpPr>
        <a:xfrm>
          <a:off x="0" y="0"/>
          <a:ext cx="0" cy="0"/>
          <a:chOff x="0" y="0"/>
          <a:chExt cx="0" cy="0"/>
        </a:xfrm>
      </p:grpSpPr>
      <p:pic>
        <p:nvPicPr>
          <p:cNvPr id="7" name="Gradient background">
            <a:extLst>
              <a:ext uri="{FF2B5EF4-FFF2-40B4-BE49-F238E27FC236}">
                <a16:creationId xmlns:a16="http://schemas.microsoft.com/office/drawing/2014/main" id="{8D74D201-83D3-6FD9-8655-C4045985B17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bwMode="hidden">
          <a:xfrm>
            <a:off x="11641138" y="0"/>
            <a:ext cx="555184" cy="6858000"/>
          </a:xfrm>
          <a:prstGeom prst="rect">
            <a:avLst/>
          </a:prstGeom>
        </p:spPr>
      </p:pic>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748559"/>
            <a:ext cx="10440000" cy="4904676"/>
          </a:xfrm>
        </p:spPr>
        <p:txBody>
          <a:bodyPr>
            <a:spAutoFit/>
          </a:bodyPr>
          <a:lstStyle>
            <a:lvl1pPr>
              <a:lnSpc>
                <a:spcPct val="83000"/>
              </a:lnSpc>
              <a:defRPr sz="9600" spc="-60" baseline="0">
                <a:solidFill>
                  <a:schemeClr val="tx1"/>
                </a:solidFill>
              </a:defRPr>
            </a:lvl1pPr>
          </a:lstStyle>
          <a:p>
            <a:r>
              <a:rPr lang="en-US" noProof="0"/>
              <a:t>Click to edit key message (can be several lines long)</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pic>
        <p:nvPicPr>
          <p:cNvPr id="3" name="Logo">
            <a:extLst>
              <a:ext uri="{FF2B5EF4-FFF2-40B4-BE49-F238E27FC236}">
                <a16:creationId xmlns:a16="http://schemas.microsoft.com/office/drawing/2014/main" id="{1C21BD91-F5A5-C766-343C-9E9AF3E5747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1062231150"/>
      </p:ext>
    </p:extLst>
  </p:cSld>
  <p:clrMapOvr>
    <a:masterClrMapping/>
  </p:clrMapOvr>
  <p:extLst>
    <p:ext uri="{DCECCB84-F9BA-43D5-87BE-67443E8EF086}">
      <p15:sldGuideLst xmlns:p15="http://schemas.microsoft.com/office/powerpoint/2012/main">
        <p15:guide id="10" pos="6924"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 Key message 2 (gradient)">
    <p:spTree>
      <p:nvGrpSpPr>
        <p:cNvPr id="1" name=""/>
        <p:cNvGrpSpPr/>
        <p:nvPr/>
      </p:nvGrpSpPr>
      <p:grpSpPr>
        <a:xfrm>
          <a:off x="0" y="0"/>
          <a:ext cx="0" cy="0"/>
          <a:chOff x="0" y="0"/>
          <a:chExt cx="0" cy="0"/>
        </a:xfrm>
      </p:grpSpPr>
      <p:sp>
        <p:nvSpPr>
          <p:cNvPr id="7" name="Picture Placeholder 1">
            <a:extLst>
              <a:ext uri="{FF2B5EF4-FFF2-40B4-BE49-F238E27FC236}">
                <a16:creationId xmlns:a16="http://schemas.microsoft.com/office/drawing/2014/main" id="{9266D735-8620-C437-0FB3-0FE9AE77E09E}"/>
              </a:ext>
            </a:extLst>
          </p:cNvPr>
          <p:cNvSpPr>
            <a:spLocks noGrp="1"/>
          </p:cNvSpPr>
          <p:nvPr>
            <p:ph type="pic" sz="quarter" idx="14"/>
          </p:nvPr>
        </p:nvSpPr>
        <p:spPr bwMode="gray">
          <a:xfrm>
            <a:off x="0" y="0"/>
            <a:ext cx="12192000" cy="6858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505247"/>
            <a:ext cx="10440000" cy="1692515"/>
          </a:xfrm>
        </p:spPr>
        <p:txBody>
          <a:bodyPr/>
          <a:lstStyle>
            <a:lvl1pPr>
              <a:lnSpc>
                <a:spcPct val="83000"/>
              </a:lnSpc>
              <a:defRPr sz="6600" spc="-60" baseline="0">
                <a:solidFill>
                  <a:schemeClr val="tx1"/>
                </a:solidFill>
              </a:defRPr>
            </a:lvl1pPr>
          </a:lstStyle>
          <a:p>
            <a:r>
              <a:rPr lang="en-US" noProof="0"/>
              <a:t>Click to edit key message (can be several lines long)</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3" name="Logo">
            <a:extLst>
              <a:ext uri="{FF2B5EF4-FFF2-40B4-BE49-F238E27FC236}">
                <a16:creationId xmlns:a16="http://schemas.microsoft.com/office/drawing/2014/main" id="{5C384BCF-9353-711D-04BF-7AF1446ED0E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4124661119"/>
      </p:ext>
    </p:extLst>
  </p:cSld>
  <p:clrMapOvr>
    <a:masterClrMapping/>
  </p:clrMapOvr>
  <p:extLst>
    <p:ext uri="{DCECCB84-F9BA-43D5-87BE-67443E8EF086}">
      <p15:sldGuideLst xmlns:p15="http://schemas.microsoft.com/office/powerpoint/2012/main">
        <p15:guide id="10" pos="6924"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Key message 1 (gre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03874-3F49-6B30-F1BA-029CAB9E94C7}"/>
              </a:ext>
            </a:extLst>
          </p:cNvPr>
          <p:cNvSpPr/>
          <p:nvPr userDrawn="1"/>
        </p:nvSpPr>
        <p:spPr>
          <a:xfrm>
            <a:off x="1076" y="0"/>
            <a:ext cx="1219092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err="1"/>
          </a:p>
        </p:txBody>
      </p:sp>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721362"/>
            <a:ext cx="10440000" cy="4904676"/>
          </a:xfrm>
        </p:spPr>
        <p:txBody>
          <a:bodyPr>
            <a:spAutoFit/>
          </a:bodyPr>
          <a:lstStyle>
            <a:lvl1pPr>
              <a:lnSpc>
                <a:spcPct val="83000"/>
              </a:lnSpc>
              <a:defRPr sz="9600" spc="-60" baseline="0">
                <a:solidFill>
                  <a:schemeClr val="tx1"/>
                </a:solidFill>
              </a:defRPr>
            </a:lvl1pPr>
          </a:lstStyle>
          <a:p>
            <a:r>
              <a:rPr lang="en-US" noProof="0"/>
              <a:t>Click to edit key message (can be several lines long)</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3" name="Logo">
            <a:extLst>
              <a:ext uri="{FF2B5EF4-FFF2-40B4-BE49-F238E27FC236}">
                <a16:creationId xmlns:a16="http://schemas.microsoft.com/office/drawing/2014/main" id="{1C21BD91-F5A5-C766-343C-9E9AF3E5747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2973257334"/>
      </p:ext>
    </p:extLst>
  </p:cSld>
  <p:clrMapOvr>
    <a:masterClrMapping/>
  </p:clrMapOvr>
  <p:extLst>
    <p:ext uri="{DCECCB84-F9BA-43D5-87BE-67443E8EF086}">
      <p15:sldGuideLst xmlns:p15="http://schemas.microsoft.com/office/powerpoint/2012/main">
        <p15:guide id="10" pos="6924"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Key message 2 (gre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1CC37E-F977-0808-8FE2-EBFB981F74D1}"/>
              </a:ext>
            </a:extLst>
          </p:cNvPr>
          <p:cNvSpPr/>
          <p:nvPr userDrawn="1"/>
        </p:nvSpPr>
        <p:spPr>
          <a:xfrm>
            <a:off x="1076" y="0"/>
            <a:ext cx="1219092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err="1"/>
          </a:p>
        </p:txBody>
      </p:sp>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505247"/>
            <a:ext cx="10440000" cy="1692515"/>
          </a:xfrm>
        </p:spPr>
        <p:txBody>
          <a:bodyPr/>
          <a:lstStyle>
            <a:lvl1pPr>
              <a:lnSpc>
                <a:spcPct val="83000"/>
              </a:lnSpc>
              <a:defRPr sz="6600" spc="-60" baseline="0">
                <a:solidFill>
                  <a:schemeClr val="tx1"/>
                </a:solidFill>
              </a:defRPr>
            </a:lvl1pPr>
          </a:lstStyle>
          <a:p>
            <a:r>
              <a:rPr lang="en-US" noProof="0"/>
              <a:t>Click to edit key message (can be several lines long)</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3" name="Logo">
            <a:extLst>
              <a:ext uri="{FF2B5EF4-FFF2-40B4-BE49-F238E27FC236}">
                <a16:creationId xmlns:a16="http://schemas.microsoft.com/office/drawing/2014/main" id="{5C384BCF-9353-711D-04BF-7AF1446ED0E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3030248187"/>
      </p:ext>
    </p:extLst>
  </p:cSld>
  <p:clrMapOvr>
    <a:masterClrMapping/>
  </p:clrMapOvr>
  <p:extLst>
    <p:ext uri="{DCECCB84-F9BA-43D5-87BE-67443E8EF086}">
      <p15:sldGuideLst xmlns:p15="http://schemas.microsoft.com/office/powerpoint/2012/main">
        <p15:guide id="10" pos="6924"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 Title, text and chart">
    <p:spTree>
      <p:nvGrpSpPr>
        <p:cNvPr id="1" name=""/>
        <p:cNvGrpSpPr/>
        <p:nvPr/>
      </p:nvGrpSpPr>
      <p:grpSpPr>
        <a:xfrm>
          <a:off x="0" y="0"/>
          <a:ext cx="0" cy="0"/>
          <a:chOff x="0" y="0"/>
          <a:chExt cx="0" cy="0"/>
        </a:xfrm>
      </p:grpSpPr>
      <p:sp>
        <p:nvSpPr>
          <p:cNvPr id="3" name="Background (Background Grey)">
            <a:extLst>
              <a:ext uri="{FF2B5EF4-FFF2-40B4-BE49-F238E27FC236}">
                <a16:creationId xmlns:a16="http://schemas.microsoft.com/office/drawing/2014/main" id="{F56792E5-C6B9-EC9B-17EE-7D7E78258F0A}"/>
              </a:ext>
            </a:extLst>
          </p:cNvPr>
          <p:cNvSpPr/>
          <p:nvPr userDrawn="1"/>
        </p:nvSpPr>
        <p:spPr bwMode="gray">
          <a:xfrm>
            <a:off x="6168008" y="512676"/>
            <a:ext cx="5472000" cy="554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476672"/>
            <a:ext cx="5472000" cy="830997"/>
          </a:xfrm>
        </p:spPr>
        <p:txBody>
          <a:bodyPr/>
          <a:lstStyle>
            <a:lvl1pPr>
              <a:defRPr/>
            </a:lvl1pPr>
          </a:lstStyle>
          <a:p>
            <a:r>
              <a:rPr lang="en-US" noProof="0"/>
              <a:t>Click to edit slide title (maximum two lines)</a:t>
            </a:r>
          </a:p>
        </p:txBody>
      </p:sp>
      <p:sp>
        <p:nvSpPr>
          <p:cNvPr id="6" name="Text Placeholder 1">
            <a:extLst>
              <a:ext uri="{FF2B5EF4-FFF2-40B4-BE49-F238E27FC236}">
                <a16:creationId xmlns:a16="http://schemas.microsoft.com/office/drawing/2014/main" id="{12A6871A-3127-1574-ACDE-16A7A0E5506B}"/>
              </a:ext>
            </a:extLst>
          </p:cNvPr>
          <p:cNvSpPr>
            <a:spLocks noGrp="1"/>
          </p:cNvSpPr>
          <p:nvPr>
            <p:ph type="body" sz="quarter" idx="13" hasCustomPrompt="1"/>
          </p:nvPr>
        </p:nvSpPr>
        <p:spPr bwMode="gray">
          <a:xfrm>
            <a:off x="551384" y="1844824"/>
            <a:ext cx="5472000" cy="4212000"/>
          </a:xfrm>
        </p:spPr>
        <p:txBody>
          <a:bodyPr/>
          <a:lstStyle>
            <a:lvl4pPr>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2">
            <a:extLst>
              <a:ext uri="{FF2B5EF4-FFF2-40B4-BE49-F238E27FC236}">
                <a16:creationId xmlns:a16="http://schemas.microsoft.com/office/drawing/2014/main" id="{9E0B544B-42EB-16A3-0EBF-8006B62CA02D}"/>
              </a:ext>
            </a:extLst>
          </p:cNvPr>
          <p:cNvSpPr>
            <a:spLocks noGrp="1"/>
          </p:cNvSpPr>
          <p:nvPr>
            <p:ph type="body" sz="quarter" idx="12" hasCustomPrompt="1"/>
          </p:nvPr>
        </p:nvSpPr>
        <p:spPr bwMode="gray">
          <a:xfrm>
            <a:off x="6528008" y="836712"/>
            <a:ext cx="4752000" cy="184666"/>
          </a:xfrm>
        </p:spPr>
        <p:txBody>
          <a:bodyPr>
            <a:sp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0"/>
              </a:spcBef>
              <a:buFont typeface="Arial" panose="020B0604020202020204" pitchFamily="34" charset="0"/>
              <a:buNone/>
              <a:defRPr sz="1200" b="1">
                <a:solidFill>
                  <a:schemeClr val="tx1"/>
                </a:solidFill>
                <a:latin typeface="+mj-lt"/>
              </a:defRPr>
            </a:lvl2pPr>
            <a:lvl3pPr marL="0" indent="0">
              <a:spcBef>
                <a:spcPts val="0"/>
              </a:spcBef>
              <a:buNone/>
              <a:defRPr sz="1200" b="1">
                <a:solidFill>
                  <a:schemeClr val="tx1"/>
                </a:solidFill>
                <a:latin typeface="+mj-lt"/>
              </a:defRPr>
            </a:lvl3pPr>
            <a:lvl4pPr marL="0" indent="0">
              <a:spcBef>
                <a:spcPts val="0"/>
              </a:spcBef>
              <a:buNone/>
              <a:defRPr sz="1200" b="1">
                <a:solidFill>
                  <a:schemeClr val="tx1"/>
                </a:solidFill>
                <a:latin typeface="+mj-lt"/>
              </a:defRPr>
            </a:lvl4pPr>
            <a:lvl5pPr marL="0" indent="0">
              <a:spcBef>
                <a:spcPts val="0"/>
              </a:spcBef>
              <a:buNone/>
              <a:defRPr sz="1200" b="1">
                <a:solidFill>
                  <a:schemeClr val="tx1"/>
                </a:solidFill>
                <a:latin typeface="+mj-lt"/>
              </a:defRPr>
            </a:lvl5pPr>
            <a:lvl6pPr marL="0" indent="0">
              <a:spcBef>
                <a:spcPts val="0"/>
              </a:spcBef>
              <a:buNone/>
              <a:defRPr sz="1200" b="1">
                <a:solidFill>
                  <a:schemeClr val="tx1"/>
                </a:solidFill>
                <a:latin typeface="+mj-lt"/>
              </a:defRPr>
            </a:lvl6pPr>
            <a:lvl7pPr marL="0" indent="0">
              <a:spcBef>
                <a:spcPts val="0"/>
              </a:spcBef>
              <a:buNone/>
              <a:defRPr sz="1200" b="1">
                <a:solidFill>
                  <a:schemeClr val="tx1"/>
                </a:solidFill>
                <a:latin typeface="+mj-lt"/>
              </a:defRPr>
            </a:lvl7pPr>
            <a:lvl8pPr marL="0" indent="0">
              <a:spcBef>
                <a:spcPts val="0"/>
              </a:spcBef>
              <a:buNone/>
              <a:defRPr sz="1200" b="1">
                <a:solidFill>
                  <a:schemeClr val="tx1"/>
                </a:solidFill>
                <a:latin typeface="+mj-lt"/>
              </a:defRPr>
            </a:lvl8pPr>
            <a:lvl9pPr marL="0" indent="0">
              <a:spcBef>
                <a:spcPts val="0"/>
              </a:spcBef>
              <a:buNone/>
              <a:defRPr sz="1200" b="1">
                <a:solidFill>
                  <a:schemeClr val="tx1"/>
                </a:solidFill>
                <a:latin typeface="+mj-lt"/>
              </a:defRPr>
            </a:lvl9pPr>
          </a:lstStyle>
          <a:p>
            <a:pPr lvl="0"/>
            <a:r>
              <a:rPr lang="en-US" noProof="0"/>
              <a:t>Click to edit chart title</a:t>
            </a:r>
          </a:p>
        </p:txBody>
      </p:sp>
      <p:sp>
        <p:nvSpPr>
          <p:cNvPr id="7" name="Text Placeholder 3">
            <a:extLst>
              <a:ext uri="{FF2B5EF4-FFF2-40B4-BE49-F238E27FC236}">
                <a16:creationId xmlns:a16="http://schemas.microsoft.com/office/drawing/2014/main" id="{5A94ADB8-8BB9-7BA9-B6D8-7500FFA904E3}"/>
              </a:ext>
            </a:extLst>
          </p:cNvPr>
          <p:cNvSpPr>
            <a:spLocks noGrp="1"/>
          </p:cNvSpPr>
          <p:nvPr>
            <p:ph type="body" sz="quarter" idx="14" hasCustomPrompt="1"/>
          </p:nvPr>
        </p:nvSpPr>
        <p:spPr bwMode="gray">
          <a:xfrm>
            <a:off x="6528008" y="1052736"/>
            <a:ext cx="4752000" cy="184666"/>
          </a:xfrm>
        </p:spPr>
        <p:txBody>
          <a:bodyPr>
            <a:spAutoFit/>
          </a:bodyPr>
          <a:lstStyle>
            <a:lvl1pPr marL="0" indent="0">
              <a:spcBef>
                <a:spcPts val="0"/>
              </a:spcBef>
              <a:buFont typeface="Arial" panose="020B0604020202020204" pitchFamily="34" charset="0"/>
              <a:buNone/>
              <a:defRPr sz="1200" b="0">
                <a:solidFill>
                  <a:schemeClr val="tx1"/>
                </a:solidFill>
                <a:latin typeface="+mn-lt"/>
              </a:defRPr>
            </a:lvl1pPr>
            <a:lvl2pPr marL="0" indent="0">
              <a:spcBef>
                <a:spcPts val="0"/>
              </a:spcBef>
              <a:buFont typeface="Arial" panose="020B0604020202020204" pitchFamily="34" charset="0"/>
              <a:buNone/>
              <a:defRPr sz="1200" b="0">
                <a:solidFill>
                  <a:schemeClr val="tx1"/>
                </a:solidFill>
                <a:latin typeface="+mn-lt"/>
              </a:defRPr>
            </a:lvl2pPr>
            <a:lvl3pPr marL="0" indent="0">
              <a:spcBef>
                <a:spcPts val="0"/>
              </a:spcBef>
              <a:buNone/>
              <a:defRPr sz="1200" b="0">
                <a:solidFill>
                  <a:schemeClr val="tx1"/>
                </a:solidFill>
                <a:latin typeface="+mn-lt"/>
              </a:defRPr>
            </a:lvl3pPr>
            <a:lvl4pPr marL="0" indent="0">
              <a:spcBef>
                <a:spcPts val="0"/>
              </a:spcBef>
              <a:buNone/>
              <a:defRPr sz="1200" b="0">
                <a:solidFill>
                  <a:schemeClr val="tx1"/>
                </a:solidFill>
                <a:latin typeface="+mn-lt"/>
              </a:defRPr>
            </a:lvl4pPr>
            <a:lvl5pPr marL="0" indent="0">
              <a:spcBef>
                <a:spcPts val="0"/>
              </a:spcBef>
              <a:buNone/>
              <a:defRPr sz="1200" b="0">
                <a:solidFill>
                  <a:schemeClr val="tx1"/>
                </a:solidFill>
                <a:latin typeface="+mn-lt"/>
              </a:defRPr>
            </a:lvl5pPr>
            <a:lvl6pPr marL="0" indent="0">
              <a:spcBef>
                <a:spcPts val="0"/>
              </a:spcBef>
              <a:buNone/>
              <a:defRPr sz="1200" b="0">
                <a:solidFill>
                  <a:schemeClr val="tx1"/>
                </a:solidFill>
                <a:latin typeface="+mn-lt"/>
              </a:defRPr>
            </a:lvl6pPr>
            <a:lvl7pPr marL="0" indent="0">
              <a:spcBef>
                <a:spcPts val="0"/>
              </a:spcBef>
              <a:buNone/>
              <a:defRPr sz="1200" b="0">
                <a:solidFill>
                  <a:schemeClr val="tx1"/>
                </a:solidFill>
                <a:latin typeface="+mn-lt"/>
              </a:defRPr>
            </a:lvl7pPr>
            <a:lvl8pPr marL="0" indent="0">
              <a:spcBef>
                <a:spcPts val="0"/>
              </a:spcBef>
              <a:buNone/>
              <a:defRPr sz="1200" b="0">
                <a:solidFill>
                  <a:schemeClr val="tx1"/>
                </a:solidFill>
                <a:latin typeface="+mn-lt"/>
              </a:defRPr>
            </a:lvl8pPr>
            <a:lvl9pPr marL="0" indent="0">
              <a:spcBef>
                <a:spcPts val="0"/>
              </a:spcBef>
              <a:buNone/>
              <a:defRPr sz="1200" b="0">
                <a:solidFill>
                  <a:schemeClr val="tx1"/>
                </a:solidFill>
                <a:latin typeface="+mn-lt"/>
              </a:defRPr>
            </a:lvl9pPr>
          </a:lstStyle>
          <a:p>
            <a:pPr lvl="0"/>
            <a:r>
              <a:rPr lang="en-US" noProof="0"/>
              <a:t>Click to edit unit of value</a:t>
            </a:r>
          </a:p>
        </p:txBody>
      </p:sp>
      <p:sp>
        <p:nvSpPr>
          <p:cNvPr id="12" name="Chart Placeholder 1">
            <a:extLst>
              <a:ext uri="{FF2B5EF4-FFF2-40B4-BE49-F238E27FC236}">
                <a16:creationId xmlns:a16="http://schemas.microsoft.com/office/drawing/2014/main" id="{6F45CE3C-CE03-F84F-458B-8EB30D44E2C2}"/>
              </a:ext>
            </a:extLst>
          </p:cNvPr>
          <p:cNvSpPr>
            <a:spLocks noGrp="1"/>
          </p:cNvSpPr>
          <p:nvPr>
            <p:ph type="chart" sz="quarter" idx="16"/>
          </p:nvPr>
        </p:nvSpPr>
        <p:spPr bwMode="gray">
          <a:xfrm>
            <a:off x="6527521" y="1340768"/>
            <a:ext cx="4752975" cy="4140000"/>
          </a:xfrm>
        </p:spPr>
        <p:txBody>
          <a:bodyPr bIns="720000" anchor="ctr"/>
          <a:lstStyle>
            <a:lvl1pPr algn="ctr">
              <a:spcBef>
                <a:spcPts val="0"/>
              </a:spcBef>
              <a:defRPr sz="1200" b="0">
                <a:solidFill>
                  <a:schemeClr val="tx1"/>
                </a:solidFill>
              </a:defRPr>
            </a:lvl1pPr>
          </a:lstStyle>
          <a:p>
            <a:r>
              <a:rPr lang="en-US" noProof="0"/>
              <a:t>Click icon to add chart</a:t>
            </a:r>
          </a:p>
        </p:txBody>
      </p:sp>
      <p:sp>
        <p:nvSpPr>
          <p:cNvPr id="9" name="Text Placeholder 4">
            <a:extLst>
              <a:ext uri="{FF2B5EF4-FFF2-40B4-BE49-F238E27FC236}">
                <a16:creationId xmlns:a16="http://schemas.microsoft.com/office/drawing/2014/main" id="{F1429D25-4756-CAC6-F902-90E7E3E788FA}"/>
              </a:ext>
            </a:extLst>
          </p:cNvPr>
          <p:cNvSpPr>
            <a:spLocks noGrp="1"/>
          </p:cNvSpPr>
          <p:nvPr>
            <p:ph type="body" sz="quarter" idx="15" hasCustomPrompt="1"/>
          </p:nvPr>
        </p:nvSpPr>
        <p:spPr bwMode="gray">
          <a:xfrm>
            <a:off x="6528008" y="5589530"/>
            <a:ext cx="4752000" cy="107722"/>
          </a:xfrm>
        </p:spPr>
        <p:txBody>
          <a:bodyPr anchor="b">
            <a:spAutoFit/>
          </a:bodyPr>
          <a:lstStyle>
            <a:lvl1pPr marL="0" indent="0">
              <a:spcBef>
                <a:spcPts val="0"/>
              </a:spcBef>
              <a:buFont typeface="Arial" panose="020B0604020202020204" pitchFamily="34" charset="0"/>
              <a:buNone/>
              <a:defRPr sz="700" b="0">
                <a:solidFill>
                  <a:schemeClr val="tx1"/>
                </a:solidFill>
                <a:latin typeface="+mn-lt"/>
              </a:defRPr>
            </a:lvl1pPr>
            <a:lvl2pPr marL="0" indent="0">
              <a:spcBef>
                <a:spcPts val="0"/>
              </a:spcBef>
              <a:buFont typeface="Arial" panose="020B0604020202020204" pitchFamily="34" charset="0"/>
              <a:buNone/>
              <a:defRPr sz="700" b="0">
                <a:solidFill>
                  <a:schemeClr val="tx1"/>
                </a:solidFill>
                <a:latin typeface="+mn-lt"/>
              </a:defRPr>
            </a:lvl2pPr>
            <a:lvl3pPr marL="0" indent="0">
              <a:spcBef>
                <a:spcPts val="0"/>
              </a:spcBef>
              <a:buNone/>
              <a:defRPr sz="700" b="0">
                <a:solidFill>
                  <a:schemeClr val="tx1"/>
                </a:solidFill>
                <a:latin typeface="+mn-lt"/>
              </a:defRPr>
            </a:lvl3pPr>
            <a:lvl4pPr marL="0" indent="0">
              <a:spcBef>
                <a:spcPts val="0"/>
              </a:spcBef>
              <a:buNone/>
              <a:defRPr sz="700" b="0">
                <a:solidFill>
                  <a:schemeClr val="tx1"/>
                </a:solidFill>
                <a:latin typeface="+mn-lt"/>
              </a:defRPr>
            </a:lvl4pPr>
            <a:lvl5pPr marL="0" indent="0">
              <a:spcBef>
                <a:spcPts val="0"/>
              </a:spcBef>
              <a:buNone/>
              <a:defRPr sz="700" b="0">
                <a:solidFill>
                  <a:schemeClr val="tx1"/>
                </a:solidFill>
                <a:latin typeface="+mn-lt"/>
              </a:defRPr>
            </a:lvl5pPr>
            <a:lvl6pPr marL="0" indent="0">
              <a:spcBef>
                <a:spcPts val="0"/>
              </a:spcBef>
              <a:buNone/>
              <a:defRPr sz="700" b="0">
                <a:solidFill>
                  <a:schemeClr val="tx1"/>
                </a:solidFill>
                <a:latin typeface="+mn-lt"/>
              </a:defRPr>
            </a:lvl6pPr>
            <a:lvl7pPr marL="0" indent="0">
              <a:spcBef>
                <a:spcPts val="0"/>
              </a:spcBef>
              <a:buNone/>
              <a:defRPr sz="700" b="0">
                <a:solidFill>
                  <a:schemeClr val="tx1"/>
                </a:solidFill>
                <a:latin typeface="+mn-lt"/>
              </a:defRPr>
            </a:lvl7pPr>
            <a:lvl8pPr marL="0" indent="0">
              <a:spcBef>
                <a:spcPts val="0"/>
              </a:spcBef>
              <a:buNone/>
              <a:defRPr sz="700" b="0">
                <a:solidFill>
                  <a:schemeClr val="tx1"/>
                </a:solidFill>
                <a:latin typeface="+mn-lt"/>
              </a:defRPr>
            </a:lvl8pPr>
            <a:lvl9pPr marL="0" indent="0">
              <a:spcBef>
                <a:spcPts val="0"/>
              </a:spcBef>
              <a:buNone/>
              <a:defRPr sz="700" b="0">
                <a:solidFill>
                  <a:schemeClr val="tx1"/>
                </a:solidFill>
                <a:latin typeface="+mn-lt"/>
              </a:defRPr>
            </a:lvl9pPr>
          </a:lstStyle>
          <a:p>
            <a:pPr lvl="0"/>
            <a:r>
              <a:rPr lang="en-US" noProof="0"/>
              <a:t>Click to edit footnote/source</a:t>
            </a:r>
          </a:p>
        </p:txBody>
      </p:sp>
      <p:sp>
        <p:nvSpPr>
          <p:cNvPr id="8" name="Footer Placeholder">
            <a:extLst>
              <a:ext uri="{FF2B5EF4-FFF2-40B4-BE49-F238E27FC236}">
                <a16:creationId xmlns:a16="http://schemas.microsoft.com/office/drawing/2014/main" id="{78DAF8DC-04B4-6F33-FDF5-0EC9726FA829}"/>
              </a:ext>
            </a:extLst>
          </p:cNvPr>
          <p:cNvSpPr>
            <a:spLocks noGrp="1"/>
          </p:cNvSpPr>
          <p:nvPr>
            <p:ph type="ftr" sz="quarter" idx="17"/>
          </p:nvPr>
        </p:nvSpPr>
        <p:spPr bwMode="gray"/>
        <p:txBody>
          <a:bodyPr/>
          <a:lstStyle/>
          <a:p>
            <a:pPr algn="l"/>
            <a:endParaRPr lang="en-US" noProof="0"/>
          </a:p>
        </p:txBody>
      </p:sp>
      <p:sp>
        <p:nvSpPr>
          <p:cNvPr id="10" name="Slide Number Placeholder">
            <a:extLst>
              <a:ext uri="{FF2B5EF4-FFF2-40B4-BE49-F238E27FC236}">
                <a16:creationId xmlns:a16="http://schemas.microsoft.com/office/drawing/2014/main" id="{8CC90698-5AC9-14B7-D67A-08FAA7A9C015}"/>
              </a:ext>
            </a:extLst>
          </p:cNvPr>
          <p:cNvSpPr>
            <a:spLocks noGrp="1"/>
          </p:cNvSpPr>
          <p:nvPr>
            <p:ph type="sldNum" sz="quarter" idx="18"/>
          </p:nvPr>
        </p:nvSpPr>
        <p:spPr bwMode="gray"/>
        <p:txBody>
          <a:bodyPr/>
          <a:lstStyle/>
          <a:p>
            <a:fld id="{1EDD9F3E-8BFD-4E3C-98D1-767322780FDD}" type="slidenum">
              <a:rPr lang="en-US" noProof="0" smtClean="0"/>
              <a:pPr/>
              <a:t>‹#›</a:t>
            </a:fld>
            <a:endParaRPr lang="en-US" noProof="0"/>
          </a:p>
        </p:txBody>
      </p:sp>
      <p:pic>
        <p:nvPicPr>
          <p:cNvPr id="4" name="Logo">
            <a:extLst>
              <a:ext uri="{FF2B5EF4-FFF2-40B4-BE49-F238E27FC236}">
                <a16:creationId xmlns:a16="http://schemas.microsoft.com/office/drawing/2014/main" id="{0268BFFB-23FF-B2EF-20B1-9397D5C51E0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3476119854"/>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26">
          <p15:clr>
            <a:srgbClr val="FBAE40"/>
          </p15:clr>
        </p15:guide>
        <p15:guide id="8" pos="2116">
          <p15:clr>
            <a:srgbClr val="FBAE40"/>
          </p15:clr>
        </p15:guide>
        <p15:guide id="9" pos="5564">
          <p15:clr>
            <a:srgbClr val="FBAE40"/>
          </p15:clr>
        </p15:guide>
        <p15:guide id="10" pos="5654">
          <p15:clr>
            <a:srgbClr val="FBAE40"/>
          </p15:clr>
        </p15:guide>
        <p15:guide id="11" pos="1436" userDrawn="1">
          <p15:clr>
            <a:srgbClr val="9FCC3B"/>
          </p15:clr>
        </p15:guide>
        <p15:guide id="12" pos="1527" userDrawn="1">
          <p15:clr>
            <a:srgbClr val="9FCC3B"/>
          </p15:clr>
        </p15:guide>
        <p15:guide id="13" pos="6244" userDrawn="1">
          <p15:clr>
            <a:srgbClr val="9FCC3B"/>
          </p15:clr>
        </p15:guide>
        <p15:guide id="14" pos="6153" userDrawn="1">
          <p15:clr>
            <a:srgbClr val="9FCC3B"/>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 Team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p:txBody>
          <a:bodyPr/>
          <a:lstStyle/>
          <a:p>
            <a:r>
              <a:rPr lang="en-US" noProof="0"/>
              <a:t>Click to edit slide title (maximum two lines)</a:t>
            </a:r>
          </a:p>
        </p:txBody>
      </p:sp>
      <p:sp>
        <p:nvSpPr>
          <p:cNvPr id="8" name="Picture Placeholder 1">
            <a:extLst>
              <a:ext uri="{FF2B5EF4-FFF2-40B4-BE49-F238E27FC236}">
                <a16:creationId xmlns:a16="http://schemas.microsoft.com/office/drawing/2014/main" id="{9DD3A440-1CA9-B6A2-DB83-4AED31D07687}"/>
              </a:ext>
            </a:extLst>
          </p:cNvPr>
          <p:cNvSpPr>
            <a:spLocks noGrp="1"/>
          </p:cNvSpPr>
          <p:nvPr>
            <p:ph type="pic" sz="quarter" idx="15"/>
          </p:nvPr>
        </p:nvSpPr>
        <p:spPr bwMode="gray">
          <a:xfrm>
            <a:off x="551384" y="1844824"/>
            <a:ext cx="2687116" cy="266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9" name="Text Placeholder 1">
            <a:extLst>
              <a:ext uri="{FF2B5EF4-FFF2-40B4-BE49-F238E27FC236}">
                <a16:creationId xmlns:a16="http://schemas.microsoft.com/office/drawing/2014/main" id="{021D8988-0F40-25F1-D7E7-AD2B2BD5BED6}"/>
              </a:ext>
            </a:extLst>
          </p:cNvPr>
          <p:cNvSpPr>
            <a:spLocks noGrp="1"/>
          </p:cNvSpPr>
          <p:nvPr>
            <p:ph type="body" sz="quarter" idx="14" hasCustomPrompt="1"/>
          </p:nvPr>
        </p:nvSpPr>
        <p:spPr bwMode="gray">
          <a:xfrm>
            <a:off x="550863" y="4653136"/>
            <a:ext cx="2664000" cy="1404764"/>
          </a:xfrm>
        </p:spPr>
        <p:txBody>
          <a:bodyPr wrap="square">
            <a:no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200"/>
              </a:spcBef>
              <a:buFont typeface="Arial" panose="020B0604020202020204" pitchFamily="34" charset="0"/>
              <a:buNone/>
              <a:defRPr sz="1200" b="0">
                <a:solidFill>
                  <a:schemeClr val="tx1"/>
                </a:solidFill>
                <a:latin typeface="+mn-lt"/>
              </a:defRPr>
            </a:lvl2pPr>
            <a:lvl3pPr marL="0" indent="0">
              <a:spcBef>
                <a:spcPts val="200"/>
              </a:spcBef>
              <a:buNone/>
              <a:defRPr sz="1200" b="0">
                <a:solidFill>
                  <a:schemeClr val="tx1"/>
                </a:solidFill>
                <a:latin typeface="+mn-lt"/>
              </a:defRPr>
            </a:lvl3pPr>
            <a:lvl4pPr marL="0" indent="0">
              <a:spcBef>
                <a:spcPts val="200"/>
              </a:spcBef>
              <a:buNone/>
              <a:defRPr sz="1200" b="0">
                <a:solidFill>
                  <a:schemeClr val="tx1"/>
                </a:solidFill>
                <a:latin typeface="+mn-lt"/>
              </a:defRPr>
            </a:lvl4pPr>
            <a:lvl5pPr marL="0" indent="0">
              <a:spcBef>
                <a:spcPts val="200"/>
              </a:spcBef>
              <a:buNone/>
              <a:defRPr sz="1200" b="0">
                <a:solidFill>
                  <a:schemeClr val="tx1"/>
                </a:solidFill>
                <a:latin typeface="+mn-lt"/>
              </a:defRPr>
            </a:lvl5pPr>
            <a:lvl6pPr marL="0" indent="0">
              <a:spcBef>
                <a:spcPts val="200"/>
              </a:spcBef>
              <a:buNone/>
              <a:defRPr sz="1200" b="0">
                <a:solidFill>
                  <a:schemeClr val="tx1"/>
                </a:solidFill>
                <a:latin typeface="+mn-lt"/>
              </a:defRPr>
            </a:lvl6pPr>
            <a:lvl7pPr marL="0" indent="0">
              <a:spcBef>
                <a:spcPts val="200"/>
              </a:spcBef>
              <a:buNone/>
              <a:defRPr sz="1200" b="0">
                <a:solidFill>
                  <a:schemeClr val="tx1"/>
                </a:solidFill>
                <a:latin typeface="+mn-lt"/>
              </a:defRPr>
            </a:lvl7pPr>
            <a:lvl8pPr marL="0" indent="0">
              <a:spcBef>
                <a:spcPts val="200"/>
              </a:spcBef>
              <a:buNone/>
              <a:defRPr sz="1200" b="0">
                <a:solidFill>
                  <a:schemeClr val="tx1"/>
                </a:solidFill>
                <a:latin typeface="+mn-lt"/>
              </a:defRPr>
            </a:lvl8pPr>
            <a:lvl9pPr marL="0" indent="0">
              <a:spcBef>
                <a:spcPts val="200"/>
              </a:spcBef>
              <a:buNone/>
              <a:defRPr sz="1200" b="0">
                <a:solidFill>
                  <a:schemeClr val="tx1"/>
                </a:solidFill>
                <a:latin typeface="+mn-lt"/>
              </a:defRPr>
            </a:lvl9pPr>
          </a:lstStyle>
          <a:p>
            <a:pPr lvl="0"/>
            <a:r>
              <a:rPr lang="en-US" noProof="0"/>
              <a:t>Click to edit Name Surname</a:t>
            </a:r>
          </a:p>
          <a:p>
            <a:pPr lvl="1"/>
            <a:r>
              <a:rPr lang="en-US" noProof="0"/>
              <a:t>Second level</a:t>
            </a:r>
          </a:p>
        </p:txBody>
      </p:sp>
      <p:sp>
        <p:nvSpPr>
          <p:cNvPr id="11" name="Picture Placeholder 2">
            <a:extLst>
              <a:ext uri="{FF2B5EF4-FFF2-40B4-BE49-F238E27FC236}">
                <a16:creationId xmlns:a16="http://schemas.microsoft.com/office/drawing/2014/main" id="{3BF10AE8-C121-8442-377B-88627C9560A0}"/>
              </a:ext>
            </a:extLst>
          </p:cNvPr>
          <p:cNvSpPr>
            <a:spLocks noGrp="1"/>
          </p:cNvSpPr>
          <p:nvPr>
            <p:ph type="pic" sz="quarter" idx="17"/>
          </p:nvPr>
        </p:nvSpPr>
        <p:spPr bwMode="gray">
          <a:xfrm>
            <a:off x="3359696" y="1844824"/>
            <a:ext cx="2664000" cy="266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10" name="Text Placeholder 2">
            <a:extLst>
              <a:ext uri="{FF2B5EF4-FFF2-40B4-BE49-F238E27FC236}">
                <a16:creationId xmlns:a16="http://schemas.microsoft.com/office/drawing/2014/main" id="{05885C9B-BDFD-3544-8568-29E1331A42CD}"/>
              </a:ext>
            </a:extLst>
          </p:cNvPr>
          <p:cNvSpPr>
            <a:spLocks noGrp="1"/>
          </p:cNvSpPr>
          <p:nvPr>
            <p:ph type="body" sz="quarter" idx="16" hasCustomPrompt="1"/>
          </p:nvPr>
        </p:nvSpPr>
        <p:spPr bwMode="gray">
          <a:xfrm>
            <a:off x="3359696" y="4653136"/>
            <a:ext cx="2664000" cy="1404764"/>
          </a:xfrm>
        </p:spPr>
        <p:txBody>
          <a:bodyPr wrap="square">
            <a:no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200"/>
              </a:spcBef>
              <a:buFont typeface="Arial" panose="020B0604020202020204" pitchFamily="34" charset="0"/>
              <a:buNone/>
              <a:defRPr sz="1200" b="0">
                <a:solidFill>
                  <a:schemeClr val="tx1"/>
                </a:solidFill>
                <a:latin typeface="+mn-lt"/>
              </a:defRPr>
            </a:lvl2pPr>
            <a:lvl3pPr marL="0" indent="0">
              <a:spcBef>
                <a:spcPts val="200"/>
              </a:spcBef>
              <a:buNone/>
              <a:defRPr sz="1200" b="0">
                <a:solidFill>
                  <a:schemeClr val="tx1"/>
                </a:solidFill>
                <a:latin typeface="+mn-lt"/>
              </a:defRPr>
            </a:lvl3pPr>
            <a:lvl4pPr marL="0" indent="0">
              <a:spcBef>
                <a:spcPts val="200"/>
              </a:spcBef>
              <a:buNone/>
              <a:defRPr sz="1200" b="0">
                <a:solidFill>
                  <a:schemeClr val="tx1"/>
                </a:solidFill>
                <a:latin typeface="+mn-lt"/>
              </a:defRPr>
            </a:lvl4pPr>
            <a:lvl5pPr marL="0" indent="0">
              <a:spcBef>
                <a:spcPts val="200"/>
              </a:spcBef>
              <a:buNone/>
              <a:defRPr sz="1200" b="0">
                <a:solidFill>
                  <a:schemeClr val="tx1"/>
                </a:solidFill>
                <a:latin typeface="+mn-lt"/>
              </a:defRPr>
            </a:lvl5pPr>
            <a:lvl6pPr marL="0" indent="0">
              <a:spcBef>
                <a:spcPts val="200"/>
              </a:spcBef>
              <a:buNone/>
              <a:defRPr sz="1200" b="0">
                <a:solidFill>
                  <a:schemeClr val="tx1"/>
                </a:solidFill>
                <a:latin typeface="+mn-lt"/>
              </a:defRPr>
            </a:lvl6pPr>
            <a:lvl7pPr marL="0" indent="0">
              <a:spcBef>
                <a:spcPts val="200"/>
              </a:spcBef>
              <a:buNone/>
              <a:defRPr sz="1200" b="0">
                <a:solidFill>
                  <a:schemeClr val="tx1"/>
                </a:solidFill>
                <a:latin typeface="+mn-lt"/>
              </a:defRPr>
            </a:lvl7pPr>
            <a:lvl8pPr marL="0" indent="0">
              <a:spcBef>
                <a:spcPts val="200"/>
              </a:spcBef>
              <a:buNone/>
              <a:defRPr sz="1200" b="0">
                <a:solidFill>
                  <a:schemeClr val="tx1"/>
                </a:solidFill>
                <a:latin typeface="+mn-lt"/>
              </a:defRPr>
            </a:lvl8pPr>
            <a:lvl9pPr marL="0" indent="0">
              <a:spcBef>
                <a:spcPts val="200"/>
              </a:spcBef>
              <a:buNone/>
              <a:defRPr sz="1200" b="0">
                <a:solidFill>
                  <a:schemeClr val="tx1"/>
                </a:solidFill>
                <a:latin typeface="+mn-lt"/>
              </a:defRPr>
            </a:lvl9pPr>
          </a:lstStyle>
          <a:p>
            <a:pPr lvl="0"/>
            <a:r>
              <a:rPr lang="en-US" noProof="0"/>
              <a:t>Click to edit Name Surname</a:t>
            </a:r>
          </a:p>
          <a:p>
            <a:pPr lvl="1"/>
            <a:r>
              <a:rPr lang="en-US" noProof="0"/>
              <a:t>Second level</a:t>
            </a:r>
          </a:p>
        </p:txBody>
      </p:sp>
      <p:sp>
        <p:nvSpPr>
          <p:cNvPr id="13" name="Picture Placeholder 3">
            <a:extLst>
              <a:ext uri="{FF2B5EF4-FFF2-40B4-BE49-F238E27FC236}">
                <a16:creationId xmlns:a16="http://schemas.microsoft.com/office/drawing/2014/main" id="{8415ECF1-9C67-32ED-D4D3-DDFE8EE0FA8B}"/>
              </a:ext>
            </a:extLst>
          </p:cNvPr>
          <p:cNvSpPr>
            <a:spLocks noGrp="1"/>
          </p:cNvSpPr>
          <p:nvPr>
            <p:ph type="pic" sz="quarter" idx="19"/>
          </p:nvPr>
        </p:nvSpPr>
        <p:spPr bwMode="gray">
          <a:xfrm>
            <a:off x="6168008" y="1844824"/>
            <a:ext cx="2664000" cy="266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12" name="Text Placeholder 3">
            <a:extLst>
              <a:ext uri="{FF2B5EF4-FFF2-40B4-BE49-F238E27FC236}">
                <a16:creationId xmlns:a16="http://schemas.microsoft.com/office/drawing/2014/main" id="{39C6BBFC-28AE-9E58-2344-AD9D8C100E16}"/>
              </a:ext>
            </a:extLst>
          </p:cNvPr>
          <p:cNvSpPr>
            <a:spLocks noGrp="1"/>
          </p:cNvSpPr>
          <p:nvPr>
            <p:ph type="body" sz="quarter" idx="18" hasCustomPrompt="1"/>
          </p:nvPr>
        </p:nvSpPr>
        <p:spPr bwMode="gray">
          <a:xfrm>
            <a:off x="6168008" y="4653136"/>
            <a:ext cx="2664000" cy="1404764"/>
          </a:xfrm>
        </p:spPr>
        <p:txBody>
          <a:bodyPr wrap="square">
            <a:no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200"/>
              </a:spcBef>
              <a:buFont typeface="Arial" panose="020B0604020202020204" pitchFamily="34" charset="0"/>
              <a:buNone/>
              <a:defRPr sz="1200" b="0">
                <a:solidFill>
                  <a:schemeClr val="tx1"/>
                </a:solidFill>
                <a:latin typeface="+mn-lt"/>
              </a:defRPr>
            </a:lvl2pPr>
            <a:lvl3pPr marL="0" indent="0">
              <a:spcBef>
                <a:spcPts val="200"/>
              </a:spcBef>
              <a:buNone/>
              <a:defRPr sz="1200" b="0">
                <a:solidFill>
                  <a:schemeClr val="tx1"/>
                </a:solidFill>
                <a:latin typeface="+mn-lt"/>
              </a:defRPr>
            </a:lvl3pPr>
            <a:lvl4pPr marL="0" indent="0">
              <a:spcBef>
                <a:spcPts val="200"/>
              </a:spcBef>
              <a:buNone/>
              <a:defRPr sz="1200" b="0">
                <a:solidFill>
                  <a:schemeClr val="tx1"/>
                </a:solidFill>
                <a:latin typeface="+mn-lt"/>
              </a:defRPr>
            </a:lvl4pPr>
            <a:lvl5pPr marL="0" indent="0">
              <a:spcBef>
                <a:spcPts val="200"/>
              </a:spcBef>
              <a:buNone/>
              <a:defRPr sz="1200" b="0">
                <a:solidFill>
                  <a:schemeClr val="tx1"/>
                </a:solidFill>
                <a:latin typeface="+mn-lt"/>
              </a:defRPr>
            </a:lvl5pPr>
            <a:lvl6pPr marL="0" indent="0">
              <a:spcBef>
                <a:spcPts val="200"/>
              </a:spcBef>
              <a:buNone/>
              <a:defRPr sz="1200" b="0">
                <a:solidFill>
                  <a:schemeClr val="tx1"/>
                </a:solidFill>
                <a:latin typeface="+mn-lt"/>
              </a:defRPr>
            </a:lvl6pPr>
            <a:lvl7pPr marL="0" indent="0">
              <a:spcBef>
                <a:spcPts val="200"/>
              </a:spcBef>
              <a:buNone/>
              <a:defRPr sz="1200" b="0">
                <a:solidFill>
                  <a:schemeClr val="tx1"/>
                </a:solidFill>
                <a:latin typeface="+mn-lt"/>
              </a:defRPr>
            </a:lvl7pPr>
            <a:lvl8pPr marL="0" indent="0">
              <a:spcBef>
                <a:spcPts val="200"/>
              </a:spcBef>
              <a:buNone/>
              <a:defRPr sz="1200" b="0">
                <a:solidFill>
                  <a:schemeClr val="tx1"/>
                </a:solidFill>
                <a:latin typeface="+mn-lt"/>
              </a:defRPr>
            </a:lvl8pPr>
            <a:lvl9pPr marL="0" indent="0">
              <a:spcBef>
                <a:spcPts val="200"/>
              </a:spcBef>
              <a:buNone/>
              <a:defRPr sz="1200" b="0">
                <a:solidFill>
                  <a:schemeClr val="tx1"/>
                </a:solidFill>
                <a:latin typeface="+mn-lt"/>
              </a:defRPr>
            </a:lvl9pPr>
          </a:lstStyle>
          <a:p>
            <a:pPr lvl="0"/>
            <a:r>
              <a:rPr lang="en-US" noProof="0"/>
              <a:t>Click to edit Name Surname</a:t>
            </a:r>
          </a:p>
          <a:p>
            <a:pPr lvl="1"/>
            <a:r>
              <a:rPr lang="en-US" noProof="0"/>
              <a:t>Second level</a:t>
            </a:r>
          </a:p>
        </p:txBody>
      </p:sp>
      <p:sp>
        <p:nvSpPr>
          <p:cNvPr id="15" name="Picture Placeholder 4">
            <a:extLst>
              <a:ext uri="{FF2B5EF4-FFF2-40B4-BE49-F238E27FC236}">
                <a16:creationId xmlns:a16="http://schemas.microsoft.com/office/drawing/2014/main" id="{FE697D5E-1E96-8C69-B935-640772D99716}"/>
              </a:ext>
            </a:extLst>
          </p:cNvPr>
          <p:cNvSpPr>
            <a:spLocks noGrp="1"/>
          </p:cNvSpPr>
          <p:nvPr>
            <p:ph type="pic" sz="quarter" idx="21"/>
          </p:nvPr>
        </p:nvSpPr>
        <p:spPr bwMode="gray">
          <a:xfrm>
            <a:off x="8976320" y="1844824"/>
            <a:ext cx="2664000" cy="2664000"/>
          </a:xfrm>
          <a:solidFill>
            <a:schemeClr val="bg2"/>
          </a:solidFill>
        </p:spPr>
        <p:txBody>
          <a:bodyPr bIns="720000" anchor="ctr"/>
          <a:lstStyle>
            <a:lvl1pPr algn="ctr">
              <a:spcBef>
                <a:spcPts val="0"/>
              </a:spcBef>
              <a:defRPr sz="1200" b="0">
                <a:solidFill>
                  <a:schemeClr val="tx1"/>
                </a:solidFill>
              </a:defRPr>
            </a:lvl1pPr>
          </a:lstStyle>
          <a:p>
            <a:r>
              <a:rPr lang="en-US" noProof="0"/>
              <a:t>Click icon to add picture</a:t>
            </a:r>
          </a:p>
        </p:txBody>
      </p:sp>
      <p:sp>
        <p:nvSpPr>
          <p:cNvPr id="14" name="Text Placeholder 4">
            <a:extLst>
              <a:ext uri="{FF2B5EF4-FFF2-40B4-BE49-F238E27FC236}">
                <a16:creationId xmlns:a16="http://schemas.microsoft.com/office/drawing/2014/main" id="{FE99907E-A59A-265E-C3BE-FF36FAD57DBC}"/>
              </a:ext>
            </a:extLst>
          </p:cNvPr>
          <p:cNvSpPr>
            <a:spLocks noGrp="1"/>
          </p:cNvSpPr>
          <p:nvPr>
            <p:ph type="body" sz="quarter" idx="20" hasCustomPrompt="1"/>
          </p:nvPr>
        </p:nvSpPr>
        <p:spPr bwMode="gray">
          <a:xfrm>
            <a:off x="8976320" y="4653136"/>
            <a:ext cx="2664000" cy="1404764"/>
          </a:xfrm>
        </p:spPr>
        <p:txBody>
          <a:bodyPr wrap="square">
            <a:noAutofit/>
          </a:bodyPr>
          <a:lstStyle>
            <a:lvl1pPr marL="0" indent="0">
              <a:spcBef>
                <a:spcPts val="0"/>
              </a:spcBef>
              <a:buFont typeface="Arial" panose="020B0604020202020204" pitchFamily="34" charset="0"/>
              <a:buNone/>
              <a:defRPr sz="1200" b="1">
                <a:solidFill>
                  <a:schemeClr val="tx1"/>
                </a:solidFill>
                <a:latin typeface="+mj-lt"/>
              </a:defRPr>
            </a:lvl1pPr>
            <a:lvl2pPr marL="0" indent="0">
              <a:spcBef>
                <a:spcPts val="200"/>
              </a:spcBef>
              <a:buFont typeface="Arial" panose="020B0604020202020204" pitchFamily="34" charset="0"/>
              <a:buNone/>
              <a:defRPr sz="1200" b="0">
                <a:solidFill>
                  <a:schemeClr val="tx1"/>
                </a:solidFill>
                <a:latin typeface="+mn-lt"/>
              </a:defRPr>
            </a:lvl2pPr>
            <a:lvl3pPr marL="0" indent="0">
              <a:spcBef>
                <a:spcPts val="200"/>
              </a:spcBef>
              <a:buNone/>
              <a:defRPr sz="1200" b="0">
                <a:solidFill>
                  <a:schemeClr val="tx1"/>
                </a:solidFill>
                <a:latin typeface="+mn-lt"/>
              </a:defRPr>
            </a:lvl3pPr>
            <a:lvl4pPr marL="0" indent="0">
              <a:spcBef>
                <a:spcPts val="200"/>
              </a:spcBef>
              <a:buNone/>
              <a:defRPr sz="1200" b="0">
                <a:solidFill>
                  <a:schemeClr val="tx1"/>
                </a:solidFill>
                <a:latin typeface="+mn-lt"/>
              </a:defRPr>
            </a:lvl4pPr>
            <a:lvl5pPr marL="0" indent="0">
              <a:spcBef>
                <a:spcPts val="200"/>
              </a:spcBef>
              <a:buNone/>
              <a:defRPr sz="1200" b="0">
                <a:solidFill>
                  <a:schemeClr val="tx1"/>
                </a:solidFill>
                <a:latin typeface="+mn-lt"/>
              </a:defRPr>
            </a:lvl5pPr>
            <a:lvl6pPr marL="0" indent="0">
              <a:spcBef>
                <a:spcPts val="200"/>
              </a:spcBef>
              <a:buNone/>
              <a:defRPr sz="1200" b="0">
                <a:solidFill>
                  <a:schemeClr val="tx1"/>
                </a:solidFill>
                <a:latin typeface="+mn-lt"/>
              </a:defRPr>
            </a:lvl6pPr>
            <a:lvl7pPr marL="0" indent="0">
              <a:spcBef>
                <a:spcPts val="200"/>
              </a:spcBef>
              <a:buNone/>
              <a:defRPr sz="1200" b="0">
                <a:solidFill>
                  <a:schemeClr val="tx1"/>
                </a:solidFill>
                <a:latin typeface="+mn-lt"/>
              </a:defRPr>
            </a:lvl7pPr>
            <a:lvl8pPr marL="0" indent="0">
              <a:spcBef>
                <a:spcPts val="200"/>
              </a:spcBef>
              <a:buNone/>
              <a:defRPr sz="1200" b="0">
                <a:solidFill>
                  <a:schemeClr val="tx1"/>
                </a:solidFill>
                <a:latin typeface="+mn-lt"/>
              </a:defRPr>
            </a:lvl8pPr>
            <a:lvl9pPr marL="0" indent="0">
              <a:spcBef>
                <a:spcPts val="200"/>
              </a:spcBef>
              <a:buNone/>
              <a:defRPr sz="1200" b="0">
                <a:solidFill>
                  <a:schemeClr val="tx1"/>
                </a:solidFill>
                <a:latin typeface="+mn-lt"/>
              </a:defRPr>
            </a:lvl9pPr>
          </a:lstStyle>
          <a:p>
            <a:pPr lvl="0"/>
            <a:r>
              <a:rPr lang="en-US" noProof="0"/>
              <a:t>Click to edit Name Surname</a:t>
            </a:r>
          </a:p>
          <a:p>
            <a:pPr lvl="1"/>
            <a:r>
              <a:rPr lang="en-US" noProof="0"/>
              <a:t>Second level</a:t>
            </a:r>
          </a:p>
        </p:txBody>
      </p:sp>
      <p:sp>
        <p:nvSpPr>
          <p:cNvPr id="4" name="Footer Placeholder">
            <a:extLst>
              <a:ext uri="{FF2B5EF4-FFF2-40B4-BE49-F238E27FC236}">
                <a16:creationId xmlns:a16="http://schemas.microsoft.com/office/drawing/2014/main" id="{73BCB6BD-118A-9D0A-8BE7-284C24A9E472}"/>
              </a:ext>
            </a:extLst>
          </p:cNvPr>
          <p:cNvSpPr>
            <a:spLocks noGrp="1"/>
          </p:cNvSpPr>
          <p:nvPr>
            <p:ph type="ftr" sz="quarter" idx="11"/>
          </p:nvPr>
        </p:nvSpPr>
        <p:spPr bwMode="gray"/>
        <p:txBody>
          <a:bodyPr/>
          <a:lstStyle/>
          <a:p>
            <a:endParaRPr lang="en-US" noProof="0"/>
          </a:p>
        </p:txBody>
      </p:sp>
      <p:sp>
        <p:nvSpPr>
          <p:cNvPr id="5" name="Slide Number Placeholder">
            <a:extLst>
              <a:ext uri="{FF2B5EF4-FFF2-40B4-BE49-F238E27FC236}">
                <a16:creationId xmlns:a16="http://schemas.microsoft.com/office/drawing/2014/main" id="{63D64732-4FCA-425B-942A-F3C6B6507C2D}"/>
              </a:ext>
            </a:extLst>
          </p:cNvPr>
          <p:cNvSpPr>
            <a:spLocks noGrp="1"/>
          </p:cNvSpPr>
          <p:nvPr>
            <p:ph type="sldNum" sz="quarter" idx="12"/>
          </p:nvPr>
        </p:nvSpPr>
        <p:spPr bwMode="gray"/>
        <p:txBody>
          <a:bodyPr/>
          <a:lstStyle/>
          <a:p>
            <a:fld id="{1EDD9F3E-8BFD-4E3C-98D1-767322780FDD}" type="slidenum">
              <a:rPr lang="en-US" noProof="0" smtClean="0"/>
              <a:t>‹#›</a:t>
            </a:fld>
            <a:endParaRPr lang="en-US" noProof="0"/>
          </a:p>
        </p:txBody>
      </p:sp>
      <p:pic>
        <p:nvPicPr>
          <p:cNvPr id="3" name="Logo">
            <a:extLst>
              <a:ext uri="{FF2B5EF4-FFF2-40B4-BE49-F238E27FC236}">
                <a16:creationId xmlns:a16="http://schemas.microsoft.com/office/drawing/2014/main" id="{3F156D71-E0B5-D6E1-661C-545C3C90E20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Tree>
    <p:extLst>
      <p:ext uri="{BB962C8B-B14F-4D97-AF65-F5344CB8AC3E}">
        <p14:creationId xmlns:p14="http://schemas.microsoft.com/office/powerpoint/2010/main" val="1299379082"/>
      </p:ext>
    </p:extLst>
  </p:cSld>
  <p:clrMapOvr>
    <a:masterClrMapping/>
  </p:clrMapOvr>
  <p:extLst>
    <p:ext uri="{DCECCB84-F9BA-43D5-87BE-67443E8EF086}">
      <p15:sldGuideLst xmlns:p15="http://schemas.microsoft.com/office/powerpoint/2012/main">
        <p15:guide id="1" pos="3795">
          <p15:clr>
            <a:srgbClr val="FBAE40"/>
          </p15:clr>
        </p15:guide>
        <p15:guide id="2" pos="3885">
          <p15:clr>
            <a:srgbClr val="FBAE40"/>
          </p15:clr>
        </p15:guide>
        <p15:guide id="3" pos="2615">
          <p15:clr>
            <a:srgbClr val="9FCC3B"/>
          </p15:clr>
        </p15:guide>
        <p15:guide id="4" pos="2706">
          <p15:clr>
            <a:srgbClr val="9FCC3B"/>
          </p15:clr>
        </p15:guide>
        <p15:guide id="5" pos="4974">
          <p15:clr>
            <a:srgbClr val="9FCC3B"/>
          </p15:clr>
        </p15:guide>
        <p15:guide id="6" pos="5065">
          <p15:clr>
            <a:srgbClr val="9FCC3B"/>
          </p15:clr>
        </p15:guide>
        <p15:guide id="7" pos="2040" userDrawn="1">
          <p15:clr>
            <a:srgbClr val="FBAE40"/>
          </p15:clr>
        </p15:guide>
        <p15:guide id="8" pos="2116">
          <p15:clr>
            <a:srgbClr val="FBAE40"/>
          </p15:clr>
        </p15:guide>
        <p15:guide id="9" pos="5564">
          <p15:clr>
            <a:srgbClr val="FBAE40"/>
          </p15:clr>
        </p15:guide>
        <p15:guide id="10" pos="5654">
          <p15:clr>
            <a:srgbClr val="FBAE40"/>
          </p15:clr>
        </p15:guide>
        <p15:guide id="11" pos="1436">
          <p15:clr>
            <a:srgbClr val="9FCC3B"/>
          </p15:clr>
        </p15:guide>
        <p15:guide id="12" pos="1527">
          <p15:clr>
            <a:srgbClr val="9FCC3B"/>
          </p15:clr>
        </p15:guide>
        <p15:guide id="13" pos="6244">
          <p15:clr>
            <a:srgbClr val="9FCC3B"/>
          </p15:clr>
        </p15:guide>
        <p15:guide id="14" pos="6153">
          <p15:clr>
            <a:srgbClr val="9FCC3B"/>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End slide 1">
    <p:spTree>
      <p:nvGrpSpPr>
        <p:cNvPr id="1" name=""/>
        <p:cNvGrpSpPr/>
        <p:nvPr/>
      </p:nvGrpSpPr>
      <p:grpSpPr>
        <a:xfrm>
          <a:off x="0" y="0"/>
          <a:ext cx="0" cy="0"/>
          <a:chOff x="0" y="0"/>
          <a:chExt cx="0" cy="0"/>
        </a:xfrm>
      </p:grpSpPr>
      <p:pic>
        <p:nvPicPr>
          <p:cNvPr id="3" name="Logo">
            <a:extLst>
              <a:ext uri="{FF2B5EF4-FFF2-40B4-BE49-F238E27FC236}">
                <a16:creationId xmlns:a16="http://schemas.microsoft.com/office/drawing/2014/main" id="{1C21BD91-F5A5-C766-343C-9E9AF3E5747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
        <p:nvSpPr>
          <p:cNvPr id="6" name="Title 1">
            <a:extLst>
              <a:ext uri="{FF2B5EF4-FFF2-40B4-BE49-F238E27FC236}">
                <a16:creationId xmlns:a16="http://schemas.microsoft.com/office/drawing/2014/main" id="{079F1196-D343-C4C6-E6C1-04811483641A}"/>
              </a:ext>
            </a:extLst>
          </p:cNvPr>
          <p:cNvSpPr>
            <a:spLocks noGrp="1"/>
          </p:cNvSpPr>
          <p:nvPr>
            <p:ph type="title" hasCustomPrompt="1"/>
          </p:nvPr>
        </p:nvSpPr>
        <p:spPr bwMode="gray">
          <a:xfrm>
            <a:off x="551384" y="747514"/>
            <a:ext cx="10440000" cy="3687997"/>
          </a:xfrm>
        </p:spPr>
        <p:txBody>
          <a:bodyPr/>
          <a:lstStyle>
            <a:lvl1pPr>
              <a:lnSpc>
                <a:spcPct val="83000"/>
              </a:lnSpc>
              <a:defRPr sz="9600" spc="-60" baseline="0">
                <a:solidFill>
                  <a:schemeClr val="tx1"/>
                </a:solidFill>
              </a:defRPr>
            </a:lvl1pPr>
          </a:lstStyle>
          <a:p>
            <a:r>
              <a:rPr lang="en-US" noProof="0"/>
              <a:t>Click to edit closing statement (max. three lines)</a:t>
            </a:r>
          </a:p>
        </p:txBody>
      </p:sp>
      <p:sp>
        <p:nvSpPr>
          <p:cNvPr id="7" name="Text Placeholder 1">
            <a:extLst>
              <a:ext uri="{FF2B5EF4-FFF2-40B4-BE49-F238E27FC236}">
                <a16:creationId xmlns:a16="http://schemas.microsoft.com/office/drawing/2014/main" id="{C7C11606-5708-5AF1-A745-7C48C9431855}"/>
              </a:ext>
            </a:extLst>
          </p:cNvPr>
          <p:cNvSpPr>
            <a:spLocks noGrp="1"/>
          </p:cNvSpPr>
          <p:nvPr>
            <p:ph type="body" sz="quarter" idx="13" hasCustomPrompt="1"/>
          </p:nvPr>
        </p:nvSpPr>
        <p:spPr bwMode="gray">
          <a:xfrm>
            <a:off x="8112224" y="4508884"/>
            <a:ext cx="3528000" cy="764312"/>
          </a:xfrm>
        </p:spPr>
        <p:txBody>
          <a:bodyPr wrap="square">
            <a:spAutoFit/>
          </a:bodyPr>
          <a:lstStyle>
            <a:lvl1pPr marL="0" indent="0">
              <a:spcBef>
                <a:spcPts val="0"/>
              </a:spcBef>
              <a:buFont typeface="Arial" panose="020B0604020202020204" pitchFamily="34" charset="0"/>
              <a:buNone/>
              <a:defRPr sz="2400" b="1">
                <a:solidFill>
                  <a:schemeClr val="tx1"/>
                </a:solidFill>
                <a:latin typeface="+mj-lt"/>
              </a:defRPr>
            </a:lvl1pPr>
            <a:lvl2pPr marL="0" indent="0">
              <a:spcBef>
                <a:spcPts val="200"/>
              </a:spcBef>
              <a:buFont typeface="Arial" panose="020B0604020202020204" pitchFamily="34" charset="0"/>
              <a:buNone/>
              <a:defRPr sz="2400" b="0">
                <a:solidFill>
                  <a:schemeClr val="tx1"/>
                </a:solidFill>
                <a:latin typeface="+mn-lt"/>
              </a:defRPr>
            </a:lvl2pPr>
            <a:lvl3pPr marL="0" indent="0">
              <a:spcBef>
                <a:spcPts val="200"/>
              </a:spcBef>
              <a:buNone/>
              <a:defRPr sz="2400" b="0">
                <a:solidFill>
                  <a:schemeClr val="tx1"/>
                </a:solidFill>
                <a:latin typeface="+mn-lt"/>
              </a:defRPr>
            </a:lvl3pPr>
            <a:lvl4pPr marL="0" indent="0">
              <a:spcBef>
                <a:spcPts val="200"/>
              </a:spcBef>
              <a:buNone/>
              <a:defRPr sz="2400" b="0">
                <a:solidFill>
                  <a:schemeClr val="tx1"/>
                </a:solidFill>
                <a:latin typeface="+mn-lt"/>
              </a:defRPr>
            </a:lvl4pPr>
            <a:lvl5pPr marL="0" indent="0">
              <a:spcBef>
                <a:spcPts val="200"/>
              </a:spcBef>
              <a:buNone/>
              <a:defRPr sz="2400" b="0">
                <a:solidFill>
                  <a:schemeClr val="tx1"/>
                </a:solidFill>
                <a:latin typeface="+mn-lt"/>
              </a:defRPr>
            </a:lvl5pPr>
            <a:lvl6pPr marL="0" indent="0">
              <a:spcBef>
                <a:spcPts val="200"/>
              </a:spcBef>
              <a:buNone/>
              <a:defRPr sz="2400" b="0">
                <a:solidFill>
                  <a:schemeClr val="tx1"/>
                </a:solidFill>
                <a:latin typeface="+mn-lt"/>
              </a:defRPr>
            </a:lvl6pPr>
            <a:lvl7pPr marL="0" indent="0">
              <a:spcBef>
                <a:spcPts val="200"/>
              </a:spcBef>
              <a:buNone/>
              <a:defRPr sz="2400" b="0">
                <a:solidFill>
                  <a:schemeClr val="tx1"/>
                </a:solidFill>
                <a:latin typeface="+mn-lt"/>
              </a:defRPr>
            </a:lvl7pPr>
            <a:lvl8pPr marL="0" indent="0">
              <a:spcBef>
                <a:spcPts val="200"/>
              </a:spcBef>
              <a:buNone/>
              <a:defRPr sz="2400" b="0">
                <a:solidFill>
                  <a:schemeClr val="tx1"/>
                </a:solidFill>
                <a:latin typeface="+mn-lt"/>
              </a:defRPr>
            </a:lvl8pPr>
            <a:lvl9pPr marL="0" indent="0">
              <a:spcBef>
                <a:spcPts val="200"/>
              </a:spcBef>
              <a:buNone/>
              <a:defRPr sz="2400" b="0">
                <a:solidFill>
                  <a:schemeClr val="tx1"/>
                </a:solidFill>
                <a:latin typeface="+mn-lt"/>
              </a:defRPr>
            </a:lvl9pPr>
          </a:lstStyle>
          <a:p>
            <a:pPr lvl="0"/>
            <a:r>
              <a:rPr lang="en-US" noProof="0"/>
              <a:t>Click to edit text</a:t>
            </a:r>
          </a:p>
          <a:p>
            <a:pPr lvl="1"/>
            <a:r>
              <a:rPr lang="en-US" noProof="0"/>
              <a:t>Second level</a:t>
            </a:r>
          </a:p>
        </p:txBody>
      </p:sp>
      <p:pic>
        <p:nvPicPr>
          <p:cNvPr id="8" name="Gradient background">
            <a:extLst>
              <a:ext uri="{FF2B5EF4-FFF2-40B4-BE49-F238E27FC236}">
                <a16:creationId xmlns:a16="http://schemas.microsoft.com/office/drawing/2014/main" id="{C5FA1B03-9A8B-0B3A-DF97-DDA924BDB59D}"/>
              </a:ext>
            </a:extLst>
          </p:cNvPr>
          <p:cNvPicPr>
            <a:picLocks/>
          </p:cNvPicPr>
          <p:nvPr userDrawn="1"/>
        </p:nvPicPr>
        <p:blipFill>
          <a:blip>
            <a:extLst>
              <a:ext uri="{96DAC541-7B7A-43D3-8B79-37D633B846F1}">
                <asvg:svgBlip xmlns:asvg="http://schemas.microsoft.com/office/drawing/2016/SVG/main" r:embed="rId3"/>
              </a:ext>
            </a:extLst>
          </a:blip>
          <a:srcRect l="83735" t="784" r="487" b="784"/>
          <a:stretch>
            <a:fillRect/>
          </a:stretch>
        </p:blipFill>
        <p:spPr bwMode="hidden">
          <a:xfrm>
            <a:off x="11641138" y="1"/>
            <a:ext cx="555184" cy="6858000"/>
          </a:xfrm>
          <a:prstGeom prst="rect">
            <a:avLst/>
          </a:prstGeom>
        </p:spPr>
      </p:pic>
    </p:spTree>
    <p:extLst>
      <p:ext uri="{BB962C8B-B14F-4D97-AF65-F5344CB8AC3E}">
        <p14:creationId xmlns:p14="http://schemas.microsoft.com/office/powerpoint/2010/main" val="3797865417"/>
      </p:ext>
    </p:extLst>
  </p:cSld>
  <p:clrMapOvr>
    <a:masterClrMapping/>
  </p:clrMapOvr>
  <p:extLst>
    <p:ext uri="{DCECCB84-F9BA-43D5-87BE-67443E8EF086}">
      <p15:sldGuideLst xmlns:p15="http://schemas.microsoft.com/office/powerpoint/2012/main">
        <p15:guide id="10" pos="692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End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384" y="747514"/>
            <a:ext cx="10440000" cy="3687997"/>
          </a:xfrm>
        </p:spPr>
        <p:txBody>
          <a:bodyPr/>
          <a:lstStyle>
            <a:lvl1pPr>
              <a:lnSpc>
                <a:spcPct val="83000"/>
              </a:lnSpc>
              <a:defRPr sz="9600" spc="-60" baseline="0">
                <a:solidFill>
                  <a:schemeClr val="tx1"/>
                </a:solidFill>
              </a:defRPr>
            </a:lvl1pPr>
          </a:lstStyle>
          <a:p>
            <a:r>
              <a:rPr lang="en-US" noProof="0"/>
              <a:t>Click to edit closing statement (max. three lines)</a:t>
            </a:r>
          </a:p>
        </p:txBody>
      </p:sp>
      <p:sp>
        <p:nvSpPr>
          <p:cNvPr id="8" name="Text Placeholder 1">
            <a:extLst>
              <a:ext uri="{FF2B5EF4-FFF2-40B4-BE49-F238E27FC236}">
                <a16:creationId xmlns:a16="http://schemas.microsoft.com/office/drawing/2014/main" id="{D5EBA909-1CBA-C07A-6241-B3E5C730CCA3}"/>
              </a:ext>
            </a:extLst>
          </p:cNvPr>
          <p:cNvSpPr>
            <a:spLocks noGrp="1"/>
          </p:cNvSpPr>
          <p:nvPr>
            <p:ph type="body" sz="quarter" idx="13" hasCustomPrompt="1"/>
          </p:nvPr>
        </p:nvSpPr>
        <p:spPr bwMode="gray">
          <a:xfrm>
            <a:off x="8112224" y="4508884"/>
            <a:ext cx="3528000" cy="764312"/>
          </a:xfrm>
        </p:spPr>
        <p:txBody>
          <a:bodyPr wrap="square">
            <a:spAutoFit/>
          </a:bodyPr>
          <a:lstStyle>
            <a:lvl1pPr marL="0" indent="0">
              <a:spcBef>
                <a:spcPts val="0"/>
              </a:spcBef>
              <a:buFont typeface="Arial" panose="020B0604020202020204" pitchFamily="34" charset="0"/>
              <a:buNone/>
              <a:defRPr sz="2400" b="1">
                <a:solidFill>
                  <a:schemeClr val="tx1"/>
                </a:solidFill>
                <a:latin typeface="+mj-lt"/>
              </a:defRPr>
            </a:lvl1pPr>
            <a:lvl2pPr marL="0" indent="0">
              <a:spcBef>
                <a:spcPts val="200"/>
              </a:spcBef>
              <a:buFont typeface="Arial" panose="020B0604020202020204" pitchFamily="34" charset="0"/>
              <a:buNone/>
              <a:defRPr sz="2400" b="0">
                <a:solidFill>
                  <a:schemeClr val="tx1"/>
                </a:solidFill>
                <a:latin typeface="+mn-lt"/>
              </a:defRPr>
            </a:lvl2pPr>
            <a:lvl3pPr marL="0" indent="0">
              <a:spcBef>
                <a:spcPts val="200"/>
              </a:spcBef>
              <a:buNone/>
              <a:defRPr sz="2400" b="0">
                <a:solidFill>
                  <a:schemeClr val="tx1"/>
                </a:solidFill>
                <a:latin typeface="+mn-lt"/>
              </a:defRPr>
            </a:lvl3pPr>
            <a:lvl4pPr marL="0" indent="0">
              <a:spcBef>
                <a:spcPts val="200"/>
              </a:spcBef>
              <a:buNone/>
              <a:defRPr sz="2400" b="0">
                <a:solidFill>
                  <a:schemeClr val="tx1"/>
                </a:solidFill>
                <a:latin typeface="+mn-lt"/>
              </a:defRPr>
            </a:lvl4pPr>
            <a:lvl5pPr marL="0" indent="0">
              <a:spcBef>
                <a:spcPts val="200"/>
              </a:spcBef>
              <a:buNone/>
              <a:defRPr sz="2400" b="0">
                <a:solidFill>
                  <a:schemeClr val="tx1"/>
                </a:solidFill>
                <a:latin typeface="+mn-lt"/>
              </a:defRPr>
            </a:lvl5pPr>
            <a:lvl6pPr marL="0" indent="0">
              <a:spcBef>
                <a:spcPts val="200"/>
              </a:spcBef>
              <a:buNone/>
              <a:defRPr sz="2400" b="0">
                <a:solidFill>
                  <a:schemeClr val="tx1"/>
                </a:solidFill>
                <a:latin typeface="+mn-lt"/>
              </a:defRPr>
            </a:lvl6pPr>
            <a:lvl7pPr marL="0" indent="0">
              <a:spcBef>
                <a:spcPts val="200"/>
              </a:spcBef>
              <a:buNone/>
              <a:defRPr sz="2400" b="0">
                <a:solidFill>
                  <a:schemeClr val="tx1"/>
                </a:solidFill>
                <a:latin typeface="+mn-lt"/>
              </a:defRPr>
            </a:lvl7pPr>
            <a:lvl8pPr marL="0" indent="0">
              <a:spcBef>
                <a:spcPts val="200"/>
              </a:spcBef>
              <a:buNone/>
              <a:defRPr sz="2400" b="0">
                <a:solidFill>
                  <a:schemeClr val="tx1"/>
                </a:solidFill>
                <a:latin typeface="+mn-lt"/>
              </a:defRPr>
            </a:lvl8pPr>
            <a:lvl9pPr marL="0" indent="0">
              <a:spcBef>
                <a:spcPts val="200"/>
              </a:spcBef>
              <a:buNone/>
              <a:defRPr sz="2400" b="0">
                <a:solidFill>
                  <a:schemeClr val="tx1"/>
                </a:solidFill>
                <a:latin typeface="+mn-lt"/>
              </a:defRPr>
            </a:lvl9pPr>
          </a:lstStyle>
          <a:p>
            <a:pPr lvl="0"/>
            <a:r>
              <a:rPr lang="en-US" noProof="0"/>
              <a:t>Click to edit text</a:t>
            </a:r>
          </a:p>
          <a:p>
            <a:pPr lvl="1"/>
            <a:r>
              <a:rPr lang="en-US" noProof="0"/>
              <a:t>Second level</a:t>
            </a:r>
          </a:p>
        </p:txBody>
      </p:sp>
      <p:pic>
        <p:nvPicPr>
          <p:cNvPr id="3" name="Logo">
            <a:extLst>
              <a:ext uri="{FF2B5EF4-FFF2-40B4-BE49-F238E27FC236}">
                <a16:creationId xmlns:a16="http://schemas.microsoft.com/office/drawing/2014/main" id="{1C21BD91-F5A5-C766-343C-9E9AF3E5747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pic>
        <p:nvPicPr>
          <p:cNvPr id="4" name="Graphic 3">
            <a:extLst>
              <a:ext uri="{FF2B5EF4-FFF2-40B4-BE49-F238E27FC236}">
                <a16:creationId xmlns:a16="http://schemas.microsoft.com/office/drawing/2014/main" id="{B592B1CA-9888-E4D0-38AA-72644C82C180}"/>
              </a:ext>
            </a:extLst>
          </p:cNvPr>
          <p:cNvPicPr>
            <a:picLocks noChangeAspect="1"/>
          </p:cNvPicPr>
          <p:nvPr userDrawn="1"/>
        </p:nvPicPr>
        <p:blipFill>
          <a:blip>
            <a:extLst>
              <a:ext uri="{96DAC541-7B7A-43D3-8B79-37D633B846F1}">
                <asvg:svgBlip xmlns:asvg="http://schemas.microsoft.com/office/drawing/2016/SVG/main" r:embed="rId3"/>
              </a:ext>
            </a:extLst>
          </a:blip>
          <a:srcRect r="90878"/>
          <a:stretch>
            <a:fillRect/>
          </a:stretch>
        </p:blipFill>
        <p:spPr>
          <a:xfrm flipH="1">
            <a:off x="11641138" y="0"/>
            <a:ext cx="558232" cy="6858000"/>
          </a:xfrm>
          <a:prstGeom prst="rect">
            <a:avLst/>
          </a:prstGeom>
        </p:spPr>
      </p:pic>
    </p:spTree>
    <p:extLst>
      <p:ext uri="{BB962C8B-B14F-4D97-AF65-F5344CB8AC3E}">
        <p14:creationId xmlns:p14="http://schemas.microsoft.com/office/powerpoint/2010/main" val="3962818889"/>
      </p:ext>
    </p:extLst>
  </p:cSld>
  <p:clrMapOvr>
    <a:masterClrMapping/>
  </p:clrMapOvr>
  <p:extLst>
    <p:ext uri="{DCECCB84-F9BA-43D5-87BE-67443E8EF086}">
      <p15:sldGuideLst xmlns:p15="http://schemas.microsoft.com/office/powerpoint/2012/main">
        <p15:guide id="10" pos="692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End slide 3">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AEE5160-7157-FD00-72DD-B0C1659617EE}"/>
              </a:ext>
            </a:extLst>
          </p:cNvPr>
          <p:cNvSpPr>
            <a:spLocks noGrp="1"/>
          </p:cNvSpPr>
          <p:nvPr>
            <p:ph type="pic" sz="quarter" idx="14"/>
          </p:nvPr>
        </p:nvSpPr>
        <p:spPr>
          <a:xfrm>
            <a:off x="0" y="0"/>
            <a:ext cx="12192000" cy="6858000"/>
          </a:xfrm>
        </p:spPr>
        <p:txBody>
          <a:bodyPr/>
          <a:lstStyle/>
          <a:p>
            <a:r>
              <a:rPr lang="en-US"/>
              <a:t>Click icon to add picture</a:t>
            </a:r>
          </a:p>
        </p:txBody>
      </p:sp>
      <p:pic>
        <p:nvPicPr>
          <p:cNvPr id="3" name="Logo">
            <a:extLst>
              <a:ext uri="{FF2B5EF4-FFF2-40B4-BE49-F238E27FC236}">
                <a16:creationId xmlns:a16="http://schemas.microsoft.com/office/drawing/2014/main" id="{1C21BD91-F5A5-C766-343C-9E9AF3E5747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sp>
        <p:nvSpPr>
          <p:cNvPr id="6" name="Title 1">
            <a:extLst>
              <a:ext uri="{FF2B5EF4-FFF2-40B4-BE49-F238E27FC236}">
                <a16:creationId xmlns:a16="http://schemas.microsoft.com/office/drawing/2014/main" id="{77ABF2EA-E0E1-5E97-F9DF-0A25325C64AD}"/>
              </a:ext>
            </a:extLst>
          </p:cNvPr>
          <p:cNvSpPr>
            <a:spLocks noGrp="1"/>
          </p:cNvSpPr>
          <p:nvPr>
            <p:ph type="title" hasCustomPrompt="1"/>
          </p:nvPr>
        </p:nvSpPr>
        <p:spPr bwMode="gray">
          <a:xfrm>
            <a:off x="551384" y="747514"/>
            <a:ext cx="10440000" cy="3687997"/>
          </a:xfrm>
        </p:spPr>
        <p:txBody>
          <a:bodyPr/>
          <a:lstStyle>
            <a:lvl1pPr>
              <a:lnSpc>
                <a:spcPct val="83000"/>
              </a:lnSpc>
              <a:defRPr sz="9600" spc="-60" baseline="0">
                <a:solidFill>
                  <a:schemeClr val="tx1"/>
                </a:solidFill>
              </a:defRPr>
            </a:lvl1pPr>
          </a:lstStyle>
          <a:p>
            <a:r>
              <a:rPr lang="en-US" noProof="0"/>
              <a:t>Click to edit closing statement (max. three lines)</a:t>
            </a:r>
          </a:p>
        </p:txBody>
      </p:sp>
      <p:sp>
        <p:nvSpPr>
          <p:cNvPr id="7" name="Text Placeholder 1">
            <a:extLst>
              <a:ext uri="{FF2B5EF4-FFF2-40B4-BE49-F238E27FC236}">
                <a16:creationId xmlns:a16="http://schemas.microsoft.com/office/drawing/2014/main" id="{A238B284-6E1F-DB98-291C-B688B697E41D}"/>
              </a:ext>
            </a:extLst>
          </p:cNvPr>
          <p:cNvSpPr>
            <a:spLocks noGrp="1"/>
          </p:cNvSpPr>
          <p:nvPr>
            <p:ph type="body" sz="quarter" idx="13" hasCustomPrompt="1"/>
          </p:nvPr>
        </p:nvSpPr>
        <p:spPr bwMode="gray">
          <a:xfrm>
            <a:off x="8112224" y="4508884"/>
            <a:ext cx="3528000" cy="764312"/>
          </a:xfrm>
        </p:spPr>
        <p:txBody>
          <a:bodyPr wrap="square">
            <a:spAutoFit/>
          </a:bodyPr>
          <a:lstStyle>
            <a:lvl1pPr marL="0" indent="0">
              <a:spcBef>
                <a:spcPts val="0"/>
              </a:spcBef>
              <a:buFont typeface="Arial" panose="020B0604020202020204" pitchFamily="34" charset="0"/>
              <a:buNone/>
              <a:defRPr sz="2400" b="1">
                <a:solidFill>
                  <a:schemeClr val="tx1"/>
                </a:solidFill>
                <a:latin typeface="+mj-lt"/>
              </a:defRPr>
            </a:lvl1pPr>
            <a:lvl2pPr marL="0" indent="0">
              <a:spcBef>
                <a:spcPts val="200"/>
              </a:spcBef>
              <a:buFont typeface="Arial" panose="020B0604020202020204" pitchFamily="34" charset="0"/>
              <a:buNone/>
              <a:defRPr sz="2400" b="0">
                <a:solidFill>
                  <a:schemeClr val="tx1"/>
                </a:solidFill>
                <a:latin typeface="+mn-lt"/>
              </a:defRPr>
            </a:lvl2pPr>
            <a:lvl3pPr marL="0" indent="0">
              <a:spcBef>
                <a:spcPts val="200"/>
              </a:spcBef>
              <a:buNone/>
              <a:defRPr sz="2400" b="0">
                <a:solidFill>
                  <a:schemeClr val="tx1"/>
                </a:solidFill>
                <a:latin typeface="+mn-lt"/>
              </a:defRPr>
            </a:lvl3pPr>
            <a:lvl4pPr marL="0" indent="0">
              <a:spcBef>
                <a:spcPts val="200"/>
              </a:spcBef>
              <a:buNone/>
              <a:defRPr sz="2400" b="0">
                <a:solidFill>
                  <a:schemeClr val="tx1"/>
                </a:solidFill>
                <a:latin typeface="+mn-lt"/>
              </a:defRPr>
            </a:lvl4pPr>
            <a:lvl5pPr marL="0" indent="0">
              <a:spcBef>
                <a:spcPts val="200"/>
              </a:spcBef>
              <a:buNone/>
              <a:defRPr sz="2400" b="0">
                <a:solidFill>
                  <a:schemeClr val="tx1"/>
                </a:solidFill>
                <a:latin typeface="+mn-lt"/>
              </a:defRPr>
            </a:lvl5pPr>
            <a:lvl6pPr marL="0" indent="0">
              <a:spcBef>
                <a:spcPts val="200"/>
              </a:spcBef>
              <a:buNone/>
              <a:defRPr sz="2400" b="0">
                <a:solidFill>
                  <a:schemeClr val="tx1"/>
                </a:solidFill>
                <a:latin typeface="+mn-lt"/>
              </a:defRPr>
            </a:lvl6pPr>
            <a:lvl7pPr marL="0" indent="0">
              <a:spcBef>
                <a:spcPts val="200"/>
              </a:spcBef>
              <a:buNone/>
              <a:defRPr sz="2400" b="0">
                <a:solidFill>
                  <a:schemeClr val="tx1"/>
                </a:solidFill>
                <a:latin typeface="+mn-lt"/>
              </a:defRPr>
            </a:lvl7pPr>
            <a:lvl8pPr marL="0" indent="0">
              <a:spcBef>
                <a:spcPts val="200"/>
              </a:spcBef>
              <a:buNone/>
              <a:defRPr sz="2400" b="0">
                <a:solidFill>
                  <a:schemeClr val="tx1"/>
                </a:solidFill>
                <a:latin typeface="+mn-lt"/>
              </a:defRPr>
            </a:lvl8pPr>
            <a:lvl9pPr marL="0" indent="0">
              <a:spcBef>
                <a:spcPts val="200"/>
              </a:spcBef>
              <a:buNone/>
              <a:defRPr sz="2400" b="0">
                <a:solidFill>
                  <a:schemeClr val="tx1"/>
                </a:solidFill>
                <a:latin typeface="+mn-lt"/>
              </a:defRPr>
            </a:lvl9pPr>
          </a:lstStyle>
          <a:p>
            <a:pPr lvl="0"/>
            <a:r>
              <a:rPr lang="en-US" noProof="0"/>
              <a:t>Click to edit text</a:t>
            </a:r>
          </a:p>
          <a:p>
            <a:pPr lvl="1"/>
            <a:r>
              <a:rPr lang="en-US" noProof="0"/>
              <a:t>Second level</a:t>
            </a:r>
          </a:p>
        </p:txBody>
      </p:sp>
      <p:pic>
        <p:nvPicPr>
          <p:cNvPr id="2" name="Gradient background">
            <a:extLst>
              <a:ext uri="{FF2B5EF4-FFF2-40B4-BE49-F238E27FC236}">
                <a16:creationId xmlns:a16="http://schemas.microsoft.com/office/drawing/2014/main" id="{71B56941-9CB9-1B31-EE5C-90530DC6804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hidden">
          <a:xfrm>
            <a:off x="11641138" y="0"/>
            <a:ext cx="555184" cy="6858000"/>
          </a:xfrm>
          <a:prstGeom prst="rect">
            <a:avLst/>
          </a:prstGeom>
        </p:spPr>
      </p:pic>
    </p:spTree>
    <p:extLst>
      <p:ext uri="{BB962C8B-B14F-4D97-AF65-F5344CB8AC3E}">
        <p14:creationId xmlns:p14="http://schemas.microsoft.com/office/powerpoint/2010/main" val="457165332"/>
      </p:ext>
    </p:extLst>
  </p:cSld>
  <p:clrMapOvr>
    <a:masterClrMapping/>
  </p:clrMapOvr>
  <p:extLst>
    <p:ext uri="{DCECCB84-F9BA-43D5-87BE-67443E8EF086}">
      <p15:sldGuideLst xmlns:p15="http://schemas.microsoft.com/office/powerpoint/2012/main">
        <p15:guide id="10" pos="692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953C5D2-2DA0-43FA-4736-78C3F7AAAC1F}"/>
              </a:ext>
            </a:extLst>
          </p:cNvPr>
          <p:cNvSpPr/>
          <p:nvPr userDrawn="1"/>
        </p:nvSpPr>
        <p:spPr>
          <a:xfrm>
            <a:off x="1076" y="0"/>
            <a:ext cx="1219092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err="1"/>
          </a:p>
        </p:txBody>
      </p:sp>
      <p:sp>
        <p:nvSpPr>
          <p:cNvPr id="2" name="Title 1">
            <a:extLst>
              <a:ext uri="{FF2B5EF4-FFF2-40B4-BE49-F238E27FC236}">
                <a16:creationId xmlns:a16="http://schemas.microsoft.com/office/drawing/2014/main" id="{B8F5D50F-1D29-0A8C-7D2F-39C35FCEA79B}"/>
              </a:ext>
            </a:extLst>
          </p:cNvPr>
          <p:cNvSpPr>
            <a:spLocks noGrp="1"/>
          </p:cNvSpPr>
          <p:nvPr>
            <p:ph type="title" hasCustomPrompt="1"/>
          </p:nvPr>
        </p:nvSpPr>
        <p:spPr bwMode="gray">
          <a:xfrm>
            <a:off x="551915" y="745103"/>
            <a:ext cx="10440000" cy="1226170"/>
          </a:xfrm>
        </p:spPr>
        <p:txBody>
          <a:bodyPr/>
          <a:lstStyle>
            <a:lvl1pPr>
              <a:lnSpc>
                <a:spcPct val="83000"/>
              </a:lnSpc>
              <a:defRPr sz="9600" spc="-60" baseline="0">
                <a:solidFill>
                  <a:schemeClr val="tx1"/>
                </a:solidFill>
              </a:defRPr>
            </a:lvl1pPr>
          </a:lstStyle>
          <a:p>
            <a:r>
              <a:rPr lang="en-US" noProof="0"/>
              <a:t>Q&amp;A</a:t>
            </a:r>
          </a:p>
        </p:txBody>
      </p:sp>
      <p:sp>
        <p:nvSpPr>
          <p:cNvPr id="8" name="Text Placeholder 1">
            <a:extLst>
              <a:ext uri="{FF2B5EF4-FFF2-40B4-BE49-F238E27FC236}">
                <a16:creationId xmlns:a16="http://schemas.microsoft.com/office/drawing/2014/main" id="{D5EBA909-1CBA-C07A-6241-B3E5C730CCA3}"/>
              </a:ext>
            </a:extLst>
          </p:cNvPr>
          <p:cNvSpPr>
            <a:spLocks noGrp="1"/>
          </p:cNvSpPr>
          <p:nvPr>
            <p:ph type="body" sz="quarter" idx="13" hasCustomPrompt="1"/>
          </p:nvPr>
        </p:nvSpPr>
        <p:spPr bwMode="gray">
          <a:xfrm>
            <a:off x="551394" y="2872882"/>
            <a:ext cx="3528000" cy="764312"/>
          </a:xfrm>
        </p:spPr>
        <p:txBody>
          <a:bodyPr wrap="square">
            <a:spAutoFit/>
          </a:bodyPr>
          <a:lstStyle>
            <a:lvl1pPr marL="0" indent="0">
              <a:spcBef>
                <a:spcPts val="0"/>
              </a:spcBef>
              <a:buFont typeface="Arial" panose="020B0604020202020204" pitchFamily="34" charset="0"/>
              <a:buNone/>
              <a:defRPr sz="2400" b="1">
                <a:solidFill>
                  <a:schemeClr val="tx1"/>
                </a:solidFill>
                <a:latin typeface="+mj-lt"/>
              </a:defRPr>
            </a:lvl1pPr>
            <a:lvl2pPr marL="0" indent="0">
              <a:spcBef>
                <a:spcPts val="200"/>
              </a:spcBef>
              <a:buFont typeface="Arial" panose="020B0604020202020204" pitchFamily="34" charset="0"/>
              <a:buNone/>
              <a:defRPr sz="2400" b="0">
                <a:solidFill>
                  <a:schemeClr val="tx1"/>
                </a:solidFill>
                <a:latin typeface="+mn-lt"/>
              </a:defRPr>
            </a:lvl2pPr>
            <a:lvl3pPr marL="0" indent="0">
              <a:spcBef>
                <a:spcPts val="200"/>
              </a:spcBef>
              <a:buNone/>
              <a:defRPr sz="2400" b="0">
                <a:solidFill>
                  <a:schemeClr val="tx1"/>
                </a:solidFill>
                <a:latin typeface="+mn-lt"/>
              </a:defRPr>
            </a:lvl3pPr>
            <a:lvl4pPr marL="0" indent="0">
              <a:spcBef>
                <a:spcPts val="200"/>
              </a:spcBef>
              <a:buNone/>
              <a:defRPr sz="2400" b="0">
                <a:solidFill>
                  <a:schemeClr val="tx1"/>
                </a:solidFill>
                <a:latin typeface="+mn-lt"/>
              </a:defRPr>
            </a:lvl4pPr>
            <a:lvl5pPr marL="0" indent="0">
              <a:spcBef>
                <a:spcPts val="200"/>
              </a:spcBef>
              <a:buNone/>
              <a:defRPr sz="2400" b="0">
                <a:solidFill>
                  <a:schemeClr val="tx1"/>
                </a:solidFill>
                <a:latin typeface="+mn-lt"/>
              </a:defRPr>
            </a:lvl5pPr>
            <a:lvl6pPr marL="0" indent="0">
              <a:spcBef>
                <a:spcPts val="200"/>
              </a:spcBef>
              <a:buNone/>
              <a:defRPr sz="2400" b="0">
                <a:solidFill>
                  <a:schemeClr val="tx1"/>
                </a:solidFill>
                <a:latin typeface="+mn-lt"/>
              </a:defRPr>
            </a:lvl6pPr>
            <a:lvl7pPr marL="0" indent="0">
              <a:spcBef>
                <a:spcPts val="200"/>
              </a:spcBef>
              <a:buNone/>
              <a:defRPr sz="2400" b="0">
                <a:solidFill>
                  <a:schemeClr val="tx1"/>
                </a:solidFill>
                <a:latin typeface="+mn-lt"/>
              </a:defRPr>
            </a:lvl7pPr>
            <a:lvl8pPr marL="0" indent="0">
              <a:spcBef>
                <a:spcPts val="200"/>
              </a:spcBef>
              <a:buNone/>
              <a:defRPr sz="2400" b="0">
                <a:solidFill>
                  <a:schemeClr val="tx1"/>
                </a:solidFill>
                <a:latin typeface="+mn-lt"/>
              </a:defRPr>
            </a:lvl8pPr>
            <a:lvl9pPr marL="0" indent="0">
              <a:spcBef>
                <a:spcPts val="200"/>
              </a:spcBef>
              <a:buNone/>
              <a:defRPr sz="2400" b="0">
                <a:solidFill>
                  <a:schemeClr val="tx1"/>
                </a:solidFill>
                <a:latin typeface="+mn-lt"/>
              </a:defRPr>
            </a:lvl9pPr>
          </a:lstStyle>
          <a:p>
            <a:pPr lvl="0"/>
            <a:r>
              <a:rPr lang="en-US" noProof="0"/>
              <a:t>Click to edit text</a:t>
            </a:r>
          </a:p>
          <a:p>
            <a:pPr lvl="1"/>
            <a:r>
              <a:rPr lang="en-US" noProof="0"/>
              <a:t>Second level</a:t>
            </a:r>
          </a:p>
        </p:txBody>
      </p:sp>
      <p:pic>
        <p:nvPicPr>
          <p:cNvPr id="3" name="Logo">
            <a:extLst>
              <a:ext uri="{FF2B5EF4-FFF2-40B4-BE49-F238E27FC236}">
                <a16:creationId xmlns:a16="http://schemas.microsoft.com/office/drawing/2014/main" id="{1C21BD91-F5A5-C766-343C-9E9AF3E5747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bwMode="gray">
          <a:xfrm>
            <a:off x="551394" y="6301888"/>
            <a:ext cx="1691980" cy="252837"/>
          </a:xfrm>
          <a:prstGeom prst="rect">
            <a:avLst/>
          </a:prstGeom>
        </p:spPr>
      </p:pic>
      <p:pic>
        <p:nvPicPr>
          <p:cNvPr id="4" name="Gradient background">
            <a:extLst>
              <a:ext uri="{FF2B5EF4-FFF2-40B4-BE49-F238E27FC236}">
                <a16:creationId xmlns:a16="http://schemas.microsoft.com/office/drawing/2014/main" id="{B71C6042-1A08-DE22-F443-2471CE7EBCC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hidden">
          <a:xfrm>
            <a:off x="0" y="1"/>
            <a:ext cx="12192000" cy="303274"/>
          </a:xfrm>
          <a:prstGeom prst="rect">
            <a:avLst/>
          </a:prstGeom>
        </p:spPr>
      </p:pic>
    </p:spTree>
    <p:extLst>
      <p:ext uri="{BB962C8B-B14F-4D97-AF65-F5344CB8AC3E}">
        <p14:creationId xmlns:p14="http://schemas.microsoft.com/office/powerpoint/2010/main" val="1373318352"/>
      </p:ext>
    </p:extLst>
  </p:cSld>
  <p:clrMapOvr>
    <a:masterClrMapping/>
  </p:clrMapOvr>
  <p:extLst>
    <p:ext uri="{DCECCB84-F9BA-43D5-87BE-67443E8EF086}">
      <p15:sldGuideLst xmlns:p15="http://schemas.microsoft.com/office/powerpoint/2012/main">
        <p15:guide id="10" pos="6924">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4" name="Background (Soft White)">
            <a:extLst>
              <a:ext uri="{FF2B5EF4-FFF2-40B4-BE49-F238E27FC236}">
                <a16:creationId xmlns:a16="http://schemas.microsoft.com/office/drawing/2014/main" id="{AA716554-F91F-95C6-1065-438A52A6D658}"/>
              </a:ext>
            </a:extLst>
          </p:cNvPr>
          <p:cNvSpPr/>
          <p:nvPr userDrawn="1"/>
        </p:nvSpPr>
        <p:spPr bwMode="hidden">
          <a:xfrm>
            <a:off x="-600" y="0"/>
            <a:ext cx="121932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Placeholder 1">
            <a:extLst>
              <a:ext uri="{FF2B5EF4-FFF2-40B4-BE49-F238E27FC236}">
                <a16:creationId xmlns:a16="http://schemas.microsoft.com/office/drawing/2014/main" id="{E1BCD9D9-86A4-E818-1FE4-D228D5CDB0BC}"/>
              </a:ext>
            </a:extLst>
          </p:cNvPr>
          <p:cNvSpPr>
            <a:spLocks noGrp="1"/>
          </p:cNvSpPr>
          <p:nvPr>
            <p:ph type="title"/>
          </p:nvPr>
        </p:nvSpPr>
        <p:spPr bwMode="gray">
          <a:xfrm>
            <a:off x="551384" y="476672"/>
            <a:ext cx="11088000" cy="415498"/>
          </a:xfrm>
          <a:prstGeom prst="rect">
            <a:avLst/>
          </a:prstGeom>
        </p:spPr>
        <p:txBody>
          <a:bodyPr vert="horz" lIns="0" tIns="0" rIns="0" bIns="0" rtlCol="0" anchor="t">
            <a:spAutoFit/>
          </a:bodyPr>
          <a:lstStyle/>
          <a:p>
            <a:r>
              <a:rPr lang="en-US" noProof="0"/>
              <a:t>Click to edit slide title (maximum two lines)</a:t>
            </a:r>
          </a:p>
        </p:txBody>
      </p:sp>
      <p:sp>
        <p:nvSpPr>
          <p:cNvPr id="3" name="Text Placeholder 1">
            <a:extLst>
              <a:ext uri="{FF2B5EF4-FFF2-40B4-BE49-F238E27FC236}">
                <a16:creationId xmlns:a16="http://schemas.microsoft.com/office/drawing/2014/main" id="{35B76263-23BE-7BB5-2901-CB7111507685}"/>
              </a:ext>
            </a:extLst>
          </p:cNvPr>
          <p:cNvSpPr>
            <a:spLocks noGrp="1"/>
          </p:cNvSpPr>
          <p:nvPr>
            <p:ph type="body" idx="1"/>
          </p:nvPr>
        </p:nvSpPr>
        <p:spPr bwMode="gray">
          <a:xfrm>
            <a:off x="551384" y="1844824"/>
            <a:ext cx="11088000" cy="4212000"/>
          </a:xfrm>
          <a:prstGeom prst="rect">
            <a:avLst/>
          </a:prstGeom>
        </p:spPr>
        <p:txBody>
          <a:bodyPr vert="horz" lIns="0" tIns="0" rIns="0" bIns="0" rtlCol="0">
            <a:noAutofit/>
          </a:body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6</a:t>
            </a:r>
          </a:p>
          <a:p>
            <a:pPr lvl="6"/>
            <a:r>
              <a:rPr lang="en-US" noProof="0"/>
              <a:t>7</a:t>
            </a:r>
          </a:p>
          <a:p>
            <a:pPr lvl="7"/>
            <a:r>
              <a:rPr lang="en-US" noProof="0"/>
              <a:t>8</a:t>
            </a:r>
          </a:p>
          <a:p>
            <a:pPr lvl="8"/>
            <a:r>
              <a:rPr lang="en-US" noProof="0"/>
              <a:t>9</a:t>
            </a:r>
          </a:p>
        </p:txBody>
      </p:sp>
      <p:sp>
        <p:nvSpPr>
          <p:cNvPr id="5" name="Footer Placeholder">
            <a:extLst>
              <a:ext uri="{FF2B5EF4-FFF2-40B4-BE49-F238E27FC236}">
                <a16:creationId xmlns:a16="http://schemas.microsoft.com/office/drawing/2014/main" id="{8D872605-B8A3-4560-D1E5-773A17639EA6}"/>
              </a:ext>
            </a:extLst>
          </p:cNvPr>
          <p:cNvSpPr>
            <a:spLocks noGrp="1"/>
          </p:cNvSpPr>
          <p:nvPr>
            <p:ph type="ftr" sz="quarter" idx="3"/>
          </p:nvPr>
        </p:nvSpPr>
        <p:spPr bwMode="gray">
          <a:xfrm>
            <a:off x="6168008" y="6433635"/>
            <a:ext cx="4824000" cy="138499"/>
          </a:xfrm>
          <a:prstGeom prst="rect">
            <a:avLst/>
          </a:prstGeom>
        </p:spPr>
        <p:txBody>
          <a:bodyPr vert="horz" wrap="square" lIns="0" tIns="0" rIns="0" bIns="0" rtlCol="0" anchor="ctr">
            <a:spAutoFit/>
          </a:bodyPr>
          <a:lstStyle>
            <a:lvl1pPr algn="l">
              <a:defRPr sz="900">
                <a:solidFill>
                  <a:schemeClr val="tx1"/>
                </a:solidFill>
              </a:defRPr>
            </a:lvl1pPr>
          </a:lstStyle>
          <a:p>
            <a:pPr algn="l"/>
            <a:endParaRPr lang="en-US" noProof="0"/>
          </a:p>
        </p:txBody>
      </p:sp>
      <p:sp>
        <p:nvSpPr>
          <p:cNvPr id="6" name="Slide Number Placeholder">
            <a:extLst>
              <a:ext uri="{FF2B5EF4-FFF2-40B4-BE49-F238E27FC236}">
                <a16:creationId xmlns:a16="http://schemas.microsoft.com/office/drawing/2014/main" id="{8CE6BD9B-B3F1-1D85-5718-E7D48314B450}"/>
              </a:ext>
            </a:extLst>
          </p:cNvPr>
          <p:cNvSpPr>
            <a:spLocks noGrp="1"/>
          </p:cNvSpPr>
          <p:nvPr>
            <p:ph type="sldNum" sz="quarter" idx="4"/>
          </p:nvPr>
        </p:nvSpPr>
        <p:spPr bwMode="gray">
          <a:xfrm>
            <a:off x="11352584" y="6433635"/>
            <a:ext cx="288032" cy="138499"/>
          </a:xfrm>
          <a:prstGeom prst="rect">
            <a:avLst/>
          </a:prstGeom>
        </p:spPr>
        <p:txBody>
          <a:bodyPr vert="horz" wrap="square" lIns="0" tIns="0" rIns="0" bIns="0" rtlCol="0" anchor="ctr">
            <a:spAutoFit/>
          </a:bodyPr>
          <a:lstStyle>
            <a:lvl1pPr algn="r">
              <a:defRPr sz="900">
                <a:solidFill>
                  <a:schemeClr val="tx1"/>
                </a:solidFill>
              </a:defRPr>
            </a:lvl1pPr>
          </a:lstStyle>
          <a:p>
            <a:fld id="{1EDD9F3E-8BFD-4E3C-98D1-767322780FDD}" type="slidenum">
              <a:rPr lang="en-US" noProof="0" smtClean="0"/>
              <a:pPr/>
              <a:t>‹#›</a:t>
            </a:fld>
            <a:endParaRPr lang="en-US" noProof="0"/>
          </a:p>
        </p:txBody>
      </p:sp>
    </p:spTree>
    <p:extLst>
      <p:ext uri="{BB962C8B-B14F-4D97-AF65-F5344CB8AC3E}">
        <p14:creationId xmlns:p14="http://schemas.microsoft.com/office/powerpoint/2010/main" val="3355641177"/>
      </p:ext>
    </p:extLst>
  </p:cSld>
  <p:clrMap bg1="lt1" tx1="dk1" bg2="lt2" tx2="dk2" accent1="accent1" accent2="accent2" accent3="accent3" accent4="accent4" accent5="accent5" accent6="accent6" hlink="hlink" folHlink="folHlink"/>
  <p:sldLayoutIdLst>
    <p:sldLayoutId id="2147483700" r:id="rId1"/>
    <p:sldLayoutId id="2147483649" r:id="rId2"/>
    <p:sldLayoutId id="2147483684" r:id="rId3"/>
    <p:sldLayoutId id="2147483685" r:id="rId4"/>
    <p:sldLayoutId id="2147483671" r:id="rId5"/>
    <p:sldLayoutId id="2147483688" r:id="rId6"/>
    <p:sldLayoutId id="2147483689" r:id="rId7"/>
    <p:sldLayoutId id="2147483672" r:id="rId8"/>
    <p:sldLayoutId id="2147483673" r:id="rId9"/>
    <p:sldLayoutId id="2147483697" r:id="rId10"/>
    <p:sldLayoutId id="2147483651" r:id="rId11"/>
    <p:sldLayoutId id="2147483691" r:id="rId12"/>
    <p:sldLayoutId id="2147483679" r:id="rId13"/>
    <p:sldLayoutId id="2147483654" r:id="rId14"/>
    <p:sldLayoutId id="2147483655" r:id="rId15"/>
    <p:sldLayoutId id="2147483706" r:id="rId16"/>
    <p:sldLayoutId id="2147483657" r:id="rId17"/>
    <p:sldLayoutId id="2147483658" r:id="rId18"/>
    <p:sldLayoutId id="2147483704" r:id="rId19"/>
    <p:sldLayoutId id="2147483659" r:id="rId20"/>
    <p:sldLayoutId id="2147483705" r:id="rId21"/>
    <p:sldLayoutId id="2147483660" r:id="rId22"/>
    <p:sldLayoutId id="2147483661" r:id="rId23"/>
    <p:sldLayoutId id="2147483683" r:id="rId24"/>
    <p:sldLayoutId id="2147483663" r:id="rId25"/>
    <p:sldLayoutId id="2147483662" r:id="rId26"/>
    <p:sldLayoutId id="2147483665" r:id="rId27"/>
    <p:sldLayoutId id="2147483666" r:id="rId28"/>
    <p:sldLayoutId id="2147483693" r:id="rId29"/>
    <p:sldLayoutId id="2147483694" r:id="rId30"/>
    <p:sldLayoutId id="2147483669" r:id="rId31"/>
    <p:sldLayoutId id="2147483682" r:id="rId32"/>
    <p:sldLayoutId id="2147483680" r:id="rId33"/>
    <p:sldLayoutId id="2147483695" r:id="rId34"/>
    <p:sldLayoutId id="2147483696" r:id="rId35"/>
    <p:sldLayoutId id="2147483703" r:id="rId36"/>
  </p:sldLayoutIdLst>
  <p:hf hdr="0" dt="0"/>
  <p:txStyles>
    <p:title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2400"/>
        </a:spcBef>
        <a:buFont typeface="Arial" panose="020B0604020202020204" pitchFamily="34" charset="0"/>
        <a:buNone/>
        <a:defRPr sz="1800" b="1" kern="1200">
          <a:solidFill>
            <a:schemeClr val="tx1"/>
          </a:solidFill>
          <a:latin typeface="+mj-lt"/>
          <a:ea typeface="+mn-ea"/>
          <a:cs typeface="+mn-cs"/>
        </a:defRPr>
      </a:lvl1pPr>
      <a:lvl2pPr marL="0" indent="0" algn="l" defTabSz="914400" rtl="0" eaLnBrk="1" latinLnBrk="0" hangingPunct="1">
        <a:lnSpc>
          <a:spcPct val="100000"/>
        </a:lnSpc>
        <a:spcBef>
          <a:spcPts val="800"/>
        </a:spcBef>
        <a:buFont typeface="Arial" panose="020B0604020202020204" pitchFamily="34" charset="0"/>
        <a:buNone/>
        <a:defRPr sz="1800" kern="1200">
          <a:solidFill>
            <a:schemeClr val="tx1"/>
          </a:solidFill>
          <a:latin typeface="+mn-lt"/>
          <a:ea typeface="+mn-ea"/>
          <a:cs typeface="+mn-cs"/>
        </a:defRPr>
      </a:lvl2pPr>
      <a:lvl3pPr marL="180000" indent="-1800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360000" indent="-1800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540000" indent="-1800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540000" indent="-1800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6pPr>
      <a:lvl7pPr marL="540000" indent="-1800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7pPr>
      <a:lvl8pPr marL="540000" indent="-1800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8pPr>
      <a:lvl9pPr marL="540000" indent="-1800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62" userDrawn="1">
          <p15:clr>
            <a:srgbClr val="F26B43"/>
          </p15:clr>
        </p15:guide>
        <p15:guide id="2" pos="347" userDrawn="1">
          <p15:clr>
            <a:srgbClr val="F26B43"/>
          </p15:clr>
        </p15:guide>
        <p15:guide id="3" pos="7333" userDrawn="1">
          <p15:clr>
            <a:srgbClr val="F26B43"/>
          </p15:clr>
        </p15:guide>
        <p15:guide id="4" orient="horz" pos="381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svg"/><Relationship Id="rId14" Type="http://schemas.openxmlformats.org/officeDocument/2006/relationships/image" Target="../media/image24.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5.xml"/><Relationship Id="rId5" Type="http://schemas.openxmlformats.org/officeDocument/2006/relationships/image" Target="../media/image27.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image" Target="../media/image35.svg"/></Relationships>
</file>

<file path=ppt/slides/_rels/slide11.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svg"/><Relationship Id="rId7" Type="http://schemas.openxmlformats.org/officeDocument/2006/relationships/image" Target="../media/image40.svg"/><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svg"/></Relationships>
</file>

<file path=ppt/slides/_rels/slide1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42.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6.png"/><Relationship Id="rId12" Type="http://schemas.openxmlformats.org/officeDocument/2006/relationships/image" Target="../media/image45.png"/><Relationship Id="rId2" Type="http://schemas.openxmlformats.org/officeDocument/2006/relationships/notesSlide" Target="../notesSlides/notesSlide14.xml"/><Relationship Id="rId16" Type="http://schemas.openxmlformats.org/officeDocument/2006/relationships/image" Target="../media/image44.svg"/><Relationship Id="rId1" Type="http://schemas.openxmlformats.org/officeDocument/2006/relationships/slideLayout" Target="../slideLayouts/slideLayout15.xml"/><Relationship Id="rId11" Type="http://schemas.openxmlformats.org/officeDocument/2006/relationships/image" Target="../media/image44.png"/><Relationship Id="rId15" Type="http://schemas.openxmlformats.org/officeDocument/2006/relationships/image" Target="../media/image48.png"/><Relationship Id="rId10" Type="http://schemas.openxmlformats.org/officeDocument/2006/relationships/image" Target="../media/image43.png"/><Relationship Id="rId9" Type="http://schemas.openxmlformats.org/officeDocument/2006/relationships/image" Target="../media/image340.png"/><Relationship Id="rId14" Type="http://schemas.openxmlformats.org/officeDocument/2006/relationships/image" Target="../media/image47.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430.png"/><Relationship Id="rId5" Type="http://schemas.openxmlformats.org/officeDocument/2006/relationships/image" Target="../media/image420.png"/><Relationship Id="rId4" Type="http://schemas.openxmlformats.org/officeDocument/2006/relationships/image" Target="../media/image410.png"/></Relationships>
</file>

<file path=ppt/slides/_rels/slide1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19.svg"/><Relationship Id="rId11" Type="http://schemas.openxmlformats.org/officeDocument/2006/relationships/image" Target="../media/image450.png"/><Relationship Id="rId5" Type="http://schemas.openxmlformats.org/officeDocument/2006/relationships/image" Target="../media/image18.svg"/><Relationship Id="rId10" Type="http://schemas.openxmlformats.org/officeDocument/2006/relationships/image" Target="../media/image440.png"/><Relationship Id="rId4" Type="http://schemas.openxmlformats.org/officeDocument/2006/relationships/image" Target="../media/image17.png"/><Relationship Id="rId9" Type="http://schemas.openxmlformats.org/officeDocument/2006/relationships/image" Target="../media/image22.svg"/></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image" Target="../media/image51.png"/></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20.xml"/><Relationship Id="rId1" Type="http://schemas.openxmlformats.org/officeDocument/2006/relationships/slideLayout" Target="../slideLayouts/slideLayout15.xml"/><Relationship Id="rId4" Type="http://schemas.openxmlformats.org/officeDocument/2006/relationships/image" Target="../media/image54.png"/></Relationships>
</file>

<file path=ppt/slides/_rels/slide2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1.xml"/><Relationship Id="rId1" Type="http://schemas.openxmlformats.org/officeDocument/2006/relationships/slideLayout" Target="../slideLayouts/slideLayout15.xml"/><Relationship Id="rId4" Type="http://schemas.openxmlformats.org/officeDocument/2006/relationships/image" Target="../media/image56.svg"/></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530.png"/></Relationships>
</file>

<file path=ppt/slides/_rels/slide23.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notesSlide" Target="../notesSlides/notesSlide23.xml"/><Relationship Id="rId1" Type="http://schemas.openxmlformats.org/officeDocument/2006/relationships/slideLayout" Target="../slideLayouts/slideLayout15.xml"/><Relationship Id="rId5" Type="http://schemas.openxmlformats.org/officeDocument/2006/relationships/image" Target="../media/image59.png"/><Relationship Id="rId4" Type="http://schemas.openxmlformats.org/officeDocument/2006/relationships/image" Target="../media/image58.png"/></Relationships>
</file>

<file path=ppt/slides/_rels/slide24.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24.xml"/><Relationship Id="rId1" Type="http://schemas.openxmlformats.org/officeDocument/2006/relationships/slideLayout" Target="../slideLayouts/slideLayout15.xml"/><Relationship Id="rId5" Type="http://schemas.openxmlformats.org/officeDocument/2006/relationships/image" Target="../media/image60.png"/><Relationship Id="rId4" Type="http://schemas.openxmlformats.org/officeDocument/2006/relationships/image" Target="../media/image310.png"/></Relationships>
</file>

<file path=ppt/slides/_rels/slide2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5.xml"/><Relationship Id="rId5" Type="http://schemas.openxmlformats.org/officeDocument/2006/relationships/image" Target="../media/image17.png"/><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63.png"/><Relationship Id="rId7" Type="http://schemas.openxmlformats.org/officeDocument/2006/relationships/image" Target="../media/image170.png"/><Relationship Id="rId2" Type="http://schemas.openxmlformats.org/officeDocument/2006/relationships/notesSlide" Target="../notesSlides/notesSlide31.xml"/><Relationship Id="rId1" Type="http://schemas.openxmlformats.org/officeDocument/2006/relationships/slideLayout" Target="../slideLayouts/slideLayout15.xml"/><Relationship Id="rId6" Type="http://schemas.openxmlformats.org/officeDocument/2006/relationships/image" Target="../media/image63.png"/><Relationship Id="rId5" Type="http://schemas.openxmlformats.org/officeDocument/2006/relationships/image" Target="../media/image150.png"/><Relationship Id="rId4" Type="http://schemas.openxmlformats.org/officeDocument/2006/relationships/image" Target="../media/image14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34.xml"/><Relationship Id="rId1" Type="http://schemas.openxmlformats.org/officeDocument/2006/relationships/slideLayout" Target="../slideLayouts/slideLayout15.xml"/><Relationship Id="rId6" Type="http://schemas.openxmlformats.org/officeDocument/2006/relationships/image" Target="../media/image42.svg"/><Relationship Id="rId5" Type="http://schemas.openxmlformats.org/officeDocument/2006/relationships/image" Target="../media/image260.png"/><Relationship Id="rId4" Type="http://schemas.openxmlformats.org/officeDocument/2006/relationships/image" Target="../media/image25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notesSlide" Target="../notesSlides/notesSlide35.xml"/><Relationship Id="rId1" Type="http://schemas.openxmlformats.org/officeDocument/2006/relationships/slideLayout" Target="../slideLayouts/slideLayout15.xml"/><Relationship Id="rId4" Type="http://schemas.openxmlformats.org/officeDocument/2006/relationships/image" Target="../media/image630.png"/></Relationships>
</file>

<file path=ppt/slides/_rels/slide3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480.pn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8.xml"/><Relationship Id="rId1" Type="http://schemas.openxmlformats.org/officeDocument/2006/relationships/slideLayout" Target="../slideLayouts/slideLayout15.xml"/><Relationship Id="rId5" Type="http://schemas.openxmlformats.org/officeDocument/2006/relationships/image" Target="../media/image290.png"/><Relationship Id="rId4" Type="http://schemas.openxmlformats.org/officeDocument/2006/relationships/image" Target="../media/image69.png"/></Relationships>
</file>

<file path=ppt/slides/_rels/slide4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73.pn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9.xml"/><Relationship Id="rId1" Type="http://schemas.openxmlformats.org/officeDocument/2006/relationships/slideLayout" Target="../slideLayouts/slideLayout15.xml"/><Relationship Id="rId4"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768096" y="946724"/>
            <a:ext cx="9994392" cy="1231106"/>
          </a:xfrm>
        </p:spPr>
        <p:txBody>
          <a:bodyPr/>
          <a:lstStyle/>
          <a:p>
            <a:pPr marL="0" marR="0" algn="ctr">
              <a:lnSpc>
                <a:spcPct val="100000"/>
              </a:lnSpc>
              <a:spcBef>
                <a:spcPts val="0"/>
              </a:spcBef>
              <a:spcAft>
                <a:spcPts val="0"/>
              </a:spcAft>
              <a:buNone/>
            </a:pPr>
            <a:r>
              <a:rPr sz="4000" b="1" i="0" u="none" strike="noStrike" cap="none" dirty="0">
                <a:latin typeface="Arial"/>
                <a:cs typeface="Arial"/>
                <a:sym typeface="Arial"/>
              </a:rPr>
              <a:t>Automated Covariate-Model Building for Population PK</a:t>
            </a:r>
          </a:p>
        </p:txBody>
      </p:sp>
      <p:sp>
        <p:nvSpPr>
          <p:cNvPr id="3" name="Content Placeholder 2"/>
          <p:cNvSpPr>
            <a:spLocks noGrp="1"/>
          </p:cNvSpPr>
          <p:nvPr>
            <p:ph/>
          </p:nvPr>
        </p:nvSpPr>
        <p:spPr>
          <a:xfrm>
            <a:off x="609600" y="2580345"/>
            <a:ext cx="10972800" cy="430887"/>
          </a:xfrm>
        </p:spPr>
        <p:txBody>
          <a:bodyPr/>
          <a:lstStyle/>
          <a:p>
            <a:pPr marL="0" marR="0" algn="ctr">
              <a:lnSpc>
                <a:spcPct val="100000"/>
              </a:lnSpc>
              <a:spcBef>
                <a:spcPts val="0"/>
              </a:spcBef>
              <a:spcAft>
                <a:spcPts val="0"/>
              </a:spcAft>
              <a:buNone/>
            </a:pPr>
            <a:r>
              <a:rPr lang="en-US" sz="2800" dirty="0">
                <a:latin typeface="Arial"/>
                <a:cs typeface="Arial"/>
                <a:sym typeface="Arial"/>
              </a:rPr>
              <a:t>N</a:t>
            </a:r>
            <a:r>
              <a:rPr sz="2800" b="1" i="0" u="none" strike="noStrike" cap="none" dirty="0">
                <a:latin typeface="Arial"/>
                <a:cs typeface="Arial"/>
                <a:sym typeface="Arial"/>
              </a:rPr>
              <a:t>lmixr2 Ecosystem vs. NONMEM</a:t>
            </a:r>
          </a:p>
        </p:txBody>
      </p:sp>
      <p:sp>
        <p:nvSpPr>
          <p:cNvPr id="4" name="Content Placeholder 3"/>
          <p:cNvSpPr>
            <a:spLocks noGrp="1"/>
          </p:cNvSpPr>
          <p:nvPr>
            <p:ph/>
          </p:nvPr>
        </p:nvSpPr>
        <p:spPr>
          <a:xfrm>
            <a:off x="488038" y="3130591"/>
            <a:ext cx="10972800" cy="276999"/>
          </a:xfrm>
        </p:spPr>
        <p:txBody>
          <a:bodyPr/>
          <a:lstStyle/>
          <a:p>
            <a:pPr algn="ctr">
              <a:lnSpc>
                <a:spcPct val="100000"/>
              </a:lnSpc>
              <a:spcBef>
                <a:spcPts val="0"/>
              </a:spcBef>
            </a:pPr>
            <a:r>
              <a:rPr lang="en-US" sz="1800" b="0" i="1" dirty="0">
                <a:solidFill>
                  <a:srgbClr val="4D4D4D">
                    <a:alpha val="100000"/>
                  </a:srgbClr>
                </a:solidFill>
                <a:cs typeface="Arial"/>
                <a:sym typeface="Arial"/>
              </a:rPr>
              <a:t>Traditional SCM and cutting-edge VAE</a:t>
            </a:r>
          </a:p>
        </p:txBody>
      </p:sp>
      <p:sp>
        <p:nvSpPr>
          <p:cNvPr id="5" name="Content Placeholder 4"/>
          <p:cNvSpPr>
            <a:spLocks noGrp="1"/>
          </p:cNvSpPr>
          <p:nvPr>
            <p:ph/>
          </p:nvPr>
        </p:nvSpPr>
        <p:spPr>
          <a:xfrm>
            <a:off x="3919728" y="3963993"/>
            <a:ext cx="4352544" cy="1195199"/>
          </a:xfrm>
        </p:spPr>
        <p:txBody>
          <a:bodyPr/>
          <a:lstStyle/>
          <a:p>
            <a:pPr marL="0" marR="0" algn="ctr">
              <a:lnSpc>
                <a:spcPct val="150000"/>
              </a:lnSpc>
              <a:spcBef>
                <a:spcPts val="0"/>
              </a:spcBef>
              <a:spcAft>
                <a:spcPts val="0"/>
              </a:spcAft>
              <a:buNone/>
            </a:pPr>
            <a:r>
              <a:rPr lang="en-US" sz="1800" b="0" i="0" u="none" strike="noStrike" cap="none" dirty="0">
                <a:solidFill>
                  <a:srgbClr val="4D4D4D">
                    <a:alpha val="100000"/>
                  </a:srgbClr>
                </a:solidFill>
                <a:latin typeface="Arial"/>
                <a:cs typeface="Arial"/>
                <a:sym typeface="Arial"/>
              </a:rPr>
              <a:t>Presenter: Yaping Liu</a:t>
            </a:r>
            <a:r>
              <a:rPr sz="1800" b="0" i="0" u="none" strike="noStrike" cap="none" dirty="0">
                <a:solidFill>
                  <a:srgbClr val="4D4D4D">
                    <a:alpha val="100000"/>
                  </a:srgbClr>
                </a:solidFill>
                <a:latin typeface="Arial"/>
                <a:cs typeface="Arial"/>
                <a:sym typeface="Arial"/>
              </a:rPr>
              <a:t>  </a:t>
            </a:r>
            <a:r>
              <a:rPr lang="en-US" sz="1800" b="0" i="0" u="none" strike="noStrike" cap="none" dirty="0">
                <a:solidFill>
                  <a:srgbClr val="4D4D4D">
                    <a:alpha val="100000"/>
                  </a:srgbClr>
                </a:solidFill>
                <a:latin typeface="Arial"/>
                <a:cs typeface="Arial"/>
                <a:sym typeface="Arial"/>
              </a:rPr>
              <a:t>(PMX intern)</a:t>
            </a:r>
          </a:p>
          <a:p>
            <a:pPr marL="0" marR="0" algn="ctr">
              <a:lnSpc>
                <a:spcPct val="150000"/>
              </a:lnSpc>
              <a:spcBef>
                <a:spcPts val="0"/>
              </a:spcBef>
              <a:spcAft>
                <a:spcPts val="0"/>
              </a:spcAft>
              <a:buNone/>
            </a:pPr>
            <a:r>
              <a:rPr lang="en-US" sz="1800" b="0" dirty="0">
                <a:solidFill>
                  <a:srgbClr val="4D4D4D">
                    <a:alpha val="100000"/>
                  </a:srgbClr>
                </a:solidFill>
                <a:latin typeface="Arial"/>
                <a:cs typeface="Arial"/>
                <a:sym typeface="Arial"/>
              </a:rPr>
              <a:t>Manager: Matt Fidler</a:t>
            </a:r>
          </a:p>
          <a:p>
            <a:pPr marL="0" marR="0" algn="ctr">
              <a:lnSpc>
                <a:spcPct val="150000"/>
              </a:lnSpc>
              <a:spcBef>
                <a:spcPts val="0"/>
              </a:spcBef>
              <a:spcAft>
                <a:spcPts val="0"/>
              </a:spcAft>
              <a:buNone/>
            </a:pPr>
            <a:r>
              <a:rPr lang="en-US" sz="1800" b="0" dirty="0">
                <a:solidFill>
                  <a:srgbClr val="4D4D4D">
                    <a:alpha val="100000"/>
                  </a:srgbClr>
                </a:solidFill>
                <a:latin typeface="Arial"/>
                <a:cs typeface="Arial"/>
                <a:sym typeface="Arial"/>
              </a:rPr>
              <a:t>Date: 08/18/2026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96CBEB4-400B-0293-80E7-BD67C51C0518}"/>
              </a:ext>
            </a:extLst>
          </p:cNvPr>
          <p:cNvSpPr>
            <a:spLocks noGrp="1"/>
          </p:cNvSpPr>
          <p:nvPr>
            <p:ph type="ftr" sz="quarter" idx="11"/>
          </p:nvPr>
        </p:nvSpPr>
        <p:spPr/>
        <p:txBody>
          <a:bodyPr/>
          <a:lstStyle/>
          <a:p>
            <a:endParaRPr lang="en-US" noProof="0"/>
          </a:p>
        </p:txBody>
      </p:sp>
      <p:sp>
        <p:nvSpPr>
          <p:cNvPr id="5" name="Slide Number Placeholder 4">
            <a:extLst>
              <a:ext uri="{FF2B5EF4-FFF2-40B4-BE49-F238E27FC236}">
                <a16:creationId xmlns:a16="http://schemas.microsoft.com/office/drawing/2014/main" id="{073C6EAF-C8FF-F5E1-9349-5FCAC505499C}"/>
              </a:ext>
            </a:extLst>
          </p:cNvPr>
          <p:cNvSpPr>
            <a:spLocks noGrp="1"/>
          </p:cNvSpPr>
          <p:nvPr>
            <p:ph type="sldNum" sz="quarter" idx="12"/>
          </p:nvPr>
        </p:nvSpPr>
        <p:spPr/>
        <p:txBody>
          <a:bodyPr/>
          <a:lstStyle/>
          <a:p>
            <a:fld id="{1EDD9F3E-8BFD-4E3C-98D1-767322780FDD}" type="slidenum">
              <a:rPr lang="en-US" noProof="0" smtClean="0"/>
              <a:t>2</a:t>
            </a:fld>
            <a:endParaRPr lang="en-US" noProof="0"/>
          </a:p>
        </p:txBody>
      </p:sp>
      <p:pic>
        <p:nvPicPr>
          <p:cNvPr id="7" name="Picture 6">
            <a:extLst>
              <a:ext uri="{FF2B5EF4-FFF2-40B4-BE49-F238E27FC236}">
                <a16:creationId xmlns:a16="http://schemas.microsoft.com/office/drawing/2014/main" id="{BA484837-1A58-4E58-D560-DD5CA02239F1}"/>
              </a:ext>
            </a:extLst>
          </p:cNvPr>
          <p:cNvPicPr>
            <a:picLocks noChangeAspect="1"/>
          </p:cNvPicPr>
          <p:nvPr/>
        </p:nvPicPr>
        <p:blipFill>
          <a:blip r:embed="rId3"/>
          <a:srcRect l="4596" t="10960" r="19888" b="15306"/>
          <a:stretch>
            <a:fillRect/>
          </a:stretch>
        </p:blipFill>
        <p:spPr>
          <a:xfrm>
            <a:off x="7023788" y="4086499"/>
            <a:ext cx="3656473" cy="2194962"/>
          </a:xfrm>
          <a:prstGeom prst="rect">
            <a:avLst/>
          </a:prstGeom>
        </p:spPr>
      </p:pic>
      <p:sp>
        <p:nvSpPr>
          <p:cNvPr id="9" name="TextBox 8">
            <a:extLst>
              <a:ext uri="{FF2B5EF4-FFF2-40B4-BE49-F238E27FC236}">
                <a16:creationId xmlns:a16="http://schemas.microsoft.com/office/drawing/2014/main" id="{9B6F2A0D-5A81-393B-C6F5-CEA3D02C339C}"/>
              </a:ext>
            </a:extLst>
          </p:cNvPr>
          <p:cNvSpPr txBox="1"/>
          <p:nvPr/>
        </p:nvSpPr>
        <p:spPr>
          <a:xfrm>
            <a:off x="6033468" y="3534216"/>
            <a:ext cx="6097190" cy="400110"/>
          </a:xfrm>
          <a:prstGeom prst="rect">
            <a:avLst/>
          </a:prstGeom>
          <a:noFill/>
        </p:spPr>
        <p:txBody>
          <a:bodyPr wrap="square">
            <a:spAutoFit/>
          </a:bodyPr>
          <a:lstStyle/>
          <a:p>
            <a:r>
              <a:rPr lang="en-US" sz="2000" b="1" dirty="0"/>
              <a:t>4. Cautious interpretation &amp; domain knowledge </a:t>
            </a:r>
            <a:endParaRPr lang="en-US" dirty="0"/>
          </a:p>
        </p:txBody>
      </p:sp>
      <p:pic>
        <p:nvPicPr>
          <p:cNvPr id="11" name="Picture 10">
            <a:extLst>
              <a:ext uri="{FF2B5EF4-FFF2-40B4-BE49-F238E27FC236}">
                <a16:creationId xmlns:a16="http://schemas.microsoft.com/office/drawing/2014/main" id="{49DD85BC-F656-59E4-C19E-E7A6CCA59B1B}"/>
              </a:ext>
            </a:extLst>
          </p:cNvPr>
          <p:cNvPicPr>
            <a:picLocks noChangeAspect="1"/>
          </p:cNvPicPr>
          <p:nvPr/>
        </p:nvPicPr>
        <p:blipFill>
          <a:blip r:embed="rId4"/>
          <a:srcRect t="11930"/>
          <a:stretch>
            <a:fillRect/>
          </a:stretch>
        </p:blipFill>
        <p:spPr>
          <a:xfrm>
            <a:off x="673398" y="1218704"/>
            <a:ext cx="4807845" cy="2323898"/>
          </a:xfrm>
          <a:prstGeom prst="rect">
            <a:avLst/>
          </a:prstGeom>
        </p:spPr>
      </p:pic>
      <p:sp>
        <p:nvSpPr>
          <p:cNvPr id="13" name="TextBox 12">
            <a:extLst>
              <a:ext uri="{FF2B5EF4-FFF2-40B4-BE49-F238E27FC236}">
                <a16:creationId xmlns:a16="http://schemas.microsoft.com/office/drawing/2014/main" id="{AAB22EB5-E400-C4C9-C70B-A01244319FFE}"/>
              </a:ext>
            </a:extLst>
          </p:cNvPr>
          <p:cNvSpPr txBox="1"/>
          <p:nvPr/>
        </p:nvSpPr>
        <p:spPr>
          <a:xfrm>
            <a:off x="616765" y="485921"/>
            <a:ext cx="4661163" cy="707886"/>
          </a:xfrm>
          <a:prstGeom prst="rect">
            <a:avLst/>
          </a:prstGeom>
          <a:noFill/>
        </p:spPr>
        <p:txBody>
          <a:bodyPr wrap="square">
            <a:spAutoFit/>
          </a:bodyPr>
          <a:lstStyle/>
          <a:p>
            <a:r>
              <a:rPr lang="en-US" sz="2000" b="1" dirty="0"/>
              <a:t>1. Covariate selection matters for dose optimization</a:t>
            </a:r>
            <a:endParaRPr lang="en-US" dirty="0"/>
          </a:p>
        </p:txBody>
      </p:sp>
      <p:sp>
        <p:nvSpPr>
          <p:cNvPr id="19" name="TextBox 18">
            <a:extLst>
              <a:ext uri="{FF2B5EF4-FFF2-40B4-BE49-F238E27FC236}">
                <a16:creationId xmlns:a16="http://schemas.microsoft.com/office/drawing/2014/main" id="{EAC93C9F-CB44-6B8B-3BC9-E44712FD4309}"/>
              </a:ext>
            </a:extLst>
          </p:cNvPr>
          <p:cNvSpPr txBox="1"/>
          <p:nvPr/>
        </p:nvSpPr>
        <p:spPr>
          <a:xfrm>
            <a:off x="6396608" y="485921"/>
            <a:ext cx="6093994"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2. Benchmark nlmixr2 vs. NONMEM</a:t>
            </a:r>
          </a:p>
        </p:txBody>
      </p:sp>
      <p:pic>
        <p:nvPicPr>
          <p:cNvPr id="27" name="Picture 26">
            <a:extLst>
              <a:ext uri="{FF2B5EF4-FFF2-40B4-BE49-F238E27FC236}">
                <a16:creationId xmlns:a16="http://schemas.microsoft.com/office/drawing/2014/main" id="{7817352B-93C0-C657-68FD-B3896601ECE8}"/>
              </a:ext>
            </a:extLst>
          </p:cNvPr>
          <p:cNvPicPr>
            <a:picLocks noChangeAspect="1"/>
          </p:cNvPicPr>
          <p:nvPr/>
        </p:nvPicPr>
        <p:blipFill>
          <a:blip r:embed="rId5"/>
          <a:srcRect b="13390"/>
          <a:stretch>
            <a:fillRect/>
          </a:stretch>
        </p:blipFill>
        <p:spPr>
          <a:xfrm>
            <a:off x="6767392" y="919314"/>
            <a:ext cx="4023803" cy="2367219"/>
          </a:xfrm>
          <a:prstGeom prst="rect">
            <a:avLst/>
          </a:prstGeom>
        </p:spPr>
      </p:pic>
      <p:sp>
        <p:nvSpPr>
          <p:cNvPr id="29" name="TextBox 28">
            <a:extLst>
              <a:ext uri="{FF2B5EF4-FFF2-40B4-BE49-F238E27FC236}">
                <a16:creationId xmlns:a16="http://schemas.microsoft.com/office/drawing/2014/main" id="{C511866B-8F83-949C-EADA-29B7B80DBB68}"/>
              </a:ext>
            </a:extLst>
          </p:cNvPr>
          <p:cNvSpPr txBox="1"/>
          <p:nvPr/>
        </p:nvSpPr>
        <p:spPr>
          <a:xfrm>
            <a:off x="673398" y="3567499"/>
            <a:ext cx="6093994"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3. nlmixr2 matches NONMEM</a:t>
            </a:r>
          </a:p>
        </p:txBody>
      </p:sp>
      <p:grpSp>
        <p:nvGrpSpPr>
          <p:cNvPr id="26" name="Group 25">
            <a:extLst>
              <a:ext uri="{FF2B5EF4-FFF2-40B4-BE49-F238E27FC236}">
                <a16:creationId xmlns:a16="http://schemas.microsoft.com/office/drawing/2014/main" id="{0F572745-01B3-4568-B25E-425F780B3FC9}"/>
              </a:ext>
            </a:extLst>
          </p:cNvPr>
          <p:cNvGrpSpPr/>
          <p:nvPr/>
        </p:nvGrpSpPr>
        <p:grpSpPr>
          <a:xfrm>
            <a:off x="981048" y="4582099"/>
            <a:ext cx="2359653" cy="1253427"/>
            <a:chOff x="673399" y="4218139"/>
            <a:chExt cx="2359653" cy="1253427"/>
          </a:xfrm>
        </p:grpSpPr>
        <p:grpSp>
          <p:nvGrpSpPr>
            <p:cNvPr id="18" name="Group 17">
              <a:extLst>
                <a:ext uri="{FF2B5EF4-FFF2-40B4-BE49-F238E27FC236}">
                  <a16:creationId xmlns:a16="http://schemas.microsoft.com/office/drawing/2014/main" id="{7F36A783-4ED5-BE91-D606-829546EC2498}"/>
                </a:ext>
              </a:extLst>
            </p:cNvPr>
            <p:cNvGrpSpPr/>
            <p:nvPr/>
          </p:nvGrpSpPr>
          <p:grpSpPr>
            <a:xfrm>
              <a:off x="673399" y="4336485"/>
              <a:ext cx="1700670" cy="1104215"/>
              <a:chOff x="978880" y="4441197"/>
              <a:chExt cx="1543152" cy="1001941"/>
            </a:xfrm>
          </p:grpSpPr>
          <p:pic>
            <p:nvPicPr>
              <p:cNvPr id="8" name="Picture 7">
                <a:extLst>
                  <a:ext uri="{FF2B5EF4-FFF2-40B4-BE49-F238E27FC236}">
                    <a16:creationId xmlns:a16="http://schemas.microsoft.com/office/drawing/2014/main" id="{B334CCB0-3A8B-5791-188D-09DD8DA97943}"/>
                  </a:ext>
                </a:extLst>
              </p:cNvPr>
              <p:cNvPicPr>
                <a:picLocks noChangeAspect="1"/>
              </p:cNvPicPr>
              <p:nvPr/>
            </p:nvPicPr>
            <p:blipFill>
              <a:blip r:embed="rId6"/>
              <a:stretch>
                <a:fillRect/>
              </a:stretch>
            </p:blipFill>
            <p:spPr>
              <a:xfrm>
                <a:off x="978880" y="4761983"/>
                <a:ext cx="1543152" cy="681155"/>
              </a:xfrm>
              <a:prstGeom prst="rect">
                <a:avLst/>
              </a:prstGeom>
            </p:spPr>
          </p:pic>
          <p:pic>
            <p:nvPicPr>
              <p:cNvPr id="12" name="Picture 11">
                <a:extLst>
                  <a:ext uri="{FF2B5EF4-FFF2-40B4-BE49-F238E27FC236}">
                    <a16:creationId xmlns:a16="http://schemas.microsoft.com/office/drawing/2014/main" id="{3E1BCCC2-33CC-23CB-93D0-01D4E94C18C8}"/>
                  </a:ext>
                </a:extLst>
              </p:cNvPr>
              <p:cNvPicPr>
                <a:picLocks noChangeAspect="1"/>
              </p:cNvPicPr>
              <p:nvPr/>
            </p:nvPicPr>
            <p:blipFill>
              <a:blip r:embed="rId7"/>
              <a:stretch>
                <a:fillRect/>
              </a:stretch>
            </p:blipFill>
            <p:spPr>
              <a:xfrm>
                <a:off x="1083205" y="4441197"/>
                <a:ext cx="1410776" cy="348277"/>
              </a:xfrm>
              <a:prstGeom prst="rect">
                <a:avLst/>
              </a:prstGeom>
            </p:spPr>
          </p:pic>
        </p:grpSp>
        <p:pic>
          <p:nvPicPr>
            <p:cNvPr id="17" name="Graphic 16" descr="Bullseye with solid fill">
              <a:extLst>
                <a:ext uri="{FF2B5EF4-FFF2-40B4-BE49-F238E27FC236}">
                  <a16:creationId xmlns:a16="http://schemas.microsoft.com/office/drawing/2014/main" id="{4B60FB34-9357-6F66-CC35-8334F9D7FF7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414529" y="4218139"/>
              <a:ext cx="618523" cy="618523"/>
            </a:xfrm>
            <a:prstGeom prst="rect">
              <a:avLst/>
            </a:prstGeom>
          </p:spPr>
        </p:pic>
        <p:pic>
          <p:nvPicPr>
            <p:cNvPr id="23" name="Graphic 22" descr="Stopwatch 75% with solid fill">
              <a:extLst>
                <a:ext uri="{FF2B5EF4-FFF2-40B4-BE49-F238E27FC236}">
                  <a16:creationId xmlns:a16="http://schemas.microsoft.com/office/drawing/2014/main" id="{566C48E3-2F5C-E467-C412-73590E908C9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414529" y="4853043"/>
              <a:ext cx="618523" cy="618523"/>
            </a:xfrm>
            <a:prstGeom prst="rect">
              <a:avLst/>
            </a:prstGeom>
          </p:spPr>
        </p:pic>
      </p:grpSp>
      <p:grpSp>
        <p:nvGrpSpPr>
          <p:cNvPr id="28" name="Group 27">
            <a:extLst>
              <a:ext uri="{FF2B5EF4-FFF2-40B4-BE49-F238E27FC236}">
                <a16:creationId xmlns:a16="http://schemas.microsoft.com/office/drawing/2014/main" id="{5740A30B-76E6-C2B2-19B7-12008D7BE911}"/>
              </a:ext>
            </a:extLst>
          </p:cNvPr>
          <p:cNvGrpSpPr/>
          <p:nvPr/>
        </p:nvGrpSpPr>
        <p:grpSpPr>
          <a:xfrm>
            <a:off x="3705575" y="4412427"/>
            <a:ext cx="2074117" cy="1576389"/>
            <a:chOff x="3222667" y="4048037"/>
            <a:chExt cx="2074117" cy="1576389"/>
          </a:xfrm>
        </p:grpSpPr>
        <p:pic>
          <p:nvPicPr>
            <p:cNvPr id="3" name="Picture 2">
              <a:extLst>
                <a:ext uri="{FF2B5EF4-FFF2-40B4-BE49-F238E27FC236}">
                  <a16:creationId xmlns:a16="http://schemas.microsoft.com/office/drawing/2014/main" id="{5BFC2F1E-4094-D391-08C2-BC9EC240115B}"/>
                </a:ext>
              </a:extLst>
            </p:cNvPr>
            <p:cNvPicPr>
              <a:picLocks noChangeAspect="1"/>
            </p:cNvPicPr>
            <p:nvPr/>
          </p:nvPicPr>
          <p:blipFill>
            <a:blip r:embed="rId10"/>
            <a:stretch>
              <a:fillRect/>
            </a:stretch>
          </p:blipFill>
          <p:spPr>
            <a:xfrm>
              <a:off x="3720395" y="4048037"/>
              <a:ext cx="1576389" cy="1576389"/>
            </a:xfrm>
            <a:prstGeom prst="rect">
              <a:avLst/>
            </a:prstGeom>
          </p:spPr>
        </p:pic>
        <p:pic>
          <p:nvPicPr>
            <p:cNvPr id="21" name="Graphic 20" descr="Stopwatch 25% with solid fill">
              <a:extLst>
                <a:ext uri="{FF2B5EF4-FFF2-40B4-BE49-F238E27FC236}">
                  <a16:creationId xmlns:a16="http://schemas.microsoft.com/office/drawing/2014/main" id="{5B0E6820-7966-91C5-EEE6-4C1546DD337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222667" y="4849442"/>
              <a:ext cx="625723" cy="625723"/>
            </a:xfrm>
            <a:prstGeom prst="rect">
              <a:avLst/>
            </a:prstGeom>
          </p:spPr>
        </p:pic>
        <p:pic>
          <p:nvPicPr>
            <p:cNvPr id="25" name="Graphic 24" descr="Bullseye with solid fill">
              <a:extLst>
                <a:ext uri="{FF2B5EF4-FFF2-40B4-BE49-F238E27FC236}">
                  <a16:creationId xmlns:a16="http://schemas.microsoft.com/office/drawing/2014/main" id="{DDB2D4C8-0DA9-BAE7-6E84-FE30DF72A83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229867" y="4218140"/>
              <a:ext cx="618523" cy="618523"/>
            </a:xfrm>
            <a:prstGeom prst="rect">
              <a:avLst/>
            </a:prstGeom>
          </p:spPr>
        </p:pic>
      </p:grpSp>
      <p:grpSp>
        <p:nvGrpSpPr>
          <p:cNvPr id="35" name="Group 34">
            <a:extLst>
              <a:ext uri="{FF2B5EF4-FFF2-40B4-BE49-F238E27FC236}">
                <a16:creationId xmlns:a16="http://schemas.microsoft.com/office/drawing/2014/main" id="{1BFF79E0-40D0-103C-AA6B-57B05B148DC5}"/>
              </a:ext>
            </a:extLst>
          </p:cNvPr>
          <p:cNvGrpSpPr/>
          <p:nvPr/>
        </p:nvGrpSpPr>
        <p:grpSpPr>
          <a:xfrm>
            <a:off x="3001378" y="4629698"/>
            <a:ext cx="1048451" cy="1174962"/>
            <a:chOff x="2532763" y="4218139"/>
            <a:chExt cx="1048451" cy="1174962"/>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6B70CE9-BF81-4587-1269-DEC6D23FCCA3}"/>
                    </a:ext>
                  </a:extLst>
                </p:cNvPr>
                <p:cNvSpPr txBox="1"/>
                <p:nvPr/>
              </p:nvSpPr>
              <p:spPr>
                <a:xfrm>
                  <a:off x="2532763" y="4218139"/>
                  <a:ext cx="101101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1" i="1" smtClean="0">
                            <a:solidFill>
                              <a:srgbClr val="4D4D4D">
                                <a:alpha val="100000"/>
                              </a:srgbClr>
                            </a:solidFill>
                            <a:latin typeface="Cambria Math" panose="02040503050406030204" pitchFamily="18" charset="0"/>
                            <a:ea typeface="Cambria Math" panose="02040503050406030204" pitchFamily="18" charset="0"/>
                            <a:cs typeface="Arial"/>
                            <a:sym typeface="Arial"/>
                          </a:rPr>
                          <m:t>≈</m:t>
                        </m:r>
                      </m:oMath>
                    </m:oMathPara>
                  </a14:m>
                  <a:endParaRPr lang="en-US" sz="2400" b="1" dirty="0"/>
                </a:p>
              </p:txBody>
            </p:sp>
          </mc:Choice>
          <mc:Fallback xmlns="">
            <p:sp>
              <p:nvSpPr>
                <p:cNvPr id="32" name="TextBox 31">
                  <a:extLst>
                    <a:ext uri="{FF2B5EF4-FFF2-40B4-BE49-F238E27FC236}">
                      <a16:creationId xmlns:a16="http://schemas.microsoft.com/office/drawing/2014/main" id="{66B70CE9-BF81-4587-1269-DEC6D23FCCA3}"/>
                    </a:ext>
                  </a:extLst>
                </p:cNvPr>
                <p:cNvSpPr txBox="1">
                  <a:spLocks noRot="1" noChangeAspect="1" noMove="1" noResize="1" noEditPoints="1" noAdjustHandles="1" noChangeArrowheads="1" noChangeShapeType="1" noTextEdit="1"/>
                </p:cNvSpPr>
                <p:nvPr/>
              </p:nvSpPr>
              <p:spPr>
                <a:xfrm>
                  <a:off x="2532763" y="4218139"/>
                  <a:ext cx="1011018" cy="52322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C553FF7-065C-B627-A25A-AA7085D63150}"/>
                    </a:ext>
                  </a:extLst>
                </p:cNvPr>
                <p:cNvSpPr txBox="1"/>
                <p:nvPr/>
              </p:nvSpPr>
              <p:spPr>
                <a:xfrm>
                  <a:off x="2570196" y="4931436"/>
                  <a:ext cx="101101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1" i="1" smtClean="0">
                            <a:solidFill>
                              <a:srgbClr val="4D4D4D">
                                <a:alpha val="100000"/>
                              </a:srgbClr>
                            </a:solidFill>
                            <a:latin typeface="Cambria Math" panose="02040503050406030204" pitchFamily="18" charset="0"/>
                            <a:ea typeface="Cambria Math" panose="02040503050406030204" pitchFamily="18" charset="0"/>
                            <a:cs typeface="Arial"/>
                            <a:sym typeface="Arial"/>
                          </a:rPr>
                          <m:t>&gt;</m:t>
                        </m:r>
                      </m:oMath>
                    </m:oMathPara>
                  </a14:m>
                  <a:endParaRPr lang="en-US" sz="2000" b="1" dirty="0"/>
                </a:p>
              </p:txBody>
            </p:sp>
          </mc:Choice>
          <mc:Fallback xmlns="">
            <p:sp>
              <p:nvSpPr>
                <p:cNvPr id="34" name="TextBox 33">
                  <a:extLst>
                    <a:ext uri="{FF2B5EF4-FFF2-40B4-BE49-F238E27FC236}">
                      <a16:creationId xmlns:a16="http://schemas.microsoft.com/office/drawing/2014/main" id="{6C553FF7-065C-B627-A25A-AA7085D63150}"/>
                    </a:ext>
                  </a:extLst>
                </p:cNvPr>
                <p:cNvSpPr txBox="1">
                  <a:spLocks noRot="1" noChangeAspect="1" noMove="1" noResize="1" noEditPoints="1" noAdjustHandles="1" noChangeArrowheads="1" noChangeShapeType="1" noTextEdit="1"/>
                </p:cNvSpPr>
                <p:nvPr/>
              </p:nvSpPr>
              <p:spPr>
                <a:xfrm>
                  <a:off x="2570196" y="4931436"/>
                  <a:ext cx="1011018" cy="461665"/>
                </a:xfrm>
                <a:prstGeom prst="rect">
                  <a:avLst/>
                </a:prstGeom>
                <a:blipFill>
                  <a:blip r:embed="rId14"/>
                  <a:stretch>
                    <a:fillRect/>
                  </a:stretch>
                </a:blipFill>
              </p:spPr>
              <p:txBody>
                <a:bodyPr/>
                <a:lstStyle/>
                <a:p>
                  <a:r>
                    <a:rPr lang="en-US">
                      <a:noFill/>
                    </a:rPr>
                    <a:t> </a:t>
                  </a:r>
                </a:p>
              </p:txBody>
            </p:sp>
          </mc:Fallback>
        </mc:AlternateContent>
      </p:grpSp>
      <p:sp>
        <p:nvSpPr>
          <p:cNvPr id="6" name="TextBox 5">
            <a:extLst>
              <a:ext uri="{FF2B5EF4-FFF2-40B4-BE49-F238E27FC236}">
                <a16:creationId xmlns:a16="http://schemas.microsoft.com/office/drawing/2014/main" id="{7DC4CF08-8687-427E-7479-EFE7F858BC9A}"/>
              </a:ext>
            </a:extLst>
          </p:cNvPr>
          <p:cNvSpPr txBox="1"/>
          <p:nvPr/>
        </p:nvSpPr>
        <p:spPr>
          <a:xfrm>
            <a:off x="149980" y="47891"/>
            <a:ext cx="6246628" cy="461665"/>
          </a:xfrm>
          <a:prstGeom prst="rect">
            <a:avLst/>
          </a:prstGeom>
          <a:noFill/>
        </p:spPr>
        <p:txBody>
          <a:bodyPr wrap="square">
            <a:spAutoFit/>
          </a:bodyPr>
          <a:lstStyle/>
          <a:p>
            <a:r>
              <a:rPr lang="en-US" sz="2400" b="1">
                <a:solidFill>
                  <a:srgbClr val="0460A9"/>
                </a:solidFill>
                <a:latin typeface="Arial"/>
                <a:cs typeface="Arial"/>
              </a:rPr>
              <a:t>Roadmap</a:t>
            </a:r>
            <a:endParaRPr lang="en-US" dirty="0"/>
          </a:p>
        </p:txBody>
      </p:sp>
    </p:spTree>
    <p:extLst>
      <p:ext uri="{BB962C8B-B14F-4D97-AF65-F5344CB8AC3E}">
        <p14:creationId xmlns:p14="http://schemas.microsoft.com/office/powerpoint/2010/main" val="3863112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3044B-5A2C-15EA-A27D-6D9B68039E19}"/>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F4718013-A1DC-E0D1-C833-136F9C4CDE80}"/>
              </a:ext>
            </a:extLst>
          </p:cNvPr>
          <p:cNvGrpSpPr/>
          <p:nvPr/>
        </p:nvGrpSpPr>
        <p:grpSpPr>
          <a:xfrm>
            <a:off x="2622788" y="6130000"/>
            <a:ext cx="8733555" cy="560000"/>
            <a:chOff x="880000" y="5195331"/>
            <a:chExt cx="9400001" cy="560000"/>
          </a:xfrm>
        </p:grpSpPr>
        <p:sp>
          <p:nvSpPr>
            <p:cNvPr id="90" name="pill90">
              <a:extLst>
                <a:ext uri="{FF2B5EF4-FFF2-40B4-BE49-F238E27FC236}">
                  <a16:creationId xmlns:a16="http://schemas.microsoft.com/office/drawing/2014/main" id="{9B4C9BEF-761A-9CFA-8996-F8D42A8D3C1F}"/>
                </a:ext>
              </a:extLst>
            </p:cNvPr>
            <p:cNvSpPr/>
            <p:nvPr/>
          </p:nvSpPr>
          <p:spPr>
            <a:xfrm>
              <a:off x="3230000" y="5195331"/>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250" b="0" dirty="0">
                  <a:solidFill>
                    <a:srgbClr val="6B7683"/>
                  </a:solidFill>
                  <a:latin typeface="Arial"/>
                  <a:cs typeface="Arial"/>
                </a:rPr>
                <a:t>2 Methods</a:t>
              </a:r>
            </a:p>
          </p:txBody>
        </p:sp>
        <p:sp>
          <p:nvSpPr>
            <p:cNvPr id="91" name="pill91">
              <a:extLst>
                <a:ext uri="{FF2B5EF4-FFF2-40B4-BE49-F238E27FC236}">
                  <a16:creationId xmlns:a16="http://schemas.microsoft.com/office/drawing/2014/main" id="{5F05F5B0-AB0C-F471-7AEF-47375C16D45B}"/>
                </a:ext>
              </a:extLst>
            </p:cNvPr>
            <p:cNvSpPr/>
            <p:nvPr/>
          </p:nvSpPr>
          <p:spPr>
            <a:xfrm>
              <a:off x="880000" y="5195331"/>
              <a:ext cx="2350000" cy="560000"/>
            </a:xfrm>
            <a:prstGeom prst="roundRect">
              <a:avLst>
                <a:gd name="adj" fmla="val 30000"/>
              </a:avLst>
            </a:prstGeom>
            <a:solidFill>
              <a:srgbClr val="0460A9"/>
            </a:solidFill>
          </p:spPr>
          <p:txBody>
            <a:bodyPr lIns="91440" tIns="0" rIns="45720" bIns="0" anchor="ctr"/>
            <a:lstStyle/>
            <a:p>
              <a:pPr algn="ctr">
                <a:buNone/>
              </a:pPr>
              <a:r>
                <a:rPr lang="en-US" sz="1250" b="1" dirty="0">
                  <a:solidFill>
                    <a:srgbClr val="FFFFFF"/>
                  </a:solidFill>
                  <a:latin typeface="Arial"/>
                  <a:cs typeface="Arial"/>
                </a:rPr>
                <a:t>1 Background</a:t>
              </a:r>
            </a:p>
          </p:txBody>
        </p:sp>
        <p:sp>
          <p:nvSpPr>
            <p:cNvPr id="92" name="pill92">
              <a:extLst>
                <a:ext uri="{FF2B5EF4-FFF2-40B4-BE49-F238E27FC236}">
                  <a16:creationId xmlns:a16="http://schemas.microsoft.com/office/drawing/2014/main" id="{564F15FB-B979-647B-CCCE-B63552B2B0B0}"/>
                </a:ext>
              </a:extLst>
            </p:cNvPr>
            <p:cNvSpPr/>
            <p:nvPr/>
          </p:nvSpPr>
          <p:spPr>
            <a:xfrm>
              <a:off x="5580001" y="5195331"/>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250" b="0" dirty="0">
                  <a:solidFill>
                    <a:srgbClr val="6B7683"/>
                  </a:solidFill>
                  <a:latin typeface="Arial"/>
                  <a:cs typeface="Arial"/>
                </a:rPr>
                <a:t>3  Results</a:t>
              </a:r>
            </a:p>
          </p:txBody>
        </p:sp>
        <p:sp>
          <p:nvSpPr>
            <p:cNvPr id="93" name="pill93">
              <a:extLst>
                <a:ext uri="{FF2B5EF4-FFF2-40B4-BE49-F238E27FC236}">
                  <a16:creationId xmlns:a16="http://schemas.microsoft.com/office/drawing/2014/main" id="{230F480C-33C6-55C3-03D1-48EE25486E56}"/>
                </a:ext>
              </a:extLst>
            </p:cNvPr>
            <p:cNvSpPr/>
            <p:nvPr/>
          </p:nvSpPr>
          <p:spPr>
            <a:xfrm>
              <a:off x="7930001" y="5195331"/>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250" b="0" dirty="0">
                  <a:solidFill>
                    <a:srgbClr val="6B7683"/>
                  </a:solidFill>
                  <a:latin typeface="Arial"/>
                  <a:cs typeface="Arial"/>
                </a:rPr>
                <a:t>4  Discussion</a:t>
              </a:r>
            </a:p>
          </p:txBody>
        </p:sp>
      </p:grpSp>
      <p:sp>
        <p:nvSpPr>
          <p:cNvPr id="960" name="slidenum_fn">
            <a:extLst>
              <a:ext uri="{FF2B5EF4-FFF2-40B4-BE49-F238E27FC236}">
                <a16:creationId xmlns:a16="http://schemas.microsoft.com/office/drawing/2014/main" id="{4B24A7D4-1B4D-7CB2-E7E0-68394A363648}"/>
              </a:ext>
            </a:extLst>
          </p:cNvPr>
          <p:cNvSpPr txBox="1"/>
          <p:nvPr/>
        </p:nvSpPr>
        <p:spPr>
          <a:xfrm>
            <a:off x="11250000" y="6560000"/>
            <a:ext cx="760000" cy="260000"/>
          </a:xfrm>
          <a:prstGeom prst="rect">
            <a:avLst/>
          </a:prstGeom>
          <a:noFill/>
        </p:spPr>
        <p:txBody>
          <a:bodyPr wrap="none" lIns="0" tIns="0" rIns="0" bIns="0" anchor="ctr"/>
          <a:lstStyle/>
          <a:p>
            <a:pPr algn="r">
              <a:buNone/>
            </a:pPr>
            <a:fld id="{67AF961B-FA85-46B2-8462-1AA7770D0F78}" type="slidenum">
              <a:rPr lang="en-US" sz="1000">
                <a:solidFill>
                  <a:srgbClr val="8A8A8A"/>
                </a:solidFill>
                <a:latin typeface="Arial"/>
              </a:rPr>
              <a:t>3</a:t>
            </a:fld>
            <a:endParaRPr lang="en-US" sz="1000">
              <a:solidFill>
                <a:srgbClr val="8A8A8A"/>
              </a:solidFill>
              <a:latin typeface="Arial"/>
            </a:endParaRPr>
          </a:p>
        </p:txBody>
      </p:sp>
      <p:pic>
        <p:nvPicPr>
          <p:cNvPr id="7" name="Picture 6">
            <a:extLst>
              <a:ext uri="{FF2B5EF4-FFF2-40B4-BE49-F238E27FC236}">
                <a16:creationId xmlns:a16="http://schemas.microsoft.com/office/drawing/2014/main" id="{32731C03-49E1-B5D1-0301-AD7435C9F857}"/>
              </a:ext>
            </a:extLst>
          </p:cNvPr>
          <p:cNvPicPr>
            <a:picLocks noChangeAspect="1"/>
          </p:cNvPicPr>
          <p:nvPr/>
        </p:nvPicPr>
        <p:blipFill>
          <a:blip r:embed="rId3"/>
          <a:srcRect t="11930"/>
          <a:stretch>
            <a:fillRect/>
          </a:stretch>
        </p:blipFill>
        <p:spPr>
          <a:xfrm>
            <a:off x="984232" y="747451"/>
            <a:ext cx="9738990" cy="4707395"/>
          </a:xfrm>
          <a:prstGeom prst="rect">
            <a:avLst/>
          </a:prstGeom>
        </p:spPr>
      </p:pic>
    </p:spTree>
    <p:extLst>
      <p:ext uri="{BB962C8B-B14F-4D97-AF65-F5344CB8AC3E}">
        <p14:creationId xmlns:p14="http://schemas.microsoft.com/office/powerpoint/2010/main" val="3041579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36CAF-2FC2-7AA7-5B85-AD00AE7500FA}"/>
            </a:ext>
          </a:extLst>
        </p:cNvPr>
        <p:cNvGrpSpPr/>
        <p:nvPr/>
      </p:nvGrpSpPr>
      <p:grpSpPr>
        <a:xfrm>
          <a:off x="0" y="0"/>
          <a:ext cx="0" cy="0"/>
          <a:chOff x="0" y="0"/>
          <a:chExt cx="0" cy="0"/>
        </a:xfrm>
      </p:grpSpPr>
      <p:sp>
        <p:nvSpPr>
          <p:cNvPr id="9" name="Title">
            <a:extLst>
              <a:ext uri="{FF2B5EF4-FFF2-40B4-BE49-F238E27FC236}">
                <a16:creationId xmlns:a16="http://schemas.microsoft.com/office/drawing/2014/main" id="{1E94F8BF-DB8A-FF20-FC29-A27F1AB44724}"/>
              </a:ext>
            </a:extLst>
          </p:cNvPr>
          <p:cNvSpPr txBox="1"/>
          <p:nvPr/>
        </p:nvSpPr>
        <p:spPr>
          <a:xfrm>
            <a:off x="340876" y="386073"/>
            <a:ext cx="11094720" cy="680000"/>
          </a:xfrm>
          <a:prstGeom prst="rect">
            <a:avLst/>
          </a:prstGeom>
          <a:noFill/>
        </p:spPr>
        <p:txBody>
          <a:bodyPr wrap="square" lIns="0" tIns="0" rIns="0" bIns="0" anchor="t"/>
          <a:lstStyle/>
          <a:p>
            <a:pPr algn="l">
              <a:buNone/>
            </a:pPr>
            <a:r>
              <a:rPr lang="en-US" sz="2400" b="1" dirty="0">
                <a:solidFill>
                  <a:srgbClr val="0460A9"/>
                </a:solidFill>
                <a:latin typeface="Arial"/>
                <a:cs typeface="Arial"/>
              </a:rPr>
              <a:t>Population PK explains why drug exposure differs between patients</a:t>
            </a:r>
          </a:p>
        </p:txBody>
      </p:sp>
      <p:sp>
        <p:nvSpPr>
          <p:cNvPr id="64" name="TextBox 63">
            <a:extLst>
              <a:ext uri="{FF2B5EF4-FFF2-40B4-BE49-F238E27FC236}">
                <a16:creationId xmlns:a16="http://schemas.microsoft.com/office/drawing/2014/main" id="{EC6A2179-9834-AC1F-7E90-62161EC65A92}"/>
              </a:ext>
            </a:extLst>
          </p:cNvPr>
          <p:cNvSpPr txBox="1"/>
          <p:nvPr/>
        </p:nvSpPr>
        <p:spPr>
          <a:xfrm>
            <a:off x="5695791" y="6051985"/>
            <a:ext cx="6097280" cy="246221"/>
          </a:xfrm>
          <a:prstGeom prst="rect">
            <a:avLst/>
          </a:prstGeom>
          <a:noFill/>
        </p:spPr>
        <p:txBody>
          <a:bodyPr wrap="square">
            <a:spAutoFit/>
          </a:bodyPr>
          <a:lstStyle/>
          <a:p>
            <a:r>
              <a:rPr lang="en-US" sz="1000" dirty="0">
                <a:solidFill>
                  <a:schemeClr val="bg1">
                    <a:lumMod val="50000"/>
                  </a:schemeClr>
                </a:solidFill>
              </a:rPr>
              <a:t>https://pub.towardsai.net/from-probability-to-loss-how-mle-builds-machine-learning-part-1-52fe0efa43a9</a:t>
            </a:r>
          </a:p>
        </p:txBody>
      </p:sp>
      <p:grpSp>
        <p:nvGrpSpPr>
          <p:cNvPr id="69" name="Group 68">
            <a:extLst>
              <a:ext uri="{FF2B5EF4-FFF2-40B4-BE49-F238E27FC236}">
                <a16:creationId xmlns:a16="http://schemas.microsoft.com/office/drawing/2014/main" id="{D8A044F0-FFB9-2FCA-6C44-30424F0C10D2}"/>
              </a:ext>
            </a:extLst>
          </p:cNvPr>
          <p:cNvGrpSpPr/>
          <p:nvPr/>
        </p:nvGrpSpPr>
        <p:grpSpPr>
          <a:xfrm>
            <a:off x="527159" y="1331259"/>
            <a:ext cx="5568841" cy="4195482"/>
            <a:chOff x="534805" y="1141201"/>
            <a:chExt cx="5251071" cy="4283037"/>
          </a:xfrm>
        </p:grpSpPr>
        <p:sp>
          <p:nvSpPr>
            <p:cNvPr id="10" name="lead">
              <a:extLst>
                <a:ext uri="{FF2B5EF4-FFF2-40B4-BE49-F238E27FC236}">
                  <a16:creationId xmlns:a16="http://schemas.microsoft.com/office/drawing/2014/main" id="{ECF9F3F7-C509-A5EB-2BC8-7C26B5805FE1}"/>
                </a:ext>
              </a:extLst>
            </p:cNvPr>
            <p:cNvSpPr txBox="1"/>
            <p:nvPr/>
          </p:nvSpPr>
          <p:spPr>
            <a:xfrm>
              <a:off x="1593338" y="1407175"/>
              <a:ext cx="3470792" cy="395430"/>
            </a:xfrm>
            <a:prstGeom prst="rect">
              <a:avLst/>
            </a:prstGeom>
            <a:noFill/>
          </p:spPr>
          <p:txBody>
            <a:bodyPr wrap="square" lIns="0" tIns="0" rIns="0" bIns="0" anchor="t"/>
            <a:lstStyle/>
            <a:p>
              <a:pPr>
                <a:lnSpc>
                  <a:spcPct val="106000"/>
                </a:lnSpc>
              </a:pPr>
              <a:r>
                <a:rPr lang="en-US" sz="2000" b="0" i="0" dirty="0">
                  <a:solidFill>
                    <a:srgbClr val="3C3C3C"/>
                  </a:solidFill>
                  <a:latin typeface="Arial"/>
                  <a:cs typeface="Arial"/>
                </a:rPr>
                <a:t>N</a:t>
              </a:r>
              <a:r>
                <a:rPr lang="en-US" altLang="zh-CN" sz="2000" b="0" i="0" dirty="0">
                  <a:solidFill>
                    <a:srgbClr val="3C3C3C"/>
                  </a:solidFill>
                  <a:latin typeface="Arial"/>
                  <a:cs typeface="Arial"/>
                </a:rPr>
                <a:t>onlinear Mixed effect Models</a:t>
              </a:r>
              <a:endParaRPr lang="en-US" sz="2000" dirty="0">
                <a:solidFill>
                  <a:srgbClr val="3C3C3C"/>
                </a:solidFill>
                <a:latin typeface="Arial"/>
                <a:cs typeface="Arial"/>
              </a:endParaRPr>
            </a:p>
          </p:txBody>
        </p:sp>
        <p:sp>
          <p:nvSpPr>
            <p:cNvPr id="65" name="Rectangle: Rounded Corners 64">
              <a:extLst>
                <a:ext uri="{FF2B5EF4-FFF2-40B4-BE49-F238E27FC236}">
                  <a16:creationId xmlns:a16="http://schemas.microsoft.com/office/drawing/2014/main" id="{66DE0267-78A9-D1E8-A339-A6EE09A4375E}"/>
                </a:ext>
              </a:extLst>
            </p:cNvPr>
            <p:cNvSpPr/>
            <p:nvPr/>
          </p:nvSpPr>
          <p:spPr>
            <a:xfrm>
              <a:off x="534805" y="1141201"/>
              <a:ext cx="5251071" cy="4283037"/>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sz="1600" dirty="0" err="1"/>
            </a:p>
          </p:txBody>
        </p:sp>
      </p:grpSp>
      <p:grpSp>
        <p:nvGrpSpPr>
          <p:cNvPr id="4" name="Group 3">
            <a:extLst>
              <a:ext uri="{FF2B5EF4-FFF2-40B4-BE49-F238E27FC236}">
                <a16:creationId xmlns:a16="http://schemas.microsoft.com/office/drawing/2014/main" id="{618E5AAA-DFCB-132D-FA7A-FA1780C79FB7}"/>
              </a:ext>
            </a:extLst>
          </p:cNvPr>
          <p:cNvGrpSpPr/>
          <p:nvPr/>
        </p:nvGrpSpPr>
        <p:grpSpPr>
          <a:xfrm>
            <a:off x="6409853" y="1326774"/>
            <a:ext cx="5066115" cy="4195482"/>
            <a:chOff x="6409853" y="1326774"/>
            <a:chExt cx="5066115" cy="4195482"/>
          </a:xfrm>
        </p:grpSpPr>
        <p:pic>
          <p:nvPicPr>
            <p:cNvPr id="3" name="Picture 2">
              <a:extLst>
                <a:ext uri="{FF2B5EF4-FFF2-40B4-BE49-F238E27FC236}">
                  <a16:creationId xmlns:a16="http://schemas.microsoft.com/office/drawing/2014/main" id="{44E10678-3A76-2DE5-99A6-40EBB5D0D5D6}"/>
                </a:ext>
              </a:extLst>
            </p:cNvPr>
            <p:cNvPicPr>
              <a:picLocks noChangeAspect="1"/>
            </p:cNvPicPr>
            <p:nvPr/>
          </p:nvPicPr>
          <p:blipFill>
            <a:blip r:embed="rId3"/>
            <a:stretch>
              <a:fillRect/>
            </a:stretch>
          </p:blipFill>
          <p:spPr>
            <a:xfrm>
              <a:off x="6771107" y="2058318"/>
              <a:ext cx="4244185" cy="3289243"/>
            </a:xfrm>
            <a:prstGeom prst="rect">
              <a:avLst/>
            </a:prstGeom>
          </p:spPr>
        </p:pic>
        <p:grpSp>
          <p:nvGrpSpPr>
            <p:cNvPr id="70" name="Group 69">
              <a:extLst>
                <a:ext uri="{FF2B5EF4-FFF2-40B4-BE49-F238E27FC236}">
                  <a16:creationId xmlns:a16="http://schemas.microsoft.com/office/drawing/2014/main" id="{ADDBF15E-478D-2AEC-300D-CFF1B80CB14F}"/>
                </a:ext>
              </a:extLst>
            </p:cNvPr>
            <p:cNvGrpSpPr/>
            <p:nvPr/>
          </p:nvGrpSpPr>
          <p:grpSpPr>
            <a:xfrm>
              <a:off x="6409853" y="1326774"/>
              <a:ext cx="5066115" cy="4195482"/>
              <a:chOff x="6410606" y="1194125"/>
              <a:chExt cx="4884924" cy="657017"/>
            </a:xfrm>
          </p:grpSpPr>
          <p:grpSp>
            <p:nvGrpSpPr>
              <p:cNvPr id="62" name="Group 61">
                <a:extLst>
                  <a:ext uri="{FF2B5EF4-FFF2-40B4-BE49-F238E27FC236}">
                    <a16:creationId xmlns:a16="http://schemas.microsoft.com/office/drawing/2014/main" id="{5F5105A9-D303-B08A-10CC-53A0CD5BAAC3}"/>
                  </a:ext>
                </a:extLst>
              </p:cNvPr>
              <p:cNvGrpSpPr/>
              <p:nvPr/>
            </p:nvGrpSpPr>
            <p:grpSpPr>
              <a:xfrm>
                <a:off x="6542680" y="1242754"/>
                <a:ext cx="4661352" cy="395430"/>
                <a:chOff x="6393201" y="1054963"/>
                <a:chExt cx="5402454" cy="395430"/>
              </a:xfrm>
            </p:grpSpPr>
            <p:sp>
              <p:nvSpPr>
                <p:cNvPr id="59" name="lead">
                  <a:extLst>
                    <a:ext uri="{FF2B5EF4-FFF2-40B4-BE49-F238E27FC236}">
                      <a16:creationId xmlns:a16="http://schemas.microsoft.com/office/drawing/2014/main" id="{7F6A32F2-A000-99B8-00CA-246354CE07A9}"/>
                    </a:ext>
                  </a:extLst>
                </p:cNvPr>
                <p:cNvSpPr txBox="1"/>
                <p:nvPr/>
              </p:nvSpPr>
              <p:spPr>
                <a:xfrm>
                  <a:off x="6393201" y="1054963"/>
                  <a:ext cx="5402454" cy="395430"/>
                </a:xfrm>
                <a:prstGeom prst="rect">
                  <a:avLst/>
                </a:prstGeom>
                <a:noFill/>
              </p:spPr>
              <p:txBody>
                <a:bodyPr wrap="square" lIns="0" tIns="0" rIns="0" bIns="0" anchor="t"/>
                <a:lstStyle/>
                <a:p>
                  <a:pPr>
                    <a:lnSpc>
                      <a:spcPct val="106000"/>
                    </a:lnSpc>
                  </a:pPr>
                  <a:r>
                    <a:rPr lang="en-US" sz="2000" b="0" i="0" dirty="0">
                      <a:solidFill>
                        <a:srgbClr val="3C3C3C"/>
                      </a:solidFill>
                      <a:latin typeface="Arial"/>
                      <a:cs typeface="Arial"/>
                    </a:rPr>
                    <a:t>Max(likelihood)        Min(objective function)</a:t>
                  </a:r>
                  <a:endParaRPr lang="en-US" sz="2000" dirty="0">
                    <a:solidFill>
                      <a:srgbClr val="3C3C3C"/>
                    </a:solidFill>
                    <a:latin typeface="Arial"/>
                    <a:cs typeface="Arial"/>
                  </a:endParaRPr>
                </a:p>
              </p:txBody>
            </p:sp>
            <p:cxnSp>
              <p:nvCxnSpPr>
                <p:cNvPr id="61" name="Straight Arrow Connector 60">
                  <a:extLst>
                    <a:ext uri="{FF2B5EF4-FFF2-40B4-BE49-F238E27FC236}">
                      <a16:creationId xmlns:a16="http://schemas.microsoft.com/office/drawing/2014/main" id="{5CE93AE8-8316-5871-FAD0-861579FA06AE}"/>
                    </a:ext>
                  </a:extLst>
                </p:cNvPr>
                <p:cNvCxnSpPr>
                  <a:cxnSpLocks/>
                </p:cNvCxnSpPr>
                <p:nvPr/>
              </p:nvCxnSpPr>
              <p:spPr>
                <a:xfrm>
                  <a:off x="8458033" y="1082545"/>
                  <a:ext cx="360662" cy="0"/>
                </a:xfrm>
                <a:prstGeom prst="straightConnector1">
                  <a:avLst/>
                </a:prstGeom>
                <a:ln w="127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67" name="Rectangle: Rounded Corners 66">
                <a:extLst>
                  <a:ext uri="{FF2B5EF4-FFF2-40B4-BE49-F238E27FC236}">
                    <a16:creationId xmlns:a16="http://schemas.microsoft.com/office/drawing/2014/main" id="{C3D2AF18-D033-824C-F2CB-39AE9125D3B3}"/>
                  </a:ext>
                </a:extLst>
              </p:cNvPr>
              <p:cNvSpPr/>
              <p:nvPr/>
            </p:nvSpPr>
            <p:spPr>
              <a:xfrm>
                <a:off x="6410606" y="1194125"/>
                <a:ext cx="4884924" cy="657017"/>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grpSp>
      </p:grpSp>
      <p:sp>
        <p:nvSpPr>
          <p:cNvPr id="960" name="slidenum_fn">
            <a:extLst>
              <a:ext uri="{FF2B5EF4-FFF2-40B4-BE49-F238E27FC236}">
                <a16:creationId xmlns:a16="http://schemas.microsoft.com/office/drawing/2014/main" id="{E74B50C6-469F-A496-2A74-2CD94D9CED15}"/>
              </a:ext>
            </a:extLst>
          </p:cNvPr>
          <p:cNvSpPr txBox="1"/>
          <p:nvPr/>
        </p:nvSpPr>
        <p:spPr>
          <a:xfrm>
            <a:off x="11250000" y="6560000"/>
            <a:ext cx="760000" cy="260000"/>
          </a:xfrm>
          <a:prstGeom prst="rect">
            <a:avLst/>
          </a:prstGeom>
          <a:noFill/>
        </p:spPr>
        <p:txBody>
          <a:bodyPr wrap="none" lIns="0" tIns="0" rIns="0" bIns="0" anchor="ctr"/>
          <a:lstStyle/>
          <a:p>
            <a:pPr algn="r">
              <a:buNone/>
            </a:pPr>
            <a:fld id="{79787F28-600E-4634-B20F-1F527FB9D626}" type="slidenum">
              <a:rPr lang="en-US" sz="1000">
                <a:solidFill>
                  <a:srgbClr val="8A8A8A"/>
                </a:solidFill>
                <a:latin typeface="Arial"/>
              </a:rPr>
              <a:t>4</a:t>
            </a:fld>
            <a:endParaRPr lang="en-US" sz="1000">
              <a:solidFill>
                <a:srgbClr val="8A8A8A"/>
              </a:solidFill>
              <a:latin typeface="Arial"/>
            </a:endParaRPr>
          </a:p>
        </p:txBody>
      </p:sp>
      <p:grpSp>
        <p:nvGrpSpPr>
          <p:cNvPr id="91" name="Group 90">
            <a:extLst>
              <a:ext uri="{FF2B5EF4-FFF2-40B4-BE49-F238E27FC236}">
                <a16:creationId xmlns:a16="http://schemas.microsoft.com/office/drawing/2014/main" id="{EFF5A011-5CB0-E770-457E-7A33A8DEB0A6}"/>
              </a:ext>
            </a:extLst>
          </p:cNvPr>
          <p:cNvGrpSpPr/>
          <p:nvPr/>
        </p:nvGrpSpPr>
        <p:grpSpPr>
          <a:xfrm>
            <a:off x="1236488" y="2883990"/>
            <a:ext cx="4747207" cy="1957351"/>
            <a:chOff x="1236488" y="2883990"/>
            <a:chExt cx="4747207" cy="1957351"/>
          </a:xfrm>
        </p:grpSpPr>
        <p:sp>
          <p:nvSpPr>
            <p:cNvPr id="55" name="Freeform: Shape 54">
              <a:extLst>
                <a:ext uri="{FF2B5EF4-FFF2-40B4-BE49-F238E27FC236}">
                  <a16:creationId xmlns:a16="http://schemas.microsoft.com/office/drawing/2014/main" id="{6DBCD7F0-18FC-AB81-AE9C-577C156D4E54}"/>
                </a:ext>
              </a:extLst>
            </p:cNvPr>
            <p:cNvSpPr/>
            <p:nvPr/>
          </p:nvSpPr>
          <p:spPr>
            <a:xfrm>
              <a:off x="1236488" y="2992809"/>
              <a:ext cx="1229375" cy="1848532"/>
            </a:xfrm>
            <a:custGeom>
              <a:avLst/>
              <a:gdLst>
                <a:gd name="csX0" fmla="*/ 6178 w 1118286"/>
                <a:gd name="csY0" fmla="*/ 0 h 1890584"/>
                <a:gd name="csX1" fmla="*/ 166816 w 1118286"/>
                <a:gd name="csY1" fmla="*/ 864973 h 1890584"/>
                <a:gd name="csX2" fmla="*/ 1118286 w 1118286"/>
                <a:gd name="csY2" fmla="*/ 1890584 h 1890584"/>
              </a:gdLst>
              <a:ahLst/>
              <a:cxnLst>
                <a:cxn ang="0">
                  <a:pos x="csX0" y="csY0"/>
                </a:cxn>
                <a:cxn ang="0">
                  <a:pos x="csX1" y="csY1"/>
                </a:cxn>
                <a:cxn ang="0">
                  <a:pos x="csX2" y="csY2"/>
                </a:cxn>
              </a:cxnLst>
              <a:rect l="l" t="t" r="r" b="b"/>
              <a:pathLst>
                <a:path w="1118286" h="1890584">
                  <a:moveTo>
                    <a:pt x="6178" y="0"/>
                  </a:moveTo>
                  <a:cubicBezTo>
                    <a:pt x="-6179" y="274938"/>
                    <a:pt x="-18535" y="549876"/>
                    <a:pt x="166816" y="864973"/>
                  </a:cubicBezTo>
                  <a:cubicBezTo>
                    <a:pt x="352167" y="1180070"/>
                    <a:pt x="922637" y="1830860"/>
                    <a:pt x="1118286" y="1890584"/>
                  </a:cubicBezTo>
                </a:path>
              </a:pathLst>
            </a:custGeo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13" name="Picture 12">
              <a:extLst>
                <a:ext uri="{FF2B5EF4-FFF2-40B4-BE49-F238E27FC236}">
                  <a16:creationId xmlns:a16="http://schemas.microsoft.com/office/drawing/2014/main" id="{F7F865AA-FB93-CA57-5A96-07275A287576}"/>
                </a:ext>
              </a:extLst>
            </p:cNvPr>
            <p:cNvPicPr>
              <a:picLocks noChangeAspect="1"/>
            </p:cNvPicPr>
            <p:nvPr/>
          </p:nvPicPr>
          <p:blipFill>
            <a:blip r:embed="rId4"/>
            <a:srcRect l="62307" t="16671" r="23168" b="14072"/>
            <a:stretch>
              <a:fillRect/>
            </a:stretch>
          </p:blipFill>
          <p:spPr>
            <a:xfrm flipH="1">
              <a:off x="5595931" y="2883990"/>
              <a:ext cx="387764" cy="1054989"/>
            </a:xfrm>
            <a:prstGeom prst="rect">
              <a:avLst/>
            </a:prstGeom>
          </p:spPr>
        </p:pic>
      </p:grpSp>
      <p:grpSp>
        <p:nvGrpSpPr>
          <p:cNvPr id="90" name="Group 89">
            <a:extLst>
              <a:ext uri="{FF2B5EF4-FFF2-40B4-BE49-F238E27FC236}">
                <a16:creationId xmlns:a16="http://schemas.microsoft.com/office/drawing/2014/main" id="{BA88B6B4-A46C-B92F-16ED-218B9290A8DB}"/>
              </a:ext>
            </a:extLst>
          </p:cNvPr>
          <p:cNvGrpSpPr/>
          <p:nvPr/>
        </p:nvGrpSpPr>
        <p:grpSpPr>
          <a:xfrm>
            <a:off x="1265412" y="2854650"/>
            <a:ext cx="3860910" cy="1283702"/>
            <a:chOff x="1265412" y="2854650"/>
            <a:chExt cx="3860910" cy="1283702"/>
          </a:xfrm>
        </p:grpSpPr>
        <p:sp>
          <p:nvSpPr>
            <p:cNvPr id="58" name="Freeform: Shape 57">
              <a:extLst>
                <a:ext uri="{FF2B5EF4-FFF2-40B4-BE49-F238E27FC236}">
                  <a16:creationId xmlns:a16="http://schemas.microsoft.com/office/drawing/2014/main" id="{EE8CB5D2-CB26-27AA-2840-4BEBB104CCD5}"/>
                </a:ext>
              </a:extLst>
            </p:cNvPr>
            <p:cNvSpPr/>
            <p:nvPr/>
          </p:nvSpPr>
          <p:spPr>
            <a:xfrm>
              <a:off x="1265412" y="2930483"/>
              <a:ext cx="3000084" cy="1207869"/>
            </a:xfrm>
            <a:custGeom>
              <a:avLst/>
              <a:gdLst>
                <a:gd name="csX0" fmla="*/ 0 w 1816443"/>
                <a:gd name="csY0" fmla="*/ 0 h 1025611"/>
                <a:gd name="csX1" fmla="*/ 531340 w 1816443"/>
                <a:gd name="csY1" fmla="*/ 630195 h 1025611"/>
                <a:gd name="csX2" fmla="*/ 1816443 w 1816443"/>
                <a:gd name="csY2" fmla="*/ 1025611 h 1025611"/>
              </a:gdLst>
              <a:ahLst/>
              <a:cxnLst>
                <a:cxn ang="0">
                  <a:pos x="csX0" y="csY0"/>
                </a:cxn>
                <a:cxn ang="0">
                  <a:pos x="csX1" y="csY1"/>
                </a:cxn>
                <a:cxn ang="0">
                  <a:pos x="csX2" y="csY2"/>
                </a:cxn>
              </a:cxnLst>
              <a:rect l="l" t="t" r="r" b="b"/>
              <a:pathLst>
                <a:path w="1816443" h="1025611">
                  <a:moveTo>
                    <a:pt x="0" y="0"/>
                  </a:moveTo>
                  <a:cubicBezTo>
                    <a:pt x="114300" y="229630"/>
                    <a:pt x="228600" y="459260"/>
                    <a:pt x="531340" y="630195"/>
                  </a:cubicBezTo>
                  <a:cubicBezTo>
                    <a:pt x="834080" y="801130"/>
                    <a:pt x="1325261" y="913370"/>
                    <a:pt x="1816443" y="1025611"/>
                  </a:cubicBezTo>
                </a:path>
              </a:pathLst>
            </a:cu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30502D83-918C-8C53-D42D-4C7BE2DB6C48}"/>
                </a:ext>
              </a:extLst>
            </p:cNvPr>
            <p:cNvPicPr>
              <a:picLocks noChangeAspect="1"/>
            </p:cNvPicPr>
            <p:nvPr/>
          </p:nvPicPr>
          <p:blipFill>
            <a:blip r:embed="rId4"/>
            <a:srcRect l="20934" t="14165" r="62159" b="15467"/>
            <a:stretch>
              <a:fillRect/>
            </a:stretch>
          </p:blipFill>
          <p:spPr>
            <a:xfrm>
              <a:off x="4684580" y="2854650"/>
              <a:ext cx="441742" cy="1049111"/>
            </a:xfrm>
            <a:prstGeom prst="rect">
              <a:avLst/>
            </a:prstGeom>
          </p:spPr>
        </p:pic>
      </p:grpSp>
      <p:grpSp>
        <p:nvGrpSpPr>
          <p:cNvPr id="93" name="Group 92">
            <a:extLst>
              <a:ext uri="{FF2B5EF4-FFF2-40B4-BE49-F238E27FC236}">
                <a16:creationId xmlns:a16="http://schemas.microsoft.com/office/drawing/2014/main" id="{00489189-89F9-80E7-965E-17D068993142}"/>
              </a:ext>
            </a:extLst>
          </p:cNvPr>
          <p:cNvGrpSpPr/>
          <p:nvPr/>
        </p:nvGrpSpPr>
        <p:grpSpPr>
          <a:xfrm>
            <a:off x="2363142" y="2271416"/>
            <a:ext cx="2821148" cy="2688021"/>
            <a:chOff x="2363142" y="2271416"/>
            <a:chExt cx="2821148" cy="2688021"/>
          </a:xfrm>
        </p:grpSpPr>
        <p:cxnSp>
          <p:nvCxnSpPr>
            <p:cNvPr id="72" name="Straight Connector 71">
              <a:extLst>
                <a:ext uri="{FF2B5EF4-FFF2-40B4-BE49-F238E27FC236}">
                  <a16:creationId xmlns:a16="http://schemas.microsoft.com/office/drawing/2014/main" id="{1D4B0682-1235-E30D-214A-0854371360D8}"/>
                </a:ext>
              </a:extLst>
            </p:cNvPr>
            <p:cNvCxnSpPr>
              <a:cxnSpLocks/>
            </p:cNvCxnSpPr>
            <p:nvPr/>
          </p:nvCxnSpPr>
          <p:spPr>
            <a:xfrm>
              <a:off x="2392411" y="2271416"/>
              <a:ext cx="0" cy="2688021"/>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7C577269-7C48-C38F-2513-AB8A791796A1}"/>
                </a:ext>
              </a:extLst>
            </p:cNvPr>
            <p:cNvSpPr txBox="1"/>
            <p:nvPr/>
          </p:nvSpPr>
          <p:spPr>
            <a:xfrm>
              <a:off x="2480367" y="3047379"/>
              <a:ext cx="1929425" cy="276999"/>
            </a:xfrm>
            <a:prstGeom prst="rect">
              <a:avLst/>
            </a:prstGeom>
            <a:noFill/>
          </p:spPr>
          <p:txBody>
            <a:bodyPr wrap="square" lIns="0" tIns="0" rIns="0" bIns="0" rtlCol="0">
              <a:spAutoFit/>
            </a:bodyPr>
            <a:lstStyle/>
            <a:p>
              <a:pPr algn="l">
                <a:spcBef>
                  <a:spcPts val="800"/>
                </a:spcBef>
              </a:pPr>
              <a:r>
                <a:rPr lang="en-US" dirty="0"/>
                <a:t>Residual variability</a:t>
              </a:r>
            </a:p>
          </p:txBody>
        </p:sp>
        <p:sp>
          <p:nvSpPr>
            <p:cNvPr id="79" name="TextBox 78">
              <a:extLst>
                <a:ext uri="{FF2B5EF4-FFF2-40B4-BE49-F238E27FC236}">
                  <a16:creationId xmlns:a16="http://schemas.microsoft.com/office/drawing/2014/main" id="{CD39A872-6DD7-7D7E-4696-3669DFA49397}"/>
                </a:ext>
              </a:extLst>
            </p:cNvPr>
            <p:cNvSpPr txBox="1"/>
            <p:nvPr/>
          </p:nvSpPr>
          <p:spPr>
            <a:xfrm>
              <a:off x="2553875" y="4092952"/>
              <a:ext cx="2630415" cy="276999"/>
            </a:xfrm>
            <a:prstGeom prst="rect">
              <a:avLst/>
            </a:prstGeom>
            <a:noFill/>
          </p:spPr>
          <p:txBody>
            <a:bodyPr wrap="square" lIns="0" tIns="0" rIns="0" bIns="0" rtlCol="0">
              <a:spAutoFit/>
            </a:bodyPr>
            <a:lstStyle/>
            <a:p>
              <a:pPr algn="l">
                <a:spcBef>
                  <a:spcPts val="800"/>
                </a:spcBef>
              </a:pPr>
              <a:r>
                <a:rPr lang="en-US" dirty="0"/>
                <a:t>Inter-individual variability</a:t>
              </a:r>
            </a:p>
          </p:txBody>
        </p:sp>
        <p:sp>
          <p:nvSpPr>
            <p:cNvPr id="68" name="Oval 67">
              <a:extLst>
                <a:ext uri="{FF2B5EF4-FFF2-40B4-BE49-F238E27FC236}">
                  <a16:creationId xmlns:a16="http://schemas.microsoft.com/office/drawing/2014/main" id="{D80FF123-D848-779A-6353-F1E528B21126}"/>
                </a:ext>
              </a:extLst>
            </p:cNvPr>
            <p:cNvSpPr/>
            <p:nvPr/>
          </p:nvSpPr>
          <p:spPr>
            <a:xfrm>
              <a:off x="2363142" y="3491359"/>
              <a:ext cx="111953" cy="107964"/>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grpSp>
      <p:grpSp>
        <p:nvGrpSpPr>
          <p:cNvPr id="12" name="Group 11">
            <a:extLst>
              <a:ext uri="{FF2B5EF4-FFF2-40B4-BE49-F238E27FC236}">
                <a16:creationId xmlns:a16="http://schemas.microsoft.com/office/drawing/2014/main" id="{95FF71F4-9865-61E6-1D9F-C3FFBBBA4289}"/>
              </a:ext>
            </a:extLst>
          </p:cNvPr>
          <p:cNvGrpSpPr/>
          <p:nvPr/>
        </p:nvGrpSpPr>
        <p:grpSpPr>
          <a:xfrm>
            <a:off x="635724" y="2564635"/>
            <a:ext cx="5244547" cy="2814341"/>
            <a:chOff x="635724" y="2564635"/>
            <a:chExt cx="5244547" cy="2814341"/>
          </a:xfrm>
        </p:grpSpPr>
        <p:grpSp>
          <p:nvGrpSpPr>
            <p:cNvPr id="2" name="Group 1">
              <a:extLst>
                <a:ext uri="{FF2B5EF4-FFF2-40B4-BE49-F238E27FC236}">
                  <a16:creationId xmlns:a16="http://schemas.microsoft.com/office/drawing/2014/main" id="{A1F3C828-2117-3515-B05E-86957A788D82}"/>
                </a:ext>
              </a:extLst>
            </p:cNvPr>
            <p:cNvGrpSpPr/>
            <p:nvPr/>
          </p:nvGrpSpPr>
          <p:grpSpPr>
            <a:xfrm>
              <a:off x="635724" y="2564635"/>
              <a:ext cx="4905126" cy="2814341"/>
              <a:chOff x="635724" y="2564635"/>
              <a:chExt cx="4905126" cy="2814341"/>
            </a:xfrm>
          </p:grpSpPr>
          <p:grpSp>
            <p:nvGrpSpPr>
              <p:cNvPr id="86" name="Group 85">
                <a:extLst>
                  <a:ext uri="{FF2B5EF4-FFF2-40B4-BE49-F238E27FC236}">
                    <a16:creationId xmlns:a16="http://schemas.microsoft.com/office/drawing/2014/main" id="{A39A5AA8-AE9A-347E-BF6F-3404CC7143F6}"/>
                  </a:ext>
                </a:extLst>
              </p:cNvPr>
              <p:cNvGrpSpPr/>
              <p:nvPr/>
            </p:nvGrpSpPr>
            <p:grpSpPr>
              <a:xfrm>
                <a:off x="635724" y="2564635"/>
                <a:ext cx="3703200" cy="2814341"/>
                <a:chOff x="635724" y="2564635"/>
                <a:chExt cx="3017809" cy="2814341"/>
              </a:xfrm>
            </p:grpSpPr>
            <p:cxnSp>
              <p:nvCxnSpPr>
                <p:cNvPr id="19" name="Straight Connector 18">
                  <a:extLst>
                    <a:ext uri="{FF2B5EF4-FFF2-40B4-BE49-F238E27FC236}">
                      <a16:creationId xmlns:a16="http://schemas.microsoft.com/office/drawing/2014/main" id="{04B0AD2F-CBBC-5414-F1E8-1757B66B7B2E}"/>
                    </a:ext>
                  </a:extLst>
                </p:cNvPr>
                <p:cNvCxnSpPr>
                  <a:cxnSpLocks/>
                </p:cNvCxnSpPr>
                <p:nvPr/>
              </p:nvCxnSpPr>
              <p:spPr>
                <a:xfrm>
                  <a:off x="956631" y="2564635"/>
                  <a:ext cx="0" cy="2382788"/>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27" name="Straight Connector 26">
                  <a:extLst>
                    <a:ext uri="{FF2B5EF4-FFF2-40B4-BE49-F238E27FC236}">
                      <a16:creationId xmlns:a16="http://schemas.microsoft.com/office/drawing/2014/main" id="{0969E257-0FE6-2FC7-CD6F-A17944041776}"/>
                    </a:ext>
                  </a:extLst>
                </p:cNvPr>
                <p:cNvCxnSpPr>
                  <a:cxnSpLocks/>
                </p:cNvCxnSpPr>
                <p:nvPr/>
              </p:nvCxnSpPr>
              <p:spPr>
                <a:xfrm flipV="1">
                  <a:off x="956631" y="4947423"/>
                  <a:ext cx="2696902" cy="12014"/>
                </a:xfrm>
                <a:prstGeom prst="line">
                  <a:avLst/>
                </a:prstGeom>
                <a:ln/>
              </p:spPr>
              <p:style>
                <a:lnRef idx="3">
                  <a:schemeClr val="accent2"/>
                </a:lnRef>
                <a:fillRef idx="0">
                  <a:schemeClr val="accent2"/>
                </a:fillRef>
                <a:effectRef idx="2">
                  <a:schemeClr val="accent2"/>
                </a:effectRef>
                <a:fontRef idx="minor">
                  <a:schemeClr val="tx1"/>
                </a:fontRef>
              </p:style>
            </p:cxnSp>
            <p:sp>
              <p:nvSpPr>
                <p:cNvPr id="42" name="TextBox 41">
                  <a:extLst>
                    <a:ext uri="{FF2B5EF4-FFF2-40B4-BE49-F238E27FC236}">
                      <a16:creationId xmlns:a16="http://schemas.microsoft.com/office/drawing/2014/main" id="{69822CC9-BD22-7DCB-1799-B66635B0CB19}"/>
                    </a:ext>
                  </a:extLst>
                </p:cNvPr>
                <p:cNvSpPr txBox="1"/>
                <p:nvPr/>
              </p:nvSpPr>
              <p:spPr>
                <a:xfrm>
                  <a:off x="1779373" y="5101977"/>
                  <a:ext cx="1470454" cy="276999"/>
                </a:xfrm>
                <a:prstGeom prst="rect">
                  <a:avLst/>
                </a:prstGeom>
                <a:noFill/>
              </p:spPr>
              <p:txBody>
                <a:bodyPr wrap="square" lIns="0" tIns="0" rIns="0" bIns="0" rtlCol="0">
                  <a:spAutoFit/>
                </a:bodyPr>
                <a:lstStyle/>
                <a:p>
                  <a:pPr algn="l">
                    <a:spcBef>
                      <a:spcPts val="800"/>
                    </a:spcBef>
                  </a:pPr>
                  <a:r>
                    <a:rPr lang="en-US" b="1" dirty="0"/>
                    <a:t>Time</a:t>
                  </a:r>
                </a:p>
              </p:txBody>
            </p:sp>
            <p:sp>
              <p:nvSpPr>
                <p:cNvPr id="46" name="TextBox 45">
                  <a:extLst>
                    <a:ext uri="{FF2B5EF4-FFF2-40B4-BE49-F238E27FC236}">
                      <a16:creationId xmlns:a16="http://schemas.microsoft.com/office/drawing/2014/main" id="{4BC1F755-B639-1018-0CAC-D5EAF256B2DA}"/>
                    </a:ext>
                  </a:extLst>
                </p:cNvPr>
                <p:cNvSpPr txBox="1"/>
                <p:nvPr/>
              </p:nvSpPr>
              <p:spPr>
                <a:xfrm>
                  <a:off x="635724" y="3529638"/>
                  <a:ext cx="226015" cy="276999"/>
                </a:xfrm>
                <a:prstGeom prst="rect">
                  <a:avLst/>
                </a:prstGeom>
                <a:noFill/>
              </p:spPr>
              <p:txBody>
                <a:bodyPr wrap="square" lIns="0" tIns="0" rIns="0" bIns="0" rtlCol="0">
                  <a:spAutoFit/>
                </a:bodyPr>
                <a:lstStyle/>
                <a:p>
                  <a:pPr algn="l">
                    <a:spcBef>
                      <a:spcPts val="800"/>
                    </a:spcBef>
                  </a:pPr>
                  <a:r>
                    <a:rPr lang="en-US" b="1" dirty="0"/>
                    <a:t>C</a:t>
                  </a:r>
                </a:p>
              </p:txBody>
            </p:sp>
          </p:grpSp>
          <p:grpSp>
            <p:nvGrpSpPr>
              <p:cNvPr id="92" name="Group 91">
                <a:extLst>
                  <a:ext uri="{FF2B5EF4-FFF2-40B4-BE49-F238E27FC236}">
                    <a16:creationId xmlns:a16="http://schemas.microsoft.com/office/drawing/2014/main" id="{F71C2D17-C4FB-E224-6623-343B05BAFE57}"/>
                  </a:ext>
                </a:extLst>
              </p:cNvPr>
              <p:cNvGrpSpPr/>
              <p:nvPr/>
            </p:nvGrpSpPr>
            <p:grpSpPr>
              <a:xfrm>
                <a:off x="1256659" y="2924147"/>
                <a:ext cx="4284191" cy="1676036"/>
                <a:chOff x="1256659" y="2924147"/>
                <a:chExt cx="4284191" cy="1676036"/>
              </a:xfrm>
            </p:grpSpPr>
            <p:sp>
              <p:nvSpPr>
                <p:cNvPr id="48" name="Freeform: Shape 47">
                  <a:extLst>
                    <a:ext uri="{FF2B5EF4-FFF2-40B4-BE49-F238E27FC236}">
                      <a16:creationId xmlns:a16="http://schemas.microsoft.com/office/drawing/2014/main" id="{556C6C65-294D-0D07-F9E3-5B1C13C06B36}"/>
                    </a:ext>
                  </a:extLst>
                </p:cNvPr>
                <p:cNvSpPr/>
                <p:nvPr/>
              </p:nvSpPr>
              <p:spPr>
                <a:xfrm>
                  <a:off x="1256659" y="2938507"/>
                  <a:ext cx="2791879" cy="1661676"/>
                </a:xfrm>
                <a:custGeom>
                  <a:avLst/>
                  <a:gdLst>
                    <a:gd name="csX0" fmla="*/ 0 w 2075935"/>
                    <a:gd name="csY0" fmla="*/ 0 h 1680519"/>
                    <a:gd name="csX1" fmla="*/ 494270 w 2075935"/>
                    <a:gd name="csY1" fmla="*/ 1186248 h 1680519"/>
                    <a:gd name="csX2" fmla="*/ 2075935 w 2075935"/>
                    <a:gd name="csY2" fmla="*/ 1680519 h 1680519"/>
                  </a:gdLst>
                  <a:ahLst/>
                  <a:cxnLst>
                    <a:cxn ang="0">
                      <a:pos x="csX0" y="csY0"/>
                    </a:cxn>
                    <a:cxn ang="0">
                      <a:pos x="csX1" y="csY1"/>
                    </a:cxn>
                    <a:cxn ang="0">
                      <a:pos x="csX2" y="csY2"/>
                    </a:cxn>
                  </a:cxnLst>
                  <a:rect l="l" t="t" r="r" b="b"/>
                  <a:pathLst>
                    <a:path w="2075935" h="1680519">
                      <a:moveTo>
                        <a:pt x="0" y="0"/>
                      </a:moveTo>
                      <a:cubicBezTo>
                        <a:pt x="74140" y="453081"/>
                        <a:pt x="148281" y="906162"/>
                        <a:pt x="494270" y="1186248"/>
                      </a:cubicBezTo>
                      <a:cubicBezTo>
                        <a:pt x="840259" y="1466335"/>
                        <a:pt x="1886465" y="1587843"/>
                        <a:pt x="2075935" y="1680519"/>
                      </a:cubicBezTo>
                    </a:path>
                  </a:pathLst>
                </a:custGeom>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pic>
              <p:nvPicPr>
                <p:cNvPr id="85" name="Picture 84">
                  <a:extLst>
                    <a:ext uri="{FF2B5EF4-FFF2-40B4-BE49-F238E27FC236}">
                      <a16:creationId xmlns:a16="http://schemas.microsoft.com/office/drawing/2014/main" id="{BDE41A92-BC83-761C-E087-0FC77705AC3F}"/>
                    </a:ext>
                  </a:extLst>
                </p:cNvPr>
                <p:cNvPicPr>
                  <a:picLocks noChangeAspect="1"/>
                </p:cNvPicPr>
                <p:nvPr/>
              </p:nvPicPr>
              <p:blipFill>
                <a:blip r:embed="rId5"/>
                <a:stretch>
                  <a:fillRect/>
                </a:stretch>
              </p:blipFill>
              <p:spPr>
                <a:xfrm>
                  <a:off x="5153086" y="2924147"/>
                  <a:ext cx="387764" cy="979614"/>
                </a:xfrm>
                <a:prstGeom prst="rect">
                  <a:avLst/>
                </a:prstGeom>
              </p:spPr>
            </p:pic>
          </p:grpSp>
        </p:grpSp>
        <p:sp>
          <p:nvSpPr>
            <p:cNvPr id="8" name="TextBox 7">
              <a:extLst>
                <a:ext uri="{FF2B5EF4-FFF2-40B4-BE49-F238E27FC236}">
                  <a16:creationId xmlns:a16="http://schemas.microsoft.com/office/drawing/2014/main" id="{E0CD9E27-F722-C1DB-CFA5-3E613401BEC4}"/>
                </a:ext>
              </a:extLst>
            </p:cNvPr>
            <p:cNvSpPr txBox="1"/>
            <p:nvPr/>
          </p:nvSpPr>
          <p:spPr>
            <a:xfrm>
              <a:off x="4943008" y="4594360"/>
              <a:ext cx="937263" cy="276999"/>
            </a:xfrm>
            <a:prstGeom prst="rect">
              <a:avLst/>
            </a:prstGeom>
            <a:noFill/>
          </p:spPr>
          <p:txBody>
            <a:bodyPr wrap="square" lIns="0" tIns="0" rIns="0" bIns="0" rtlCol="0">
              <a:spAutoFit/>
            </a:bodyPr>
            <a:lstStyle/>
            <a:p>
              <a:pPr algn="l">
                <a:spcBef>
                  <a:spcPts val="800"/>
                </a:spcBef>
              </a:pPr>
              <a:r>
                <a:rPr lang="en-US" dirty="0"/>
                <a:t>BW~CL</a:t>
              </a:r>
            </a:p>
          </p:txBody>
        </p:sp>
      </p:grpSp>
    </p:spTree>
    <p:extLst>
      <p:ext uri="{BB962C8B-B14F-4D97-AF65-F5344CB8AC3E}">
        <p14:creationId xmlns:p14="http://schemas.microsoft.com/office/powerpoint/2010/main" val="173372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txBox="1"/>
          <p:nvPr/>
        </p:nvSpPr>
        <p:spPr>
          <a:xfrm>
            <a:off x="535658" y="246140"/>
            <a:ext cx="7522493" cy="999926"/>
          </a:xfrm>
          <a:prstGeom prst="rect">
            <a:avLst/>
          </a:prstGeom>
          <a:noFill/>
        </p:spPr>
        <p:txBody>
          <a:bodyPr wrap="square" lIns="0" tIns="0" rIns="0" bIns="0" anchor="t"/>
          <a:lstStyle/>
          <a:p>
            <a:pPr algn="l">
              <a:buNone/>
            </a:pPr>
            <a:r>
              <a:rPr lang="en-US" sz="2800" b="1" dirty="0">
                <a:solidFill>
                  <a:srgbClr val="0460A9"/>
                </a:solidFill>
                <a:latin typeface="Arial"/>
                <a:cs typeface="Arial"/>
              </a:rPr>
              <a:t>The right covariates turn patient traits into Safer, more effective doses</a:t>
            </a:r>
          </a:p>
        </p:txBody>
      </p:sp>
      <p:grpSp>
        <p:nvGrpSpPr>
          <p:cNvPr id="14" name="Group 13">
            <a:extLst>
              <a:ext uri="{FF2B5EF4-FFF2-40B4-BE49-F238E27FC236}">
                <a16:creationId xmlns:a16="http://schemas.microsoft.com/office/drawing/2014/main" id="{D49AB0E7-7A94-6B92-87B9-B4FEB7D274F6}"/>
              </a:ext>
            </a:extLst>
          </p:cNvPr>
          <p:cNvGrpSpPr/>
          <p:nvPr/>
        </p:nvGrpSpPr>
        <p:grpSpPr>
          <a:xfrm>
            <a:off x="628526" y="1565487"/>
            <a:ext cx="5118801" cy="4504910"/>
            <a:chOff x="628526" y="1565487"/>
            <a:chExt cx="5118801" cy="4504910"/>
          </a:xfrm>
        </p:grpSpPr>
        <p:grpSp>
          <p:nvGrpSpPr>
            <p:cNvPr id="10" name="Group 9">
              <a:extLst>
                <a:ext uri="{FF2B5EF4-FFF2-40B4-BE49-F238E27FC236}">
                  <a16:creationId xmlns:a16="http://schemas.microsoft.com/office/drawing/2014/main" id="{C386EB00-9CBB-B77E-10F2-64EA0CA57D17}"/>
                </a:ext>
              </a:extLst>
            </p:cNvPr>
            <p:cNvGrpSpPr/>
            <p:nvPr/>
          </p:nvGrpSpPr>
          <p:grpSpPr>
            <a:xfrm>
              <a:off x="628526" y="1565487"/>
              <a:ext cx="5118801" cy="4504910"/>
              <a:chOff x="628526" y="1565487"/>
              <a:chExt cx="5118801" cy="4504910"/>
            </a:xfrm>
          </p:grpSpPr>
          <p:sp>
            <p:nvSpPr>
              <p:cNvPr id="20" name="wcard"/>
              <p:cNvSpPr/>
              <p:nvPr/>
            </p:nvSpPr>
            <p:spPr>
              <a:xfrm>
                <a:off x="628526" y="1565487"/>
                <a:ext cx="5118801" cy="4504910"/>
              </a:xfrm>
              <a:prstGeom prst="roundRect">
                <a:avLst>
                  <a:gd name="adj" fmla="val 5000"/>
                </a:avLst>
              </a:prstGeom>
              <a:solidFill>
                <a:srgbClr val="F4F7FB"/>
              </a:solidFill>
              <a:ln w="9525">
                <a:solidFill>
                  <a:srgbClr val="D6E2F0"/>
                </a:solidFill>
              </a:ln>
            </p:spPr>
            <p:txBody>
              <a:bodyPr wrap="square" lIns="228600" tIns="137160" rIns="228600" bIns="137160" anchor="t"/>
              <a:lstStyle/>
              <a:p>
                <a:pPr>
                  <a:buNone/>
                </a:pPr>
                <a:endParaRPr lang="en-US"/>
              </a:p>
            </p:txBody>
          </p:sp>
          <p:sp>
            <p:nvSpPr>
              <p:cNvPr id="23" name="wtext"/>
              <p:cNvSpPr txBox="1"/>
              <p:nvPr/>
            </p:nvSpPr>
            <p:spPr>
              <a:xfrm>
                <a:off x="1030334" y="1579054"/>
                <a:ext cx="4191290" cy="1525203"/>
              </a:xfrm>
              <a:prstGeom prst="rect">
                <a:avLst/>
              </a:prstGeom>
              <a:noFill/>
            </p:spPr>
            <p:txBody>
              <a:bodyPr wrap="square" lIns="0" tIns="0" rIns="0" bIns="0" anchor="ctr"/>
              <a:lstStyle/>
              <a:p>
                <a:pPr marL="0" algn="l">
                  <a:lnSpc>
                    <a:spcPct val="106000"/>
                  </a:lnSpc>
                  <a:spcBef>
                    <a:spcPts val="0"/>
                  </a:spcBef>
                  <a:spcAft>
                    <a:spcPts val="500"/>
                  </a:spcAft>
                  <a:buNone/>
                </a:pPr>
                <a:r>
                  <a:rPr lang="en-US" sz="2400" b="1" i="0" dirty="0">
                    <a:solidFill>
                      <a:schemeClr val="bg1">
                        <a:lumMod val="25000"/>
                      </a:schemeClr>
                    </a:solidFill>
                    <a:latin typeface="Arial"/>
                    <a:cs typeface="Arial"/>
                  </a:rPr>
                  <a:t>Example — Warfarin</a:t>
                </a:r>
              </a:p>
              <a:p>
                <a:pPr marL="285750" indent="-285750">
                  <a:lnSpc>
                    <a:spcPct val="106000"/>
                  </a:lnSpc>
                  <a:spcAft>
                    <a:spcPts val="460"/>
                  </a:spcAft>
                  <a:buFont typeface="Arial" panose="020B0604020202020204" pitchFamily="34" charset="0"/>
                  <a:buChar char="•"/>
                </a:pPr>
                <a:r>
                  <a:rPr lang="en-US" dirty="0">
                    <a:solidFill>
                      <a:srgbClr val="5A5A5A"/>
                    </a:solidFill>
                    <a:cs typeface="Arial"/>
                  </a:rPr>
                  <a:t>Narrow therapeutic narrow-therapeutic-index anticoagulant</a:t>
                </a:r>
              </a:p>
            </p:txBody>
          </p:sp>
        </p:grpSp>
        <p:cxnSp>
          <p:nvCxnSpPr>
            <p:cNvPr id="3" name="Straight Connector 2">
              <a:extLst>
                <a:ext uri="{FF2B5EF4-FFF2-40B4-BE49-F238E27FC236}">
                  <a16:creationId xmlns:a16="http://schemas.microsoft.com/office/drawing/2014/main" id="{6DA9DB7C-D60A-8EBD-DD87-C867852F1AB8}"/>
                </a:ext>
              </a:extLst>
            </p:cNvPr>
            <p:cNvCxnSpPr>
              <a:cxnSpLocks/>
            </p:cNvCxnSpPr>
            <p:nvPr/>
          </p:nvCxnSpPr>
          <p:spPr>
            <a:xfrm flipV="1">
              <a:off x="1754693" y="3982038"/>
              <a:ext cx="2946859" cy="533593"/>
            </a:xfrm>
            <a:prstGeom prst="line">
              <a:avLst/>
            </a:prstGeom>
            <a:ln/>
          </p:spPr>
          <p:style>
            <a:lnRef idx="3">
              <a:schemeClr val="accent3"/>
            </a:lnRef>
            <a:fillRef idx="0">
              <a:schemeClr val="accent3"/>
            </a:fillRef>
            <a:effectRef idx="2">
              <a:schemeClr val="accent3"/>
            </a:effectRef>
            <a:fontRef idx="minor">
              <a:schemeClr val="tx1"/>
            </a:fontRef>
          </p:style>
        </p:cxnSp>
        <p:sp>
          <p:nvSpPr>
            <p:cNvPr id="4" name="Isosceles Triangle 3">
              <a:extLst>
                <a:ext uri="{FF2B5EF4-FFF2-40B4-BE49-F238E27FC236}">
                  <a16:creationId xmlns:a16="http://schemas.microsoft.com/office/drawing/2014/main" id="{99282956-0252-CC71-F13C-1A998FBD5A22}"/>
                </a:ext>
              </a:extLst>
            </p:cNvPr>
            <p:cNvSpPr/>
            <p:nvPr/>
          </p:nvSpPr>
          <p:spPr>
            <a:xfrm>
              <a:off x="2991379" y="4234775"/>
              <a:ext cx="545566" cy="451162"/>
            </a:xfrm>
            <a:prstGeom prst="triangle">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sp>
          <p:nvSpPr>
            <p:cNvPr id="12" name="TextBox 11">
              <a:extLst>
                <a:ext uri="{FF2B5EF4-FFF2-40B4-BE49-F238E27FC236}">
                  <a16:creationId xmlns:a16="http://schemas.microsoft.com/office/drawing/2014/main" id="{F5C55C81-7538-7221-B327-2BFCD6E3D94A}"/>
                </a:ext>
              </a:extLst>
            </p:cNvPr>
            <p:cNvSpPr txBox="1"/>
            <p:nvPr/>
          </p:nvSpPr>
          <p:spPr>
            <a:xfrm>
              <a:off x="4208959" y="3426419"/>
              <a:ext cx="1114808" cy="305135"/>
            </a:xfrm>
            <a:prstGeom prst="rect">
              <a:avLst/>
            </a:prstGeom>
            <a:noFill/>
          </p:spPr>
          <p:txBody>
            <a:bodyPr wrap="square">
              <a:spAutoFit/>
            </a:bodyPr>
            <a:lstStyle/>
            <a:p>
              <a:r>
                <a:rPr lang="en-US" b="1" dirty="0">
                  <a:solidFill>
                    <a:srgbClr val="C00000"/>
                  </a:solidFill>
                </a:rPr>
                <a:t>C</a:t>
              </a:r>
              <a:r>
                <a:rPr lang="en-US" altLang="zh-CN" b="1" dirty="0">
                  <a:solidFill>
                    <a:srgbClr val="C00000"/>
                  </a:solidFill>
                </a:rPr>
                <a:t>lotting</a:t>
              </a:r>
              <a:endParaRPr lang="en-US" b="1" dirty="0">
                <a:solidFill>
                  <a:srgbClr val="C00000"/>
                </a:solidFill>
              </a:endParaRPr>
            </a:p>
          </p:txBody>
        </p:sp>
        <p:grpSp>
          <p:nvGrpSpPr>
            <p:cNvPr id="68" name="Group 67">
              <a:extLst>
                <a:ext uri="{FF2B5EF4-FFF2-40B4-BE49-F238E27FC236}">
                  <a16:creationId xmlns:a16="http://schemas.microsoft.com/office/drawing/2014/main" id="{28A1D81C-CF3A-B658-34F7-74F4FE29E4CC}"/>
                </a:ext>
              </a:extLst>
            </p:cNvPr>
            <p:cNvGrpSpPr/>
            <p:nvPr/>
          </p:nvGrpSpPr>
          <p:grpSpPr>
            <a:xfrm>
              <a:off x="962394" y="3684458"/>
              <a:ext cx="1584596" cy="488409"/>
              <a:chOff x="3880372" y="3234723"/>
              <a:chExt cx="1584596" cy="488409"/>
            </a:xfrm>
          </p:grpSpPr>
          <p:sp>
            <p:nvSpPr>
              <p:cNvPr id="8" name="TextBox 7">
                <a:extLst>
                  <a:ext uri="{FF2B5EF4-FFF2-40B4-BE49-F238E27FC236}">
                    <a16:creationId xmlns:a16="http://schemas.microsoft.com/office/drawing/2014/main" id="{7124E8F0-4811-2169-A7F6-EF195758F13C}"/>
                  </a:ext>
                </a:extLst>
              </p:cNvPr>
              <p:cNvSpPr txBox="1"/>
              <p:nvPr/>
            </p:nvSpPr>
            <p:spPr>
              <a:xfrm>
                <a:off x="3994876" y="3417997"/>
                <a:ext cx="1470092" cy="305135"/>
              </a:xfrm>
              <a:prstGeom prst="rect">
                <a:avLst/>
              </a:prstGeom>
              <a:noFill/>
            </p:spPr>
            <p:txBody>
              <a:bodyPr wrap="square">
                <a:spAutoFit/>
              </a:bodyPr>
              <a:lstStyle/>
              <a:p>
                <a:r>
                  <a:rPr lang="en-US" b="1" dirty="0">
                    <a:solidFill>
                      <a:srgbClr val="FF0000"/>
                    </a:solidFill>
                  </a:rPr>
                  <a:t> B</a:t>
                </a:r>
                <a:r>
                  <a:rPr lang="en-US" altLang="zh-CN" b="1" dirty="0">
                    <a:solidFill>
                      <a:srgbClr val="FF0000"/>
                    </a:solidFill>
                  </a:rPr>
                  <a:t>leeding</a:t>
                </a:r>
                <a:endParaRPr lang="en-US" b="1" dirty="0">
                  <a:solidFill>
                    <a:srgbClr val="FF0000"/>
                  </a:solidFill>
                </a:endParaRPr>
              </a:p>
            </p:txBody>
          </p:sp>
          <p:grpSp>
            <p:nvGrpSpPr>
              <p:cNvPr id="17" name="Group 16">
                <a:extLst>
                  <a:ext uri="{FF2B5EF4-FFF2-40B4-BE49-F238E27FC236}">
                    <a16:creationId xmlns:a16="http://schemas.microsoft.com/office/drawing/2014/main" id="{48719982-1979-644A-2F34-3B32E1334966}"/>
                  </a:ext>
                </a:extLst>
              </p:cNvPr>
              <p:cNvGrpSpPr/>
              <p:nvPr/>
            </p:nvGrpSpPr>
            <p:grpSpPr>
              <a:xfrm>
                <a:off x="3880372" y="3234725"/>
                <a:ext cx="453358" cy="192557"/>
                <a:chOff x="4087248" y="3866651"/>
                <a:chExt cx="453358" cy="244650"/>
              </a:xfrm>
              <a:solidFill>
                <a:srgbClr val="002060"/>
              </a:solidFill>
            </p:grpSpPr>
            <p:sp>
              <p:nvSpPr>
                <p:cNvPr id="13" name="Oval 12">
                  <a:extLst>
                    <a:ext uri="{FF2B5EF4-FFF2-40B4-BE49-F238E27FC236}">
                      <a16:creationId xmlns:a16="http://schemas.microsoft.com/office/drawing/2014/main" id="{877A1A09-15E1-EA0C-A929-EBC336600086}"/>
                    </a:ext>
                  </a:extLst>
                </p:cNvPr>
                <p:cNvSpPr/>
                <p:nvPr/>
              </p:nvSpPr>
              <p:spPr>
                <a:xfrm>
                  <a:off x="4087248" y="3866651"/>
                  <a:ext cx="453358" cy="24465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cxnSp>
              <p:nvCxnSpPr>
                <p:cNvPr id="15" name="Straight Connector 14">
                  <a:extLst>
                    <a:ext uri="{FF2B5EF4-FFF2-40B4-BE49-F238E27FC236}">
                      <a16:creationId xmlns:a16="http://schemas.microsoft.com/office/drawing/2014/main" id="{9C6CDCBD-7066-5707-2653-1ABCCA342539}"/>
                    </a:ext>
                  </a:extLst>
                </p:cNvPr>
                <p:cNvCxnSpPr>
                  <a:cxnSpLocks/>
                  <a:stCxn id="13" idx="0"/>
                  <a:endCxn id="13" idx="4"/>
                </p:cNvCxnSpPr>
                <p:nvPr/>
              </p:nvCxnSpPr>
              <p:spPr>
                <a:xfrm>
                  <a:off x="4313927" y="3866651"/>
                  <a:ext cx="0" cy="244650"/>
                </a:xfrm>
                <a:prstGeom prst="line">
                  <a:avLst/>
                </a:prstGeom>
                <a:grpFill/>
                <a:ln/>
              </p:spPr>
              <p:style>
                <a:lnRef idx="1">
                  <a:schemeClr val="accent6"/>
                </a:lnRef>
                <a:fillRef idx="0">
                  <a:schemeClr val="accent6"/>
                </a:fillRef>
                <a:effectRef idx="0">
                  <a:schemeClr val="accent6"/>
                </a:effectRef>
                <a:fontRef idx="minor">
                  <a:schemeClr val="tx1"/>
                </a:fontRef>
              </p:style>
            </p:cxnSp>
          </p:grpSp>
          <p:grpSp>
            <p:nvGrpSpPr>
              <p:cNvPr id="18" name="Group 17">
                <a:extLst>
                  <a:ext uri="{FF2B5EF4-FFF2-40B4-BE49-F238E27FC236}">
                    <a16:creationId xmlns:a16="http://schemas.microsoft.com/office/drawing/2014/main" id="{A7AE7EA7-D799-AB95-E8FB-AC2DFD3F1AD8}"/>
                  </a:ext>
                </a:extLst>
              </p:cNvPr>
              <p:cNvGrpSpPr/>
              <p:nvPr/>
            </p:nvGrpSpPr>
            <p:grpSpPr>
              <a:xfrm>
                <a:off x="4393730" y="3235180"/>
                <a:ext cx="453358" cy="192557"/>
                <a:chOff x="4087248" y="3866652"/>
                <a:chExt cx="453358" cy="244650"/>
              </a:xfrm>
              <a:solidFill>
                <a:srgbClr val="002060"/>
              </a:solidFill>
            </p:grpSpPr>
            <p:sp>
              <p:nvSpPr>
                <p:cNvPr id="19" name="Oval 18">
                  <a:extLst>
                    <a:ext uri="{FF2B5EF4-FFF2-40B4-BE49-F238E27FC236}">
                      <a16:creationId xmlns:a16="http://schemas.microsoft.com/office/drawing/2014/main" id="{59672A5D-35F6-34D5-E57C-2EF6155D7490}"/>
                    </a:ext>
                  </a:extLst>
                </p:cNvPr>
                <p:cNvSpPr/>
                <p:nvPr/>
              </p:nvSpPr>
              <p:spPr>
                <a:xfrm>
                  <a:off x="4087248" y="3866652"/>
                  <a:ext cx="453358" cy="24465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cxnSp>
              <p:nvCxnSpPr>
                <p:cNvPr id="24" name="Straight Connector 23">
                  <a:extLst>
                    <a:ext uri="{FF2B5EF4-FFF2-40B4-BE49-F238E27FC236}">
                      <a16:creationId xmlns:a16="http://schemas.microsoft.com/office/drawing/2014/main" id="{C7C7577B-50E0-B63B-4626-0635DAB71822}"/>
                    </a:ext>
                  </a:extLst>
                </p:cNvPr>
                <p:cNvCxnSpPr>
                  <a:cxnSpLocks/>
                  <a:stCxn id="19" idx="0"/>
                  <a:endCxn id="19" idx="4"/>
                </p:cNvCxnSpPr>
                <p:nvPr/>
              </p:nvCxnSpPr>
              <p:spPr>
                <a:xfrm>
                  <a:off x="4313927" y="3866652"/>
                  <a:ext cx="0" cy="244650"/>
                </a:xfrm>
                <a:prstGeom prst="line">
                  <a:avLst/>
                </a:prstGeom>
                <a:grpFill/>
                <a:ln/>
              </p:spPr>
              <p:style>
                <a:lnRef idx="1">
                  <a:schemeClr val="accent6"/>
                </a:lnRef>
                <a:fillRef idx="0">
                  <a:schemeClr val="accent6"/>
                </a:fillRef>
                <a:effectRef idx="0">
                  <a:schemeClr val="accent6"/>
                </a:effectRef>
                <a:fontRef idx="minor">
                  <a:schemeClr val="tx1"/>
                </a:fontRef>
              </p:style>
            </p:cxnSp>
          </p:grpSp>
          <p:grpSp>
            <p:nvGrpSpPr>
              <p:cNvPr id="25" name="Group 24">
                <a:extLst>
                  <a:ext uri="{FF2B5EF4-FFF2-40B4-BE49-F238E27FC236}">
                    <a16:creationId xmlns:a16="http://schemas.microsoft.com/office/drawing/2014/main" id="{6798649D-7B40-1EF0-46FA-78DF1398ADEF}"/>
                  </a:ext>
                </a:extLst>
              </p:cNvPr>
              <p:cNvGrpSpPr/>
              <p:nvPr/>
            </p:nvGrpSpPr>
            <p:grpSpPr>
              <a:xfrm>
                <a:off x="4899157" y="3234723"/>
                <a:ext cx="453358" cy="192557"/>
                <a:chOff x="4079318" y="3858387"/>
                <a:chExt cx="453358" cy="244650"/>
              </a:xfrm>
              <a:solidFill>
                <a:srgbClr val="002060"/>
              </a:solidFill>
            </p:grpSpPr>
            <p:sp>
              <p:nvSpPr>
                <p:cNvPr id="26" name="Oval 25">
                  <a:extLst>
                    <a:ext uri="{FF2B5EF4-FFF2-40B4-BE49-F238E27FC236}">
                      <a16:creationId xmlns:a16="http://schemas.microsoft.com/office/drawing/2014/main" id="{E09D0D41-2FBA-82C3-9E94-5A820D9F262B}"/>
                    </a:ext>
                  </a:extLst>
                </p:cNvPr>
                <p:cNvSpPr/>
                <p:nvPr/>
              </p:nvSpPr>
              <p:spPr>
                <a:xfrm>
                  <a:off x="4079318" y="3858387"/>
                  <a:ext cx="453358" cy="24465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cxnSp>
              <p:nvCxnSpPr>
                <p:cNvPr id="27" name="Straight Connector 26">
                  <a:extLst>
                    <a:ext uri="{FF2B5EF4-FFF2-40B4-BE49-F238E27FC236}">
                      <a16:creationId xmlns:a16="http://schemas.microsoft.com/office/drawing/2014/main" id="{A0B9FE70-1DA4-F383-2E51-6296DD1003A0}"/>
                    </a:ext>
                  </a:extLst>
                </p:cNvPr>
                <p:cNvCxnSpPr>
                  <a:cxnSpLocks/>
                  <a:stCxn id="26" idx="0"/>
                  <a:endCxn id="26" idx="4"/>
                </p:cNvCxnSpPr>
                <p:nvPr/>
              </p:nvCxnSpPr>
              <p:spPr>
                <a:xfrm>
                  <a:off x="4305997" y="3858387"/>
                  <a:ext cx="0" cy="244650"/>
                </a:xfrm>
                <a:prstGeom prst="line">
                  <a:avLst/>
                </a:prstGeom>
                <a:grpFill/>
                <a:ln/>
              </p:spPr>
              <p:style>
                <a:lnRef idx="1">
                  <a:schemeClr val="accent6"/>
                </a:lnRef>
                <a:fillRef idx="0">
                  <a:schemeClr val="accent6"/>
                </a:fillRef>
                <a:effectRef idx="0">
                  <a:schemeClr val="accent6"/>
                </a:effectRef>
                <a:fontRef idx="minor">
                  <a:schemeClr val="tx1"/>
                </a:fontRef>
              </p:style>
            </p:cxnSp>
          </p:grpSp>
        </p:grpSp>
        <p:grpSp>
          <p:nvGrpSpPr>
            <p:cNvPr id="28" name="Group 27">
              <a:extLst>
                <a:ext uri="{FF2B5EF4-FFF2-40B4-BE49-F238E27FC236}">
                  <a16:creationId xmlns:a16="http://schemas.microsoft.com/office/drawing/2014/main" id="{9F1EDA8A-DB64-67F0-5E52-5AEC0411FC40}"/>
                </a:ext>
              </a:extLst>
            </p:cNvPr>
            <p:cNvGrpSpPr/>
            <p:nvPr/>
          </p:nvGrpSpPr>
          <p:grpSpPr>
            <a:xfrm>
              <a:off x="4478824" y="3211260"/>
              <a:ext cx="480937" cy="204271"/>
              <a:chOff x="4087906" y="3735679"/>
              <a:chExt cx="453358" cy="244650"/>
            </a:xfrm>
            <a:solidFill>
              <a:srgbClr val="002060"/>
            </a:solidFill>
          </p:grpSpPr>
          <p:sp>
            <p:nvSpPr>
              <p:cNvPr id="29" name="Oval 28">
                <a:extLst>
                  <a:ext uri="{FF2B5EF4-FFF2-40B4-BE49-F238E27FC236}">
                    <a16:creationId xmlns:a16="http://schemas.microsoft.com/office/drawing/2014/main" id="{7509D01B-3E11-FEC6-EC71-FA935E15E0E6}"/>
                  </a:ext>
                </a:extLst>
              </p:cNvPr>
              <p:cNvSpPr/>
              <p:nvPr/>
            </p:nvSpPr>
            <p:spPr>
              <a:xfrm>
                <a:off x="4087906" y="3735679"/>
                <a:ext cx="453358" cy="24465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cxnSp>
            <p:nvCxnSpPr>
              <p:cNvPr id="45" name="Straight Connector 44">
                <a:extLst>
                  <a:ext uri="{FF2B5EF4-FFF2-40B4-BE49-F238E27FC236}">
                    <a16:creationId xmlns:a16="http://schemas.microsoft.com/office/drawing/2014/main" id="{4F6C8A0D-A275-2B42-6B05-34DFBBF2D0FA}"/>
                  </a:ext>
                </a:extLst>
              </p:cNvPr>
              <p:cNvCxnSpPr>
                <a:cxnSpLocks/>
                <a:stCxn id="29" idx="0"/>
                <a:endCxn id="29" idx="4"/>
              </p:cNvCxnSpPr>
              <p:nvPr/>
            </p:nvCxnSpPr>
            <p:spPr>
              <a:xfrm>
                <a:off x="4314585" y="3735679"/>
                <a:ext cx="0" cy="244650"/>
              </a:xfrm>
              <a:prstGeom prst="line">
                <a:avLst/>
              </a:prstGeom>
              <a:grpFill/>
              <a:ln/>
            </p:spPr>
            <p:style>
              <a:lnRef idx="1">
                <a:schemeClr val="accent6"/>
              </a:lnRef>
              <a:fillRef idx="0">
                <a:schemeClr val="accent6"/>
              </a:fillRef>
              <a:effectRef idx="0">
                <a:schemeClr val="accent6"/>
              </a:effectRef>
              <a:fontRef idx="minor">
                <a:schemeClr val="tx1"/>
              </a:fontRef>
            </p:style>
          </p:cxnSp>
        </p:grpSp>
        <p:sp>
          <p:nvSpPr>
            <p:cNvPr id="47" name="Right Bracket 46">
              <a:extLst>
                <a:ext uri="{FF2B5EF4-FFF2-40B4-BE49-F238E27FC236}">
                  <a16:creationId xmlns:a16="http://schemas.microsoft.com/office/drawing/2014/main" id="{5C68A955-5D80-20CD-CAEA-D40B69FE1F74}"/>
                </a:ext>
              </a:extLst>
            </p:cNvPr>
            <p:cNvSpPr/>
            <p:nvPr/>
          </p:nvSpPr>
          <p:spPr>
            <a:xfrm rot="5400000">
              <a:off x="4553526" y="2858171"/>
              <a:ext cx="130589" cy="1716478"/>
            </a:xfrm>
            <a:prstGeom prst="rightBracket">
              <a:avLst/>
            </a:pr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sp>
          <p:nvSpPr>
            <p:cNvPr id="49" name="Right Bracket 48">
              <a:extLst>
                <a:ext uri="{FF2B5EF4-FFF2-40B4-BE49-F238E27FC236}">
                  <a16:creationId xmlns:a16="http://schemas.microsoft.com/office/drawing/2014/main" id="{5674F5CB-C8A7-3F77-1E91-6DEE96818455}"/>
                </a:ext>
              </a:extLst>
            </p:cNvPr>
            <p:cNvSpPr/>
            <p:nvPr/>
          </p:nvSpPr>
          <p:spPr>
            <a:xfrm rot="5400000">
              <a:off x="1671277" y="3339901"/>
              <a:ext cx="130589" cy="1716478"/>
            </a:xfrm>
            <a:prstGeom prst="rightBracket">
              <a:avLst/>
            </a:prstGeom>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5F42AC2F-8F8A-803B-9D7C-A5A7AEE2EB0A}"/>
                </a:ext>
              </a:extLst>
            </p:cNvPr>
            <p:cNvCxnSpPr>
              <a:cxnSpLocks/>
            </p:cNvCxnSpPr>
            <p:nvPr/>
          </p:nvCxnSpPr>
          <p:spPr>
            <a:xfrm>
              <a:off x="1759545" y="4259375"/>
              <a:ext cx="0" cy="262305"/>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5" name="Straight Connector 54">
              <a:extLst>
                <a:ext uri="{FF2B5EF4-FFF2-40B4-BE49-F238E27FC236}">
                  <a16:creationId xmlns:a16="http://schemas.microsoft.com/office/drawing/2014/main" id="{A4C1B9B0-108C-BC63-0725-5DB2784DAE6A}"/>
                </a:ext>
              </a:extLst>
            </p:cNvPr>
            <p:cNvCxnSpPr>
              <a:cxnSpLocks/>
            </p:cNvCxnSpPr>
            <p:nvPr/>
          </p:nvCxnSpPr>
          <p:spPr>
            <a:xfrm>
              <a:off x="4701552" y="3792435"/>
              <a:ext cx="0" cy="207871"/>
            </a:xfrm>
            <a:prstGeom prst="line">
              <a:avLst/>
            </a:prstGeom>
            <a:ln/>
          </p:spPr>
          <p:style>
            <a:lnRef idx="3">
              <a:schemeClr val="accent3"/>
            </a:lnRef>
            <a:fillRef idx="0">
              <a:schemeClr val="accent3"/>
            </a:fillRef>
            <a:effectRef idx="2">
              <a:schemeClr val="accent3"/>
            </a:effectRef>
            <a:fontRef idx="minor">
              <a:schemeClr val="tx1"/>
            </a:fontRef>
          </p:style>
        </p:cxnSp>
        <p:sp>
          <p:nvSpPr>
            <p:cNvPr id="58" name="TextBox 57">
              <a:extLst>
                <a:ext uri="{FF2B5EF4-FFF2-40B4-BE49-F238E27FC236}">
                  <a16:creationId xmlns:a16="http://schemas.microsoft.com/office/drawing/2014/main" id="{822B422B-8FB2-3DF6-868D-95B195D36035}"/>
                </a:ext>
              </a:extLst>
            </p:cNvPr>
            <p:cNvSpPr txBox="1"/>
            <p:nvPr/>
          </p:nvSpPr>
          <p:spPr>
            <a:xfrm>
              <a:off x="1042708" y="4997942"/>
              <a:ext cx="4059097" cy="658770"/>
            </a:xfrm>
            <a:prstGeom prst="rect">
              <a:avLst/>
            </a:prstGeom>
            <a:noFill/>
          </p:spPr>
          <p:txBody>
            <a:bodyPr wrap="square">
              <a:spAutoFit/>
            </a:bodyPr>
            <a:lstStyle/>
            <a:p>
              <a:pPr marL="285750" indent="-285750" algn="l">
                <a:lnSpc>
                  <a:spcPct val="106000"/>
                </a:lnSpc>
                <a:spcBef>
                  <a:spcPts val="0"/>
                </a:spcBef>
                <a:spcAft>
                  <a:spcPts val="0"/>
                </a:spcAft>
                <a:buFont typeface="Arial" panose="020B0604020202020204" pitchFamily="34" charset="0"/>
                <a:buChar char="•"/>
              </a:pPr>
              <a:r>
                <a:rPr lang="en-US" sz="1800" b="0" i="0" dirty="0">
                  <a:solidFill>
                    <a:srgbClr val="5A5A5A"/>
                  </a:solidFill>
                  <a:latin typeface="Arial"/>
                  <a:cs typeface="Arial"/>
                </a:rPr>
                <a:t>CYP2C9 genotype, age, </a:t>
              </a:r>
              <a:r>
                <a:rPr lang="en-US" sz="1800" dirty="0">
                  <a:solidFill>
                    <a:srgbClr val="5A5A5A"/>
                  </a:solidFill>
                  <a:latin typeface="Arial"/>
                  <a:cs typeface="Arial"/>
                </a:rPr>
                <a:t>weight</a:t>
              </a:r>
              <a:r>
                <a:rPr lang="en-US" dirty="0">
                  <a:solidFill>
                    <a:srgbClr val="5A5A5A"/>
                  </a:solidFill>
                  <a:latin typeface="Arial"/>
                  <a:cs typeface="Arial"/>
                </a:rPr>
                <a:t>,</a:t>
              </a:r>
              <a:r>
                <a:rPr lang="en-US" sz="1800" dirty="0">
                  <a:solidFill>
                    <a:srgbClr val="5A5A5A"/>
                  </a:solidFill>
                  <a:latin typeface="Arial"/>
                  <a:cs typeface="Arial"/>
                </a:rPr>
                <a:t> </a:t>
              </a:r>
              <a:r>
                <a:rPr lang="en-US" altLang="zh-CN" sz="1800" dirty="0">
                  <a:solidFill>
                    <a:srgbClr val="5A5A5A"/>
                  </a:solidFill>
                  <a:latin typeface="Arial"/>
                  <a:cs typeface="Arial"/>
                </a:rPr>
                <a:t>comedication</a:t>
              </a:r>
              <a:endParaRPr lang="en-US" sz="1800" b="0" i="0" dirty="0">
                <a:solidFill>
                  <a:srgbClr val="5A5A5A"/>
                </a:solidFill>
                <a:latin typeface="Arial"/>
                <a:cs typeface="Arial"/>
              </a:endParaRPr>
            </a:p>
          </p:txBody>
        </p:sp>
      </p:gr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718466D9-923E-4FD3-BC6E-66332D976B9E}" type="slidenum">
              <a:rPr lang="en-US" sz="1000">
                <a:solidFill>
                  <a:srgbClr val="8A8A8A"/>
                </a:solidFill>
                <a:latin typeface="Arial"/>
              </a:rPr>
              <a:t>5</a:t>
            </a:fld>
            <a:endParaRPr lang="en-US" sz="1000">
              <a:solidFill>
                <a:srgbClr val="8A8A8A"/>
              </a:solidFill>
              <a:latin typeface="Arial"/>
            </a:endParaRPr>
          </a:p>
        </p:txBody>
      </p:sp>
      <p:grpSp>
        <p:nvGrpSpPr>
          <p:cNvPr id="46" name="Group 45">
            <a:extLst>
              <a:ext uri="{FF2B5EF4-FFF2-40B4-BE49-F238E27FC236}">
                <a16:creationId xmlns:a16="http://schemas.microsoft.com/office/drawing/2014/main" id="{9BAD2B65-08E6-9A16-962F-2D5CA7D04794}"/>
              </a:ext>
            </a:extLst>
          </p:cNvPr>
          <p:cNvGrpSpPr/>
          <p:nvPr/>
        </p:nvGrpSpPr>
        <p:grpSpPr>
          <a:xfrm>
            <a:off x="6501573" y="1565487"/>
            <a:ext cx="5203321" cy="4295000"/>
            <a:chOff x="6190000" y="1520000"/>
            <a:chExt cx="5430000" cy="4520000"/>
          </a:xfrm>
        </p:grpSpPr>
        <p:cxnSp>
          <p:nvCxnSpPr>
            <p:cNvPr id="30" name="c30"/>
            <p:cNvCxnSpPr/>
            <p:nvPr/>
          </p:nvCxnSpPr>
          <p:spPr>
            <a:xfrm>
              <a:off x="6650000" y="1980000"/>
              <a:ext cx="400000" cy="1200000"/>
            </a:xfrm>
            <a:prstGeom prst="curvedConnector3">
              <a:avLst/>
            </a:prstGeom>
            <a:ln w="38100" cap="rnd">
              <a:solidFill>
                <a:srgbClr val="E8590C"/>
              </a:solidFill>
            </a:ln>
          </p:spPr>
        </p:cxnSp>
        <p:cxnSp>
          <p:nvCxnSpPr>
            <p:cNvPr id="31" name="c31"/>
            <p:cNvCxnSpPr/>
            <p:nvPr/>
          </p:nvCxnSpPr>
          <p:spPr>
            <a:xfrm flipH="1">
              <a:off x="6650000" y="3180000"/>
              <a:ext cx="400000" cy="1200000"/>
            </a:xfrm>
            <a:prstGeom prst="curvedConnector3">
              <a:avLst/>
            </a:prstGeom>
            <a:ln w="38100" cap="rnd">
              <a:solidFill>
                <a:srgbClr val="E8590C"/>
              </a:solidFill>
            </a:ln>
          </p:spPr>
        </p:cxnSp>
        <p:cxnSp>
          <p:nvCxnSpPr>
            <p:cNvPr id="32" name="c32"/>
            <p:cNvCxnSpPr/>
            <p:nvPr/>
          </p:nvCxnSpPr>
          <p:spPr>
            <a:xfrm>
              <a:off x="6650000" y="4380000"/>
              <a:ext cx="400000" cy="1200000"/>
            </a:xfrm>
            <a:prstGeom prst="curvedConnector3">
              <a:avLst/>
            </a:prstGeom>
            <a:ln w="38100" cap="rnd">
              <a:solidFill>
                <a:srgbClr val="E8590C"/>
              </a:solidFill>
            </a:ln>
          </p:spPr>
        </p:cxnSp>
        <p:sp>
          <p:nvSpPr>
            <p:cNvPr id="33" name="appc0"/>
            <p:cNvSpPr/>
            <p:nvPr/>
          </p:nvSpPr>
          <p:spPr>
            <a:xfrm>
              <a:off x="6190000" y="1520000"/>
              <a:ext cx="920000" cy="920000"/>
            </a:xfrm>
            <a:prstGeom prst="ellipse">
              <a:avLst/>
            </a:prstGeom>
            <a:solidFill>
              <a:srgbClr val="FFFFFF"/>
            </a:solidFill>
            <a:ln w="28575">
              <a:solidFill>
                <a:srgbClr val="E8590C"/>
              </a:solidFill>
            </a:ln>
          </p:spPr>
          <p:txBody>
            <a:bodyPr/>
            <a:lstStyle/>
            <a:p>
              <a:pPr>
                <a:buNone/>
              </a:pPr>
              <a:endParaRPr lang="en-US" sz="2400"/>
            </a:p>
          </p:txBody>
        </p:sp>
        <p:pic>
          <p:nvPicPr>
            <p:cNvPr id="34" name="appi0"/>
            <p:cNvPicPr>
              <a:picLocks noChangeAspect="1"/>
            </p:cNvPicPr>
            <p:nvPr/>
          </p:nvPicPr>
          <p:blipFill>
            <a:blip r:embed="rId3"/>
            <a:stretch>
              <a:fillRect/>
            </a:stretch>
          </p:blipFill>
          <p:spPr>
            <a:xfrm>
              <a:off x="6415000" y="1745000"/>
              <a:ext cx="470000" cy="470000"/>
            </a:xfrm>
            <a:prstGeom prst="rect">
              <a:avLst/>
            </a:prstGeom>
          </p:spPr>
        </p:pic>
        <p:sp>
          <p:nvSpPr>
            <p:cNvPr id="35" name="lab0"/>
            <p:cNvSpPr txBox="1"/>
            <p:nvPr/>
          </p:nvSpPr>
          <p:spPr>
            <a:xfrm>
              <a:off x="7340000" y="1650000"/>
              <a:ext cx="4280000" cy="660000"/>
            </a:xfrm>
            <a:prstGeom prst="rect">
              <a:avLst/>
            </a:prstGeom>
            <a:noFill/>
          </p:spPr>
          <p:txBody>
            <a:bodyPr wrap="square" lIns="0" tIns="0" rIns="0" bIns="0" anchor="ctr"/>
            <a:lstStyle/>
            <a:p>
              <a:pPr marL="0" algn="l">
                <a:lnSpc>
                  <a:spcPct val="106000"/>
                </a:lnSpc>
                <a:spcBef>
                  <a:spcPts val="0"/>
                </a:spcBef>
                <a:spcAft>
                  <a:spcPts val="180"/>
                </a:spcAft>
                <a:buNone/>
              </a:pPr>
              <a:r>
                <a:rPr lang="en-US" sz="2000" b="1" i="0" dirty="0">
                  <a:solidFill>
                    <a:srgbClr val="3C3C3C"/>
                  </a:solidFill>
                  <a:latin typeface="Arial"/>
                  <a:cs typeface="Arial"/>
                </a:rPr>
                <a:t>Dose optimization</a:t>
              </a:r>
            </a:p>
          </p:txBody>
        </p:sp>
        <p:sp>
          <p:nvSpPr>
            <p:cNvPr id="36" name="appc1"/>
            <p:cNvSpPr/>
            <p:nvPr/>
          </p:nvSpPr>
          <p:spPr>
            <a:xfrm>
              <a:off x="6590000" y="2720000"/>
              <a:ext cx="920000" cy="920000"/>
            </a:xfrm>
            <a:prstGeom prst="ellipse">
              <a:avLst/>
            </a:prstGeom>
            <a:solidFill>
              <a:srgbClr val="FFFFFF"/>
            </a:solidFill>
            <a:ln w="28575">
              <a:solidFill>
                <a:srgbClr val="E8590C"/>
              </a:solidFill>
            </a:ln>
          </p:spPr>
          <p:txBody>
            <a:bodyPr/>
            <a:lstStyle/>
            <a:p>
              <a:pPr>
                <a:buNone/>
              </a:pPr>
              <a:endParaRPr lang="en-US" sz="2400"/>
            </a:p>
          </p:txBody>
        </p:sp>
        <p:pic>
          <p:nvPicPr>
            <p:cNvPr id="37" name="appi1"/>
            <p:cNvPicPr>
              <a:picLocks noChangeAspect="1"/>
            </p:cNvPicPr>
            <p:nvPr/>
          </p:nvPicPr>
          <p:blipFill>
            <a:blip r:embed="rId4"/>
            <a:stretch>
              <a:fillRect/>
            </a:stretch>
          </p:blipFill>
          <p:spPr>
            <a:xfrm>
              <a:off x="6815000" y="2945000"/>
              <a:ext cx="470000" cy="470000"/>
            </a:xfrm>
            <a:prstGeom prst="rect">
              <a:avLst/>
            </a:prstGeom>
          </p:spPr>
        </p:pic>
        <p:sp>
          <p:nvSpPr>
            <p:cNvPr id="38" name="lab1"/>
            <p:cNvSpPr txBox="1"/>
            <p:nvPr/>
          </p:nvSpPr>
          <p:spPr>
            <a:xfrm>
              <a:off x="7740000" y="2850000"/>
              <a:ext cx="3880000" cy="660000"/>
            </a:xfrm>
            <a:prstGeom prst="rect">
              <a:avLst/>
            </a:prstGeom>
            <a:noFill/>
          </p:spPr>
          <p:txBody>
            <a:bodyPr wrap="square" lIns="0" tIns="0" rIns="0" bIns="0" anchor="ctr"/>
            <a:lstStyle/>
            <a:p>
              <a:pPr marL="0" algn="l">
                <a:lnSpc>
                  <a:spcPct val="106000"/>
                </a:lnSpc>
                <a:spcBef>
                  <a:spcPts val="0"/>
                </a:spcBef>
                <a:spcAft>
                  <a:spcPts val="180"/>
                </a:spcAft>
                <a:buNone/>
              </a:pPr>
              <a:r>
                <a:rPr lang="en-US" sz="2000" b="1" i="0" dirty="0">
                  <a:solidFill>
                    <a:srgbClr val="3C3C3C"/>
                  </a:solidFill>
                  <a:latin typeface="Arial"/>
                  <a:cs typeface="Arial"/>
                </a:rPr>
                <a:t>Clinical trial design</a:t>
              </a:r>
            </a:p>
          </p:txBody>
        </p:sp>
        <p:sp>
          <p:nvSpPr>
            <p:cNvPr id="39" name="appc2"/>
            <p:cNvSpPr/>
            <p:nvPr/>
          </p:nvSpPr>
          <p:spPr>
            <a:xfrm>
              <a:off x="6190000" y="3920000"/>
              <a:ext cx="920000" cy="920000"/>
            </a:xfrm>
            <a:prstGeom prst="ellipse">
              <a:avLst/>
            </a:prstGeom>
            <a:solidFill>
              <a:srgbClr val="FFFFFF"/>
            </a:solidFill>
            <a:ln w="28575">
              <a:solidFill>
                <a:srgbClr val="E8590C"/>
              </a:solidFill>
            </a:ln>
          </p:spPr>
          <p:txBody>
            <a:bodyPr/>
            <a:lstStyle/>
            <a:p>
              <a:pPr>
                <a:buNone/>
              </a:pPr>
              <a:endParaRPr lang="en-US" sz="2400"/>
            </a:p>
          </p:txBody>
        </p:sp>
        <p:pic>
          <p:nvPicPr>
            <p:cNvPr id="40" name="appi2"/>
            <p:cNvPicPr>
              <a:picLocks noChangeAspect="1"/>
            </p:cNvPicPr>
            <p:nvPr/>
          </p:nvPicPr>
          <p:blipFill>
            <a:blip r:embed="rId5"/>
            <a:stretch>
              <a:fillRect/>
            </a:stretch>
          </p:blipFill>
          <p:spPr>
            <a:xfrm>
              <a:off x="6415000" y="4145000"/>
              <a:ext cx="470000" cy="470000"/>
            </a:xfrm>
            <a:prstGeom prst="rect">
              <a:avLst/>
            </a:prstGeom>
          </p:spPr>
        </p:pic>
        <p:sp>
          <p:nvSpPr>
            <p:cNvPr id="41" name="lab2"/>
            <p:cNvSpPr txBox="1"/>
            <p:nvPr/>
          </p:nvSpPr>
          <p:spPr>
            <a:xfrm>
              <a:off x="7340000" y="4050000"/>
              <a:ext cx="4280000" cy="660000"/>
            </a:xfrm>
            <a:prstGeom prst="rect">
              <a:avLst/>
            </a:prstGeom>
            <a:noFill/>
          </p:spPr>
          <p:txBody>
            <a:bodyPr wrap="square" lIns="0" tIns="0" rIns="0" bIns="0" anchor="ctr"/>
            <a:lstStyle/>
            <a:p>
              <a:pPr marL="0" algn="l">
                <a:lnSpc>
                  <a:spcPct val="106000"/>
                </a:lnSpc>
                <a:spcBef>
                  <a:spcPts val="0"/>
                </a:spcBef>
                <a:spcAft>
                  <a:spcPts val="180"/>
                </a:spcAft>
                <a:buNone/>
              </a:pPr>
              <a:r>
                <a:rPr lang="en-US" sz="2000" b="1" i="0" dirty="0">
                  <a:solidFill>
                    <a:srgbClr val="3C3C3C"/>
                  </a:solidFill>
                  <a:latin typeface="Arial"/>
                  <a:cs typeface="Arial"/>
                </a:rPr>
                <a:t>Special-population labeling</a:t>
              </a:r>
            </a:p>
          </p:txBody>
        </p:sp>
        <p:sp>
          <p:nvSpPr>
            <p:cNvPr id="42" name="appc3"/>
            <p:cNvSpPr/>
            <p:nvPr/>
          </p:nvSpPr>
          <p:spPr>
            <a:xfrm>
              <a:off x="6590000" y="5120000"/>
              <a:ext cx="920000" cy="920000"/>
            </a:xfrm>
            <a:prstGeom prst="ellipse">
              <a:avLst/>
            </a:prstGeom>
            <a:solidFill>
              <a:srgbClr val="FFFFFF"/>
            </a:solidFill>
            <a:ln w="28575">
              <a:solidFill>
                <a:srgbClr val="E8590C"/>
              </a:solidFill>
            </a:ln>
          </p:spPr>
          <p:txBody>
            <a:bodyPr/>
            <a:lstStyle/>
            <a:p>
              <a:pPr>
                <a:buNone/>
              </a:pPr>
              <a:endParaRPr lang="en-US" sz="2400"/>
            </a:p>
          </p:txBody>
        </p:sp>
        <p:pic>
          <p:nvPicPr>
            <p:cNvPr id="43" name="appi3"/>
            <p:cNvPicPr>
              <a:picLocks noChangeAspect="1"/>
            </p:cNvPicPr>
            <p:nvPr/>
          </p:nvPicPr>
          <p:blipFill>
            <a:blip r:embed="rId6"/>
            <a:stretch>
              <a:fillRect/>
            </a:stretch>
          </p:blipFill>
          <p:spPr>
            <a:xfrm>
              <a:off x="6815000" y="5345000"/>
              <a:ext cx="470000" cy="470000"/>
            </a:xfrm>
            <a:prstGeom prst="rect">
              <a:avLst/>
            </a:prstGeom>
          </p:spPr>
        </p:pic>
        <p:sp>
          <p:nvSpPr>
            <p:cNvPr id="44" name="lab3"/>
            <p:cNvSpPr txBox="1"/>
            <p:nvPr/>
          </p:nvSpPr>
          <p:spPr>
            <a:xfrm>
              <a:off x="7740000" y="5250000"/>
              <a:ext cx="3880000" cy="660000"/>
            </a:xfrm>
            <a:prstGeom prst="rect">
              <a:avLst/>
            </a:prstGeom>
            <a:noFill/>
          </p:spPr>
          <p:txBody>
            <a:bodyPr wrap="square" lIns="0" tIns="0" rIns="0" bIns="0" anchor="ctr"/>
            <a:lstStyle/>
            <a:p>
              <a:pPr marL="0" algn="l">
                <a:lnSpc>
                  <a:spcPct val="106000"/>
                </a:lnSpc>
                <a:spcBef>
                  <a:spcPts val="0"/>
                </a:spcBef>
                <a:spcAft>
                  <a:spcPts val="180"/>
                </a:spcAft>
                <a:buNone/>
              </a:pPr>
              <a:r>
                <a:rPr lang="en-US" sz="2000" b="1" i="0" dirty="0">
                  <a:solidFill>
                    <a:srgbClr val="3C3C3C"/>
                  </a:solidFill>
                  <a:latin typeface="Arial"/>
                  <a:cs typeface="Arial"/>
                </a:rPr>
                <a:t>Regulatory submissions</a:t>
              </a:r>
              <a:endParaRPr lang="en-US" sz="2000" b="1" dirty="0">
                <a:solidFill>
                  <a:srgbClr val="3C3C3C"/>
                </a:solidFill>
                <a:latin typeface="Arial"/>
                <a:cs typeface="Arial"/>
              </a:endParaRPr>
            </a:p>
          </p:txBody>
        </p:sp>
      </p:grpSp>
      <p:sp>
        <p:nvSpPr>
          <p:cNvPr id="7" name="TextBox 6">
            <a:extLst>
              <a:ext uri="{FF2B5EF4-FFF2-40B4-BE49-F238E27FC236}">
                <a16:creationId xmlns:a16="http://schemas.microsoft.com/office/drawing/2014/main" id="{58B8B6A8-CC01-5F22-7C3A-B692F87442B3}"/>
              </a:ext>
            </a:extLst>
          </p:cNvPr>
          <p:cNvSpPr txBox="1"/>
          <p:nvPr/>
        </p:nvSpPr>
        <p:spPr>
          <a:xfrm>
            <a:off x="8329568" y="6433720"/>
            <a:ext cx="3300432" cy="246221"/>
          </a:xfrm>
          <a:prstGeom prst="rect">
            <a:avLst/>
          </a:prstGeom>
          <a:noFill/>
        </p:spPr>
        <p:txBody>
          <a:bodyPr wrap="square">
            <a:spAutoFit/>
          </a:bodyPr>
          <a:lstStyle/>
          <a:p>
            <a:r>
              <a:rPr lang="fr-FR" sz="1000" dirty="0">
                <a:solidFill>
                  <a:schemeClr val="bg1">
                    <a:lumMod val="25000"/>
                  </a:schemeClr>
                </a:solidFill>
              </a:rPr>
              <a:t>Br J Clin </a:t>
            </a:r>
            <a:r>
              <a:rPr lang="fr-FR" sz="1000" dirty="0" err="1">
                <a:solidFill>
                  <a:schemeClr val="bg1">
                    <a:lumMod val="25000"/>
                  </a:schemeClr>
                </a:solidFill>
              </a:rPr>
              <a:t>Pharmacol</a:t>
            </a:r>
            <a:r>
              <a:rPr lang="fr-FR" sz="1000" dirty="0">
                <a:solidFill>
                  <a:schemeClr val="bg1">
                    <a:lumMod val="25000"/>
                  </a:schemeClr>
                </a:solidFill>
              </a:rPr>
              <a:t>. 2012;73(1):66-76. </a:t>
            </a:r>
            <a:endParaRPr lang="en-US" sz="1000" dirty="0">
              <a:solidFill>
                <a:schemeClr val="bg1">
                  <a:lumMod val="2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AF27CFC-D054-0212-BE4B-FDA44EFC4852}"/>
              </a:ext>
            </a:extLst>
          </p:cNvPr>
          <p:cNvSpPr>
            <a:spLocks noGrp="1"/>
          </p:cNvSpPr>
          <p:nvPr>
            <p:ph type="sldNum" sz="quarter" idx="12"/>
          </p:nvPr>
        </p:nvSpPr>
        <p:spPr/>
        <p:txBody>
          <a:bodyPr/>
          <a:lstStyle/>
          <a:p>
            <a:fld id="{1EDD9F3E-8BFD-4E3C-98D1-767322780FDD}" type="slidenum">
              <a:rPr lang="en-US" noProof="0" smtClean="0"/>
              <a:t>6</a:t>
            </a:fld>
            <a:endParaRPr lang="en-US" noProof="0"/>
          </a:p>
        </p:txBody>
      </p:sp>
      <p:sp>
        <p:nvSpPr>
          <p:cNvPr id="9" name="Title">
            <a:extLst>
              <a:ext uri="{FF2B5EF4-FFF2-40B4-BE49-F238E27FC236}">
                <a16:creationId xmlns:a16="http://schemas.microsoft.com/office/drawing/2014/main" id="{817A2BD1-303D-F1DB-067C-DD68EF0EC18E}"/>
              </a:ext>
            </a:extLst>
          </p:cNvPr>
          <p:cNvSpPr txBox="1"/>
          <p:nvPr/>
        </p:nvSpPr>
        <p:spPr>
          <a:xfrm>
            <a:off x="401880" y="141568"/>
            <a:ext cx="11094720" cy="1001942"/>
          </a:xfrm>
          <a:prstGeom prst="rect">
            <a:avLst/>
          </a:prstGeom>
          <a:noFill/>
        </p:spPr>
        <p:txBody>
          <a:bodyPr wrap="square" lIns="0" tIns="0" rIns="0" bIns="0" anchor="t"/>
          <a:lstStyle/>
          <a:p>
            <a:r>
              <a:rPr lang="en-US" sz="2800" b="1" dirty="0">
                <a:solidFill>
                  <a:srgbClr val="0460A9"/>
                </a:solidFill>
                <a:latin typeface="Arial"/>
                <a:cs typeface="Arial"/>
              </a:rPr>
              <a:t>T</a:t>
            </a:r>
            <a:r>
              <a:rPr lang="en-US" altLang="zh-CN" sz="2800" b="1" dirty="0">
                <a:solidFill>
                  <a:srgbClr val="0460A9"/>
                </a:solidFill>
                <a:latin typeface="Arial"/>
                <a:cs typeface="Arial"/>
              </a:rPr>
              <a:t>raditional </a:t>
            </a:r>
            <a:r>
              <a:rPr lang="en-US" sz="2800" b="1" dirty="0">
                <a:solidFill>
                  <a:srgbClr val="0460A9"/>
                </a:solidFill>
                <a:cs typeface="Arial"/>
              </a:rPr>
              <a:t>stepwise methods </a:t>
            </a:r>
            <a:r>
              <a:rPr lang="en-US" sz="2800" b="1" dirty="0">
                <a:solidFill>
                  <a:srgbClr val="0460A9"/>
                </a:solidFill>
                <a:latin typeface="Arial"/>
                <a:cs typeface="Arial"/>
              </a:rPr>
              <a:t>are FDA-ready, </a:t>
            </a:r>
          </a:p>
          <a:p>
            <a:r>
              <a:rPr lang="en-US" sz="2800" b="1" dirty="0">
                <a:solidFill>
                  <a:srgbClr val="0460A9"/>
                </a:solidFill>
                <a:latin typeface="Arial"/>
                <a:cs typeface="Arial"/>
              </a:rPr>
              <a:t>with advanced methods emerging</a:t>
            </a:r>
          </a:p>
        </p:txBody>
      </p:sp>
      <p:grpSp>
        <p:nvGrpSpPr>
          <p:cNvPr id="20" name="Group 19">
            <a:extLst>
              <a:ext uri="{FF2B5EF4-FFF2-40B4-BE49-F238E27FC236}">
                <a16:creationId xmlns:a16="http://schemas.microsoft.com/office/drawing/2014/main" id="{FB768BA9-61B2-F3BF-CD61-316024E62C92}"/>
              </a:ext>
            </a:extLst>
          </p:cNvPr>
          <p:cNvGrpSpPr/>
          <p:nvPr/>
        </p:nvGrpSpPr>
        <p:grpSpPr>
          <a:xfrm>
            <a:off x="1749252" y="1771912"/>
            <a:ext cx="9547629" cy="3483963"/>
            <a:chOff x="1749252" y="1771912"/>
            <a:chExt cx="9547629" cy="3483963"/>
          </a:xfrm>
        </p:grpSpPr>
        <p:grpSp>
          <p:nvGrpSpPr>
            <p:cNvPr id="8" name="Group 7">
              <a:extLst>
                <a:ext uri="{FF2B5EF4-FFF2-40B4-BE49-F238E27FC236}">
                  <a16:creationId xmlns:a16="http://schemas.microsoft.com/office/drawing/2014/main" id="{E3A3AF09-0DE3-3049-1742-6868A4788580}"/>
                </a:ext>
              </a:extLst>
            </p:cNvPr>
            <p:cNvGrpSpPr/>
            <p:nvPr/>
          </p:nvGrpSpPr>
          <p:grpSpPr>
            <a:xfrm>
              <a:off x="1749252" y="1771912"/>
              <a:ext cx="9547629" cy="2711607"/>
              <a:chOff x="1749252" y="1771912"/>
              <a:chExt cx="9547629" cy="2711607"/>
            </a:xfrm>
          </p:grpSpPr>
          <p:pic>
            <p:nvPicPr>
              <p:cNvPr id="10" name="Picture 9" descr="What is MonolixSuite? | MonolixSuite Documentation">
                <a:extLst>
                  <a:ext uri="{FF2B5EF4-FFF2-40B4-BE49-F238E27FC236}">
                    <a16:creationId xmlns:a16="http://schemas.microsoft.com/office/drawing/2014/main" id="{FC941CD6-5AE7-1098-A1B2-D5612342F369}"/>
                  </a:ext>
                </a:extLst>
              </p:cNvPr>
              <p:cNvPicPr>
                <a:picLocks noChangeAspect="1"/>
              </p:cNvPicPr>
              <p:nvPr/>
            </p:nvPicPr>
            <p:blipFill>
              <a:blip r:embed="rId3"/>
              <a:stretch>
                <a:fillRect/>
              </a:stretch>
            </p:blipFill>
            <p:spPr>
              <a:xfrm>
                <a:off x="10243029" y="1833947"/>
                <a:ext cx="1053852" cy="1195537"/>
              </a:xfrm>
              <a:prstGeom prst="rect">
                <a:avLst/>
              </a:prstGeom>
            </p:spPr>
          </p:pic>
          <p:pic>
            <p:nvPicPr>
              <p:cNvPr id="11" name="Picture 10">
                <a:extLst>
                  <a:ext uri="{FF2B5EF4-FFF2-40B4-BE49-F238E27FC236}">
                    <a16:creationId xmlns:a16="http://schemas.microsoft.com/office/drawing/2014/main" id="{41EA3A7B-DD67-480A-4BC7-8241B09FB0F6}"/>
                  </a:ext>
                </a:extLst>
              </p:cNvPr>
              <p:cNvPicPr>
                <a:picLocks noChangeAspect="1"/>
              </p:cNvPicPr>
              <p:nvPr/>
            </p:nvPicPr>
            <p:blipFill>
              <a:blip r:embed="rId4"/>
              <a:stretch>
                <a:fillRect/>
              </a:stretch>
            </p:blipFill>
            <p:spPr>
              <a:xfrm>
                <a:off x="9183151" y="2920650"/>
                <a:ext cx="1562869" cy="1562869"/>
              </a:xfrm>
              <a:prstGeom prst="rect">
                <a:avLst/>
              </a:prstGeom>
            </p:spPr>
          </p:pic>
          <p:grpSp>
            <p:nvGrpSpPr>
              <p:cNvPr id="12" name="Group 11">
                <a:extLst>
                  <a:ext uri="{FF2B5EF4-FFF2-40B4-BE49-F238E27FC236}">
                    <a16:creationId xmlns:a16="http://schemas.microsoft.com/office/drawing/2014/main" id="{5C3A3892-3301-13A7-3C77-C4AD505AB9C6}"/>
                  </a:ext>
                </a:extLst>
              </p:cNvPr>
              <p:cNvGrpSpPr/>
              <p:nvPr/>
            </p:nvGrpSpPr>
            <p:grpSpPr>
              <a:xfrm>
                <a:off x="8101142" y="2026205"/>
                <a:ext cx="1764881" cy="1001942"/>
                <a:chOff x="8826167" y="2487612"/>
                <a:chExt cx="2525037" cy="1442704"/>
              </a:xfrm>
            </p:grpSpPr>
            <p:pic>
              <p:nvPicPr>
                <p:cNvPr id="15" name="Picture 14">
                  <a:extLst>
                    <a:ext uri="{FF2B5EF4-FFF2-40B4-BE49-F238E27FC236}">
                      <a16:creationId xmlns:a16="http://schemas.microsoft.com/office/drawing/2014/main" id="{42D4EE16-AFD5-E8F5-4F98-922CF4502812}"/>
                    </a:ext>
                  </a:extLst>
                </p:cNvPr>
                <p:cNvPicPr>
                  <a:picLocks noChangeAspect="1"/>
                </p:cNvPicPr>
                <p:nvPr/>
              </p:nvPicPr>
              <p:blipFill>
                <a:blip r:embed="rId5"/>
                <a:stretch>
                  <a:fillRect/>
                </a:stretch>
              </p:blipFill>
              <p:spPr>
                <a:xfrm>
                  <a:off x="8826167" y="2949516"/>
                  <a:ext cx="2525037" cy="980800"/>
                </a:xfrm>
                <a:prstGeom prst="rect">
                  <a:avLst/>
                </a:prstGeom>
              </p:spPr>
            </p:pic>
            <p:pic>
              <p:nvPicPr>
                <p:cNvPr id="14" name="Picture 13">
                  <a:extLst>
                    <a:ext uri="{FF2B5EF4-FFF2-40B4-BE49-F238E27FC236}">
                      <a16:creationId xmlns:a16="http://schemas.microsoft.com/office/drawing/2014/main" id="{FC0B2D40-0734-DA33-09F0-4A7C25544272}"/>
                    </a:ext>
                  </a:extLst>
                </p:cNvPr>
                <p:cNvPicPr>
                  <a:picLocks noChangeAspect="1"/>
                </p:cNvPicPr>
                <p:nvPr/>
              </p:nvPicPr>
              <p:blipFill>
                <a:blip r:embed="rId6"/>
                <a:stretch>
                  <a:fillRect/>
                </a:stretch>
              </p:blipFill>
              <p:spPr>
                <a:xfrm>
                  <a:off x="8989035" y="2487612"/>
                  <a:ext cx="2308431" cy="501487"/>
                </a:xfrm>
                <a:prstGeom prst="rect">
                  <a:avLst/>
                </a:prstGeom>
              </p:spPr>
            </p:pic>
          </p:grpSp>
          <p:grpSp>
            <p:nvGrpSpPr>
              <p:cNvPr id="4" name="Group 3">
                <a:extLst>
                  <a:ext uri="{FF2B5EF4-FFF2-40B4-BE49-F238E27FC236}">
                    <a16:creationId xmlns:a16="http://schemas.microsoft.com/office/drawing/2014/main" id="{1BC14EBF-81B0-6F12-1199-8F0EA9683B6A}"/>
                  </a:ext>
                </a:extLst>
              </p:cNvPr>
              <p:cNvGrpSpPr/>
              <p:nvPr/>
            </p:nvGrpSpPr>
            <p:grpSpPr>
              <a:xfrm>
                <a:off x="1749252" y="1771912"/>
                <a:ext cx="5626469" cy="1991141"/>
                <a:chOff x="1749252" y="1771912"/>
                <a:chExt cx="5626469" cy="1991141"/>
              </a:xfrm>
            </p:grpSpPr>
            <p:sp>
              <p:nvSpPr>
                <p:cNvPr id="17" name="Rectangle 16">
                  <a:extLst>
                    <a:ext uri="{FF2B5EF4-FFF2-40B4-BE49-F238E27FC236}">
                      <a16:creationId xmlns:a16="http://schemas.microsoft.com/office/drawing/2014/main" id="{1E15FE86-3776-53EB-8EB9-A7A025002D4C}"/>
                    </a:ext>
                  </a:extLst>
                </p:cNvPr>
                <p:cNvSpPr/>
                <p:nvPr/>
              </p:nvSpPr>
              <p:spPr>
                <a:xfrm>
                  <a:off x="1749252" y="2702314"/>
                  <a:ext cx="1764881" cy="538000"/>
                </a:xfrm>
                <a:prstGeom prst="rect">
                  <a:avLst/>
                </a:prstGeom>
                <a:solidFill>
                  <a:srgbClr val="0460A9">
                    <a:alpha val="50000"/>
                  </a:srgb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algn="ctr">
                    <a:spcBef>
                      <a:spcPts val="800"/>
                    </a:spcBef>
                  </a:pPr>
                  <a:r>
                    <a:rPr lang="en-US" sz="2000" dirty="0"/>
                    <a:t>T</a:t>
                  </a:r>
                  <a:r>
                    <a:rPr lang="en-US" altLang="zh-CN" sz="2000" dirty="0"/>
                    <a:t>raditional </a:t>
                  </a:r>
                  <a:endParaRPr lang="en-US" sz="2000" dirty="0"/>
                </a:p>
              </p:txBody>
            </p:sp>
            <p:sp>
              <p:nvSpPr>
                <p:cNvPr id="21" name="Rectangle 20">
                  <a:extLst>
                    <a:ext uri="{FF2B5EF4-FFF2-40B4-BE49-F238E27FC236}">
                      <a16:creationId xmlns:a16="http://schemas.microsoft.com/office/drawing/2014/main" id="{A5E7203C-FFB9-364B-6013-83EA54DD05F4}"/>
                    </a:ext>
                  </a:extLst>
                </p:cNvPr>
                <p:cNvSpPr/>
                <p:nvPr/>
              </p:nvSpPr>
              <p:spPr>
                <a:xfrm>
                  <a:off x="4039777" y="2019455"/>
                  <a:ext cx="1434104" cy="568555"/>
                </a:xfrm>
                <a:prstGeom prst="rect">
                  <a:avLst/>
                </a:prstGeom>
                <a:solidFill>
                  <a:srgbClr val="C9D9F9"/>
                </a:solidFill>
                <a:ln/>
              </p:spPr>
              <p:style>
                <a:lnRef idx="1">
                  <a:schemeClr val="accent2"/>
                </a:lnRef>
                <a:fillRef idx="2">
                  <a:schemeClr val="accent2"/>
                </a:fillRef>
                <a:effectRef idx="1">
                  <a:schemeClr val="accent2"/>
                </a:effectRef>
                <a:fontRef idx="minor">
                  <a:schemeClr val="dk1"/>
                </a:fontRef>
              </p:style>
              <p:txBody>
                <a:bodyPr lIns="108000" tIns="108000" rIns="108000" bIns="108000" rtlCol="0" anchor="t"/>
                <a:lstStyle/>
                <a:p>
                  <a:pPr algn="ctr">
                    <a:spcBef>
                      <a:spcPts val="800"/>
                    </a:spcBef>
                  </a:pPr>
                  <a:r>
                    <a:rPr lang="en-US" sz="2000" dirty="0"/>
                    <a:t>S</a:t>
                  </a:r>
                  <a:r>
                    <a:rPr lang="en-US" altLang="zh-CN" sz="2000" dirty="0"/>
                    <a:t>tepwise </a:t>
                  </a:r>
                  <a:endParaRPr lang="en-US" sz="2000" dirty="0"/>
                </a:p>
              </p:txBody>
            </p:sp>
            <p:sp>
              <p:nvSpPr>
                <p:cNvPr id="23" name="Rectangle 22">
                  <a:extLst>
                    <a:ext uri="{FF2B5EF4-FFF2-40B4-BE49-F238E27FC236}">
                      <a16:creationId xmlns:a16="http://schemas.microsoft.com/office/drawing/2014/main" id="{4FC9415E-84B4-D0AE-3F2D-2B630193F7E0}"/>
                    </a:ext>
                  </a:extLst>
                </p:cNvPr>
                <p:cNvSpPr/>
                <p:nvPr/>
              </p:nvSpPr>
              <p:spPr>
                <a:xfrm>
                  <a:off x="4039777" y="3240315"/>
                  <a:ext cx="1461399" cy="522738"/>
                </a:xfrm>
                <a:prstGeom prst="rect">
                  <a:avLst/>
                </a:prstGeom>
                <a:solidFill>
                  <a:srgbClr val="C9D9F9"/>
                </a:solidFill>
                <a:ln/>
              </p:spPr>
              <p:style>
                <a:lnRef idx="1">
                  <a:schemeClr val="accent2"/>
                </a:lnRef>
                <a:fillRef idx="2">
                  <a:schemeClr val="accent2"/>
                </a:fillRef>
                <a:effectRef idx="1">
                  <a:schemeClr val="accent2"/>
                </a:effectRef>
                <a:fontRef idx="minor">
                  <a:schemeClr val="dk1"/>
                </a:fontRef>
              </p:style>
              <p:txBody>
                <a:bodyPr lIns="108000" tIns="108000" rIns="108000" bIns="108000" rtlCol="0" anchor="t"/>
                <a:lstStyle/>
                <a:p>
                  <a:pPr algn="ctr">
                    <a:spcBef>
                      <a:spcPts val="800"/>
                    </a:spcBef>
                  </a:pPr>
                  <a:r>
                    <a:rPr lang="en-US" sz="2000" dirty="0"/>
                    <a:t>F</a:t>
                  </a:r>
                  <a:r>
                    <a:rPr lang="en-US" altLang="zh-CN" sz="2000" dirty="0"/>
                    <a:t>ull model</a:t>
                  </a:r>
                  <a:endParaRPr lang="en-US" sz="2000" dirty="0"/>
                </a:p>
              </p:txBody>
            </p:sp>
            <p:sp>
              <p:nvSpPr>
                <p:cNvPr id="38" name="Rectangle 37">
                  <a:extLst>
                    <a:ext uri="{FF2B5EF4-FFF2-40B4-BE49-F238E27FC236}">
                      <a16:creationId xmlns:a16="http://schemas.microsoft.com/office/drawing/2014/main" id="{65E3DEDA-4A58-07BB-0773-AE5FE1DC2DCB}"/>
                    </a:ext>
                  </a:extLst>
                </p:cNvPr>
                <p:cNvSpPr/>
                <p:nvPr/>
              </p:nvSpPr>
              <p:spPr>
                <a:xfrm>
                  <a:off x="6031416" y="3282055"/>
                  <a:ext cx="1344305" cy="464377"/>
                </a:xfrm>
                <a:prstGeom prst="rect">
                  <a:avLst/>
                </a:prstGeom>
                <a:solidFill>
                  <a:srgbClr val="C9D9F9"/>
                </a:solidFill>
                <a:ln/>
              </p:spPr>
              <p:style>
                <a:lnRef idx="1">
                  <a:schemeClr val="accent2"/>
                </a:lnRef>
                <a:fillRef idx="2">
                  <a:schemeClr val="accent2"/>
                </a:fillRef>
                <a:effectRef idx="1">
                  <a:schemeClr val="accent2"/>
                </a:effectRef>
                <a:fontRef idx="minor">
                  <a:schemeClr val="dk1"/>
                </a:fontRef>
              </p:style>
              <p:txBody>
                <a:bodyPr lIns="108000" tIns="108000" rIns="108000" bIns="108000" rtlCol="0" anchor="t"/>
                <a:lstStyle/>
                <a:p>
                  <a:pPr algn="ctr">
                    <a:spcBef>
                      <a:spcPts val="800"/>
                    </a:spcBef>
                  </a:pPr>
                  <a:r>
                    <a:rPr lang="en-US" sz="2000" dirty="0"/>
                    <a:t>FREM</a:t>
                  </a:r>
                </a:p>
              </p:txBody>
            </p:sp>
            <p:cxnSp>
              <p:nvCxnSpPr>
                <p:cNvPr id="46" name="Straight Arrow Connector 45">
                  <a:extLst>
                    <a:ext uri="{FF2B5EF4-FFF2-40B4-BE49-F238E27FC236}">
                      <a16:creationId xmlns:a16="http://schemas.microsoft.com/office/drawing/2014/main" id="{72EC6F06-546E-3FBD-136F-524234B0EC6F}"/>
                    </a:ext>
                  </a:extLst>
                </p:cNvPr>
                <p:cNvCxnSpPr>
                  <a:cxnSpLocks/>
                  <a:stCxn id="17" idx="3"/>
                  <a:endCxn id="21" idx="1"/>
                </p:cNvCxnSpPr>
                <p:nvPr/>
              </p:nvCxnSpPr>
              <p:spPr>
                <a:xfrm flipV="1">
                  <a:off x="3514133" y="2303733"/>
                  <a:ext cx="525644" cy="667581"/>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F8F802F5-0C91-321E-EF43-E72CD3B8DDD9}"/>
                    </a:ext>
                  </a:extLst>
                </p:cNvPr>
                <p:cNvCxnSpPr>
                  <a:cxnSpLocks/>
                  <a:stCxn id="17" idx="3"/>
                  <a:endCxn id="23" idx="1"/>
                </p:cNvCxnSpPr>
                <p:nvPr/>
              </p:nvCxnSpPr>
              <p:spPr>
                <a:xfrm>
                  <a:off x="3514133" y="2971314"/>
                  <a:ext cx="525644" cy="53037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58" name="Group 57">
                  <a:extLst>
                    <a:ext uri="{FF2B5EF4-FFF2-40B4-BE49-F238E27FC236}">
                      <a16:creationId xmlns:a16="http://schemas.microsoft.com/office/drawing/2014/main" id="{82F7E5E1-FCB0-492D-66B2-8C5CA094CEF2}"/>
                    </a:ext>
                  </a:extLst>
                </p:cNvPr>
                <p:cNvGrpSpPr/>
                <p:nvPr/>
              </p:nvGrpSpPr>
              <p:grpSpPr>
                <a:xfrm>
                  <a:off x="5653702" y="1771912"/>
                  <a:ext cx="1722019" cy="1095978"/>
                  <a:chOff x="5118141" y="1525983"/>
                  <a:chExt cx="1722019" cy="1095978"/>
                </a:xfrm>
              </p:grpSpPr>
              <p:sp>
                <p:nvSpPr>
                  <p:cNvPr id="27" name="Rectangle 26">
                    <a:extLst>
                      <a:ext uri="{FF2B5EF4-FFF2-40B4-BE49-F238E27FC236}">
                        <a16:creationId xmlns:a16="http://schemas.microsoft.com/office/drawing/2014/main" id="{76140F9D-400E-0B62-C80E-82C857A1A9F9}"/>
                      </a:ext>
                    </a:extLst>
                  </p:cNvPr>
                  <p:cNvSpPr/>
                  <p:nvPr/>
                </p:nvSpPr>
                <p:spPr>
                  <a:xfrm>
                    <a:off x="5495855" y="1525983"/>
                    <a:ext cx="1344305" cy="464377"/>
                  </a:xfrm>
                  <a:prstGeom prst="rect">
                    <a:avLst/>
                  </a:prstGeom>
                  <a:solidFill>
                    <a:srgbClr val="C9D9F9"/>
                  </a:solidFill>
                  <a:ln/>
                </p:spPr>
                <p:style>
                  <a:lnRef idx="1">
                    <a:schemeClr val="accent2"/>
                  </a:lnRef>
                  <a:fillRef idx="2">
                    <a:schemeClr val="accent2"/>
                  </a:fillRef>
                  <a:effectRef idx="1">
                    <a:schemeClr val="accent2"/>
                  </a:effectRef>
                  <a:fontRef idx="minor">
                    <a:schemeClr val="dk1"/>
                  </a:fontRef>
                </p:style>
                <p:txBody>
                  <a:bodyPr lIns="108000" tIns="108000" rIns="108000" bIns="108000" rtlCol="0" anchor="t"/>
                  <a:lstStyle/>
                  <a:p>
                    <a:pPr algn="ctr">
                      <a:spcBef>
                        <a:spcPts val="800"/>
                      </a:spcBef>
                    </a:pPr>
                    <a:r>
                      <a:rPr lang="en-US" sz="2000" b="1" dirty="0"/>
                      <a:t>SCM</a:t>
                    </a:r>
                  </a:p>
                </p:txBody>
              </p:sp>
              <p:sp>
                <p:nvSpPr>
                  <p:cNvPr id="29" name="Rectangle 28">
                    <a:extLst>
                      <a:ext uri="{FF2B5EF4-FFF2-40B4-BE49-F238E27FC236}">
                        <a16:creationId xmlns:a16="http://schemas.microsoft.com/office/drawing/2014/main" id="{E45CE828-AF68-A0ED-C159-EE3F4E48CD7A}"/>
                      </a:ext>
                    </a:extLst>
                  </p:cNvPr>
                  <p:cNvSpPr/>
                  <p:nvPr/>
                </p:nvSpPr>
                <p:spPr>
                  <a:xfrm>
                    <a:off x="5495855" y="2157584"/>
                    <a:ext cx="1344305" cy="464377"/>
                  </a:xfrm>
                  <a:prstGeom prst="rect">
                    <a:avLst/>
                  </a:prstGeom>
                  <a:solidFill>
                    <a:srgbClr val="C9D9F9"/>
                  </a:solidFill>
                  <a:ln/>
                </p:spPr>
                <p:style>
                  <a:lnRef idx="1">
                    <a:schemeClr val="accent2"/>
                  </a:lnRef>
                  <a:fillRef idx="2">
                    <a:schemeClr val="accent2"/>
                  </a:fillRef>
                  <a:effectRef idx="1">
                    <a:schemeClr val="accent2"/>
                  </a:effectRef>
                  <a:fontRef idx="minor">
                    <a:schemeClr val="dk1"/>
                  </a:fontRef>
                </p:style>
                <p:txBody>
                  <a:bodyPr lIns="108000" tIns="108000" rIns="108000" bIns="108000" rtlCol="0" anchor="t"/>
                  <a:lstStyle/>
                  <a:p>
                    <a:pPr algn="ctr">
                      <a:spcBef>
                        <a:spcPts val="800"/>
                      </a:spcBef>
                    </a:pPr>
                    <a:r>
                      <a:rPr lang="en-US" sz="2000" dirty="0"/>
                      <a:t>COSSAC</a:t>
                    </a:r>
                  </a:p>
                </p:txBody>
              </p:sp>
              <p:sp>
                <p:nvSpPr>
                  <p:cNvPr id="55" name="Left Brace 54">
                    <a:extLst>
                      <a:ext uri="{FF2B5EF4-FFF2-40B4-BE49-F238E27FC236}">
                        <a16:creationId xmlns:a16="http://schemas.microsoft.com/office/drawing/2014/main" id="{BA6BB2A0-B629-FCB3-9F3D-C00B03059F9C}"/>
                      </a:ext>
                    </a:extLst>
                  </p:cNvPr>
                  <p:cNvSpPr/>
                  <p:nvPr/>
                </p:nvSpPr>
                <p:spPr>
                  <a:xfrm>
                    <a:off x="5118141" y="1618175"/>
                    <a:ext cx="197892" cy="879255"/>
                  </a:xfrm>
                  <a:prstGeom prst="lef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grpSp>
            <p:cxnSp>
              <p:nvCxnSpPr>
                <p:cNvPr id="57" name="Straight Arrow Connector 56">
                  <a:extLst>
                    <a:ext uri="{FF2B5EF4-FFF2-40B4-BE49-F238E27FC236}">
                      <a16:creationId xmlns:a16="http://schemas.microsoft.com/office/drawing/2014/main" id="{989803E8-8413-FF53-7C4D-89251627CA24}"/>
                    </a:ext>
                  </a:extLst>
                </p:cNvPr>
                <p:cNvCxnSpPr/>
                <p:nvPr/>
              </p:nvCxnSpPr>
              <p:spPr>
                <a:xfrm>
                  <a:off x="5578409" y="3501684"/>
                  <a:ext cx="348018" cy="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grpSp>
          <p:nvGrpSpPr>
            <p:cNvPr id="16" name="Group 15">
              <a:extLst>
                <a:ext uri="{FF2B5EF4-FFF2-40B4-BE49-F238E27FC236}">
                  <a16:creationId xmlns:a16="http://schemas.microsoft.com/office/drawing/2014/main" id="{A02C4092-FF1A-CBA1-C6EF-2DD9B59B5471}"/>
                </a:ext>
              </a:extLst>
            </p:cNvPr>
            <p:cNvGrpSpPr/>
            <p:nvPr/>
          </p:nvGrpSpPr>
          <p:grpSpPr>
            <a:xfrm>
              <a:off x="1749252" y="4159897"/>
              <a:ext cx="6331352" cy="1095978"/>
              <a:chOff x="1749252" y="4159897"/>
              <a:chExt cx="6331352" cy="1095978"/>
            </a:xfrm>
          </p:grpSpPr>
          <p:sp>
            <p:nvSpPr>
              <p:cNvPr id="19" name="Rectangle 18">
                <a:extLst>
                  <a:ext uri="{FF2B5EF4-FFF2-40B4-BE49-F238E27FC236}">
                    <a16:creationId xmlns:a16="http://schemas.microsoft.com/office/drawing/2014/main" id="{B621A3A0-7A86-CF06-BBAB-434281DBDC8E}"/>
                  </a:ext>
                </a:extLst>
              </p:cNvPr>
              <p:cNvSpPr/>
              <p:nvPr/>
            </p:nvSpPr>
            <p:spPr>
              <a:xfrm>
                <a:off x="1749252" y="4438886"/>
                <a:ext cx="4111335" cy="538000"/>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algn="ctr">
                  <a:spcBef>
                    <a:spcPts val="800"/>
                  </a:spcBef>
                </a:pPr>
                <a:r>
                  <a:rPr lang="en-US" sz="2000" dirty="0"/>
                  <a:t>Emerg</a:t>
                </a:r>
                <a:r>
                  <a:rPr lang="en-US" altLang="zh-CN" sz="2000" dirty="0"/>
                  <a:t>ing </a:t>
                </a:r>
                <a:r>
                  <a:rPr lang="en-US" sz="2000" dirty="0"/>
                  <a:t>Machine/Deep learning</a:t>
                </a:r>
              </a:p>
              <a:p>
                <a:pPr algn="ctr">
                  <a:spcBef>
                    <a:spcPts val="800"/>
                  </a:spcBef>
                </a:pPr>
                <a:r>
                  <a:rPr lang="en-US" sz="2000" dirty="0"/>
                  <a:t> </a:t>
                </a:r>
              </a:p>
            </p:txBody>
          </p:sp>
          <p:grpSp>
            <p:nvGrpSpPr>
              <p:cNvPr id="59" name="Group 58">
                <a:extLst>
                  <a:ext uri="{FF2B5EF4-FFF2-40B4-BE49-F238E27FC236}">
                    <a16:creationId xmlns:a16="http://schemas.microsoft.com/office/drawing/2014/main" id="{F03C6006-ACA7-A862-22E2-6774521BE70F}"/>
                  </a:ext>
                </a:extLst>
              </p:cNvPr>
              <p:cNvGrpSpPr/>
              <p:nvPr/>
            </p:nvGrpSpPr>
            <p:grpSpPr>
              <a:xfrm>
                <a:off x="6038240" y="4159897"/>
                <a:ext cx="2042364" cy="1095978"/>
                <a:chOff x="5118141" y="1525983"/>
                <a:chExt cx="2042364" cy="1095978"/>
              </a:xfrm>
            </p:grpSpPr>
            <p:sp>
              <p:nvSpPr>
                <p:cNvPr id="60" name="Rectangle 59">
                  <a:extLst>
                    <a:ext uri="{FF2B5EF4-FFF2-40B4-BE49-F238E27FC236}">
                      <a16:creationId xmlns:a16="http://schemas.microsoft.com/office/drawing/2014/main" id="{D2303907-9342-F859-56F4-934D2CFD71BB}"/>
                    </a:ext>
                  </a:extLst>
                </p:cNvPr>
                <p:cNvSpPr/>
                <p:nvPr/>
              </p:nvSpPr>
              <p:spPr>
                <a:xfrm>
                  <a:off x="5493686" y="1525983"/>
                  <a:ext cx="1666819" cy="464377"/>
                </a:xfrm>
                <a:prstGeom prst="rect">
                  <a:avLst/>
                </a:prstGeom>
                <a:solidFill>
                  <a:schemeClr val="bg2"/>
                </a:solidFill>
                <a:ln/>
              </p:spPr>
              <p:style>
                <a:lnRef idx="1">
                  <a:schemeClr val="accent2"/>
                </a:lnRef>
                <a:fillRef idx="2">
                  <a:schemeClr val="accent2"/>
                </a:fillRef>
                <a:effectRef idx="1">
                  <a:schemeClr val="accent2"/>
                </a:effectRef>
                <a:fontRef idx="minor">
                  <a:schemeClr val="dk1"/>
                </a:fontRef>
              </p:style>
              <p:txBody>
                <a:bodyPr lIns="108000" tIns="108000" rIns="108000" bIns="108000" rtlCol="0" anchor="t"/>
                <a:lstStyle/>
                <a:p>
                  <a:pPr algn="ctr">
                    <a:spcBef>
                      <a:spcPts val="800"/>
                    </a:spcBef>
                  </a:pPr>
                  <a:r>
                    <a:rPr lang="en-US" altLang="zh-CN" sz="2000" dirty="0"/>
                    <a:t>RF</a:t>
                  </a:r>
                  <a:endParaRPr lang="en-US" sz="2000" dirty="0"/>
                </a:p>
              </p:txBody>
            </p:sp>
            <p:sp>
              <p:nvSpPr>
                <p:cNvPr id="61" name="Rectangle 60">
                  <a:extLst>
                    <a:ext uri="{FF2B5EF4-FFF2-40B4-BE49-F238E27FC236}">
                      <a16:creationId xmlns:a16="http://schemas.microsoft.com/office/drawing/2014/main" id="{90AAF06D-D0CE-843C-7034-F8CF9E8802FE}"/>
                    </a:ext>
                  </a:extLst>
                </p:cNvPr>
                <p:cNvSpPr/>
                <p:nvPr/>
              </p:nvSpPr>
              <p:spPr>
                <a:xfrm>
                  <a:off x="5495855" y="2157584"/>
                  <a:ext cx="1664650" cy="464377"/>
                </a:xfrm>
                <a:prstGeom prst="rect">
                  <a:avLst/>
                </a:prstGeom>
                <a:solidFill>
                  <a:schemeClr val="tx1">
                    <a:lumMod val="10000"/>
                    <a:lumOff val="90000"/>
                  </a:schemeClr>
                </a:solidFill>
                <a:ln/>
              </p:spPr>
              <p:style>
                <a:lnRef idx="1">
                  <a:schemeClr val="accent2"/>
                </a:lnRef>
                <a:fillRef idx="2">
                  <a:schemeClr val="accent2"/>
                </a:fillRef>
                <a:effectRef idx="1">
                  <a:schemeClr val="accent2"/>
                </a:effectRef>
                <a:fontRef idx="minor">
                  <a:schemeClr val="dk1"/>
                </a:fontRef>
              </p:style>
              <p:txBody>
                <a:bodyPr lIns="108000" tIns="108000" rIns="108000" bIns="108000" rtlCol="0" anchor="t"/>
                <a:lstStyle/>
                <a:p>
                  <a:pPr algn="ctr">
                    <a:spcBef>
                      <a:spcPts val="800"/>
                    </a:spcBef>
                  </a:pPr>
                  <a:r>
                    <a:rPr lang="en-US" sz="2000" b="1" dirty="0"/>
                    <a:t>VAE</a:t>
                  </a:r>
                </a:p>
              </p:txBody>
            </p:sp>
            <p:sp>
              <p:nvSpPr>
                <p:cNvPr id="62" name="Left Brace 61">
                  <a:extLst>
                    <a:ext uri="{FF2B5EF4-FFF2-40B4-BE49-F238E27FC236}">
                      <a16:creationId xmlns:a16="http://schemas.microsoft.com/office/drawing/2014/main" id="{EBFFC6F7-F1C9-61AE-105B-E0504020C61A}"/>
                    </a:ext>
                  </a:extLst>
                </p:cNvPr>
                <p:cNvSpPr/>
                <p:nvPr/>
              </p:nvSpPr>
              <p:spPr>
                <a:xfrm>
                  <a:off x="5118141" y="1618175"/>
                  <a:ext cx="197892" cy="879255"/>
                </a:xfrm>
                <a:prstGeom prst="leftBrace">
                  <a:avLst/>
                </a:prstGeom>
                <a:ln w="12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grpSp>
        </p:grpSp>
      </p:grpSp>
      <p:grpSp>
        <p:nvGrpSpPr>
          <p:cNvPr id="2" name="Group 1">
            <a:extLst>
              <a:ext uri="{FF2B5EF4-FFF2-40B4-BE49-F238E27FC236}">
                <a16:creationId xmlns:a16="http://schemas.microsoft.com/office/drawing/2014/main" id="{151637A5-E608-2E9C-F408-C7E8244EE3C8}"/>
              </a:ext>
            </a:extLst>
          </p:cNvPr>
          <p:cNvGrpSpPr/>
          <p:nvPr/>
        </p:nvGrpSpPr>
        <p:grpSpPr>
          <a:xfrm>
            <a:off x="4479538" y="6253114"/>
            <a:ext cx="7161078" cy="440989"/>
            <a:chOff x="4032136" y="6417011"/>
            <a:chExt cx="7161078" cy="440989"/>
          </a:xfrm>
        </p:grpSpPr>
        <p:sp>
          <p:nvSpPr>
            <p:cNvPr id="3" name="TextBox 2">
              <a:extLst>
                <a:ext uri="{FF2B5EF4-FFF2-40B4-BE49-F238E27FC236}">
                  <a16:creationId xmlns:a16="http://schemas.microsoft.com/office/drawing/2014/main" id="{24759C13-CBB5-A14D-7805-44466B5A7ABE}"/>
                </a:ext>
              </a:extLst>
            </p:cNvPr>
            <p:cNvSpPr txBox="1"/>
            <p:nvPr/>
          </p:nvSpPr>
          <p:spPr>
            <a:xfrm>
              <a:off x="6617307" y="6417011"/>
              <a:ext cx="4362218" cy="246221"/>
            </a:xfrm>
            <a:prstGeom prst="rect">
              <a:avLst/>
            </a:prstGeom>
            <a:noFill/>
          </p:spPr>
          <p:txBody>
            <a:bodyPr wrap="square">
              <a:spAutoFit/>
            </a:bodyPr>
            <a:lstStyle/>
            <a:p>
              <a:r>
                <a:rPr lang="en-US" sz="1000" dirty="0">
                  <a:solidFill>
                    <a:schemeClr val="bg1">
                      <a:lumMod val="25000"/>
                    </a:schemeClr>
                  </a:solidFill>
                </a:rPr>
                <a:t>Journal of Pharmacokinetics and Pharmacodynamics 34 (2007): 485–517.</a:t>
              </a:r>
            </a:p>
          </p:txBody>
        </p:sp>
        <p:sp>
          <p:nvSpPr>
            <p:cNvPr id="6" name="TextBox 5">
              <a:extLst>
                <a:ext uri="{FF2B5EF4-FFF2-40B4-BE49-F238E27FC236}">
                  <a16:creationId xmlns:a16="http://schemas.microsoft.com/office/drawing/2014/main" id="{FB1C09FF-69B9-E5DB-57D2-95AC8F60127C}"/>
                </a:ext>
              </a:extLst>
            </p:cNvPr>
            <p:cNvSpPr txBox="1"/>
            <p:nvPr/>
          </p:nvSpPr>
          <p:spPr>
            <a:xfrm>
              <a:off x="4032136" y="6607507"/>
              <a:ext cx="3117404" cy="246221"/>
            </a:xfrm>
            <a:prstGeom prst="rect">
              <a:avLst/>
            </a:prstGeom>
            <a:noFill/>
          </p:spPr>
          <p:txBody>
            <a:bodyPr wrap="square">
              <a:spAutoFit/>
            </a:bodyPr>
            <a:lstStyle/>
            <a:p>
              <a:r>
                <a:rPr lang="en-US" sz="1000" dirty="0">
                  <a:solidFill>
                    <a:schemeClr val="bg1">
                      <a:lumMod val="25000"/>
                    </a:schemeClr>
                  </a:solidFill>
                </a:rPr>
                <a:t>Pharmaceutical Research 15 (1998): 1463–1468.</a:t>
              </a:r>
            </a:p>
          </p:txBody>
        </p:sp>
        <p:sp>
          <p:nvSpPr>
            <p:cNvPr id="7" name="TextBox 6">
              <a:extLst>
                <a:ext uri="{FF2B5EF4-FFF2-40B4-BE49-F238E27FC236}">
                  <a16:creationId xmlns:a16="http://schemas.microsoft.com/office/drawing/2014/main" id="{87B07DED-9B32-8853-6F14-1EBEEDB2439C}"/>
                </a:ext>
              </a:extLst>
            </p:cNvPr>
            <p:cNvSpPr txBox="1"/>
            <p:nvPr/>
          </p:nvSpPr>
          <p:spPr>
            <a:xfrm>
              <a:off x="6913599" y="6611779"/>
              <a:ext cx="4279615" cy="246221"/>
            </a:xfrm>
            <a:prstGeom prst="rect">
              <a:avLst/>
            </a:prstGeom>
            <a:noFill/>
          </p:spPr>
          <p:txBody>
            <a:bodyPr wrap="square">
              <a:spAutoFit/>
            </a:bodyPr>
            <a:lstStyle/>
            <a:p>
              <a:r>
                <a:rPr lang="en-US" sz="1000" dirty="0">
                  <a:solidFill>
                    <a:schemeClr val="bg1">
                      <a:lumMod val="25000"/>
                    </a:schemeClr>
                  </a:solidFill>
                </a:rPr>
                <a:t>CPT: Pharmacometrics &amp; Systems Pharmacology, 2025; 14:621–639</a:t>
              </a:r>
            </a:p>
          </p:txBody>
        </p:sp>
      </p:grpSp>
      <p:sp>
        <p:nvSpPr>
          <p:cNvPr id="13" name="TextBox 12">
            <a:extLst>
              <a:ext uri="{FF2B5EF4-FFF2-40B4-BE49-F238E27FC236}">
                <a16:creationId xmlns:a16="http://schemas.microsoft.com/office/drawing/2014/main" id="{CD2C48B3-3FFE-DF54-3959-BE3B7F11BDD9}"/>
              </a:ext>
            </a:extLst>
          </p:cNvPr>
          <p:cNvSpPr txBox="1"/>
          <p:nvPr/>
        </p:nvSpPr>
        <p:spPr>
          <a:xfrm>
            <a:off x="3348218" y="6252891"/>
            <a:ext cx="3813996" cy="246221"/>
          </a:xfrm>
          <a:prstGeom prst="rect">
            <a:avLst/>
          </a:prstGeom>
          <a:noFill/>
        </p:spPr>
        <p:txBody>
          <a:bodyPr wrap="square">
            <a:spAutoFit/>
          </a:bodyPr>
          <a:lstStyle/>
          <a:p>
            <a:r>
              <a:rPr lang="en-US" sz="1000" dirty="0">
                <a:solidFill>
                  <a:schemeClr val="bg1">
                    <a:lumMod val="25000"/>
                  </a:schemeClr>
                </a:solidFill>
              </a:rPr>
              <a:t>CPT Pharmacometrics Syst </a:t>
            </a:r>
            <a:r>
              <a:rPr lang="en-US" sz="1000" dirty="0" err="1">
                <a:solidFill>
                  <a:schemeClr val="bg1">
                    <a:lumMod val="25000"/>
                  </a:schemeClr>
                </a:solidFill>
              </a:rPr>
              <a:t>Pharmacol</a:t>
            </a:r>
            <a:r>
              <a:rPr lang="en-US" sz="1000" dirty="0">
                <a:solidFill>
                  <a:schemeClr val="bg1">
                    <a:lumMod val="25000"/>
                  </a:schemeClr>
                </a:solidFill>
              </a:rPr>
              <a:t>. 2025;14(12):2232-2243. </a:t>
            </a:r>
          </a:p>
        </p:txBody>
      </p:sp>
    </p:spTree>
    <p:extLst>
      <p:ext uri="{BB962C8B-B14F-4D97-AF65-F5344CB8AC3E}">
        <p14:creationId xmlns:p14="http://schemas.microsoft.com/office/powerpoint/2010/main" val="117432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txBox="1"/>
          <p:nvPr/>
        </p:nvSpPr>
        <p:spPr>
          <a:xfrm>
            <a:off x="456485" y="306261"/>
            <a:ext cx="11279029" cy="648000"/>
          </a:xfrm>
          <a:prstGeom prst="rect">
            <a:avLst/>
          </a:prstGeom>
          <a:noFill/>
        </p:spPr>
        <p:txBody>
          <a:bodyPr wrap="square" lIns="0" tIns="0" rIns="0" bIns="0" anchor="t"/>
          <a:lstStyle/>
          <a:p>
            <a:pPr algn="l">
              <a:buNone/>
            </a:pPr>
            <a:r>
              <a:rPr lang="en-US" sz="2000" b="1" dirty="0">
                <a:solidFill>
                  <a:srgbClr val="0460A9"/>
                </a:solidFill>
                <a:latin typeface="Arial"/>
                <a:cs typeface="Arial"/>
              </a:rPr>
              <a:t>SCM builds the model by adding, then pruning, covariates one at a time</a:t>
            </a:r>
          </a:p>
        </p:txBody>
      </p:sp>
      <p:grpSp>
        <p:nvGrpSpPr>
          <p:cNvPr id="14" name="Group 13">
            <a:extLst>
              <a:ext uri="{FF2B5EF4-FFF2-40B4-BE49-F238E27FC236}">
                <a16:creationId xmlns:a16="http://schemas.microsoft.com/office/drawing/2014/main" id="{255461BC-FA0A-DADE-7C20-F36DAC8678CB}"/>
              </a:ext>
            </a:extLst>
          </p:cNvPr>
          <p:cNvGrpSpPr/>
          <p:nvPr/>
        </p:nvGrpSpPr>
        <p:grpSpPr>
          <a:xfrm>
            <a:off x="656650" y="776319"/>
            <a:ext cx="10248644" cy="2013613"/>
            <a:chOff x="616638" y="1207434"/>
            <a:chExt cx="11026722" cy="3112566"/>
          </a:xfrm>
        </p:grpSpPr>
        <p:sp>
          <p:nvSpPr>
            <p:cNvPr id="20" name="base"/>
            <p:cNvSpPr/>
            <p:nvPr/>
          </p:nvSpPr>
          <p:spPr>
            <a:xfrm>
              <a:off x="616638" y="2890000"/>
              <a:ext cx="1433362" cy="1180001"/>
            </a:xfrm>
            <a:prstGeom prst="rect">
              <a:avLst/>
            </a:prstGeom>
            <a:solidFill>
              <a:srgbClr val="DCE9F7"/>
            </a:solidFill>
            <a:ln w="15875">
              <a:solidFill>
                <a:srgbClr val="2E6DB4"/>
              </a:solidFill>
            </a:ln>
          </p:spPr>
          <p:txBody>
            <a:bodyPr wrap="square" lIns="45720" tIns="27432" rIns="45720" bIns="27432" anchor="ctr"/>
            <a:lstStyle/>
            <a:p>
              <a:pPr marL="0" algn="ctr">
                <a:lnSpc>
                  <a:spcPct val="100000"/>
                </a:lnSpc>
                <a:spcAft>
                  <a:spcPts val="30"/>
                </a:spcAft>
                <a:buNone/>
              </a:pPr>
              <a:r>
                <a:rPr lang="en-US" sz="1600" b="1" i="0" dirty="0">
                  <a:solidFill>
                    <a:srgbClr val="0460A9"/>
                  </a:solidFill>
                  <a:latin typeface="Arial"/>
                  <a:cs typeface="Arial"/>
                </a:rPr>
                <a:t>Base model</a:t>
              </a:r>
            </a:p>
          </p:txBody>
        </p:sp>
        <p:sp>
          <p:nvSpPr>
            <p:cNvPr id="21" name="add"/>
            <p:cNvSpPr/>
            <p:nvPr/>
          </p:nvSpPr>
          <p:spPr>
            <a:xfrm>
              <a:off x="2410000" y="2890000"/>
              <a:ext cx="1650000" cy="1180000"/>
            </a:xfrm>
            <a:prstGeom prst="rect">
              <a:avLst/>
            </a:prstGeom>
            <a:ln/>
          </p:spPr>
          <p:style>
            <a:lnRef idx="3">
              <a:schemeClr val="lt1"/>
            </a:lnRef>
            <a:fillRef idx="1">
              <a:schemeClr val="accent6"/>
            </a:fillRef>
            <a:effectRef idx="1">
              <a:schemeClr val="accent6"/>
            </a:effectRef>
            <a:fontRef idx="minor">
              <a:schemeClr val="lt1"/>
            </a:fontRef>
          </p:style>
          <p:txBody>
            <a:bodyPr wrap="square" lIns="45720" tIns="27432" rIns="45720" bIns="27432" anchor="ctr"/>
            <a:lstStyle/>
            <a:p>
              <a:pPr marL="0" algn="ctr">
                <a:lnSpc>
                  <a:spcPct val="100000"/>
                </a:lnSpc>
                <a:spcAft>
                  <a:spcPts val="30"/>
                </a:spcAft>
                <a:buNone/>
              </a:pPr>
              <a:r>
                <a:rPr lang="en-US" sz="1600" b="1" i="0" dirty="0">
                  <a:solidFill>
                    <a:srgbClr val="0460A9"/>
                  </a:solidFill>
                  <a:latin typeface="Arial"/>
                  <a:cs typeface="Arial"/>
                </a:rPr>
                <a:t>Add the most significant </a:t>
              </a:r>
            </a:p>
            <a:p>
              <a:pPr marL="0" algn="ctr">
                <a:lnSpc>
                  <a:spcPct val="100000"/>
                </a:lnSpc>
                <a:spcAft>
                  <a:spcPts val="0"/>
                </a:spcAft>
                <a:buNone/>
              </a:pPr>
              <a:r>
                <a:rPr lang="en-US" sz="1600" b="1" i="0" dirty="0">
                  <a:solidFill>
                    <a:srgbClr val="0460A9"/>
                  </a:solidFill>
                  <a:latin typeface="Arial"/>
                  <a:cs typeface="Arial"/>
                </a:rPr>
                <a:t>candidate</a:t>
              </a:r>
            </a:p>
          </p:txBody>
        </p:sp>
        <p:sp>
          <p:nvSpPr>
            <p:cNvPr id="22" name="lrt"/>
            <p:cNvSpPr/>
            <p:nvPr/>
          </p:nvSpPr>
          <p:spPr>
            <a:xfrm>
              <a:off x="4404999" y="2640000"/>
              <a:ext cx="1695001" cy="1680000"/>
            </a:xfrm>
            <a:prstGeom prst="diamond">
              <a:avLst/>
            </a:prstGeom>
            <a:solidFill>
              <a:srgbClr val="ED9B33"/>
            </a:solidFill>
            <a:ln>
              <a:noFill/>
            </a:ln>
          </p:spPr>
          <p:txBody>
            <a:bodyPr wrap="square" lIns="45720" tIns="27432" rIns="45720" bIns="27432" anchor="ctr"/>
            <a:lstStyle/>
            <a:p>
              <a:pPr marL="0" algn="ctr">
                <a:lnSpc>
                  <a:spcPct val="100000"/>
                </a:lnSpc>
                <a:spcAft>
                  <a:spcPts val="30"/>
                </a:spcAft>
                <a:buNone/>
              </a:pPr>
              <a:r>
                <a:rPr lang="en-US" sz="1600" b="1" i="0" dirty="0">
                  <a:solidFill>
                    <a:srgbClr val="0460A9"/>
                  </a:solidFill>
                  <a:latin typeface="Arial"/>
                  <a:cs typeface="Arial"/>
                </a:rPr>
                <a:t>LRT</a:t>
              </a:r>
            </a:p>
            <a:p>
              <a:pPr marL="0" algn="ctr">
                <a:lnSpc>
                  <a:spcPct val="100000"/>
                </a:lnSpc>
                <a:spcAft>
                  <a:spcPts val="0"/>
                </a:spcAft>
                <a:buNone/>
              </a:pPr>
              <a:r>
                <a:rPr lang="en-US" sz="1600" b="1" i="0" dirty="0">
                  <a:solidFill>
                    <a:srgbClr val="0460A9"/>
                  </a:solidFill>
                  <a:latin typeface="Arial"/>
                  <a:cs typeface="Arial"/>
                </a:rPr>
                <a:t>p &lt; 0.05?</a:t>
              </a:r>
            </a:p>
          </p:txBody>
        </p:sp>
        <p:sp>
          <p:nvSpPr>
            <p:cNvPr id="23" name="rem"/>
            <p:cNvSpPr/>
            <p:nvPr/>
          </p:nvSpPr>
          <p:spPr>
            <a:xfrm>
              <a:off x="6511680" y="2890000"/>
              <a:ext cx="1650000" cy="1180000"/>
            </a:xfrm>
            <a:prstGeom prst="rect">
              <a:avLst/>
            </a:prstGeom>
            <a:ln/>
          </p:spPr>
          <p:style>
            <a:lnRef idx="3">
              <a:schemeClr val="lt1"/>
            </a:lnRef>
            <a:fillRef idx="1">
              <a:schemeClr val="accent6"/>
            </a:fillRef>
            <a:effectRef idx="1">
              <a:schemeClr val="accent6"/>
            </a:effectRef>
            <a:fontRef idx="minor">
              <a:schemeClr val="lt1"/>
            </a:fontRef>
          </p:style>
          <p:txBody>
            <a:bodyPr wrap="square" lIns="45720" tIns="27432" rIns="45720" bIns="27432" anchor="ctr"/>
            <a:lstStyle/>
            <a:p>
              <a:pPr marL="0" algn="ctr">
                <a:lnSpc>
                  <a:spcPct val="100000"/>
                </a:lnSpc>
                <a:spcAft>
                  <a:spcPts val="30"/>
                </a:spcAft>
                <a:buNone/>
              </a:pPr>
              <a:r>
                <a:rPr lang="en-US" sz="1600" b="1" i="0" dirty="0">
                  <a:solidFill>
                    <a:srgbClr val="0460A9"/>
                  </a:solidFill>
                  <a:latin typeface="Arial"/>
                  <a:cs typeface="Arial"/>
                </a:rPr>
                <a:t>Remove weakest</a:t>
              </a:r>
            </a:p>
          </p:txBody>
        </p:sp>
        <p:sp>
          <p:nvSpPr>
            <p:cNvPr id="24" name="pv"/>
            <p:cNvSpPr/>
            <p:nvPr/>
          </p:nvSpPr>
          <p:spPr>
            <a:xfrm>
              <a:off x="8440000" y="2640000"/>
              <a:ext cx="1680000" cy="1680000"/>
            </a:xfrm>
            <a:prstGeom prst="diamond">
              <a:avLst/>
            </a:prstGeom>
            <a:solidFill>
              <a:srgbClr val="ED9B33"/>
            </a:solidFill>
            <a:ln>
              <a:noFill/>
            </a:ln>
          </p:spPr>
          <p:txBody>
            <a:bodyPr wrap="square" lIns="45720" tIns="27432" rIns="45720" bIns="27432" anchor="ctr"/>
            <a:lstStyle/>
            <a:p>
              <a:pPr marL="0" algn="ctr">
                <a:lnSpc>
                  <a:spcPct val="100000"/>
                </a:lnSpc>
                <a:spcAft>
                  <a:spcPts val="40"/>
                </a:spcAft>
                <a:buNone/>
              </a:pPr>
              <a:r>
                <a:rPr lang="en-US" sz="1600" b="1" i="0" dirty="0">
                  <a:solidFill>
                    <a:srgbClr val="3C3C3C"/>
                  </a:solidFill>
                  <a:latin typeface="Arial"/>
                  <a:cs typeface="Arial"/>
                </a:rPr>
                <a:t>p &gt; 0.01?</a:t>
              </a:r>
            </a:p>
          </p:txBody>
        </p:sp>
        <p:sp>
          <p:nvSpPr>
            <p:cNvPr id="25" name="fin"/>
            <p:cNvSpPr/>
            <p:nvPr/>
          </p:nvSpPr>
          <p:spPr>
            <a:xfrm>
              <a:off x="10513360" y="2950494"/>
              <a:ext cx="1130000" cy="1059011"/>
            </a:xfrm>
            <a:prstGeom prst="rect">
              <a:avLst/>
            </a:prstGeom>
            <a:solidFill>
              <a:srgbClr val="00B050"/>
            </a:solidFill>
            <a:ln>
              <a:noFill/>
            </a:ln>
          </p:spPr>
          <p:txBody>
            <a:bodyPr wrap="square" lIns="45720" tIns="27432" rIns="45720" bIns="27432" anchor="ctr"/>
            <a:lstStyle/>
            <a:p>
              <a:pPr marL="0" algn="ctr">
                <a:lnSpc>
                  <a:spcPct val="100000"/>
                </a:lnSpc>
                <a:spcAft>
                  <a:spcPts val="30"/>
                </a:spcAft>
                <a:buNone/>
              </a:pPr>
              <a:r>
                <a:rPr lang="en-US" sz="1600" b="1" i="0" dirty="0">
                  <a:solidFill>
                    <a:srgbClr val="FFFFFF"/>
                  </a:solidFill>
                  <a:latin typeface="Arial"/>
                  <a:cs typeface="Arial"/>
                </a:rPr>
                <a:t>Final</a:t>
              </a:r>
            </a:p>
            <a:p>
              <a:pPr marL="0" algn="ctr">
                <a:lnSpc>
                  <a:spcPct val="100000"/>
                </a:lnSpc>
                <a:spcAft>
                  <a:spcPts val="0"/>
                </a:spcAft>
                <a:buNone/>
              </a:pPr>
              <a:r>
                <a:rPr lang="en-US" sz="1600" b="1" i="0" dirty="0">
                  <a:solidFill>
                    <a:srgbClr val="FFFFFF"/>
                  </a:solidFill>
                  <a:latin typeface="Arial"/>
                  <a:cs typeface="Arial"/>
                </a:rPr>
                <a:t>model</a:t>
              </a:r>
            </a:p>
          </p:txBody>
        </p:sp>
        <p:cxnSp>
          <p:nvCxnSpPr>
            <p:cNvPr id="30" name="a30"/>
            <p:cNvCxnSpPr>
              <a:cxnSpLocks/>
            </p:cNvCxnSpPr>
            <p:nvPr/>
          </p:nvCxnSpPr>
          <p:spPr>
            <a:xfrm>
              <a:off x="2050000" y="3480000"/>
              <a:ext cx="360000" cy="0"/>
            </a:xfrm>
            <a:prstGeom prst="straightConnector1">
              <a:avLst/>
            </a:prstGeom>
            <a:ln w="19050" cap="rnd">
              <a:solidFill>
                <a:srgbClr val="4D4D4D"/>
              </a:solidFill>
              <a:tailEnd type="triangle" w="med" len="med"/>
            </a:ln>
          </p:spPr>
        </p:cxnSp>
        <p:cxnSp>
          <p:nvCxnSpPr>
            <p:cNvPr id="31" name="a31"/>
            <p:cNvCxnSpPr>
              <a:cxnSpLocks/>
            </p:cNvCxnSpPr>
            <p:nvPr/>
          </p:nvCxnSpPr>
          <p:spPr>
            <a:xfrm>
              <a:off x="4060000" y="3480000"/>
              <a:ext cx="360000" cy="0"/>
            </a:xfrm>
            <a:prstGeom prst="straightConnector1">
              <a:avLst/>
            </a:prstGeom>
            <a:ln w="19050" cap="rnd">
              <a:solidFill>
                <a:srgbClr val="4D4D4D"/>
              </a:solidFill>
              <a:tailEnd type="triangle" w="med" len="med"/>
            </a:ln>
          </p:spPr>
        </p:cxnSp>
        <p:cxnSp>
          <p:nvCxnSpPr>
            <p:cNvPr id="32" name="a32"/>
            <p:cNvCxnSpPr>
              <a:cxnSpLocks/>
            </p:cNvCxnSpPr>
            <p:nvPr/>
          </p:nvCxnSpPr>
          <p:spPr>
            <a:xfrm>
              <a:off x="6100000" y="3480000"/>
              <a:ext cx="330000" cy="0"/>
            </a:xfrm>
            <a:prstGeom prst="straightConnector1">
              <a:avLst/>
            </a:prstGeom>
            <a:ln w="19050" cap="rnd">
              <a:solidFill>
                <a:srgbClr val="4D4D4D"/>
              </a:solidFill>
              <a:tailEnd type="triangle" w="med" len="med"/>
            </a:ln>
          </p:spPr>
        </p:cxnSp>
        <p:cxnSp>
          <p:nvCxnSpPr>
            <p:cNvPr id="33" name="a33"/>
            <p:cNvCxnSpPr>
              <a:cxnSpLocks/>
            </p:cNvCxnSpPr>
            <p:nvPr/>
          </p:nvCxnSpPr>
          <p:spPr>
            <a:xfrm>
              <a:off x="8155000" y="3479999"/>
              <a:ext cx="360000" cy="0"/>
            </a:xfrm>
            <a:prstGeom prst="straightConnector1">
              <a:avLst/>
            </a:prstGeom>
            <a:ln w="19050" cap="rnd">
              <a:solidFill>
                <a:srgbClr val="4D4D4D"/>
              </a:solidFill>
              <a:tailEnd type="triangle" w="med" len="med"/>
            </a:ln>
          </p:spPr>
        </p:cxnSp>
        <p:cxnSp>
          <p:nvCxnSpPr>
            <p:cNvPr id="34" name="a34"/>
            <p:cNvCxnSpPr>
              <a:cxnSpLocks/>
            </p:cNvCxnSpPr>
            <p:nvPr/>
          </p:nvCxnSpPr>
          <p:spPr>
            <a:xfrm>
              <a:off x="10120000" y="3480000"/>
              <a:ext cx="330000" cy="0"/>
            </a:xfrm>
            <a:prstGeom prst="straightConnector1">
              <a:avLst/>
            </a:prstGeom>
            <a:ln w="19050" cap="rnd">
              <a:solidFill>
                <a:srgbClr val="4D4D4D"/>
              </a:solidFill>
              <a:tailEnd type="triangle" w="med" len="med"/>
            </a:ln>
          </p:spPr>
        </p:cxnSp>
        <p:sp>
          <p:nvSpPr>
            <p:cNvPr id="35" name="nomore"/>
            <p:cNvSpPr txBox="1"/>
            <p:nvPr/>
          </p:nvSpPr>
          <p:spPr>
            <a:xfrm>
              <a:off x="5750000" y="3120000"/>
              <a:ext cx="1150000" cy="300000"/>
            </a:xfrm>
            <a:prstGeom prst="rect">
              <a:avLst/>
            </a:prstGeom>
            <a:noFill/>
          </p:spPr>
          <p:txBody>
            <a:bodyPr wrap="square" lIns="0" tIns="0" rIns="0" bIns="0" anchor="t"/>
            <a:lstStyle/>
            <a:p>
              <a:pPr marL="0" algn="ctr">
                <a:lnSpc>
                  <a:spcPct val="100000"/>
                </a:lnSpc>
                <a:spcAft>
                  <a:spcPts val="40"/>
                </a:spcAft>
                <a:buNone/>
              </a:pPr>
              <a:r>
                <a:rPr lang="en-US" sz="1600" b="1" i="0" dirty="0">
                  <a:solidFill>
                    <a:srgbClr val="E8590C"/>
                  </a:solidFill>
                  <a:latin typeface="Arial"/>
                  <a:cs typeface="Arial"/>
                </a:rPr>
                <a:t>No</a:t>
              </a:r>
            </a:p>
          </p:txBody>
        </p:sp>
        <p:sp>
          <p:nvSpPr>
            <p:cNvPr id="36" name="no"/>
            <p:cNvSpPr txBox="1"/>
            <p:nvPr/>
          </p:nvSpPr>
          <p:spPr>
            <a:xfrm>
              <a:off x="9870000" y="3120000"/>
              <a:ext cx="900000" cy="300000"/>
            </a:xfrm>
            <a:prstGeom prst="rect">
              <a:avLst/>
            </a:prstGeom>
            <a:noFill/>
          </p:spPr>
          <p:txBody>
            <a:bodyPr wrap="square" lIns="0" tIns="0" rIns="0" bIns="0" anchor="t"/>
            <a:lstStyle/>
            <a:p>
              <a:pPr marL="0" algn="ctr">
                <a:lnSpc>
                  <a:spcPct val="100000"/>
                </a:lnSpc>
                <a:spcAft>
                  <a:spcPts val="40"/>
                </a:spcAft>
                <a:buNone/>
              </a:pPr>
              <a:r>
                <a:rPr lang="en-US" sz="1600" b="1" i="0" dirty="0">
                  <a:solidFill>
                    <a:srgbClr val="E8590C"/>
                  </a:solidFill>
                  <a:latin typeface="Arial"/>
                  <a:cs typeface="Arial"/>
                </a:rPr>
                <a:t>No</a:t>
              </a:r>
            </a:p>
          </p:txBody>
        </p:sp>
        <p:cxnSp>
          <p:nvCxnSpPr>
            <p:cNvPr id="40" name="a40"/>
            <p:cNvCxnSpPr>
              <a:cxnSpLocks/>
            </p:cNvCxnSpPr>
            <p:nvPr/>
          </p:nvCxnSpPr>
          <p:spPr>
            <a:xfrm flipV="1">
              <a:off x="5260000" y="2160000"/>
              <a:ext cx="0" cy="480000"/>
            </a:xfrm>
            <a:prstGeom prst="straightConnector1">
              <a:avLst/>
            </a:prstGeom>
            <a:ln w="19050" cap="rnd">
              <a:solidFill>
                <a:srgbClr val="4D4D4D"/>
              </a:solidFill>
            </a:ln>
          </p:spPr>
        </p:cxnSp>
        <p:cxnSp>
          <p:nvCxnSpPr>
            <p:cNvPr id="41" name="a41"/>
            <p:cNvCxnSpPr>
              <a:cxnSpLocks/>
            </p:cNvCxnSpPr>
            <p:nvPr/>
          </p:nvCxnSpPr>
          <p:spPr>
            <a:xfrm flipH="1">
              <a:off x="3235000" y="2160000"/>
              <a:ext cx="2025000" cy="0"/>
            </a:xfrm>
            <a:prstGeom prst="straightConnector1">
              <a:avLst/>
            </a:prstGeom>
            <a:ln w="19050" cap="rnd">
              <a:solidFill>
                <a:srgbClr val="4D4D4D"/>
              </a:solidFill>
            </a:ln>
          </p:spPr>
        </p:cxnSp>
        <p:cxnSp>
          <p:nvCxnSpPr>
            <p:cNvPr id="42" name="a42"/>
            <p:cNvCxnSpPr>
              <a:cxnSpLocks/>
            </p:cNvCxnSpPr>
            <p:nvPr/>
          </p:nvCxnSpPr>
          <p:spPr>
            <a:xfrm>
              <a:off x="3235000" y="2160000"/>
              <a:ext cx="0" cy="730000"/>
            </a:xfrm>
            <a:prstGeom prst="straightConnector1">
              <a:avLst/>
            </a:prstGeom>
            <a:ln w="19050" cap="rnd">
              <a:solidFill>
                <a:srgbClr val="4D4D4D"/>
              </a:solidFill>
              <a:tailEnd type="triangle" w="med" len="med"/>
            </a:ln>
          </p:spPr>
        </p:cxnSp>
        <p:sp>
          <p:nvSpPr>
            <p:cNvPr id="43" name="y1"/>
            <p:cNvSpPr txBox="1"/>
            <p:nvPr/>
          </p:nvSpPr>
          <p:spPr>
            <a:xfrm>
              <a:off x="2935000" y="1800000"/>
              <a:ext cx="2400000" cy="300000"/>
            </a:xfrm>
            <a:prstGeom prst="rect">
              <a:avLst/>
            </a:prstGeom>
            <a:noFill/>
          </p:spPr>
          <p:txBody>
            <a:bodyPr wrap="square" lIns="0" tIns="0" rIns="0" bIns="0" anchor="t"/>
            <a:lstStyle/>
            <a:p>
              <a:pPr marL="0" algn="ctr">
                <a:lnSpc>
                  <a:spcPct val="100000"/>
                </a:lnSpc>
                <a:spcAft>
                  <a:spcPts val="40"/>
                </a:spcAft>
                <a:buNone/>
              </a:pPr>
              <a:r>
                <a:rPr lang="en-US" sz="1600" b="1" i="0" dirty="0">
                  <a:solidFill>
                    <a:srgbClr val="E8590C"/>
                  </a:solidFill>
                  <a:latin typeface="Arial"/>
                  <a:cs typeface="Arial"/>
                </a:rPr>
                <a:t>Yes (add, repeat)</a:t>
              </a:r>
            </a:p>
          </p:txBody>
        </p:sp>
        <p:cxnSp>
          <p:nvCxnSpPr>
            <p:cNvPr id="44" name="a44"/>
            <p:cNvCxnSpPr>
              <a:cxnSpLocks/>
            </p:cNvCxnSpPr>
            <p:nvPr/>
          </p:nvCxnSpPr>
          <p:spPr>
            <a:xfrm flipV="1">
              <a:off x="9280000" y="2160000"/>
              <a:ext cx="0" cy="480000"/>
            </a:xfrm>
            <a:prstGeom prst="straightConnector1">
              <a:avLst/>
            </a:prstGeom>
            <a:ln w="19050" cap="rnd">
              <a:solidFill>
                <a:srgbClr val="4D4D4D"/>
              </a:solidFill>
            </a:ln>
          </p:spPr>
        </p:cxnSp>
        <p:cxnSp>
          <p:nvCxnSpPr>
            <p:cNvPr id="45" name="a45"/>
            <p:cNvCxnSpPr>
              <a:cxnSpLocks/>
            </p:cNvCxnSpPr>
            <p:nvPr/>
          </p:nvCxnSpPr>
          <p:spPr>
            <a:xfrm flipH="1">
              <a:off x="7255000" y="2160000"/>
              <a:ext cx="2025000" cy="0"/>
            </a:xfrm>
            <a:prstGeom prst="straightConnector1">
              <a:avLst/>
            </a:prstGeom>
            <a:ln w="19050" cap="rnd">
              <a:solidFill>
                <a:srgbClr val="4D4D4D"/>
              </a:solidFill>
            </a:ln>
          </p:spPr>
        </p:cxnSp>
        <p:cxnSp>
          <p:nvCxnSpPr>
            <p:cNvPr id="46" name="a46"/>
            <p:cNvCxnSpPr>
              <a:cxnSpLocks/>
            </p:cNvCxnSpPr>
            <p:nvPr/>
          </p:nvCxnSpPr>
          <p:spPr>
            <a:xfrm>
              <a:off x="7255000" y="2160000"/>
              <a:ext cx="0" cy="730000"/>
            </a:xfrm>
            <a:prstGeom prst="straightConnector1">
              <a:avLst/>
            </a:prstGeom>
            <a:ln w="19050" cap="rnd">
              <a:solidFill>
                <a:srgbClr val="4D4D4D"/>
              </a:solidFill>
              <a:tailEnd type="triangle" w="med" len="med"/>
            </a:ln>
          </p:spPr>
        </p:cxnSp>
        <p:sp>
          <p:nvSpPr>
            <p:cNvPr id="47" name="y2"/>
            <p:cNvSpPr txBox="1"/>
            <p:nvPr/>
          </p:nvSpPr>
          <p:spPr>
            <a:xfrm>
              <a:off x="6955000" y="1800000"/>
              <a:ext cx="2400000" cy="300000"/>
            </a:xfrm>
            <a:prstGeom prst="rect">
              <a:avLst/>
            </a:prstGeom>
            <a:noFill/>
          </p:spPr>
          <p:txBody>
            <a:bodyPr wrap="square" lIns="0" tIns="0" rIns="0" bIns="0" anchor="t"/>
            <a:lstStyle/>
            <a:p>
              <a:pPr marL="0" algn="ctr">
                <a:lnSpc>
                  <a:spcPct val="100000"/>
                </a:lnSpc>
                <a:spcAft>
                  <a:spcPts val="40"/>
                </a:spcAft>
                <a:buNone/>
              </a:pPr>
              <a:r>
                <a:rPr lang="en-US" sz="1600" b="1" i="0" dirty="0">
                  <a:solidFill>
                    <a:srgbClr val="E8590C"/>
                  </a:solidFill>
                  <a:latin typeface="Arial"/>
                  <a:cs typeface="Arial"/>
                </a:rPr>
                <a:t>Yes (remove, repeat)</a:t>
              </a:r>
            </a:p>
          </p:txBody>
        </p:sp>
        <p:sp>
          <p:nvSpPr>
            <p:cNvPr id="48" name="fwd"/>
            <p:cNvSpPr txBox="1"/>
            <p:nvPr/>
          </p:nvSpPr>
          <p:spPr>
            <a:xfrm>
              <a:off x="2300000" y="1207434"/>
              <a:ext cx="3520000" cy="579996"/>
            </a:xfrm>
            <a:prstGeom prst="rect">
              <a:avLst/>
            </a:prstGeom>
            <a:noFill/>
          </p:spPr>
          <p:txBody>
            <a:bodyPr wrap="square" lIns="0" tIns="0" rIns="0" bIns="0" anchor="t"/>
            <a:lstStyle/>
            <a:p>
              <a:pPr marL="0" algn="ctr">
                <a:lnSpc>
                  <a:spcPct val="100000"/>
                </a:lnSpc>
                <a:spcAft>
                  <a:spcPts val="40"/>
                </a:spcAft>
                <a:buNone/>
              </a:pPr>
              <a:r>
                <a:rPr lang="en-US" sz="2000" b="1" i="0" dirty="0">
                  <a:latin typeface="Arial"/>
                  <a:cs typeface="Arial"/>
                </a:rPr>
                <a:t>Forward inclusion</a:t>
              </a:r>
            </a:p>
          </p:txBody>
        </p:sp>
        <p:sp>
          <p:nvSpPr>
            <p:cNvPr id="49" name="bwd"/>
            <p:cNvSpPr txBox="1"/>
            <p:nvPr/>
          </p:nvSpPr>
          <p:spPr>
            <a:xfrm>
              <a:off x="6134346" y="1238671"/>
              <a:ext cx="3520000" cy="459999"/>
            </a:xfrm>
            <a:prstGeom prst="rect">
              <a:avLst/>
            </a:prstGeom>
            <a:noFill/>
          </p:spPr>
          <p:txBody>
            <a:bodyPr wrap="square" lIns="0" tIns="0" rIns="0" bIns="0" anchor="t"/>
            <a:lstStyle/>
            <a:p>
              <a:pPr marL="0" algn="ctr">
                <a:lnSpc>
                  <a:spcPct val="100000"/>
                </a:lnSpc>
                <a:spcAft>
                  <a:spcPts val="40"/>
                </a:spcAft>
                <a:buNone/>
              </a:pPr>
              <a:r>
                <a:rPr lang="en-US" sz="2000" b="1" dirty="0">
                  <a:latin typeface="Arial"/>
                  <a:cs typeface="Arial"/>
                </a:rPr>
                <a:t>Backward elimination</a:t>
              </a:r>
            </a:p>
          </p:txBody>
        </p:sp>
      </p:gr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149AD619-3637-4849-B618-E29C888D376F}" type="slidenum">
              <a:rPr lang="en-US" sz="1000">
                <a:solidFill>
                  <a:srgbClr val="8A8A8A"/>
                </a:solidFill>
                <a:latin typeface="Arial"/>
              </a:rPr>
              <a:t>7</a:t>
            </a:fld>
            <a:endParaRPr lang="en-US" sz="1000">
              <a:solidFill>
                <a:srgbClr val="8A8A8A"/>
              </a:solidFill>
              <a:latin typeface="Arial"/>
            </a:endParaRPr>
          </a:p>
        </p:txBody>
      </p:sp>
      <p:sp>
        <p:nvSpPr>
          <p:cNvPr id="3" name="TextBox 2">
            <a:extLst>
              <a:ext uri="{FF2B5EF4-FFF2-40B4-BE49-F238E27FC236}">
                <a16:creationId xmlns:a16="http://schemas.microsoft.com/office/drawing/2014/main" id="{D85D6864-10CB-3A5F-144B-A9E5F72EC7A8}"/>
              </a:ext>
            </a:extLst>
          </p:cNvPr>
          <p:cNvSpPr txBox="1"/>
          <p:nvPr/>
        </p:nvSpPr>
        <p:spPr>
          <a:xfrm>
            <a:off x="8800618" y="6522889"/>
            <a:ext cx="3117404" cy="246221"/>
          </a:xfrm>
          <a:prstGeom prst="rect">
            <a:avLst/>
          </a:prstGeom>
          <a:noFill/>
        </p:spPr>
        <p:txBody>
          <a:bodyPr wrap="square">
            <a:spAutoFit/>
          </a:bodyPr>
          <a:lstStyle/>
          <a:p>
            <a:r>
              <a:rPr lang="en-US" sz="1000" dirty="0"/>
              <a:t>Pharmaceutical Research 15 (1998): 1463–1468.</a:t>
            </a:r>
          </a:p>
        </p:txBody>
      </p:sp>
      <p:sp>
        <p:nvSpPr>
          <p:cNvPr id="4" name="title">
            <a:extLst>
              <a:ext uri="{FF2B5EF4-FFF2-40B4-BE49-F238E27FC236}">
                <a16:creationId xmlns:a16="http://schemas.microsoft.com/office/drawing/2014/main" id="{D96ED000-5ADE-C94A-071C-BE6CF7AD2B66}"/>
              </a:ext>
            </a:extLst>
          </p:cNvPr>
          <p:cNvSpPr txBox="1"/>
          <p:nvPr/>
        </p:nvSpPr>
        <p:spPr>
          <a:xfrm>
            <a:off x="398869" y="3137173"/>
            <a:ext cx="11372896" cy="903385"/>
          </a:xfrm>
          <a:prstGeom prst="rect">
            <a:avLst/>
          </a:prstGeom>
          <a:noFill/>
        </p:spPr>
        <p:txBody>
          <a:bodyPr wrap="square" lIns="0" tIns="0" rIns="0" bIns="0" anchor="t"/>
          <a:lstStyle/>
          <a:p>
            <a:pPr algn="l">
              <a:buNone/>
            </a:pPr>
            <a:r>
              <a:rPr lang="en-US" sz="2000" b="1" dirty="0">
                <a:solidFill>
                  <a:srgbClr val="0460A9"/>
                </a:solidFill>
                <a:latin typeface="Arial"/>
                <a:cs typeface="Arial"/>
              </a:rPr>
              <a:t>VAE can estimate population parameters and covariate effects in a single run </a:t>
            </a:r>
          </a:p>
        </p:txBody>
      </p:sp>
      <p:pic>
        <p:nvPicPr>
          <p:cNvPr id="10" name="Picture 9">
            <a:extLst>
              <a:ext uri="{FF2B5EF4-FFF2-40B4-BE49-F238E27FC236}">
                <a16:creationId xmlns:a16="http://schemas.microsoft.com/office/drawing/2014/main" id="{8C25D741-039E-85EF-AE79-F6DBBAA95711}"/>
              </a:ext>
            </a:extLst>
          </p:cNvPr>
          <p:cNvPicPr>
            <a:picLocks noChangeAspect="1"/>
          </p:cNvPicPr>
          <p:nvPr/>
        </p:nvPicPr>
        <p:blipFill>
          <a:blip r:embed="rId3"/>
          <a:stretch>
            <a:fillRect/>
          </a:stretch>
        </p:blipFill>
        <p:spPr>
          <a:xfrm>
            <a:off x="2480749" y="3557678"/>
            <a:ext cx="6319869" cy="25240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548640" y="411480"/>
            <a:ext cx="11076432" cy="777240"/>
          </a:xfrm>
        </p:spPr>
        <p:txBody>
          <a:bodyPr/>
          <a:lstStyle/>
          <a:p>
            <a:pPr algn="l">
              <a:buNone/>
            </a:pPr>
            <a:r>
              <a:rPr lang="en-US" sz="2800" b="1" dirty="0">
                <a:solidFill>
                  <a:srgbClr val="0460A9"/>
                </a:solidFill>
                <a:latin typeface="Arial"/>
                <a:cs typeface="Arial"/>
              </a:rPr>
              <a:t>We benchmark nlmixr2's SCM and VAE against the NONMEM standard</a:t>
            </a:r>
          </a:p>
        </p:txBody>
      </p:sp>
      <p:sp>
        <p:nvSpPr>
          <p:cNvPr id="3" name="Content Placeholder 2"/>
          <p:cNvSpPr>
            <a:spLocks noGrp="1"/>
          </p:cNvSpPr>
          <p:nvPr>
            <p:ph/>
          </p:nvPr>
        </p:nvSpPr>
        <p:spPr>
          <a:xfrm>
            <a:off x="566928" y="1188720"/>
            <a:ext cx="3108960" cy="64008"/>
          </a:xfrm>
        </p:spPr>
        <p:txBody>
          <a:bodyPr/>
          <a:lstStyle/>
          <a:p>
            <a:pPr marL="0" marR="0" algn="l">
              <a:lnSpc>
                <a:spcPct val="100000"/>
              </a:lnSpc>
              <a:spcBef>
                <a:spcPts val="0"/>
              </a:spcBef>
              <a:spcAft>
                <a:spcPts val="0"/>
              </a:spcAft>
              <a:buNone/>
            </a:pPr>
            <a:r>
              <a:rPr sz="200" b="0" i="0" u="none" strike="noStrike" cap="none">
                <a:solidFill>
                  <a:srgbClr val="000000">
                    <a:alpha val="100000"/>
                  </a:srgbClr>
                </a:solidFill>
                <a:latin typeface="Arial"/>
                <a:cs typeface="Arial"/>
                <a:sym typeface="Arial"/>
              </a:rPr>
              <a:t> </a:t>
            </a:r>
          </a:p>
        </p:txBody>
      </p:sp>
      <p:sp>
        <p:nvSpPr>
          <p:cNvPr id="4" name="Content Placeholder 3"/>
          <p:cNvSpPr>
            <a:spLocks noGrp="1"/>
          </p:cNvSpPr>
          <p:nvPr>
            <p:ph/>
          </p:nvPr>
        </p:nvSpPr>
        <p:spPr>
          <a:xfrm>
            <a:off x="1448930" y="2426448"/>
            <a:ext cx="9433477" cy="1778372"/>
          </a:xfrm>
        </p:spPr>
        <p:txBody>
          <a:bodyPr/>
          <a:lstStyle/>
          <a:p>
            <a:pPr marL="0" marR="0" algn="l">
              <a:lnSpc>
                <a:spcPct val="105000"/>
              </a:lnSpc>
              <a:spcBef>
                <a:spcPts val="0"/>
              </a:spcBef>
              <a:spcAft>
                <a:spcPts val="500"/>
              </a:spcAft>
              <a:buNone/>
            </a:pPr>
            <a:r>
              <a:rPr lang="en-US" sz="2800" b="0" i="0" u="none" strike="noStrike" cap="none" dirty="0">
                <a:solidFill>
                  <a:srgbClr val="4D4D4D">
                    <a:alpha val="100000"/>
                  </a:srgbClr>
                </a:solidFill>
                <a:latin typeface="Arial"/>
                <a:cs typeface="Arial"/>
                <a:sym typeface="Arial"/>
              </a:rPr>
              <a:t>To </a:t>
            </a:r>
            <a:r>
              <a:rPr lang="en-US" sz="2800" b="0" dirty="0">
                <a:solidFill>
                  <a:srgbClr val="4D4D4D">
                    <a:alpha val="100000"/>
                  </a:srgbClr>
                </a:solidFill>
                <a:latin typeface="Arial"/>
                <a:cs typeface="Arial"/>
                <a:sym typeface="Arial"/>
              </a:rPr>
              <a:t>e</a:t>
            </a:r>
            <a:r>
              <a:rPr lang="en-US" sz="2800" b="0" i="0" u="none" strike="noStrike" cap="none" dirty="0">
                <a:solidFill>
                  <a:srgbClr val="4D4D4D">
                    <a:alpha val="100000"/>
                  </a:srgbClr>
                </a:solidFill>
                <a:latin typeface="Arial"/>
                <a:cs typeface="Arial"/>
                <a:sym typeface="Arial"/>
              </a:rPr>
              <a:t>valuate the </a:t>
            </a:r>
            <a:r>
              <a:rPr lang="en-US" sz="2800" b="0" i="0" u="sng" strike="noStrike" cap="none" dirty="0">
                <a:solidFill>
                  <a:srgbClr val="4D4D4D">
                    <a:alpha val="100000"/>
                  </a:srgbClr>
                </a:solidFill>
                <a:latin typeface="Arial"/>
                <a:cs typeface="Arial"/>
                <a:sym typeface="Arial"/>
              </a:rPr>
              <a:t>operating characteristics</a:t>
            </a:r>
            <a:r>
              <a:rPr lang="en-US" sz="2800" b="0" i="0" u="none" strike="noStrike" cap="none" dirty="0">
                <a:solidFill>
                  <a:srgbClr val="4D4D4D">
                    <a:alpha val="100000"/>
                  </a:srgbClr>
                </a:solidFill>
                <a:latin typeface="Arial"/>
                <a:cs typeface="Arial"/>
                <a:sym typeface="Arial"/>
              </a:rPr>
              <a:t> of </a:t>
            </a:r>
            <a:br>
              <a:rPr lang="en-US" sz="2800" b="0" i="0" u="none" strike="noStrike" cap="none" dirty="0">
                <a:solidFill>
                  <a:srgbClr val="4D4D4D">
                    <a:alpha val="100000"/>
                  </a:srgbClr>
                </a:solidFill>
                <a:latin typeface="Arial"/>
                <a:cs typeface="Arial"/>
                <a:sym typeface="Arial"/>
              </a:rPr>
            </a:br>
            <a:r>
              <a:rPr lang="en-US" sz="2800" b="0" i="0" strike="noStrike" cap="none" dirty="0">
                <a:solidFill>
                  <a:srgbClr val="4D4D4D">
                    <a:alpha val="100000"/>
                  </a:srgbClr>
                </a:solidFill>
                <a:latin typeface="Arial"/>
                <a:cs typeface="Arial"/>
                <a:sym typeface="Arial"/>
              </a:rPr>
              <a:t>traditional (i.e., SCM) and novel (i.e., VAE) covariate </a:t>
            </a:r>
            <a:r>
              <a:rPr lang="en-US" sz="2800" b="0" i="0" u="none" strike="noStrike" cap="none" dirty="0">
                <a:solidFill>
                  <a:srgbClr val="4D4D4D">
                    <a:alpha val="100000"/>
                  </a:srgbClr>
                </a:solidFill>
                <a:latin typeface="Arial"/>
                <a:cs typeface="Arial"/>
                <a:sym typeface="Arial"/>
              </a:rPr>
              <a:t>model building methods</a:t>
            </a:r>
            <a:r>
              <a:rPr lang="en-US" sz="2800" b="0" dirty="0">
                <a:solidFill>
                  <a:srgbClr val="4D4D4D">
                    <a:alpha val="100000"/>
                  </a:srgbClr>
                </a:solidFill>
                <a:latin typeface="Arial"/>
                <a:cs typeface="Arial"/>
                <a:sym typeface="Arial"/>
              </a:rPr>
              <a:t> in the open-source </a:t>
            </a:r>
            <a:r>
              <a:rPr lang="en-US" sz="2800" b="0" u="sng" dirty="0">
                <a:solidFill>
                  <a:srgbClr val="4D4D4D">
                    <a:alpha val="100000"/>
                  </a:srgbClr>
                </a:solidFill>
                <a:latin typeface="Arial"/>
                <a:cs typeface="Arial"/>
                <a:sym typeface="Arial"/>
              </a:rPr>
              <a:t>nlmixr2 ecosystem</a:t>
            </a:r>
            <a:r>
              <a:rPr lang="en-US" sz="2800" b="0" dirty="0">
                <a:solidFill>
                  <a:srgbClr val="4D4D4D">
                    <a:alpha val="100000"/>
                  </a:srgbClr>
                </a:solidFill>
                <a:latin typeface="Arial"/>
                <a:cs typeface="Arial"/>
                <a:sym typeface="Arial"/>
              </a:rPr>
              <a:t>, benchmarking against </a:t>
            </a:r>
            <a:r>
              <a:rPr lang="en-US" sz="2800" b="0" u="sng" dirty="0" err="1">
                <a:solidFill>
                  <a:srgbClr val="4D4D4D">
                    <a:alpha val="100000"/>
                  </a:srgbClr>
                </a:solidFill>
                <a:latin typeface="Arial"/>
                <a:cs typeface="Arial"/>
                <a:sym typeface="Arial"/>
              </a:rPr>
              <a:t>PsN</a:t>
            </a:r>
            <a:r>
              <a:rPr lang="en-US" sz="2800" b="0" u="sng" dirty="0">
                <a:solidFill>
                  <a:srgbClr val="4D4D4D">
                    <a:alpha val="100000"/>
                  </a:srgbClr>
                </a:solidFill>
                <a:latin typeface="Arial"/>
                <a:cs typeface="Arial"/>
                <a:sym typeface="Arial"/>
              </a:rPr>
              <a:t>-NONMEM-SCM</a:t>
            </a:r>
            <a:r>
              <a:rPr lang="en-US" sz="2800" b="0" dirty="0">
                <a:solidFill>
                  <a:srgbClr val="4D4D4D">
                    <a:alpha val="100000"/>
                  </a:srgbClr>
                </a:solidFill>
                <a:latin typeface="Arial"/>
                <a:cs typeface="Arial"/>
                <a:sym typeface="Arial"/>
              </a:rPr>
              <a:t>. </a:t>
            </a:r>
            <a:endParaRPr lang="en-US" sz="2800" b="0" i="0" u="none" strike="noStrike" cap="none" dirty="0">
              <a:solidFill>
                <a:srgbClr val="4D4D4D">
                  <a:alpha val="100000"/>
                </a:srgbClr>
              </a:solidFill>
              <a:latin typeface="Arial"/>
              <a:cs typeface="Arial"/>
              <a:sym typeface="Arial"/>
            </a:endParaRPr>
          </a:p>
        </p:txBody>
      </p:sp>
      <p:sp>
        <p:nvSpPr>
          <p:cNvPr id="27" name="Rectangle: Rounded Corners 26">
            <a:extLst>
              <a:ext uri="{FF2B5EF4-FFF2-40B4-BE49-F238E27FC236}">
                <a16:creationId xmlns:a16="http://schemas.microsoft.com/office/drawing/2014/main" id="{6B47BCB5-3412-A994-0799-31C58A72C060}"/>
              </a:ext>
            </a:extLst>
          </p:cNvPr>
          <p:cNvSpPr/>
          <p:nvPr/>
        </p:nvSpPr>
        <p:spPr>
          <a:xfrm>
            <a:off x="527159" y="1741714"/>
            <a:ext cx="10733024" cy="2782320"/>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sz="1600" dirty="0" err="1"/>
          </a:p>
        </p:txBody>
      </p:sp>
      <p:sp>
        <p:nvSpPr>
          <p:cNvPr id="29" name="Rectangle: Rounded Corners 28">
            <a:extLst>
              <a:ext uri="{FF2B5EF4-FFF2-40B4-BE49-F238E27FC236}">
                <a16:creationId xmlns:a16="http://schemas.microsoft.com/office/drawing/2014/main" id="{58948379-4AFD-CFB6-54D6-9A5D39E36501}"/>
              </a:ext>
            </a:extLst>
          </p:cNvPr>
          <p:cNvSpPr/>
          <p:nvPr/>
        </p:nvSpPr>
        <p:spPr>
          <a:xfrm>
            <a:off x="679559" y="1894114"/>
            <a:ext cx="10733024" cy="2782320"/>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sz="1600" dirty="0" err="1"/>
          </a:p>
        </p:txBody>
      </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F2B9F23C-9380-4743-941F-EF61421D9CF9}" type="slidenum">
              <a:rPr lang="en-US" sz="1000">
                <a:solidFill>
                  <a:srgbClr val="8A8A8A"/>
                </a:solidFill>
                <a:latin typeface="Arial"/>
              </a:rPr>
              <a:t>8</a:t>
            </a:fld>
            <a:endParaRPr lang="en-US" sz="1000">
              <a:solidFill>
                <a:srgbClr val="8A8A8A"/>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D6CED729-8863-02C8-E132-D50A8231F870}"/>
              </a:ext>
            </a:extLst>
          </p:cNvPr>
          <p:cNvGrpSpPr/>
          <p:nvPr/>
        </p:nvGrpSpPr>
        <p:grpSpPr>
          <a:xfrm>
            <a:off x="2426503" y="6116559"/>
            <a:ext cx="9147714" cy="573441"/>
            <a:chOff x="880000" y="5136559"/>
            <a:chExt cx="9400000" cy="573441"/>
          </a:xfrm>
        </p:grpSpPr>
        <p:sp>
          <p:nvSpPr>
            <p:cNvPr id="90" name="pill90"/>
            <p:cNvSpPr/>
            <p:nvPr/>
          </p:nvSpPr>
          <p:spPr>
            <a:xfrm>
              <a:off x="880000" y="5136559"/>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250" b="0" dirty="0">
                  <a:solidFill>
                    <a:srgbClr val="6B7683"/>
                  </a:solidFill>
                  <a:latin typeface="Arial"/>
                  <a:cs typeface="Arial"/>
                </a:rPr>
                <a:t>1  Background</a:t>
              </a:r>
            </a:p>
          </p:txBody>
        </p:sp>
        <p:sp>
          <p:nvSpPr>
            <p:cNvPr id="91" name="pill91"/>
            <p:cNvSpPr/>
            <p:nvPr/>
          </p:nvSpPr>
          <p:spPr>
            <a:xfrm>
              <a:off x="3230000" y="5150000"/>
              <a:ext cx="2350000" cy="560000"/>
            </a:xfrm>
            <a:prstGeom prst="roundRect">
              <a:avLst>
                <a:gd name="adj" fmla="val 30000"/>
              </a:avLst>
            </a:prstGeom>
            <a:solidFill>
              <a:srgbClr val="0460A9"/>
            </a:solidFill>
          </p:spPr>
          <p:txBody>
            <a:bodyPr lIns="91440" tIns="0" rIns="45720" bIns="0" anchor="ctr"/>
            <a:lstStyle/>
            <a:p>
              <a:pPr algn="ctr">
                <a:buNone/>
              </a:pPr>
              <a:r>
                <a:rPr lang="en-US" sz="1250" b="1" dirty="0">
                  <a:solidFill>
                    <a:srgbClr val="FFFFFF"/>
                  </a:solidFill>
                  <a:latin typeface="Arial"/>
                  <a:cs typeface="Arial"/>
                </a:rPr>
                <a:t>2  Methods</a:t>
              </a:r>
            </a:p>
          </p:txBody>
        </p:sp>
        <p:sp>
          <p:nvSpPr>
            <p:cNvPr id="92" name="pill92"/>
            <p:cNvSpPr/>
            <p:nvPr/>
          </p:nvSpPr>
          <p:spPr>
            <a:xfrm>
              <a:off x="5580000" y="5136559"/>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250" b="0" dirty="0">
                  <a:solidFill>
                    <a:srgbClr val="6B7683"/>
                  </a:solidFill>
                  <a:latin typeface="Arial"/>
                  <a:cs typeface="Arial"/>
                </a:rPr>
                <a:t>3  Results</a:t>
              </a:r>
            </a:p>
          </p:txBody>
        </p:sp>
        <p:sp>
          <p:nvSpPr>
            <p:cNvPr id="93" name="pill93"/>
            <p:cNvSpPr/>
            <p:nvPr/>
          </p:nvSpPr>
          <p:spPr>
            <a:xfrm>
              <a:off x="7930000" y="5150000"/>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250" b="0" dirty="0">
                  <a:solidFill>
                    <a:srgbClr val="6B7683"/>
                  </a:solidFill>
                  <a:latin typeface="Arial"/>
                  <a:cs typeface="Arial"/>
                </a:rPr>
                <a:t>4  Discussion</a:t>
              </a:r>
            </a:p>
          </p:txBody>
        </p:sp>
      </p:gr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67AF961B-FA85-46B2-8462-1AA7770D0F78}" type="slidenum">
              <a:rPr lang="en-US" sz="1000">
                <a:solidFill>
                  <a:srgbClr val="8A8A8A"/>
                </a:solidFill>
                <a:latin typeface="Arial"/>
              </a:rPr>
              <a:t>9</a:t>
            </a:fld>
            <a:endParaRPr lang="en-US" sz="1000">
              <a:solidFill>
                <a:srgbClr val="8A8A8A"/>
              </a:solidFill>
              <a:latin typeface="Arial"/>
            </a:endParaRPr>
          </a:p>
        </p:txBody>
      </p:sp>
      <p:pic>
        <p:nvPicPr>
          <p:cNvPr id="7" name="Picture 6">
            <a:extLst>
              <a:ext uri="{FF2B5EF4-FFF2-40B4-BE49-F238E27FC236}">
                <a16:creationId xmlns:a16="http://schemas.microsoft.com/office/drawing/2014/main" id="{5768F526-283A-2036-482D-E02A0C9DA976}"/>
              </a:ext>
            </a:extLst>
          </p:cNvPr>
          <p:cNvPicPr>
            <a:picLocks noChangeAspect="1"/>
          </p:cNvPicPr>
          <p:nvPr/>
        </p:nvPicPr>
        <p:blipFill>
          <a:blip r:embed="rId3"/>
          <a:srcRect l="3305" b="13390"/>
          <a:stretch>
            <a:fillRect/>
          </a:stretch>
        </p:blipFill>
        <p:spPr>
          <a:xfrm>
            <a:off x="1146340" y="168001"/>
            <a:ext cx="9111236" cy="5543338"/>
          </a:xfrm>
          <a:prstGeom prst="rect">
            <a:avLst/>
          </a:prstGeom>
        </p:spPr>
      </p:pic>
    </p:spTree>
    <p:extLst>
      <p:ext uri="{BB962C8B-B14F-4D97-AF65-F5344CB8AC3E}">
        <p14:creationId xmlns:p14="http://schemas.microsoft.com/office/powerpoint/2010/main" val="2480295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388620" y="269934"/>
            <a:ext cx="11064240" cy="387798"/>
          </a:xfrm>
        </p:spPr>
        <p:txBody>
          <a:bodyPr/>
          <a:lstStyle/>
          <a:p>
            <a:pPr algn="l">
              <a:buNone/>
            </a:pPr>
            <a:r>
              <a:rPr lang="en-US" sz="2800" b="1" dirty="0">
                <a:solidFill>
                  <a:srgbClr val="0460A9"/>
                </a:solidFill>
                <a:latin typeface="Arial"/>
                <a:cs typeface="Arial"/>
              </a:rPr>
              <a:t>Identical simulated data feeds all three workflows for a fair test</a:t>
            </a:r>
          </a:p>
        </p:txBody>
      </p:sp>
      <p:sp>
        <p:nvSpPr>
          <p:cNvPr id="3" name="Content Placeholder 2"/>
          <p:cNvSpPr>
            <a:spLocks noGrp="1"/>
          </p:cNvSpPr>
          <p:nvPr>
            <p:ph/>
          </p:nvPr>
        </p:nvSpPr>
        <p:spPr>
          <a:xfrm>
            <a:off x="388620" y="959521"/>
            <a:ext cx="3108960" cy="60415"/>
          </a:xfrm>
        </p:spPr>
        <p:txBody>
          <a:bodyPr/>
          <a:lstStyle/>
          <a:p>
            <a:pPr marL="0" marR="0" algn="l">
              <a:lnSpc>
                <a:spcPct val="100000"/>
              </a:lnSpc>
              <a:spcBef>
                <a:spcPts val="0"/>
              </a:spcBef>
              <a:spcAft>
                <a:spcPts val="0"/>
              </a:spcAft>
              <a:buNone/>
            </a:pPr>
            <a:r>
              <a:rPr sz="200" b="0" i="0" u="none" strike="noStrike" cap="none">
                <a:solidFill>
                  <a:srgbClr val="000000">
                    <a:alpha val="100000"/>
                  </a:srgbClr>
                </a:solidFill>
                <a:latin typeface="Arial"/>
                <a:cs typeface="Arial"/>
                <a:sym typeface="Arial"/>
              </a:rPr>
              <a:t> </a:t>
            </a:r>
          </a:p>
        </p:txBody>
      </p:sp>
      <p:pic>
        <p:nvPicPr>
          <p:cNvPr id="19" name="Graphic 18" descr="Arrow Right with solid fill">
            <a:extLst>
              <a:ext uri="{FF2B5EF4-FFF2-40B4-BE49-F238E27FC236}">
                <a16:creationId xmlns:a16="http://schemas.microsoft.com/office/drawing/2014/main" id="{A158E076-3170-E92B-6C20-909F0AA622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27379" y="1667876"/>
            <a:ext cx="754023" cy="863085"/>
          </a:xfrm>
          <a:prstGeom prst="rect">
            <a:avLst/>
          </a:prstGeom>
        </p:spPr>
      </p:pic>
      <p:sp>
        <p:nvSpPr>
          <p:cNvPr id="21" name="TextBox 20">
            <a:extLst>
              <a:ext uri="{FF2B5EF4-FFF2-40B4-BE49-F238E27FC236}">
                <a16:creationId xmlns:a16="http://schemas.microsoft.com/office/drawing/2014/main" id="{33EEAAF9-207E-A326-9232-B4AC0794C842}"/>
              </a:ext>
            </a:extLst>
          </p:cNvPr>
          <p:cNvSpPr txBox="1"/>
          <p:nvPr/>
        </p:nvSpPr>
        <p:spPr>
          <a:xfrm>
            <a:off x="1436717" y="958215"/>
            <a:ext cx="1012766" cy="553998"/>
          </a:xfrm>
          <a:prstGeom prst="rect">
            <a:avLst/>
          </a:prstGeom>
          <a:noFill/>
        </p:spPr>
        <p:txBody>
          <a:bodyPr wrap="square">
            <a:spAutoFit/>
          </a:bodyPr>
          <a:lstStyle/>
          <a:p>
            <a:pPr algn="ctr"/>
            <a:r>
              <a:rPr lang="en-US" sz="3000" b="1" dirty="0">
                <a:solidFill>
                  <a:schemeClr val="accent1"/>
                </a:solidFill>
              </a:rPr>
              <a:t>1</a:t>
            </a:r>
          </a:p>
        </p:txBody>
      </p:sp>
      <p:sp>
        <p:nvSpPr>
          <p:cNvPr id="23" name="TextBox 22">
            <a:extLst>
              <a:ext uri="{FF2B5EF4-FFF2-40B4-BE49-F238E27FC236}">
                <a16:creationId xmlns:a16="http://schemas.microsoft.com/office/drawing/2014/main" id="{59014FB9-2E73-E789-D61C-D909BD514285}"/>
              </a:ext>
            </a:extLst>
          </p:cNvPr>
          <p:cNvSpPr txBox="1"/>
          <p:nvPr/>
        </p:nvSpPr>
        <p:spPr>
          <a:xfrm>
            <a:off x="5742432" y="958215"/>
            <a:ext cx="493123" cy="553998"/>
          </a:xfrm>
          <a:prstGeom prst="rect">
            <a:avLst/>
          </a:prstGeom>
          <a:noFill/>
        </p:spPr>
        <p:txBody>
          <a:bodyPr wrap="square">
            <a:spAutoFit/>
          </a:bodyPr>
          <a:lstStyle/>
          <a:p>
            <a:r>
              <a:rPr lang="en-US" sz="3000" b="1" dirty="0">
                <a:solidFill>
                  <a:schemeClr val="accent1"/>
                </a:solidFill>
              </a:rPr>
              <a:t>2</a:t>
            </a:r>
            <a:endParaRPr lang="en-US" dirty="0"/>
          </a:p>
        </p:txBody>
      </p:sp>
      <p:sp>
        <p:nvSpPr>
          <p:cNvPr id="25" name="TextBox 24">
            <a:extLst>
              <a:ext uri="{FF2B5EF4-FFF2-40B4-BE49-F238E27FC236}">
                <a16:creationId xmlns:a16="http://schemas.microsoft.com/office/drawing/2014/main" id="{F66F1C17-083D-1EB4-6639-41039548987D}"/>
              </a:ext>
            </a:extLst>
          </p:cNvPr>
          <p:cNvSpPr txBox="1"/>
          <p:nvPr/>
        </p:nvSpPr>
        <p:spPr>
          <a:xfrm>
            <a:off x="9656064" y="958215"/>
            <a:ext cx="628976" cy="553998"/>
          </a:xfrm>
          <a:prstGeom prst="rect">
            <a:avLst/>
          </a:prstGeom>
          <a:noFill/>
        </p:spPr>
        <p:txBody>
          <a:bodyPr wrap="square">
            <a:spAutoFit/>
          </a:bodyPr>
          <a:lstStyle/>
          <a:p>
            <a:r>
              <a:rPr lang="en-US" sz="3000" b="1" dirty="0">
                <a:solidFill>
                  <a:schemeClr val="accent1"/>
                </a:solidFill>
              </a:rPr>
              <a:t>3</a:t>
            </a:r>
            <a:endParaRPr lang="en-US" dirty="0"/>
          </a:p>
        </p:txBody>
      </p:sp>
      <p:pic>
        <p:nvPicPr>
          <p:cNvPr id="27" name="Graphic 26" descr="Arrow Right with solid fill">
            <a:extLst>
              <a:ext uri="{FF2B5EF4-FFF2-40B4-BE49-F238E27FC236}">
                <a16:creationId xmlns:a16="http://schemas.microsoft.com/office/drawing/2014/main" id="{E40E70F7-EFA1-BC3A-F373-BDD178737C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34941" y="1630896"/>
            <a:ext cx="754023" cy="863085"/>
          </a:xfrm>
          <a:prstGeom prst="rect">
            <a:avLst/>
          </a:prstGeom>
        </p:spPr>
      </p:pic>
      <p:grpSp>
        <p:nvGrpSpPr>
          <p:cNvPr id="6" name="Group 5">
            <a:extLst>
              <a:ext uri="{FF2B5EF4-FFF2-40B4-BE49-F238E27FC236}">
                <a16:creationId xmlns:a16="http://schemas.microsoft.com/office/drawing/2014/main" id="{A027949B-0DC2-9A9C-0BB4-BF7B40845D8A}"/>
              </a:ext>
            </a:extLst>
          </p:cNvPr>
          <p:cNvGrpSpPr/>
          <p:nvPr/>
        </p:nvGrpSpPr>
        <p:grpSpPr>
          <a:xfrm>
            <a:off x="781057" y="1520850"/>
            <a:ext cx="2846322" cy="3913086"/>
            <a:chOff x="781057" y="1464493"/>
            <a:chExt cx="2846322" cy="4145741"/>
          </a:xfrm>
        </p:grpSpPr>
        <p:sp>
          <p:nvSpPr>
            <p:cNvPr id="10" name="Rectangle: Rounded Corners 9">
              <a:extLst>
                <a:ext uri="{FF2B5EF4-FFF2-40B4-BE49-F238E27FC236}">
                  <a16:creationId xmlns:a16="http://schemas.microsoft.com/office/drawing/2014/main" id="{21F254F8-F1C9-D444-E02D-207A3B6EE83D}"/>
                </a:ext>
              </a:extLst>
            </p:cNvPr>
            <p:cNvSpPr/>
            <p:nvPr/>
          </p:nvSpPr>
          <p:spPr>
            <a:xfrm>
              <a:off x="781057" y="1464493"/>
              <a:ext cx="2846322" cy="1134496"/>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algn="ctr">
                <a:spcBef>
                  <a:spcPts val="800"/>
                </a:spcBef>
              </a:pPr>
              <a:r>
                <a:rPr lang="en-US" sz="2400" dirty="0"/>
                <a:t>Simulate </a:t>
              </a:r>
            </a:p>
            <a:p>
              <a:pPr algn="ctr">
                <a:spcBef>
                  <a:spcPts val="800"/>
                </a:spcBef>
              </a:pPr>
              <a:r>
                <a:rPr lang="en-US" sz="2400" dirty="0"/>
                <a:t>virtual population</a:t>
              </a:r>
            </a:p>
          </p:txBody>
        </p:sp>
        <p:grpSp>
          <p:nvGrpSpPr>
            <p:cNvPr id="5" name="Group 4">
              <a:extLst>
                <a:ext uri="{FF2B5EF4-FFF2-40B4-BE49-F238E27FC236}">
                  <a16:creationId xmlns:a16="http://schemas.microsoft.com/office/drawing/2014/main" id="{8A8D618B-139C-E76C-64EE-9492707D023C}"/>
                </a:ext>
              </a:extLst>
            </p:cNvPr>
            <p:cNvGrpSpPr/>
            <p:nvPr/>
          </p:nvGrpSpPr>
          <p:grpSpPr>
            <a:xfrm>
              <a:off x="953618" y="2904116"/>
              <a:ext cx="2111297" cy="1667095"/>
              <a:chOff x="953618" y="2904116"/>
              <a:chExt cx="2111297" cy="1667095"/>
            </a:xfrm>
          </p:grpSpPr>
          <p:grpSp>
            <p:nvGrpSpPr>
              <p:cNvPr id="4" name="Group 3">
                <a:extLst>
                  <a:ext uri="{FF2B5EF4-FFF2-40B4-BE49-F238E27FC236}">
                    <a16:creationId xmlns:a16="http://schemas.microsoft.com/office/drawing/2014/main" id="{F3DC2133-EB54-4BB3-6884-62888E2BE831}"/>
                  </a:ext>
                </a:extLst>
              </p:cNvPr>
              <p:cNvGrpSpPr/>
              <p:nvPr/>
            </p:nvGrpSpPr>
            <p:grpSpPr>
              <a:xfrm>
                <a:off x="1383147" y="2904116"/>
                <a:ext cx="1322132" cy="927327"/>
                <a:chOff x="1383147" y="2904116"/>
                <a:chExt cx="1322132" cy="927327"/>
              </a:xfrm>
            </p:grpSpPr>
            <p:sp>
              <p:nvSpPr>
                <p:cNvPr id="31" name="TextBox 30">
                  <a:extLst>
                    <a:ext uri="{FF2B5EF4-FFF2-40B4-BE49-F238E27FC236}">
                      <a16:creationId xmlns:a16="http://schemas.microsoft.com/office/drawing/2014/main" id="{0F2E0A2D-D95B-7EC2-68FD-7304BCBF089A}"/>
                    </a:ext>
                  </a:extLst>
                </p:cNvPr>
                <p:cNvSpPr txBox="1"/>
                <p:nvPr/>
              </p:nvSpPr>
              <p:spPr>
                <a:xfrm>
                  <a:off x="1397000" y="2904116"/>
                  <a:ext cx="1308279" cy="400110"/>
                </a:xfrm>
                <a:prstGeom prst="rect">
                  <a:avLst/>
                </a:prstGeom>
                <a:noFill/>
              </p:spPr>
              <p:txBody>
                <a:bodyPr wrap="square">
                  <a:spAutoFit/>
                </a:bodyPr>
                <a:lstStyle/>
                <a:p>
                  <a:r>
                    <a:rPr lang="en-US" sz="2000" b="0" i="0" u="none" strike="noStrike" cap="none" dirty="0">
                      <a:solidFill>
                        <a:srgbClr val="4D4D4D">
                          <a:alpha val="100000"/>
                        </a:srgbClr>
                      </a:solidFill>
                      <a:latin typeface="+mj-lt"/>
                      <a:cs typeface="Arial"/>
                      <a:sym typeface="Arial"/>
                    </a:rPr>
                    <a:t>NHANES</a:t>
                  </a:r>
                  <a:endParaRPr lang="en-US" sz="3200" dirty="0"/>
                </a:p>
              </p:txBody>
            </p:sp>
            <p:sp>
              <p:nvSpPr>
                <p:cNvPr id="33" name="TextBox 32">
                  <a:extLst>
                    <a:ext uri="{FF2B5EF4-FFF2-40B4-BE49-F238E27FC236}">
                      <a16:creationId xmlns:a16="http://schemas.microsoft.com/office/drawing/2014/main" id="{7B6A88E0-BCBB-603D-BCE4-11EE07E084FA}"/>
                    </a:ext>
                  </a:extLst>
                </p:cNvPr>
                <p:cNvSpPr txBox="1"/>
                <p:nvPr/>
              </p:nvSpPr>
              <p:spPr>
                <a:xfrm>
                  <a:off x="1383147" y="3431333"/>
                  <a:ext cx="1185655" cy="400110"/>
                </a:xfrm>
                <a:prstGeom prst="rect">
                  <a:avLst/>
                </a:prstGeom>
                <a:noFill/>
              </p:spPr>
              <p:txBody>
                <a:bodyPr wrap="square">
                  <a:spAutoFit/>
                </a:bodyPr>
                <a:lstStyle/>
                <a:p>
                  <a:pPr algn="ctr"/>
                  <a:r>
                    <a:rPr lang="en-US" sz="2000" b="0" i="0" u="none" strike="noStrike" cap="none" dirty="0">
                      <a:solidFill>
                        <a:srgbClr val="4D4D4D">
                          <a:alpha val="100000"/>
                        </a:srgbClr>
                      </a:solidFill>
                      <a:latin typeface="+mj-lt"/>
                      <a:cs typeface="Arial"/>
                      <a:sym typeface="Arial"/>
                    </a:rPr>
                    <a:t>+</a:t>
                  </a:r>
                  <a:endParaRPr lang="en-US" sz="3200" dirty="0"/>
                </a:p>
              </p:txBody>
            </p:sp>
          </p:grpSp>
          <p:sp>
            <p:nvSpPr>
              <p:cNvPr id="37" name="TextBox 36">
                <a:extLst>
                  <a:ext uri="{FF2B5EF4-FFF2-40B4-BE49-F238E27FC236}">
                    <a16:creationId xmlns:a16="http://schemas.microsoft.com/office/drawing/2014/main" id="{56971BDA-21EF-40B2-8333-CBF75935F6A7}"/>
                  </a:ext>
                </a:extLst>
              </p:cNvPr>
              <p:cNvSpPr txBox="1"/>
              <p:nvPr/>
            </p:nvSpPr>
            <p:spPr>
              <a:xfrm>
                <a:off x="953618" y="3863325"/>
                <a:ext cx="2111297" cy="707886"/>
              </a:xfrm>
              <a:prstGeom prst="rect">
                <a:avLst/>
              </a:prstGeom>
              <a:noFill/>
            </p:spPr>
            <p:txBody>
              <a:bodyPr wrap="square">
                <a:spAutoFit/>
              </a:bodyPr>
              <a:lstStyle/>
              <a:p>
                <a:pPr algn="ctr"/>
                <a:r>
                  <a:rPr lang="en-US" sz="2000" dirty="0">
                    <a:solidFill>
                      <a:srgbClr val="4D4D4D">
                        <a:alpha val="100000"/>
                      </a:srgbClr>
                    </a:solidFill>
                    <a:latin typeface="+mj-lt"/>
                    <a:cs typeface="Arial"/>
                    <a:sym typeface="Arial"/>
                  </a:rPr>
                  <a:t>True </a:t>
                </a:r>
                <a:r>
                  <a:rPr lang="en-US" sz="2000" dirty="0" err="1">
                    <a:solidFill>
                      <a:srgbClr val="4D4D4D">
                        <a:alpha val="100000"/>
                      </a:srgbClr>
                    </a:solidFill>
                    <a:latin typeface="+mj-lt"/>
                    <a:cs typeface="Arial"/>
                    <a:sym typeface="Arial"/>
                  </a:rPr>
                  <a:t>PopPK</a:t>
                </a:r>
                <a:r>
                  <a:rPr lang="en-US" sz="2000" dirty="0">
                    <a:solidFill>
                      <a:srgbClr val="4D4D4D">
                        <a:alpha val="100000"/>
                      </a:srgbClr>
                    </a:solidFill>
                    <a:latin typeface="+mj-lt"/>
                    <a:cs typeface="Arial"/>
                    <a:sym typeface="Arial"/>
                  </a:rPr>
                  <a:t> </a:t>
                </a:r>
              </a:p>
              <a:p>
                <a:pPr algn="ctr"/>
                <a:r>
                  <a:rPr lang="en-US" sz="2000" dirty="0">
                    <a:solidFill>
                      <a:srgbClr val="4D4D4D">
                        <a:alpha val="100000"/>
                      </a:srgbClr>
                    </a:solidFill>
                    <a:latin typeface="+mj-lt"/>
                    <a:cs typeface="Arial"/>
                    <a:sym typeface="Arial"/>
                  </a:rPr>
                  <a:t>Full model </a:t>
                </a:r>
                <a:endParaRPr lang="en-US" sz="2000" dirty="0"/>
              </a:p>
            </p:txBody>
          </p:sp>
        </p:grpSp>
        <p:pic>
          <p:nvPicPr>
            <p:cNvPr id="39" name="Graphic 38" descr="Group of people outline">
              <a:extLst>
                <a:ext uri="{FF2B5EF4-FFF2-40B4-BE49-F238E27FC236}">
                  <a16:creationId xmlns:a16="http://schemas.microsoft.com/office/drawing/2014/main" id="{9EE7EFEF-06E6-CADA-2B22-F283E12759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18774" y="4772941"/>
              <a:ext cx="914400" cy="837293"/>
            </a:xfrm>
            <a:prstGeom prst="rect">
              <a:avLst/>
            </a:prstGeom>
          </p:spPr>
        </p:pic>
      </p:grpSp>
      <p:grpSp>
        <p:nvGrpSpPr>
          <p:cNvPr id="101" name="Group 100">
            <a:extLst>
              <a:ext uri="{FF2B5EF4-FFF2-40B4-BE49-F238E27FC236}">
                <a16:creationId xmlns:a16="http://schemas.microsoft.com/office/drawing/2014/main" id="{19C219A4-14BF-4BD5-2D17-9400F7C00E18}"/>
              </a:ext>
            </a:extLst>
          </p:cNvPr>
          <p:cNvGrpSpPr/>
          <p:nvPr/>
        </p:nvGrpSpPr>
        <p:grpSpPr>
          <a:xfrm>
            <a:off x="6870731" y="4181597"/>
            <a:ext cx="1600857" cy="986652"/>
            <a:chOff x="4283358" y="4002342"/>
            <a:chExt cx="1139126" cy="866548"/>
          </a:xfrm>
        </p:grpSpPr>
        <p:grpSp>
          <p:nvGrpSpPr>
            <p:cNvPr id="72" name="Group 71">
              <a:extLst>
                <a:ext uri="{FF2B5EF4-FFF2-40B4-BE49-F238E27FC236}">
                  <a16:creationId xmlns:a16="http://schemas.microsoft.com/office/drawing/2014/main" id="{3B44F1A8-C2AE-34D2-96F5-DA012FA2A9F3}"/>
                </a:ext>
              </a:extLst>
            </p:cNvPr>
            <p:cNvGrpSpPr/>
            <p:nvPr/>
          </p:nvGrpSpPr>
          <p:grpSpPr>
            <a:xfrm>
              <a:off x="4283358" y="4530583"/>
              <a:ext cx="1139126" cy="338307"/>
              <a:chOff x="4181441" y="3205257"/>
              <a:chExt cx="1139126" cy="373164"/>
            </a:xfrm>
          </p:grpSpPr>
          <p:sp>
            <p:nvSpPr>
              <p:cNvPr id="73" name="Rectangle: Rounded Corners 72">
                <a:extLst>
                  <a:ext uri="{FF2B5EF4-FFF2-40B4-BE49-F238E27FC236}">
                    <a16:creationId xmlns:a16="http://schemas.microsoft.com/office/drawing/2014/main" id="{B7CBA8F2-7D8A-CD30-0FD7-9FCD307AFC44}"/>
                  </a:ext>
                </a:extLst>
              </p:cNvPr>
              <p:cNvSpPr/>
              <p:nvPr/>
            </p:nvSpPr>
            <p:spPr>
              <a:xfrm>
                <a:off x="4181441" y="3205257"/>
                <a:ext cx="1035335" cy="368118"/>
              </a:xfrm>
              <a:prstGeom prst="round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sp>
            <p:nvSpPr>
              <p:cNvPr id="74" name="TextBox 73">
                <a:extLst>
                  <a:ext uri="{FF2B5EF4-FFF2-40B4-BE49-F238E27FC236}">
                    <a16:creationId xmlns:a16="http://schemas.microsoft.com/office/drawing/2014/main" id="{0B59941B-4EE2-1B9E-FBEC-3EEFFF6A80E2}"/>
                  </a:ext>
                </a:extLst>
              </p:cNvPr>
              <p:cNvSpPr txBox="1"/>
              <p:nvPr/>
            </p:nvSpPr>
            <p:spPr>
              <a:xfrm>
                <a:off x="4285232" y="3221958"/>
                <a:ext cx="1035335" cy="356463"/>
              </a:xfrm>
              <a:prstGeom prst="rect">
                <a:avLst/>
              </a:prstGeom>
              <a:noFill/>
            </p:spPr>
            <p:txBody>
              <a:bodyPr wrap="square">
                <a:spAutoFit/>
              </a:bodyPr>
              <a:lstStyle/>
              <a:p>
                <a:r>
                  <a:rPr lang="en-US" dirty="0" err="1"/>
                  <a:t>Nonmem</a:t>
                </a:r>
                <a:endParaRPr lang="en-US" dirty="0"/>
              </a:p>
            </p:txBody>
          </p:sp>
        </p:grpSp>
        <p:cxnSp>
          <p:nvCxnSpPr>
            <p:cNvPr id="82" name="Straight Connector 81">
              <a:extLst>
                <a:ext uri="{FF2B5EF4-FFF2-40B4-BE49-F238E27FC236}">
                  <a16:creationId xmlns:a16="http://schemas.microsoft.com/office/drawing/2014/main" id="{8C7809BE-04AE-1F33-931D-B5089C60585A}"/>
                </a:ext>
              </a:extLst>
            </p:cNvPr>
            <p:cNvCxnSpPr>
              <a:cxnSpLocks/>
            </p:cNvCxnSpPr>
            <p:nvPr/>
          </p:nvCxnSpPr>
          <p:spPr>
            <a:xfrm flipV="1">
              <a:off x="4505351" y="4012708"/>
              <a:ext cx="614802" cy="2461"/>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8" name="Straight Connector 87">
              <a:extLst>
                <a:ext uri="{FF2B5EF4-FFF2-40B4-BE49-F238E27FC236}">
                  <a16:creationId xmlns:a16="http://schemas.microsoft.com/office/drawing/2014/main" id="{D380EA2A-1738-B32B-2D8E-5AEFBBB1F203}"/>
                </a:ext>
              </a:extLst>
            </p:cNvPr>
            <p:cNvCxnSpPr>
              <a:cxnSpLocks/>
            </p:cNvCxnSpPr>
            <p:nvPr/>
          </p:nvCxnSpPr>
          <p:spPr>
            <a:xfrm flipH="1">
              <a:off x="4511625" y="4039579"/>
              <a:ext cx="5690" cy="507222"/>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0" name="Straight Connector 89">
              <a:extLst>
                <a:ext uri="{FF2B5EF4-FFF2-40B4-BE49-F238E27FC236}">
                  <a16:creationId xmlns:a16="http://schemas.microsoft.com/office/drawing/2014/main" id="{0FA5BDC1-9AD0-C1B2-9C9E-0C4E2FB78DF3}"/>
                </a:ext>
              </a:extLst>
            </p:cNvPr>
            <p:cNvCxnSpPr>
              <a:cxnSpLocks/>
            </p:cNvCxnSpPr>
            <p:nvPr/>
          </p:nvCxnSpPr>
          <p:spPr>
            <a:xfrm flipH="1">
              <a:off x="5116502" y="4002342"/>
              <a:ext cx="3651" cy="540958"/>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9" name="Group 8">
            <a:extLst>
              <a:ext uri="{FF2B5EF4-FFF2-40B4-BE49-F238E27FC236}">
                <a16:creationId xmlns:a16="http://schemas.microsoft.com/office/drawing/2014/main" id="{5D7096FC-2A92-527A-4B9B-DD21A9AA66B5}"/>
              </a:ext>
            </a:extLst>
          </p:cNvPr>
          <p:cNvGrpSpPr/>
          <p:nvPr/>
        </p:nvGrpSpPr>
        <p:grpSpPr>
          <a:xfrm>
            <a:off x="4080997" y="1520849"/>
            <a:ext cx="3121209" cy="4072707"/>
            <a:chOff x="4080997" y="1464493"/>
            <a:chExt cx="3121209" cy="4314853"/>
          </a:xfrm>
        </p:grpSpPr>
        <p:sp>
          <p:nvSpPr>
            <p:cNvPr id="11" name="Rectangle: Rounded Corners 10">
              <a:extLst>
                <a:ext uri="{FF2B5EF4-FFF2-40B4-BE49-F238E27FC236}">
                  <a16:creationId xmlns:a16="http://schemas.microsoft.com/office/drawing/2014/main" id="{4079FEEE-D71B-5FBA-D730-8C8978C71239}"/>
                </a:ext>
              </a:extLst>
            </p:cNvPr>
            <p:cNvSpPr/>
            <p:nvPr/>
          </p:nvSpPr>
          <p:spPr>
            <a:xfrm>
              <a:off x="4485591" y="1464493"/>
              <a:ext cx="2716615" cy="1208455"/>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algn="ctr">
                <a:spcBef>
                  <a:spcPts val="800"/>
                </a:spcBef>
              </a:pPr>
              <a:r>
                <a:rPr lang="en-US" sz="2400" dirty="0"/>
                <a:t>Build </a:t>
              </a:r>
            </a:p>
            <a:p>
              <a:pPr algn="ctr">
                <a:spcBef>
                  <a:spcPts val="800"/>
                </a:spcBef>
              </a:pPr>
              <a:r>
                <a:rPr lang="en-US" sz="2400" dirty="0"/>
                <a:t>covariate models</a:t>
              </a:r>
            </a:p>
          </p:txBody>
        </p:sp>
        <p:sp>
          <p:nvSpPr>
            <p:cNvPr id="41" name="TextBox 40">
              <a:extLst>
                <a:ext uri="{FF2B5EF4-FFF2-40B4-BE49-F238E27FC236}">
                  <a16:creationId xmlns:a16="http://schemas.microsoft.com/office/drawing/2014/main" id="{96C194AA-36A6-9B3D-3A8E-BEC598999AE5}"/>
                </a:ext>
              </a:extLst>
            </p:cNvPr>
            <p:cNvSpPr txBox="1"/>
            <p:nvPr/>
          </p:nvSpPr>
          <p:spPr>
            <a:xfrm>
              <a:off x="4943986" y="2831129"/>
              <a:ext cx="1596891" cy="400110"/>
            </a:xfrm>
            <a:prstGeom prst="rect">
              <a:avLst/>
            </a:prstGeom>
            <a:noFill/>
          </p:spPr>
          <p:txBody>
            <a:bodyPr wrap="square">
              <a:spAutoFit/>
            </a:bodyPr>
            <a:lstStyle/>
            <a:p>
              <a:r>
                <a:rPr lang="en-US" sz="2000" b="0" i="0" u="none" strike="noStrike" cap="none" dirty="0">
                  <a:solidFill>
                    <a:srgbClr val="4D4D4D">
                      <a:alpha val="100000"/>
                    </a:srgbClr>
                  </a:solidFill>
                  <a:latin typeface="+mj-lt"/>
                  <a:cs typeface="Arial"/>
                  <a:sym typeface="Arial"/>
                </a:rPr>
                <a:t>Base model</a:t>
              </a:r>
              <a:endParaRPr lang="en-US" sz="2000" dirty="0"/>
            </a:p>
          </p:txBody>
        </p:sp>
        <p:cxnSp>
          <p:nvCxnSpPr>
            <p:cNvPr id="45" name="Straight Arrow Connector 44">
              <a:extLst>
                <a:ext uri="{FF2B5EF4-FFF2-40B4-BE49-F238E27FC236}">
                  <a16:creationId xmlns:a16="http://schemas.microsoft.com/office/drawing/2014/main" id="{377A4F9D-8DC9-F464-6DAD-7B123D50CFF8}"/>
                </a:ext>
              </a:extLst>
            </p:cNvPr>
            <p:cNvCxnSpPr>
              <a:cxnSpLocks/>
            </p:cNvCxnSpPr>
            <p:nvPr/>
          </p:nvCxnSpPr>
          <p:spPr>
            <a:xfrm>
              <a:off x="5742432" y="3286642"/>
              <a:ext cx="0" cy="20914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7" name="TextBox 46">
              <a:extLst>
                <a:ext uri="{FF2B5EF4-FFF2-40B4-BE49-F238E27FC236}">
                  <a16:creationId xmlns:a16="http://schemas.microsoft.com/office/drawing/2014/main" id="{A8EC9A01-BA26-F1AC-F4C0-CB3A232CDAF5}"/>
                </a:ext>
              </a:extLst>
            </p:cNvPr>
            <p:cNvSpPr txBox="1"/>
            <p:nvPr/>
          </p:nvSpPr>
          <p:spPr>
            <a:xfrm>
              <a:off x="4865365" y="5379236"/>
              <a:ext cx="2020832" cy="400110"/>
            </a:xfrm>
            <a:prstGeom prst="rect">
              <a:avLst/>
            </a:prstGeom>
            <a:noFill/>
          </p:spPr>
          <p:txBody>
            <a:bodyPr wrap="square">
              <a:spAutoFit/>
            </a:bodyPr>
            <a:lstStyle/>
            <a:p>
              <a:r>
                <a:rPr lang="en-US" sz="2000" b="0" i="0" u="none" strike="noStrike" cap="none" dirty="0">
                  <a:solidFill>
                    <a:srgbClr val="4D4D4D">
                      <a:alpha val="100000"/>
                    </a:srgbClr>
                  </a:solidFill>
                  <a:latin typeface="+mj-lt"/>
                  <a:cs typeface="Arial"/>
                  <a:sym typeface="Arial"/>
                </a:rPr>
                <a:t>Winner model</a:t>
              </a:r>
              <a:endParaRPr lang="en-US" sz="2000" dirty="0"/>
            </a:p>
          </p:txBody>
        </p:sp>
        <p:sp>
          <p:nvSpPr>
            <p:cNvPr id="48" name="Arc 47">
              <a:extLst>
                <a:ext uri="{FF2B5EF4-FFF2-40B4-BE49-F238E27FC236}">
                  <a16:creationId xmlns:a16="http://schemas.microsoft.com/office/drawing/2014/main" id="{3F43599D-E9BC-4463-309A-1D721EF66062}"/>
                </a:ext>
              </a:extLst>
            </p:cNvPr>
            <p:cNvSpPr/>
            <p:nvPr/>
          </p:nvSpPr>
          <p:spPr>
            <a:xfrm rot="5225484" flipH="1">
              <a:off x="4983868" y="4052815"/>
              <a:ext cx="837793" cy="674267"/>
            </a:xfrm>
            <a:prstGeom prst="arc">
              <a:avLst/>
            </a:prstGeom>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sz="2000"/>
            </a:p>
          </p:txBody>
        </p:sp>
        <p:sp>
          <p:nvSpPr>
            <p:cNvPr id="50" name="TextBox 49">
              <a:extLst>
                <a:ext uri="{FF2B5EF4-FFF2-40B4-BE49-F238E27FC236}">
                  <a16:creationId xmlns:a16="http://schemas.microsoft.com/office/drawing/2014/main" id="{7D63BE9B-0F47-41A1-45B5-628C832227AE}"/>
                </a:ext>
              </a:extLst>
            </p:cNvPr>
            <p:cNvSpPr txBox="1"/>
            <p:nvPr/>
          </p:nvSpPr>
          <p:spPr>
            <a:xfrm>
              <a:off x="4080997" y="3739977"/>
              <a:ext cx="1379596" cy="400110"/>
            </a:xfrm>
            <a:prstGeom prst="rect">
              <a:avLst/>
            </a:prstGeom>
            <a:noFill/>
          </p:spPr>
          <p:txBody>
            <a:bodyPr wrap="square">
              <a:spAutoFit/>
            </a:bodyPr>
            <a:lstStyle/>
            <a:p>
              <a:r>
                <a:rPr lang="en-US" sz="2000" b="0" i="0" u="none" strike="noStrike" cap="none" dirty="0">
                  <a:solidFill>
                    <a:srgbClr val="4D4D4D">
                      <a:alpha val="100000"/>
                    </a:srgbClr>
                  </a:solidFill>
                  <a:latin typeface="+mj-lt"/>
                  <a:cs typeface="Arial"/>
                  <a:sym typeface="Arial"/>
                </a:rPr>
                <a:t>covariates</a:t>
              </a:r>
              <a:endParaRPr lang="en-US" sz="2000" dirty="0"/>
            </a:p>
          </p:txBody>
        </p:sp>
      </p:grpSp>
      <p:grpSp>
        <p:nvGrpSpPr>
          <p:cNvPr id="13" name="Group 12">
            <a:extLst>
              <a:ext uri="{FF2B5EF4-FFF2-40B4-BE49-F238E27FC236}">
                <a16:creationId xmlns:a16="http://schemas.microsoft.com/office/drawing/2014/main" id="{282C9714-3523-E8C4-E3FA-C4C8BB9AFA7E}"/>
              </a:ext>
            </a:extLst>
          </p:cNvPr>
          <p:cNvGrpSpPr/>
          <p:nvPr/>
        </p:nvGrpSpPr>
        <p:grpSpPr>
          <a:xfrm>
            <a:off x="6449122" y="3398190"/>
            <a:ext cx="1918567" cy="1258256"/>
            <a:chOff x="6449122" y="3341833"/>
            <a:chExt cx="1918567" cy="1333067"/>
          </a:xfrm>
        </p:grpSpPr>
        <p:grpSp>
          <p:nvGrpSpPr>
            <p:cNvPr id="100" name="Group 99">
              <a:extLst>
                <a:ext uri="{FF2B5EF4-FFF2-40B4-BE49-F238E27FC236}">
                  <a16:creationId xmlns:a16="http://schemas.microsoft.com/office/drawing/2014/main" id="{4112EBE3-17C9-2135-6CC3-F30B3B280595}"/>
                </a:ext>
              </a:extLst>
            </p:cNvPr>
            <p:cNvGrpSpPr/>
            <p:nvPr/>
          </p:nvGrpSpPr>
          <p:grpSpPr>
            <a:xfrm>
              <a:off x="6873419" y="3341833"/>
              <a:ext cx="1494270" cy="1333067"/>
              <a:chOff x="4291641" y="3471588"/>
              <a:chExt cx="1063282" cy="1074126"/>
            </a:xfrm>
          </p:grpSpPr>
          <p:sp>
            <p:nvSpPr>
              <p:cNvPr id="58" name="TextBox 57">
                <a:extLst>
                  <a:ext uri="{FF2B5EF4-FFF2-40B4-BE49-F238E27FC236}">
                    <a16:creationId xmlns:a16="http://schemas.microsoft.com/office/drawing/2014/main" id="{03D2DBE0-D55D-E264-CA21-07048C93BCD1}"/>
                  </a:ext>
                </a:extLst>
              </p:cNvPr>
              <p:cNvSpPr txBox="1"/>
              <p:nvPr/>
            </p:nvSpPr>
            <p:spPr>
              <a:xfrm>
                <a:off x="4540657" y="4204774"/>
                <a:ext cx="725373" cy="340940"/>
              </a:xfrm>
              <a:prstGeom prst="rect">
                <a:avLst/>
              </a:prstGeom>
              <a:noFill/>
            </p:spPr>
            <p:txBody>
              <a:bodyPr wrap="square">
                <a:spAutoFit/>
              </a:bodyPr>
              <a:lstStyle/>
              <a:p>
                <a:r>
                  <a:rPr lang="en-US" dirty="0">
                    <a:solidFill>
                      <a:srgbClr val="4D4D4D">
                        <a:alpha val="100000"/>
                      </a:srgbClr>
                    </a:solidFill>
                    <a:latin typeface="+mj-lt"/>
                    <a:cs typeface="Arial"/>
                    <a:sym typeface="Arial"/>
                  </a:rPr>
                  <a:t>SCM</a:t>
                </a:r>
                <a:endParaRPr lang="en-US" dirty="0"/>
              </a:p>
            </p:txBody>
          </p:sp>
          <p:sp>
            <p:nvSpPr>
              <p:cNvPr id="60" name="TextBox 59">
                <a:extLst>
                  <a:ext uri="{FF2B5EF4-FFF2-40B4-BE49-F238E27FC236}">
                    <a16:creationId xmlns:a16="http://schemas.microsoft.com/office/drawing/2014/main" id="{441A2468-1E86-5590-0C18-932B76F5DF9E}"/>
                  </a:ext>
                </a:extLst>
              </p:cNvPr>
              <p:cNvSpPr txBox="1"/>
              <p:nvPr/>
            </p:nvSpPr>
            <p:spPr>
              <a:xfrm>
                <a:off x="4543013" y="3855595"/>
                <a:ext cx="680878" cy="340940"/>
              </a:xfrm>
              <a:prstGeom prst="rect">
                <a:avLst/>
              </a:prstGeom>
              <a:noFill/>
            </p:spPr>
            <p:txBody>
              <a:bodyPr wrap="square">
                <a:spAutoFit/>
              </a:bodyPr>
              <a:lstStyle/>
              <a:p>
                <a:r>
                  <a:rPr lang="en-US" dirty="0">
                    <a:solidFill>
                      <a:srgbClr val="4D4D4D">
                        <a:alpha val="100000"/>
                      </a:srgbClr>
                    </a:solidFill>
                    <a:latin typeface="+mj-lt"/>
                    <a:cs typeface="Arial"/>
                    <a:sym typeface="Arial"/>
                  </a:rPr>
                  <a:t>VAE</a:t>
                </a:r>
                <a:endParaRPr lang="en-US" dirty="0"/>
              </a:p>
            </p:txBody>
          </p:sp>
          <p:grpSp>
            <p:nvGrpSpPr>
              <p:cNvPr id="99" name="Group 98">
                <a:extLst>
                  <a:ext uri="{FF2B5EF4-FFF2-40B4-BE49-F238E27FC236}">
                    <a16:creationId xmlns:a16="http://schemas.microsoft.com/office/drawing/2014/main" id="{C5EEF150-D7A1-787C-4F8C-6435B360AE90}"/>
                  </a:ext>
                </a:extLst>
              </p:cNvPr>
              <p:cNvGrpSpPr/>
              <p:nvPr/>
            </p:nvGrpSpPr>
            <p:grpSpPr>
              <a:xfrm>
                <a:off x="4291641" y="3471588"/>
                <a:ext cx="1063282" cy="1024722"/>
                <a:chOff x="4291641" y="3471588"/>
                <a:chExt cx="1063282" cy="1024722"/>
              </a:xfrm>
            </p:grpSpPr>
            <p:grpSp>
              <p:nvGrpSpPr>
                <p:cNvPr id="71" name="Group 70">
                  <a:extLst>
                    <a:ext uri="{FF2B5EF4-FFF2-40B4-BE49-F238E27FC236}">
                      <a16:creationId xmlns:a16="http://schemas.microsoft.com/office/drawing/2014/main" id="{A6023836-585F-9977-CA1B-3C3E0D5B3ADB}"/>
                    </a:ext>
                  </a:extLst>
                </p:cNvPr>
                <p:cNvGrpSpPr/>
                <p:nvPr/>
              </p:nvGrpSpPr>
              <p:grpSpPr>
                <a:xfrm>
                  <a:off x="4291641" y="3471588"/>
                  <a:ext cx="1063282" cy="340939"/>
                  <a:chOff x="4190857" y="3327240"/>
                  <a:chExt cx="1063282" cy="376067"/>
                </a:xfrm>
              </p:grpSpPr>
              <p:sp>
                <p:nvSpPr>
                  <p:cNvPr id="68" name="Rectangle: Rounded Corners 67">
                    <a:extLst>
                      <a:ext uri="{FF2B5EF4-FFF2-40B4-BE49-F238E27FC236}">
                        <a16:creationId xmlns:a16="http://schemas.microsoft.com/office/drawing/2014/main" id="{7C9E31D7-26C6-037F-6F17-57F381A3C4C2}"/>
                      </a:ext>
                    </a:extLst>
                  </p:cNvPr>
                  <p:cNvSpPr/>
                  <p:nvPr/>
                </p:nvSpPr>
                <p:spPr>
                  <a:xfrm>
                    <a:off x="4190857" y="3332253"/>
                    <a:ext cx="1035336" cy="359304"/>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sp>
                <p:nvSpPr>
                  <p:cNvPr id="62" name="TextBox 61">
                    <a:extLst>
                      <a:ext uri="{FF2B5EF4-FFF2-40B4-BE49-F238E27FC236}">
                        <a16:creationId xmlns:a16="http://schemas.microsoft.com/office/drawing/2014/main" id="{23A34781-1B7F-9CAF-EA99-C0E412B17DE3}"/>
                      </a:ext>
                    </a:extLst>
                  </p:cNvPr>
                  <p:cNvSpPr txBox="1"/>
                  <p:nvPr/>
                </p:nvSpPr>
                <p:spPr>
                  <a:xfrm>
                    <a:off x="4349032" y="3327240"/>
                    <a:ext cx="905107" cy="376067"/>
                  </a:xfrm>
                  <a:prstGeom prst="rect">
                    <a:avLst/>
                  </a:prstGeom>
                  <a:noFill/>
                </p:spPr>
                <p:txBody>
                  <a:bodyPr wrap="square">
                    <a:spAutoFit/>
                  </a:bodyPr>
                  <a:lstStyle/>
                  <a:p>
                    <a:r>
                      <a:rPr lang="en-US" dirty="0">
                        <a:solidFill>
                          <a:srgbClr val="4D4D4D">
                            <a:alpha val="100000"/>
                          </a:srgbClr>
                        </a:solidFill>
                        <a:latin typeface="+mj-lt"/>
                        <a:cs typeface="Arial"/>
                        <a:sym typeface="Arial"/>
                      </a:rPr>
                      <a:t>Nlmixr2</a:t>
                    </a:r>
                    <a:endParaRPr lang="en-US" dirty="0"/>
                  </a:p>
                </p:txBody>
              </p:sp>
            </p:grpSp>
            <p:cxnSp>
              <p:nvCxnSpPr>
                <p:cNvPr id="76" name="Straight Connector 75">
                  <a:extLst>
                    <a:ext uri="{FF2B5EF4-FFF2-40B4-BE49-F238E27FC236}">
                      <a16:creationId xmlns:a16="http://schemas.microsoft.com/office/drawing/2014/main" id="{3B519C93-5ACB-CE5E-FD99-623076CD5F40}"/>
                    </a:ext>
                  </a:extLst>
                </p:cNvPr>
                <p:cNvCxnSpPr>
                  <a:cxnSpLocks/>
                </p:cNvCxnSpPr>
                <p:nvPr/>
              </p:nvCxnSpPr>
              <p:spPr>
                <a:xfrm>
                  <a:off x="4379318" y="3806889"/>
                  <a:ext cx="0" cy="685465"/>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7" name="Straight Connector 76">
                  <a:extLst>
                    <a:ext uri="{FF2B5EF4-FFF2-40B4-BE49-F238E27FC236}">
                      <a16:creationId xmlns:a16="http://schemas.microsoft.com/office/drawing/2014/main" id="{BFBAAAB3-20AF-B39D-3798-C94CCFC48E01}"/>
                    </a:ext>
                  </a:extLst>
                </p:cNvPr>
                <p:cNvCxnSpPr>
                  <a:cxnSpLocks/>
                </p:cNvCxnSpPr>
                <p:nvPr/>
              </p:nvCxnSpPr>
              <p:spPr>
                <a:xfrm>
                  <a:off x="5223891" y="3808149"/>
                  <a:ext cx="0" cy="688161"/>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8" name="Straight Connector 77">
                  <a:extLst>
                    <a:ext uri="{FF2B5EF4-FFF2-40B4-BE49-F238E27FC236}">
                      <a16:creationId xmlns:a16="http://schemas.microsoft.com/office/drawing/2014/main" id="{81342043-7DD3-391F-957A-45EC9224CB1D}"/>
                    </a:ext>
                  </a:extLst>
                </p:cNvPr>
                <p:cNvCxnSpPr>
                  <a:cxnSpLocks/>
                </p:cNvCxnSpPr>
                <p:nvPr/>
              </p:nvCxnSpPr>
              <p:spPr>
                <a:xfrm>
                  <a:off x="4395432" y="4496310"/>
                  <a:ext cx="828459"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cxnSp>
          <p:nvCxnSpPr>
            <p:cNvPr id="12" name="Straight Arrow Connector 11">
              <a:extLst>
                <a:ext uri="{FF2B5EF4-FFF2-40B4-BE49-F238E27FC236}">
                  <a16:creationId xmlns:a16="http://schemas.microsoft.com/office/drawing/2014/main" id="{C11BF530-D885-C958-BEB3-5B9AC41CA78B}"/>
                </a:ext>
              </a:extLst>
            </p:cNvPr>
            <p:cNvCxnSpPr/>
            <p:nvPr/>
          </p:nvCxnSpPr>
          <p:spPr>
            <a:xfrm flipH="1">
              <a:off x="6449122" y="4283732"/>
              <a:ext cx="541065"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gr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903C4A0C-239E-4743-A766-4B7790CED072}" type="slidenum">
              <a:rPr lang="en-US" sz="1000">
                <a:solidFill>
                  <a:srgbClr val="8A8A8A"/>
                </a:solidFill>
                <a:latin typeface="Arial"/>
              </a:rPr>
              <a:t>10</a:t>
            </a:fld>
            <a:endParaRPr lang="en-US" sz="1000">
              <a:solidFill>
                <a:srgbClr val="8A8A8A"/>
              </a:solidFill>
              <a:latin typeface="Arial"/>
            </a:endParaRPr>
          </a:p>
        </p:txBody>
      </p:sp>
      <p:grpSp>
        <p:nvGrpSpPr>
          <p:cNvPr id="7" name="Group 6">
            <a:extLst>
              <a:ext uri="{FF2B5EF4-FFF2-40B4-BE49-F238E27FC236}">
                <a16:creationId xmlns:a16="http://schemas.microsoft.com/office/drawing/2014/main" id="{21E817D5-BC60-ED6D-2321-876F2DED8C43}"/>
              </a:ext>
            </a:extLst>
          </p:cNvPr>
          <p:cNvGrpSpPr/>
          <p:nvPr/>
        </p:nvGrpSpPr>
        <p:grpSpPr>
          <a:xfrm>
            <a:off x="8021699" y="1483870"/>
            <a:ext cx="3668781" cy="4281556"/>
            <a:chOff x="8021699" y="1483870"/>
            <a:chExt cx="3668781" cy="4281556"/>
          </a:xfrm>
        </p:grpSpPr>
        <p:grpSp>
          <p:nvGrpSpPr>
            <p:cNvPr id="15" name="Group 14">
              <a:extLst>
                <a:ext uri="{FF2B5EF4-FFF2-40B4-BE49-F238E27FC236}">
                  <a16:creationId xmlns:a16="http://schemas.microsoft.com/office/drawing/2014/main" id="{6A4814FB-9A23-B5F1-13B3-9DD1B38A050E}"/>
                </a:ext>
              </a:extLst>
            </p:cNvPr>
            <p:cNvGrpSpPr/>
            <p:nvPr/>
          </p:nvGrpSpPr>
          <p:grpSpPr>
            <a:xfrm>
              <a:off x="8021699" y="1483870"/>
              <a:ext cx="3668781" cy="3825028"/>
              <a:chOff x="8021699" y="1427513"/>
              <a:chExt cx="3668781" cy="4052448"/>
            </a:xfrm>
          </p:grpSpPr>
          <p:sp>
            <p:nvSpPr>
              <p:cNvPr id="17" name="Rectangle: Rounded Corners 16">
                <a:extLst>
                  <a:ext uri="{FF2B5EF4-FFF2-40B4-BE49-F238E27FC236}">
                    <a16:creationId xmlns:a16="http://schemas.microsoft.com/office/drawing/2014/main" id="{305E5BB5-9A1C-D122-DCB3-DD66B0C4D28F}"/>
                  </a:ext>
                </a:extLst>
              </p:cNvPr>
              <p:cNvSpPr/>
              <p:nvPr/>
            </p:nvSpPr>
            <p:spPr>
              <a:xfrm>
                <a:off x="8021699" y="1427513"/>
                <a:ext cx="3668781" cy="1208455"/>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algn="ctr">
                  <a:spcBef>
                    <a:spcPts val="800"/>
                  </a:spcBef>
                </a:pPr>
                <a:r>
                  <a:rPr lang="en-US" sz="2400" dirty="0"/>
                  <a:t>Evaluate </a:t>
                </a:r>
              </a:p>
              <a:p>
                <a:pPr algn="ctr">
                  <a:spcBef>
                    <a:spcPts val="800"/>
                  </a:spcBef>
                </a:pPr>
                <a:r>
                  <a:rPr lang="en-US" sz="2400" dirty="0"/>
                  <a:t>operating characteristics </a:t>
                </a:r>
              </a:p>
            </p:txBody>
          </p:sp>
          <p:sp>
            <p:nvSpPr>
              <p:cNvPr id="54" name="TextBox 53">
                <a:extLst>
                  <a:ext uri="{FF2B5EF4-FFF2-40B4-BE49-F238E27FC236}">
                    <a16:creationId xmlns:a16="http://schemas.microsoft.com/office/drawing/2014/main" id="{7F49A598-E804-677E-CB91-63A5235CB7E3}"/>
                  </a:ext>
                </a:extLst>
              </p:cNvPr>
              <p:cNvSpPr txBox="1"/>
              <p:nvPr/>
            </p:nvSpPr>
            <p:spPr>
              <a:xfrm>
                <a:off x="8507703" y="2808252"/>
                <a:ext cx="2935863" cy="400110"/>
              </a:xfrm>
              <a:prstGeom prst="rect">
                <a:avLst/>
              </a:prstGeom>
              <a:noFill/>
            </p:spPr>
            <p:txBody>
              <a:bodyPr wrap="square">
                <a:spAutoFit/>
              </a:bodyPr>
              <a:lstStyle/>
              <a:p>
                <a:r>
                  <a:rPr lang="en-US" sz="2000" b="0" i="0" u="none" strike="noStrike" cap="none" dirty="0">
                    <a:solidFill>
                      <a:srgbClr val="4D4D4D">
                        <a:alpha val="100000"/>
                      </a:srgbClr>
                    </a:solidFill>
                    <a:latin typeface="+mj-lt"/>
                    <a:cs typeface="Arial"/>
                    <a:sym typeface="Arial"/>
                  </a:rPr>
                  <a:t>Winner vs. True model</a:t>
                </a:r>
                <a:endParaRPr lang="en-US" sz="2000" dirty="0"/>
              </a:p>
            </p:txBody>
          </p:sp>
          <p:grpSp>
            <p:nvGrpSpPr>
              <p:cNvPr id="124" name="Group 123">
                <a:extLst>
                  <a:ext uri="{FF2B5EF4-FFF2-40B4-BE49-F238E27FC236}">
                    <a16:creationId xmlns:a16="http://schemas.microsoft.com/office/drawing/2014/main" id="{E763D792-3905-1F89-0E30-A804E08DDBD2}"/>
                  </a:ext>
                </a:extLst>
              </p:cNvPr>
              <p:cNvGrpSpPr/>
              <p:nvPr/>
            </p:nvGrpSpPr>
            <p:grpSpPr>
              <a:xfrm>
                <a:off x="9048662" y="3428999"/>
                <a:ext cx="1836541" cy="2050962"/>
                <a:chOff x="9256191" y="3392138"/>
                <a:chExt cx="1836541" cy="1592761"/>
              </a:xfrm>
            </p:grpSpPr>
            <p:grpSp>
              <p:nvGrpSpPr>
                <p:cNvPr id="117" name="Group 116">
                  <a:extLst>
                    <a:ext uri="{FF2B5EF4-FFF2-40B4-BE49-F238E27FC236}">
                      <a16:creationId xmlns:a16="http://schemas.microsoft.com/office/drawing/2014/main" id="{7E040765-5E7B-9A12-55BC-2439C09425D7}"/>
                    </a:ext>
                  </a:extLst>
                </p:cNvPr>
                <p:cNvGrpSpPr/>
                <p:nvPr/>
              </p:nvGrpSpPr>
              <p:grpSpPr>
                <a:xfrm>
                  <a:off x="9495831" y="3392138"/>
                  <a:ext cx="1596901" cy="1592761"/>
                  <a:chOff x="9556415" y="3363020"/>
                  <a:chExt cx="1596901" cy="1592761"/>
                </a:xfrm>
              </p:grpSpPr>
              <p:sp>
                <p:nvSpPr>
                  <p:cNvPr id="109" name="TextBox 108">
                    <a:extLst>
                      <a:ext uri="{FF2B5EF4-FFF2-40B4-BE49-F238E27FC236}">
                        <a16:creationId xmlns:a16="http://schemas.microsoft.com/office/drawing/2014/main" id="{14A30C52-21C8-1987-B4D3-983BDE3253ED}"/>
                      </a:ext>
                    </a:extLst>
                  </p:cNvPr>
                  <p:cNvSpPr txBox="1"/>
                  <p:nvPr/>
                </p:nvSpPr>
                <p:spPr>
                  <a:xfrm>
                    <a:off x="9556427" y="3363020"/>
                    <a:ext cx="1596889" cy="329196"/>
                  </a:xfrm>
                  <a:prstGeom prst="rect">
                    <a:avLst/>
                  </a:prstGeom>
                  <a:noFill/>
                </p:spPr>
                <p:txBody>
                  <a:bodyPr wrap="square">
                    <a:spAutoFit/>
                  </a:bodyPr>
                  <a:lstStyle/>
                  <a:p>
                    <a:r>
                      <a:rPr lang="en-US" sz="2000" dirty="0">
                        <a:solidFill>
                          <a:srgbClr val="4D4D4D">
                            <a:alpha val="100000"/>
                          </a:srgbClr>
                        </a:solidFill>
                        <a:latin typeface="+mj-lt"/>
                        <a:cs typeface="Arial"/>
                        <a:sym typeface="Arial"/>
                      </a:rPr>
                      <a:t>Reliability</a:t>
                    </a:r>
                    <a:endParaRPr lang="en-US" sz="2000" dirty="0"/>
                  </a:p>
                </p:txBody>
              </p:sp>
              <p:sp>
                <p:nvSpPr>
                  <p:cNvPr id="111" name="TextBox 110">
                    <a:extLst>
                      <a:ext uri="{FF2B5EF4-FFF2-40B4-BE49-F238E27FC236}">
                        <a16:creationId xmlns:a16="http://schemas.microsoft.com/office/drawing/2014/main" id="{CAEFBDA1-D6A5-FDE2-B053-3E94C4F230AB}"/>
                      </a:ext>
                    </a:extLst>
                  </p:cNvPr>
                  <p:cNvSpPr txBox="1"/>
                  <p:nvPr/>
                </p:nvSpPr>
                <p:spPr>
                  <a:xfrm>
                    <a:off x="9556427" y="3761998"/>
                    <a:ext cx="1596889" cy="400110"/>
                  </a:xfrm>
                  <a:prstGeom prst="rect">
                    <a:avLst/>
                  </a:prstGeom>
                  <a:noFill/>
                </p:spPr>
                <p:txBody>
                  <a:bodyPr wrap="square">
                    <a:spAutoFit/>
                  </a:bodyPr>
                  <a:lstStyle/>
                  <a:p>
                    <a:r>
                      <a:rPr lang="en-US" sz="2000" dirty="0">
                        <a:solidFill>
                          <a:srgbClr val="4D4D4D">
                            <a:alpha val="100000"/>
                          </a:srgbClr>
                        </a:solidFill>
                        <a:latin typeface="+mj-lt"/>
                        <a:cs typeface="Arial"/>
                        <a:sym typeface="Arial"/>
                      </a:rPr>
                      <a:t>Power</a:t>
                    </a:r>
                    <a:endParaRPr lang="en-US" sz="2000" dirty="0"/>
                  </a:p>
                </p:txBody>
              </p:sp>
              <p:sp>
                <p:nvSpPr>
                  <p:cNvPr id="113" name="TextBox 112">
                    <a:extLst>
                      <a:ext uri="{FF2B5EF4-FFF2-40B4-BE49-F238E27FC236}">
                        <a16:creationId xmlns:a16="http://schemas.microsoft.com/office/drawing/2014/main" id="{8482B3E5-92E6-035A-93D2-32DF530B536D}"/>
                      </a:ext>
                    </a:extLst>
                  </p:cNvPr>
                  <p:cNvSpPr txBox="1"/>
                  <p:nvPr/>
                </p:nvSpPr>
                <p:spPr>
                  <a:xfrm>
                    <a:off x="9556427" y="4117820"/>
                    <a:ext cx="1596889" cy="400110"/>
                  </a:xfrm>
                  <a:prstGeom prst="rect">
                    <a:avLst/>
                  </a:prstGeom>
                  <a:noFill/>
                </p:spPr>
                <p:txBody>
                  <a:bodyPr wrap="square">
                    <a:spAutoFit/>
                  </a:bodyPr>
                  <a:lstStyle/>
                  <a:p>
                    <a:r>
                      <a:rPr lang="en-US" sz="2000" dirty="0">
                        <a:solidFill>
                          <a:srgbClr val="4D4D4D">
                            <a:alpha val="100000"/>
                          </a:srgbClr>
                        </a:solidFill>
                        <a:latin typeface="+mj-lt"/>
                        <a:cs typeface="Arial"/>
                        <a:sym typeface="Arial"/>
                      </a:rPr>
                      <a:t>Accuracy</a:t>
                    </a:r>
                    <a:endParaRPr lang="en-US" sz="2000" dirty="0"/>
                  </a:p>
                </p:txBody>
              </p:sp>
              <p:sp>
                <p:nvSpPr>
                  <p:cNvPr id="115" name="TextBox 114">
                    <a:extLst>
                      <a:ext uri="{FF2B5EF4-FFF2-40B4-BE49-F238E27FC236}">
                        <a16:creationId xmlns:a16="http://schemas.microsoft.com/office/drawing/2014/main" id="{B464CAF8-0011-4F11-F26E-5CE197114AB7}"/>
                      </a:ext>
                    </a:extLst>
                  </p:cNvPr>
                  <p:cNvSpPr txBox="1"/>
                  <p:nvPr/>
                </p:nvSpPr>
                <p:spPr>
                  <a:xfrm>
                    <a:off x="9556415" y="4555671"/>
                    <a:ext cx="1596889" cy="400110"/>
                  </a:xfrm>
                  <a:prstGeom prst="rect">
                    <a:avLst/>
                  </a:prstGeom>
                  <a:noFill/>
                </p:spPr>
                <p:txBody>
                  <a:bodyPr wrap="square">
                    <a:spAutoFit/>
                  </a:bodyPr>
                  <a:lstStyle/>
                  <a:p>
                    <a:r>
                      <a:rPr lang="en-US" sz="2000" dirty="0">
                        <a:solidFill>
                          <a:srgbClr val="4D4D4D">
                            <a:alpha val="100000"/>
                          </a:srgbClr>
                        </a:solidFill>
                        <a:latin typeface="+mj-lt"/>
                        <a:cs typeface="Arial"/>
                        <a:sym typeface="Arial"/>
                      </a:rPr>
                      <a:t>Efficiency </a:t>
                    </a:r>
                    <a:endParaRPr lang="en-US" sz="2000" dirty="0"/>
                  </a:p>
                </p:txBody>
              </p:sp>
            </p:grpSp>
            <p:sp>
              <p:nvSpPr>
                <p:cNvPr id="123" name="Left Brace 122">
                  <a:extLst>
                    <a:ext uri="{FF2B5EF4-FFF2-40B4-BE49-F238E27FC236}">
                      <a16:creationId xmlns:a16="http://schemas.microsoft.com/office/drawing/2014/main" id="{485474A5-B2E8-31D8-966E-62A73365238D}"/>
                    </a:ext>
                  </a:extLst>
                </p:cNvPr>
                <p:cNvSpPr/>
                <p:nvPr/>
              </p:nvSpPr>
              <p:spPr>
                <a:xfrm>
                  <a:off x="9256191" y="3505533"/>
                  <a:ext cx="234229" cy="1365970"/>
                </a:xfrm>
                <a:prstGeom prst="leftBrace">
                  <a:avLst/>
                </a:prstGeom>
                <a:ln/>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grpSp>
          <p:cxnSp>
            <p:nvCxnSpPr>
              <p:cNvPr id="132" name="Straight Arrow Connector 131">
                <a:extLst>
                  <a:ext uri="{FF2B5EF4-FFF2-40B4-BE49-F238E27FC236}">
                    <a16:creationId xmlns:a16="http://schemas.microsoft.com/office/drawing/2014/main" id="{C1B16C22-FDBA-4841-C6F8-533983D958A6}"/>
                  </a:ext>
                </a:extLst>
              </p:cNvPr>
              <p:cNvCxnSpPr>
                <a:cxnSpLocks/>
              </p:cNvCxnSpPr>
              <p:nvPr/>
            </p:nvCxnSpPr>
            <p:spPr>
              <a:xfrm>
                <a:off x="8242765" y="4290130"/>
                <a:ext cx="602788"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grpSp>
        <p:sp>
          <p:nvSpPr>
            <p:cNvPr id="8" name="TextBox 7">
              <a:extLst>
                <a:ext uri="{FF2B5EF4-FFF2-40B4-BE49-F238E27FC236}">
                  <a16:creationId xmlns:a16="http://schemas.microsoft.com/office/drawing/2014/main" id="{A51AE35F-3840-2F72-40AB-18646C630053}"/>
                </a:ext>
              </a:extLst>
            </p:cNvPr>
            <p:cNvSpPr txBox="1"/>
            <p:nvPr/>
          </p:nvSpPr>
          <p:spPr>
            <a:xfrm>
              <a:off x="8618814" y="5365316"/>
              <a:ext cx="2935863" cy="400110"/>
            </a:xfrm>
            <a:prstGeom prst="rect">
              <a:avLst/>
            </a:prstGeom>
            <a:noFill/>
          </p:spPr>
          <p:txBody>
            <a:bodyPr wrap="square">
              <a:spAutoFit/>
            </a:bodyPr>
            <a:lstStyle/>
            <a:p>
              <a:r>
                <a:rPr lang="en-US" sz="2000" b="0" i="0" u="none" strike="noStrike" cap="none" dirty="0">
                  <a:solidFill>
                    <a:srgbClr val="4D4D4D">
                      <a:alpha val="100000"/>
                    </a:srgbClr>
                  </a:solidFill>
                  <a:latin typeface="+mj-lt"/>
                  <a:cs typeface="Arial"/>
                  <a:sym typeface="Arial"/>
                </a:rPr>
                <a:t>Paired </a:t>
              </a:r>
              <a:r>
                <a:rPr lang="en-US" sz="2000" dirty="0">
                  <a:solidFill>
                    <a:srgbClr val="4D4D4D">
                      <a:alpha val="100000"/>
                    </a:srgbClr>
                  </a:solidFill>
                  <a:latin typeface="+mj-lt"/>
                  <a:cs typeface="Arial"/>
                  <a:sym typeface="Arial"/>
                </a:rPr>
                <a:t>S</a:t>
              </a:r>
              <a:r>
                <a:rPr lang="en-US" sz="2000" b="0" i="0" u="none" strike="noStrike" cap="none" dirty="0">
                  <a:solidFill>
                    <a:srgbClr val="4D4D4D">
                      <a:alpha val="100000"/>
                    </a:srgbClr>
                  </a:solidFill>
                  <a:latin typeface="+mj-lt"/>
                  <a:cs typeface="Arial"/>
                  <a:sym typeface="Arial"/>
                </a:rPr>
                <a:t>tatistical Test</a:t>
              </a:r>
              <a:endParaRPr lang="en-US" sz="2000" dirty="0"/>
            </a:p>
          </p:txBody>
        </p:sp>
      </p:grpSp>
      <p:sp>
        <p:nvSpPr>
          <p:cNvPr id="14" name="TextBox 13">
            <a:extLst>
              <a:ext uri="{FF2B5EF4-FFF2-40B4-BE49-F238E27FC236}">
                <a16:creationId xmlns:a16="http://schemas.microsoft.com/office/drawing/2014/main" id="{DCB6B146-CB69-A642-22A5-4E45C6B3C5BD}"/>
              </a:ext>
            </a:extLst>
          </p:cNvPr>
          <p:cNvSpPr txBox="1"/>
          <p:nvPr/>
        </p:nvSpPr>
        <p:spPr>
          <a:xfrm>
            <a:off x="798515" y="5850974"/>
            <a:ext cx="11301213" cy="276999"/>
          </a:xfrm>
          <a:prstGeom prst="rect">
            <a:avLst/>
          </a:prstGeom>
          <a:noFill/>
        </p:spPr>
        <p:txBody>
          <a:bodyPr wrap="square" lIns="0" tIns="0" rIns="0" bIns="0" rtlCol="0">
            <a:spAutoFit/>
          </a:bodyPr>
          <a:lstStyle/>
          <a:p>
            <a:pPr algn="l">
              <a:spcBef>
                <a:spcPts val="800"/>
              </a:spcBef>
            </a:pPr>
            <a:r>
              <a:rPr lang="en-US" dirty="0"/>
              <a:t>3 sample size * 2 model parameterization* 16 scenarios * 100 datasets * 3 workflows = 28,800 tasks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F31B1-1EF9-2B13-A85D-9FE74797F93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238ACE-EE14-B1E2-A1F6-6D419E060E0F}"/>
              </a:ext>
            </a:extLst>
          </p:cNvPr>
          <p:cNvSpPr>
            <a:spLocks noGrp="1"/>
          </p:cNvSpPr>
          <p:nvPr>
            <p:ph/>
          </p:nvPr>
        </p:nvSpPr>
        <p:spPr>
          <a:xfrm>
            <a:off x="205430" y="350397"/>
            <a:ext cx="11986570" cy="530377"/>
          </a:xfrm>
        </p:spPr>
        <p:txBody>
          <a:bodyPr/>
          <a:lstStyle/>
          <a:p>
            <a:pPr algn="l">
              <a:buNone/>
            </a:pPr>
            <a:r>
              <a:rPr lang="en-US" sz="2800" b="1" dirty="0">
                <a:solidFill>
                  <a:srgbClr val="0460A9"/>
                </a:solidFill>
                <a:latin typeface="Arial"/>
                <a:cs typeface="Arial"/>
              </a:rPr>
              <a:t>Simulate virtual populations with realistic covariate correlation &amp; PK</a:t>
            </a:r>
          </a:p>
        </p:txBody>
      </p:sp>
      <p:sp>
        <p:nvSpPr>
          <p:cNvPr id="13" name="TextBox 12">
            <a:extLst>
              <a:ext uri="{FF2B5EF4-FFF2-40B4-BE49-F238E27FC236}">
                <a16:creationId xmlns:a16="http://schemas.microsoft.com/office/drawing/2014/main" id="{BCCA498B-AA64-2E03-D652-2B86AEA79631}"/>
              </a:ext>
            </a:extLst>
          </p:cNvPr>
          <p:cNvSpPr txBox="1"/>
          <p:nvPr/>
        </p:nvSpPr>
        <p:spPr>
          <a:xfrm>
            <a:off x="1138422" y="5291940"/>
            <a:ext cx="5069778"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spcBef>
                <a:spcPts val="800"/>
              </a:spcBef>
            </a:pPr>
            <a:r>
              <a:rPr lang="en-US" dirty="0"/>
              <a:t>Cohort, Dataset, ID, </a:t>
            </a:r>
            <a:r>
              <a:rPr lang="en-US" sz="1800" dirty="0" err="1">
                <a:solidFill>
                  <a:srgbClr val="0070C0"/>
                </a:solidFill>
              </a:rPr>
              <a:t>Wt</a:t>
            </a:r>
            <a:r>
              <a:rPr lang="en-US" sz="1800" dirty="0"/>
              <a:t>, BMI,</a:t>
            </a:r>
            <a:r>
              <a:rPr lang="en-US" dirty="0"/>
              <a:t> </a:t>
            </a:r>
            <a:r>
              <a:rPr lang="en-US" dirty="0" err="1">
                <a:solidFill>
                  <a:srgbClr val="0070C0"/>
                </a:solidFill>
              </a:rPr>
              <a:t>CrCL</a:t>
            </a:r>
            <a:r>
              <a:rPr lang="en-US" dirty="0">
                <a:solidFill>
                  <a:srgbClr val="0070C0"/>
                </a:solidFill>
              </a:rPr>
              <a:t>,</a:t>
            </a:r>
            <a:r>
              <a:rPr lang="en-US" sz="1800" dirty="0">
                <a:solidFill>
                  <a:srgbClr val="0070C0"/>
                </a:solidFill>
              </a:rPr>
              <a:t> Sex</a:t>
            </a:r>
            <a:r>
              <a:rPr lang="en-US" sz="1800" dirty="0"/>
              <a:t>, Race</a:t>
            </a:r>
          </a:p>
        </p:txBody>
      </p:sp>
      <p:sp>
        <p:nvSpPr>
          <p:cNvPr id="960" name="slidenum_fn">
            <a:extLst>
              <a:ext uri="{FF2B5EF4-FFF2-40B4-BE49-F238E27FC236}">
                <a16:creationId xmlns:a16="http://schemas.microsoft.com/office/drawing/2014/main" id="{6DAD9612-44B6-0091-C9B2-1CC199AEBFD9}"/>
              </a:ext>
            </a:extLst>
          </p:cNvPr>
          <p:cNvSpPr txBox="1"/>
          <p:nvPr/>
        </p:nvSpPr>
        <p:spPr>
          <a:xfrm>
            <a:off x="11250000" y="6560000"/>
            <a:ext cx="760000" cy="260000"/>
          </a:xfrm>
          <a:prstGeom prst="rect">
            <a:avLst/>
          </a:prstGeom>
          <a:noFill/>
        </p:spPr>
        <p:txBody>
          <a:bodyPr wrap="none" lIns="0" tIns="0" rIns="0" bIns="0" anchor="ctr"/>
          <a:lstStyle/>
          <a:p>
            <a:pPr algn="r">
              <a:buNone/>
            </a:pPr>
            <a:fld id="{A06962F7-92B1-4A68-836E-B5017DB5262B}" type="slidenum">
              <a:rPr lang="en-US" sz="1000">
                <a:solidFill>
                  <a:srgbClr val="8A8A8A"/>
                </a:solidFill>
                <a:latin typeface="Arial"/>
              </a:rPr>
              <a:t>11</a:t>
            </a:fld>
            <a:endParaRPr lang="en-US" sz="1000">
              <a:solidFill>
                <a:srgbClr val="8A8A8A"/>
              </a:solidFill>
              <a:latin typeface="Arial"/>
            </a:endParaRPr>
          </a:p>
        </p:txBody>
      </p:sp>
      <p:grpSp>
        <p:nvGrpSpPr>
          <p:cNvPr id="963" name="Group 962">
            <a:extLst>
              <a:ext uri="{FF2B5EF4-FFF2-40B4-BE49-F238E27FC236}">
                <a16:creationId xmlns:a16="http://schemas.microsoft.com/office/drawing/2014/main" id="{0206340C-3E6C-58DE-2C51-7728C4A67914}"/>
              </a:ext>
            </a:extLst>
          </p:cNvPr>
          <p:cNvGrpSpPr/>
          <p:nvPr/>
        </p:nvGrpSpPr>
        <p:grpSpPr>
          <a:xfrm>
            <a:off x="1926879" y="1580115"/>
            <a:ext cx="1683957" cy="1068043"/>
            <a:chOff x="1041980" y="1832512"/>
            <a:chExt cx="1683957" cy="1068043"/>
          </a:xfrm>
        </p:grpSpPr>
        <p:sp>
          <p:nvSpPr>
            <p:cNvPr id="7" name="TextBox 6">
              <a:extLst>
                <a:ext uri="{FF2B5EF4-FFF2-40B4-BE49-F238E27FC236}">
                  <a16:creationId xmlns:a16="http://schemas.microsoft.com/office/drawing/2014/main" id="{0C16C952-1628-EF00-D72F-A3EF20826835}"/>
                </a:ext>
              </a:extLst>
            </p:cNvPr>
            <p:cNvSpPr txBox="1"/>
            <p:nvPr/>
          </p:nvSpPr>
          <p:spPr>
            <a:xfrm>
              <a:off x="1041980" y="1832512"/>
              <a:ext cx="1683957" cy="307777"/>
            </a:xfrm>
            <a:prstGeom prst="rect">
              <a:avLst/>
            </a:prstGeom>
            <a:noFill/>
          </p:spPr>
          <p:txBody>
            <a:bodyPr wrap="square" lIns="0" tIns="0" rIns="0" bIns="0" rtlCol="0">
              <a:spAutoFit/>
            </a:bodyPr>
            <a:lstStyle/>
            <a:p>
              <a:pPr algn="ctr">
                <a:spcBef>
                  <a:spcPts val="800"/>
                </a:spcBef>
              </a:pPr>
              <a:r>
                <a:rPr lang="en-US" sz="2000" dirty="0"/>
                <a:t>NHANES </a:t>
              </a:r>
            </a:p>
          </p:txBody>
        </p:sp>
        <p:grpSp>
          <p:nvGrpSpPr>
            <p:cNvPr id="51" name="Group 50">
              <a:extLst>
                <a:ext uri="{FF2B5EF4-FFF2-40B4-BE49-F238E27FC236}">
                  <a16:creationId xmlns:a16="http://schemas.microsoft.com/office/drawing/2014/main" id="{B6002E0E-FCDF-9F56-3E98-0803D88C3393}"/>
                </a:ext>
              </a:extLst>
            </p:cNvPr>
            <p:cNvGrpSpPr/>
            <p:nvPr/>
          </p:nvGrpSpPr>
          <p:grpSpPr>
            <a:xfrm>
              <a:off x="1224243" y="2142013"/>
              <a:ext cx="1389829" cy="758542"/>
              <a:chOff x="804464" y="1789985"/>
              <a:chExt cx="1675398" cy="914400"/>
            </a:xfrm>
          </p:grpSpPr>
          <p:pic>
            <p:nvPicPr>
              <p:cNvPr id="10" name="Graphic 9" descr="Database with solid fill">
                <a:extLst>
                  <a:ext uri="{FF2B5EF4-FFF2-40B4-BE49-F238E27FC236}">
                    <a16:creationId xmlns:a16="http://schemas.microsoft.com/office/drawing/2014/main" id="{369A394D-1CD0-179C-E3FB-E47896F78D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4464" y="1789985"/>
                <a:ext cx="914400" cy="914400"/>
              </a:xfrm>
              <a:prstGeom prst="rect">
                <a:avLst/>
              </a:prstGeom>
            </p:spPr>
          </p:pic>
          <p:pic>
            <p:nvPicPr>
              <p:cNvPr id="31" name="Graphic 30" descr="Braille outline">
                <a:extLst>
                  <a:ext uri="{FF2B5EF4-FFF2-40B4-BE49-F238E27FC236}">
                    <a16:creationId xmlns:a16="http://schemas.microsoft.com/office/drawing/2014/main" id="{A1526DC6-4081-0A57-628F-AA4926BE87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65462" y="1789985"/>
                <a:ext cx="914400" cy="914400"/>
              </a:xfrm>
              <a:prstGeom prst="rect">
                <a:avLst/>
              </a:prstGeom>
            </p:spPr>
          </p:pic>
        </p:grpSp>
      </p:grpSp>
      <p:grpSp>
        <p:nvGrpSpPr>
          <p:cNvPr id="966" name="Group 965">
            <a:extLst>
              <a:ext uri="{FF2B5EF4-FFF2-40B4-BE49-F238E27FC236}">
                <a16:creationId xmlns:a16="http://schemas.microsoft.com/office/drawing/2014/main" id="{2763FFD5-B0BB-9067-4B4F-DBDE0902A89A}"/>
              </a:ext>
            </a:extLst>
          </p:cNvPr>
          <p:cNvGrpSpPr/>
          <p:nvPr/>
        </p:nvGrpSpPr>
        <p:grpSpPr>
          <a:xfrm>
            <a:off x="1649994" y="3484457"/>
            <a:ext cx="2706334" cy="1266348"/>
            <a:chOff x="780619" y="3682522"/>
            <a:chExt cx="2706334" cy="1266348"/>
          </a:xfrm>
        </p:grpSpPr>
        <p:grpSp>
          <p:nvGrpSpPr>
            <p:cNvPr id="965" name="Group 964">
              <a:extLst>
                <a:ext uri="{FF2B5EF4-FFF2-40B4-BE49-F238E27FC236}">
                  <a16:creationId xmlns:a16="http://schemas.microsoft.com/office/drawing/2014/main" id="{1A84E4CA-652D-C799-E656-2AD5B0070028}"/>
                </a:ext>
              </a:extLst>
            </p:cNvPr>
            <p:cNvGrpSpPr/>
            <p:nvPr/>
          </p:nvGrpSpPr>
          <p:grpSpPr>
            <a:xfrm>
              <a:off x="928058" y="3682522"/>
              <a:ext cx="2558895" cy="921984"/>
              <a:chOff x="928058" y="3547651"/>
              <a:chExt cx="2558895" cy="921984"/>
            </a:xfrm>
          </p:grpSpPr>
          <p:pic>
            <p:nvPicPr>
              <p:cNvPr id="6" name="Graphic 5" descr="Braille outline">
                <a:extLst>
                  <a:ext uri="{FF2B5EF4-FFF2-40B4-BE49-F238E27FC236}">
                    <a16:creationId xmlns:a16="http://schemas.microsoft.com/office/drawing/2014/main" id="{7EC8A664-91F9-A3E6-3BC3-E6221E506D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12901" y="3547651"/>
                <a:ext cx="791576" cy="810436"/>
              </a:xfrm>
              <a:prstGeom prst="rect">
                <a:avLst/>
              </a:prstGeom>
            </p:spPr>
          </p:pic>
          <p:pic>
            <p:nvPicPr>
              <p:cNvPr id="25" name="Graphic 24" descr="Braille outline">
                <a:extLst>
                  <a:ext uri="{FF2B5EF4-FFF2-40B4-BE49-F238E27FC236}">
                    <a16:creationId xmlns:a16="http://schemas.microsoft.com/office/drawing/2014/main" id="{FDEF2A9F-5F18-7247-93EB-EA063449337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4359" y="3547651"/>
                <a:ext cx="791576" cy="810436"/>
              </a:xfrm>
              <a:prstGeom prst="rect">
                <a:avLst/>
              </a:prstGeom>
            </p:spPr>
          </p:pic>
          <p:pic>
            <p:nvPicPr>
              <p:cNvPr id="38" name="Graphic 37" descr="Braille outline">
                <a:extLst>
                  <a:ext uri="{FF2B5EF4-FFF2-40B4-BE49-F238E27FC236}">
                    <a16:creationId xmlns:a16="http://schemas.microsoft.com/office/drawing/2014/main" id="{7BDC0A94-6C4C-5408-F0A8-2C16F53D99B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497744" y="3547651"/>
                <a:ext cx="791576" cy="810436"/>
              </a:xfrm>
              <a:prstGeom prst="rect">
                <a:avLst/>
              </a:prstGeom>
            </p:spPr>
          </p:pic>
          <p:sp>
            <p:nvSpPr>
              <p:cNvPr id="41" name="TextBox 40">
                <a:extLst>
                  <a:ext uri="{FF2B5EF4-FFF2-40B4-BE49-F238E27FC236}">
                    <a16:creationId xmlns:a16="http://schemas.microsoft.com/office/drawing/2014/main" id="{23B8ACD8-89E8-4FAC-924D-A11EF8BAEA39}"/>
                  </a:ext>
                </a:extLst>
              </p:cNvPr>
              <p:cNvSpPr txBox="1"/>
              <p:nvPr/>
            </p:nvSpPr>
            <p:spPr>
              <a:xfrm>
                <a:off x="928058" y="4169573"/>
                <a:ext cx="955901" cy="300061"/>
              </a:xfrm>
              <a:prstGeom prst="rect">
                <a:avLst/>
              </a:prstGeom>
              <a:noFill/>
            </p:spPr>
            <p:txBody>
              <a:bodyPr wrap="square">
                <a:spAutoFit/>
              </a:bodyPr>
              <a:lstStyle/>
              <a:p>
                <a:r>
                  <a:rPr lang="en-US" sz="1600" dirty="0"/>
                  <a:t>N= 300</a:t>
                </a:r>
                <a:endParaRPr lang="en-US" sz="2400" dirty="0"/>
              </a:p>
            </p:txBody>
          </p:sp>
          <p:sp>
            <p:nvSpPr>
              <p:cNvPr id="45" name="TextBox 44">
                <a:extLst>
                  <a:ext uri="{FF2B5EF4-FFF2-40B4-BE49-F238E27FC236}">
                    <a16:creationId xmlns:a16="http://schemas.microsoft.com/office/drawing/2014/main" id="{99F907D7-E2BD-6D58-3C9E-B63A9CF97701}"/>
                  </a:ext>
                </a:extLst>
              </p:cNvPr>
              <p:cNvSpPr txBox="1"/>
              <p:nvPr/>
            </p:nvSpPr>
            <p:spPr>
              <a:xfrm>
                <a:off x="1739476" y="4169574"/>
                <a:ext cx="791576" cy="300061"/>
              </a:xfrm>
              <a:prstGeom prst="rect">
                <a:avLst/>
              </a:prstGeom>
              <a:noFill/>
            </p:spPr>
            <p:txBody>
              <a:bodyPr wrap="square">
                <a:spAutoFit/>
              </a:bodyPr>
              <a:lstStyle/>
              <a:p>
                <a:r>
                  <a:rPr lang="en-US" sz="1600" dirty="0"/>
                  <a:t>N= 80</a:t>
                </a:r>
                <a:endParaRPr lang="en-US" sz="2400" dirty="0"/>
              </a:p>
            </p:txBody>
          </p:sp>
          <p:sp>
            <p:nvSpPr>
              <p:cNvPr id="47" name="TextBox 46">
                <a:extLst>
                  <a:ext uri="{FF2B5EF4-FFF2-40B4-BE49-F238E27FC236}">
                    <a16:creationId xmlns:a16="http://schemas.microsoft.com/office/drawing/2014/main" id="{12BC6041-98B4-CE59-BD30-CC8CC5F815FF}"/>
                  </a:ext>
                </a:extLst>
              </p:cNvPr>
              <p:cNvSpPr txBox="1"/>
              <p:nvPr/>
            </p:nvSpPr>
            <p:spPr>
              <a:xfrm>
                <a:off x="2531052" y="4149035"/>
                <a:ext cx="955901" cy="300061"/>
              </a:xfrm>
              <a:prstGeom prst="rect">
                <a:avLst/>
              </a:prstGeom>
              <a:noFill/>
            </p:spPr>
            <p:txBody>
              <a:bodyPr wrap="square">
                <a:spAutoFit/>
              </a:bodyPr>
              <a:lstStyle/>
              <a:p>
                <a:r>
                  <a:rPr lang="en-US" sz="1600" dirty="0"/>
                  <a:t>N= 40</a:t>
                </a:r>
                <a:endParaRPr lang="en-US" sz="2400" dirty="0"/>
              </a:p>
            </p:txBody>
          </p:sp>
        </p:grpSp>
        <p:sp>
          <p:nvSpPr>
            <p:cNvPr id="50" name="TextBox 49">
              <a:extLst>
                <a:ext uri="{FF2B5EF4-FFF2-40B4-BE49-F238E27FC236}">
                  <a16:creationId xmlns:a16="http://schemas.microsoft.com/office/drawing/2014/main" id="{C951E66E-C90C-EA06-0CF5-F7A27173C243}"/>
                </a:ext>
              </a:extLst>
            </p:cNvPr>
            <p:cNvSpPr txBox="1"/>
            <p:nvPr/>
          </p:nvSpPr>
          <p:spPr>
            <a:xfrm>
              <a:off x="780619" y="4579538"/>
              <a:ext cx="2700715" cy="369332"/>
            </a:xfrm>
            <a:prstGeom prst="rect">
              <a:avLst/>
            </a:prstGeom>
            <a:noFill/>
          </p:spPr>
          <p:txBody>
            <a:bodyPr wrap="square">
              <a:spAutoFit/>
            </a:bodyPr>
            <a:lstStyle/>
            <a:p>
              <a:r>
                <a:rPr lang="en-US" dirty="0"/>
                <a:t>|</a:t>
              </a:r>
              <a:r>
                <a:rPr lang="en-US" dirty="0" err="1"/>
                <a:t>delta_correlation</a:t>
              </a:r>
              <a:r>
                <a:rPr lang="en-US" dirty="0"/>
                <a:t>| &lt; 0.05</a:t>
              </a:r>
              <a:endParaRPr lang="en-US" sz="2800" dirty="0"/>
            </a:p>
          </p:txBody>
        </p:sp>
      </p:grpSp>
      <p:sp>
        <p:nvSpPr>
          <p:cNvPr id="54" name="TextBox 53">
            <a:extLst>
              <a:ext uri="{FF2B5EF4-FFF2-40B4-BE49-F238E27FC236}">
                <a16:creationId xmlns:a16="http://schemas.microsoft.com/office/drawing/2014/main" id="{8F2B46FC-662A-12A8-7936-849C33B6CDE5}"/>
              </a:ext>
            </a:extLst>
          </p:cNvPr>
          <p:cNvSpPr txBox="1"/>
          <p:nvPr/>
        </p:nvSpPr>
        <p:spPr>
          <a:xfrm>
            <a:off x="1206756" y="1249494"/>
            <a:ext cx="1012766" cy="553998"/>
          </a:xfrm>
          <a:prstGeom prst="rect">
            <a:avLst/>
          </a:prstGeom>
          <a:noFill/>
        </p:spPr>
        <p:txBody>
          <a:bodyPr wrap="square">
            <a:spAutoFit/>
          </a:bodyPr>
          <a:lstStyle/>
          <a:p>
            <a:pPr algn="ctr"/>
            <a:r>
              <a:rPr lang="en-US" sz="3000" b="1" dirty="0">
                <a:solidFill>
                  <a:schemeClr val="accent1"/>
                </a:solidFill>
              </a:rPr>
              <a:t>1</a:t>
            </a:r>
          </a:p>
        </p:txBody>
      </p:sp>
      <p:grpSp>
        <p:nvGrpSpPr>
          <p:cNvPr id="964" name="Group 963">
            <a:extLst>
              <a:ext uri="{FF2B5EF4-FFF2-40B4-BE49-F238E27FC236}">
                <a16:creationId xmlns:a16="http://schemas.microsoft.com/office/drawing/2014/main" id="{69D98C5C-71B9-815A-D599-767983600A71}"/>
              </a:ext>
            </a:extLst>
          </p:cNvPr>
          <p:cNvGrpSpPr/>
          <p:nvPr/>
        </p:nvGrpSpPr>
        <p:grpSpPr>
          <a:xfrm>
            <a:off x="1800115" y="2847599"/>
            <a:ext cx="2347043" cy="466406"/>
            <a:chOff x="899939" y="2974225"/>
            <a:chExt cx="2347043" cy="466406"/>
          </a:xfrm>
        </p:grpSpPr>
        <p:cxnSp>
          <p:nvCxnSpPr>
            <p:cNvPr id="12" name="Straight Arrow Connector 11">
              <a:extLst>
                <a:ext uri="{FF2B5EF4-FFF2-40B4-BE49-F238E27FC236}">
                  <a16:creationId xmlns:a16="http://schemas.microsoft.com/office/drawing/2014/main" id="{74DA11AE-90C3-1DE1-0F2E-A3846D81DEF5}"/>
                </a:ext>
              </a:extLst>
            </p:cNvPr>
            <p:cNvCxnSpPr>
              <a:cxnSpLocks/>
            </p:cNvCxnSpPr>
            <p:nvPr/>
          </p:nvCxnSpPr>
          <p:spPr>
            <a:xfrm>
              <a:off x="1981162" y="2999825"/>
              <a:ext cx="0" cy="440806"/>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B1A7BB10-359A-177C-7F86-75A7EC3B8D46}"/>
                </a:ext>
              </a:extLst>
            </p:cNvPr>
            <p:cNvSpPr txBox="1"/>
            <p:nvPr/>
          </p:nvSpPr>
          <p:spPr>
            <a:xfrm>
              <a:off x="1981162" y="2974225"/>
              <a:ext cx="1265820" cy="382267"/>
            </a:xfrm>
            <a:prstGeom prst="rect">
              <a:avLst/>
            </a:prstGeom>
            <a:noFill/>
          </p:spPr>
          <p:txBody>
            <a:bodyPr wrap="square">
              <a:spAutoFit/>
            </a:bodyPr>
            <a:lstStyle/>
            <a:p>
              <a:r>
                <a:rPr lang="en-US" dirty="0"/>
                <a:t>Bootstrap</a:t>
              </a:r>
              <a:endParaRPr lang="en-US" sz="2800" dirty="0"/>
            </a:p>
          </p:txBody>
        </p:sp>
        <p:sp>
          <p:nvSpPr>
            <p:cNvPr id="961" name="TextBox 960">
              <a:extLst>
                <a:ext uri="{FF2B5EF4-FFF2-40B4-BE49-F238E27FC236}">
                  <a16:creationId xmlns:a16="http://schemas.microsoft.com/office/drawing/2014/main" id="{FD397C29-EC49-48B4-ACB6-F138080E9B37}"/>
                </a:ext>
              </a:extLst>
            </p:cNvPr>
            <p:cNvSpPr txBox="1"/>
            <p:nvPr/>
          </p:nvSpPr>
          <p:spPr>
            <a:xfrm>
              <a:off x="899939" y="2987561"/>
              <a:ext cx="1265820" cy="382267"/>
            </a:xfrm>
            <a:prstGeom prst="rect">
              <a:avLst/>
            </a:prstGeom>
            <a:noFill/>
          </p:spPr>
          <p:txBody>
            <a:bodyPr wrap="square">
              <a:spAutoFit/>
            </a:bodyPr>
            <a:lstStyle/>
            <a:p>
              <a:r>
                <a:rPr lang="en-US" dirty="0"/>
                <a:t>S</a:t>
              </a:r>
              <a:r>
                <a:rPr lang="en-US" altLang="zh-CN" dirty="0"/>
                <a:t>tratified</a:t>
              </a:r>
              <a:endParaRPr lang="en-US" sz="2800" dirty="0"/>
            </a:p>
          </p:txBody>
        </p:sp>
      </p:grpSp>
      <p:cxnSp>
        <p:nvCxnSpPr>
          <p:cNvPr id="967" name="Straight Arrow Connector 966">
            <a:extLst>
              <a:ext uri="{FF2B5EF4-FFF2-40B4-BE49-F238E27FC236}">
                <a16:creationId xmlns:a16="http://schemas.microsoft.com/office/drawing/2014/main" id="{FA850AA2-7C86-3A00-1A15-14D1EC896538}"/>
              </a:ext>
            </a:extLst>
          </p:cNvPr>
          <p:cNvCxnSpPr>
            <a:cxnSpLocks/>
          </p:cNvCxnSpPr>
          <p:nvPr/>
        </p:nvCxnSpPr>
        <p:spPr>
          <a:xfrm>
            <a:off x="2843685" y="4921948"/>
            <a:ext cx="0" cy="339331"/>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985" name="Group 984">
            <a:extLst>
              <a:ext uri="{FF2B5EF4-FFF2-40B4-BE49-F238E27FC236}">
                <a16:creationId xmlns:a16="http://schemas.microsoft.com/office/drawing/2014/main" id="{049FA4FA-4C50-5A09-9BF7-56D0C02D00D8}"/>
              </a:ext>
            </a:extLst>
          </p:cNvPr>
          <p:cNvGrpSpPr/>
          <p:nvPr/>
        </p:nvGrpSpPr>
        <p:grpSpPr>
          <a:xfrm>
            <a:off x="7345066" y="1240393"/>
            <a:ext cx="2765925" cy="1518960"/>
            <a:chOff x="5338721" y="1401955"/>
            <a:chExt cx="2765925" cy="1518960"/>
          </a:xfrm>
        </p:grpSpPr>
        <p:sp>
          <p:nvSpPr>
            <p:cNvPr id="15" name="Rectangle 14">
              <a:extLst>
                <a:ext uri="{FF2B5EF4-FFF2-40B4-BE49-F238E27FC236}">
                  <a16:creationId xmlns:a16="http://schemas.microsoft.com/office/drawing/2014/main" id="{3307C94F-B23B-4C19-D3E5-DAC2B04A5BA8}"/>
                </a:ext>
              </a:extLst>
            </p:cNvPr>
            <p:cNvSpPr/>
            <p:nvPr/>
          </p:nvSpPr>
          <p:spPr>
            <a:xfrm>
              <a:off x="6962460" y="2002181"/>
              <a:ext cx="889866" cy="57432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cxnSp>
          <p:nvCxnSpPr>
            <p:cNvPr id="20" name="Straight Arrow Connector 19">
              <a:extLst>
                <a:ext uri="{FF2B5EF4-FFF2-40B4-BE49-F238E27FC236}">
                  <a16:creationId xmlns:a16="http://schemas.microsoft.com/office/drawing/2014/main" id="{EDA1300A-26A5-1879-5AF3-0C0746227320}"/>
                </a:ext>
              </a:extLst>
            </p:cNvPr>
            <p:cNvCxnSpPr>
              <a:cxnSpLocks/>
            </p:cNvCxnSpPr>
            <p:nvPr/>
          </p:nvCxnSpPr>
          <p:spPr>
            <a:xfrm>
              <a:off x="7364284" y="1687677"/>
              <a:ext cx="0" cy="227561"/>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D26A8CDD-96B0-815D-0DED-3316A3B88A12}"/>
                </a:ext>
              </a:extLst>
            </p:cNvPr>
            <p:cNvSpPr txBox="1"/>
            <p:nvPr/>
          </p:nvSpPr>
          <p:spPr>
            <a:xfrm>
              <a:off x="7200140" y="2195664"/>
              <a:ext cx="613317" cy="219480"/>
            </a:xfrm>
            <a:prstGeom prst="rect">
              <a:avLst/>
            </a:prstGeom>
            <a:noFill/>
          </p:spPr>
          <p:txBody>
            <a:bodyPr wrap="square" lIns="0" tIns="0" rIns="0" bIns="0" rtlCol="0">
              <a:spAutoFit/>
            </a:bodyPr>
            <a:lstStyle/>
            <a:p>
              <a:pPr algn="l">
                <a:spcBef>
                  <a:spcPts val="800"/>
                </a:spcBef>
              </a:pPr>
              <a:r>
                <a:rPr lang="en-US" dirty="0" err="1"/>
                <a:t>Vc</a:t>
              </a:r>
              <a:endParaRPr lang="en-US" dirty="0"/>
            </a:p>
          </p:txBody>
        </p:sp>
        <p:cxnSp>
          <p:nvCxnSpPr>
            <p:cNvPr id="28" name="Straight Arrow Connector 27">
              <a:extLst>
                <a:ext uri="{FF2B5EF4-FFF2-40B4-BE49-F238E27FC236}">
                  <a16:creationId xmlns:a16="http://schemas.microsoft.com/office/drawing/2014/main" id="{4A49E5CC-E635-0F45-F3FB-E44F7F550BCF}"/>
                </a:ext>
              </a:extLst>
            </p:cNvPr>
            <p:cNvCxnSpPr>
              <a:cxnSpLocks/>
            </p:cNvCxnSpPr>
            <p:nvPr/>
          </p:nvCxnSpPr>
          <p:spPr>
            <a:xfrm>
              <a:off x="7356044" y="2639250"/>
              <a:ext cx="8240" cy="261468"/>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9B683109-0E93-E561-B95D-868783E275A5}"/>
                </a:ext>
              </a:extLst>
            </p:cNvPr>
            <p:cNvSpPr txBox="1"/>
            <p:nvPr/>
          </p:nvSpPr>
          <p:spPr>
            <a:xfrm>
              <a:off x="7491329" y="1687677"/>
              <a:ext cx="613317" cy="219480"/>
            </a:xfrm>
            <a:prstGeom prst="rect">
              <a:avLst/>
            </a:prstGeom>
            <a:noFill/>
          </p:spPr>
          <p:txBody>
            <a:bodyPr wrap="square" lIns="0" tIns="0" rIns="0" bIns="0" rtlCol="0">
              <a:spAutoFit/>
            </a:bodyPr>
            <a:lstStyle/>
            <a:p>
              <a:pPr algn="l">
                <a:spcBef>
                  <a:spcPts val="800"/>
                </a:spcBef>
              </a:pPr>
              <a:r>
                <a:rPr lang="en-US" dirty="0"/>
                <a:t>Ka</a:t>
              </a:r>
            </a:p>
          </p:txBody>
        </p:sp>
        <p:grpSp>
          <p:nvGrpSpPr>
            <p:cNvPr id="984" name="Group 983">
              <a:extLst>
                <a:ext uri="{FF2B5EF4-FFF2-40B4-BE49-F238E27FC236}">
                  <a16:creationId xmlns:a16="http://schemas.microsoft.com/office/drawing/2014/main" id="{DF67D2E3-87D6-DF58-2B90-974F9F7025AA}"/>
                </a:ext>
              </a:extLst>
            </p:cNvPr>
            <p:cNvGrpSpPr/>
            <p:nvPr/>
          </p:nvGrpSpPr>
          <p:grpSpPr>
            <a:xfrm>
              <a:off x="5338721" y="2020495"/>
              <a:ext cx="1761174" cy="574320"/>
              <a:chOff x="5000523" y="1843963"/>
              <a:chExt cx="1761174" cy="574320"/>
            </a:xfrm>
          </p:grpSpPr>
          <p:grpSp>
            <p:nvGrpSpPr>
              <p:cNvPr id="982" name="Group 981">
                <a:extLst>
                  <a:ext uri="{FF2B5EF4-FFF2-40B4-BE49-F238E27FC236}">
                    <a16:creationId xmlns:a16="http://schemas.microsoft.com/office/drawing/2014/main" id="{9CB23045-40F7-458E-7DB6-D40DE9CDC338}"/>
                  </a:ext>
                </a:extLst>
              </p:cNvPr>
              <p:cNvGrpSpPr/>
              <p:nvPr/>
            </p:nvGrpSpPr>
            <p:grpSpPr>
              <a:xfrm>
                <a:off x="5000523" y="1843963"/>
                <a:ext cx="874104" cy="574320"/>
                <a:chOff x="8807250" y="1975963"/>
                <a:chExt cx="1144859" cy="574320"/>
              </a:xfrm>
            </p:grpSpPr>
            <p:sp>
              <p:nvSpPr>
                <p:cNvPr id="17" name="Rectangle 16">
                  <a:extLst>
                    <a:ext uri="{FF2B5EF4-FFF2-40B4-BE49-F238E27FC236}">
                      <a16:creationId xmlns:a16="http://schemas.microsoft.com/office/drawing/2014/main" id="{B8930C4C-16B5-7126-8502-405535E67607}"/>
                    </a:ext>
                  </a:extLst>
                </p:cNvPr>
                <p:cNvSpPr/>
                <p:nvPr/>
              </p:nvSpPr>
              <p:spPr>
                <a:xfrm>
                  <a:off x="8807250" y="1975963"/>
                  <a:ext cx="1144859" cy="57432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sp>
              <p:nvSpPr>
                <p:cNvPr id="32" name="TextBox 31">
                  <a:extLst>
                    <a:ext uri="{FF2B5EF4-FFF2-40B4-BE49-F238E27FC236}">
                      <a16:creationId xmlns:a16="http://schemas.microsoft.com/office/drawing/2014/main" id="{E217D7AD-C60A-1030-C271-1415993D9626}"/>
                    </a:ext>
                  </a:extLst>
                </p:cNvPr>
                <p:cNvSpPr txBox="1"/>
                <p:nvPr/>
              </p:nvSpPr>
              <p:spPr>
                <a:xfrm>
                  <a:off x="9138457" y="2141517"/>
                  <a:ext cx="613317" cy="219480"/>
                </a:xfrm>
                <a:prstGeom prst="rect">
                  <a:avLst/>
                </a:prstGeom>
                <a:noFill/>
              </p:spPr>
              <p:txBody>
                <a:bodyPr wrap="square" lIns="0" tIns="0" rIns="0" bIns="0" rtlCol="0">
                  <a:spAutoFit/>
                </a:bodyPr>
                <a:lstStyle/>
                <a:p>
                  <a:pPr algn="l">
                    <a:spcBef>
                      <a:spcPts val="800"/>
                    </a:spcBef>
                  </a:pPr>
                  <a:r>
                    <a:rPr lang="en-US" dirty="0" err="1"/>
                    <a:t>Vp</a:t>
                  </a:r>
                  <a:endParaRPr lang="en-US" dirty="0"/>
                </a:p>
              </p:txBody>
            </p:sp>
          </p:grpSp>
          <p:grpSp>
            <p:nvGrpSpPr>
              <p:cNvPr id="983" name="Group 982">
                <a:extLst>
                  <a:ext uri="{FF2B5EF4-FFF2-40B4-BE49-F238E27FC236}">
                    <a16:creationId xmlns:a16="http://schemas.microsoft.com/office/drawing/2014/main" id="{DC790EE1-E5AF-5E53-68E6-0DFEB6FA0926}"/>
                  </a:ext>
                </a:extLst>
              </p:cNvPr>
              <p:cNvGrpSpPr/>
              <p:nvPr/>
            </p:nvGrpSpPr>
            <p:grpSpPr>
              <a:xfrm>
                <a:off x="5934070" y="1969757"/>
                <a:ext cx="827627" cy="299000"/>
                <a:chOff x="8075650" y="2128638"/>
                <a:chExt cx="827627" cy="299000"/>
              </a:xfrm>
            </p:grpSpPr>
            <p:cxnSp>
              <p:nvCxnSpPr>
                <p:cNvPr id="21" name="Straight Arrow Connector 20">
                  <a:extLst>
                    <a:ext uri="{FF2B5EF4-FFF2-40B4-BE49-F238E27FC236}">
                      <a16:creationId xmlns:a16="http://schemas.microsoft.com/office/drawing/2014/main" id="{86FFEBD4-F91B-FFA2-C201-DF6AFF0D9D02}"/>
                    </a:ext>
                  </a:extLst>
                </p:cNvPr>
                <p:cNvCxnSpPr>
                  <a:cxnSpLocks/>
                </p:cNvCxnSpPr>
                <p:nvPr/>
              </p:nvCxnSpPr>
              <p:spPr>
                <a:xfrm>
                  <a:off x="8118064" y="2128638"/>
                  <a:ext cx="495157" cy="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5BAE8773-CF77-5E2B-E0DD-2DF922118702}"/>
                    </a:ext>
                  </a:extLst>
                </p:cNvPr>
                <p:cNvCxnSpPr>
                  <a:cxnSpLocks/>
                </p:cNvCxnSpPr>
                <p:nvPr/>
              </p:nvCxnSpPr>
              <p:spPr>
                <a:xfrm flipH="1">
                  <a:off x="8075650" y="2427638"/>
                  <a:ext cx="559873" cy="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74CE4380-8919-8B37-BDFC-A19876669EA4}"/>
                    </a:ext>
                  </a:extLst>
                </p:cNvPr>
                <p:cNvSpPr txBox="1"/>
                <p:nvPr/>
              </p:nvSpPr>
              <p:spPr>
                <a:xfrm>
                  <a:off x="8289960" y="2141917"/>
                  <a:ext cx="613317" cy="219480"/>
                </a:xfrm>
                <a:prstGeom prst="rect">
                  <a:avLst/>
                </a:prstGeom>
                <a:noFill/>
              </p:spPr>
              <p:txBody>
                <a:bodyPr wrap="square" lIns="0" tIns="0" rIns="0" bIns="0" rtlCol="0">
                  <a:spAutoFit/>
                </a:bodyPr>
                <a:lstStyle/>
                <a:p>
                  <a:pPr algn="l">
                    <a:spcBef>
                      <a:spcPts val="800"/>
                    </a:spcBef>
                  </a:pPr>
                  <a:r>
                    <a:rPr lang="en-US" dirty="0"/>
                    <a:t>Q</a:t>
                  </a:r>
                </a:p>
              </p:txBody>
            </p:sp>
          </p:grpSp>
        </p:grpSp>
        <p:sp>
          <p:nvSpPr>
            <p:cNvPr id="36" name="TextBox 35">
              <a:extLst>
                <a:ext uri="{FF2B5EF4-FFF2-40B4-BE49-F238E27FC236}">
                  <a16:creationId xmlns:a16="http://schemas.microsoft.com/office/drawing/2014/main" id="{DC36EC06-AAD9-B0C4-280E-F314ADF08068}"/>
                </a:ext>
              </a:extLst>
            </p:cNvPr>
            <p:cNvSpPr txBox="1"/>
            <p:nvPr/>
          </p:nvSpPr>
          <p:spPr>
            <a:xfrm>
              <a:off x="7487981" y="2630036"/>
              <a:ext cx="535155" cy="290879"/>
            </a:xfrm>
            <a:prstGeom prst="rect">
              <a:avLst/>
            </a:prstGeom>
            <a:noFill/>
          </p:spPr>
          <p:txBody>
            <a:bodyPr wrap="square" lIns="0" tIns="0" rIns="0" bIns="0" rtlCol="0">
              <a:spAutoFit/>
            </a:bodyPr>
            <a:lstStyle/>
            <a:p>
              <a:pPr algn="l">
                <a:spcBef>
                  <a:spcPts val="800"/>
                </a:spcBef>
              </a:pPr>
              <a:r>
                <a:rPr lang="en-US" dirty="0"/>
                <a:t>CL</a:t>
              </a:r>
            </a:p>
          </p:txBody>
        </p:sp>
        <p:sp>
          <p:nvSpPr>
            <p:cNvPr id="969" name="TextBox 968">
              <a:extLst>
                <a:ext uri="{FF2B5EF4-FFF2-40B4-BE49-F238E27FC236}">
                  <a16:creationId xmlns:a16="http://schemas.microsoft.com/office/drawing/2014/main" id="{FFF48199-0DED-0E58-EB4D-2AB7E127287E}"/>
                </a:ext>
              </a:extLst>
            </p:cNvPr>
            <p:cNvSpPr txBox="1"/>
            <p:nvPr/>
          </p:nvSpPr>
          <p:spPr>
            <a:xfrm>
              <a:off x="7100734" y="1401955"/>
              <a:ext cx="613317" cy="219481"/>
            </a:xfrm>
            <a:prstGeom prst="rect">
              <a:avLst/>
            </a:prstGeom>
            <a:noFill/>
          </p:spPr>
          <p:txBody>
            <a:bodyPr wrap="square" lIns="0" tIns="0" rIns="0" bIns="0" rtlCol="0">
              <a:spAutoFit/>
            </a:bodyPr>
            <a:lstStyle/>
            <a:p>
              <a:pPr algn="l">
                <a:spcBef>
                  <a:spcPts val="800"/>
                </a:spcBef>
              </a:pPr>
              <a:r>
                <a:rPr lang="en-US" dirty="0"/>
                <a:t>Dose</a:t>
              </a:r>
            </a:p>
          </p:txBody>
        </p:sp>
      </p:grpSp>
      <p:sp>
        <p:nvSpPr>
          <p:cNvPr id="981" name="TextBox 980">
            <a:extLst>
              <a:ext uri="{FF2B5EF4-FFF2-40B4-BE49-F238E27FC236}">
                <a16:creationId xmlns:a16="http://schemas.microsoft.com/office/drawing/2014/main" id="{8E42F2A9-83C9-B952-743B-F881A1E57164}"/>
              </a:ext>
            </a:extLst>
          </p:cNvPr>
          <p:cNvSpPr txBox="1"/>
          <p:nvPr/>
        </p:nvSpPr>
        <p:spPr>
          <a:xfrm>
            <a:off x="6071464" y="1249494"/>
            <a:ext cx="1012766" cy="553998"/>
          </a:xfrm>
          <a:prstGeom prst="rect">
            <a:avLst/>
          </a:prstGeom>
          <a:noFill/>
        </p:spPr>
        <p:txBody>
          <a:bodyPr wrap="square">
            <a:spAutoFit/>
          </a:bodyPr>
          <a:lstStyle/>
          <a:p>
            <a:pPr algn="ctr"/>
            <a:r>
              <a:rPr lang="en-US" sz="3000" b="1" dirty="0">
                <a:solidFill>
                  <a:schemeClr val="accent1"/>
                </a:solidFill>
              </a:rPr>
              <a:t>2</a:t>
            </a:r>
          </a:p>
        </p:txBody>
      </p:sp>
      <p:grpSp>
        <p:nvGrpSpPr>
          <p:cNvPr id="993" name="Group 992">
            <a:extLst>
              <a:ext uri="{FF2B5EF4-FFF2-40B4-BE49-F238E27FC236}">
                <a16:creationId xmlns:a16="http://schemas.microsoft.com/office/drawing/2014/main" id="{098F2D3B-02C5-7387-D4A8-84834E1BA20D}"/>
              </a:ext>
            </a:extLst>
          </p:cNvPr>
          <p:cNvGrpSpPr/>
          <p:nvPr/>
        </p:nvGrpSpPr>
        <p:grpSpPr>
          <a:xfrm>
            <a:off x="4964479" y="3492765"/>
            <a:ext cx="1431536" cy="1768514"/>
            <a:chOff x="4586288" y="3546366"/>
            <a:chExt cx="1371600" cy="1741680"/>
          </a:xfrm>
        </p:grpSpPr>
        <p:cxnSp>
          <p:nvCxnSpPr>
            <p:cNvPr id="990" name="Straight Connector 989">
              <a:extLst>
                <a:ext uri="{FF2B5EF4-FFF2-40B4-BE49-F238E27FC236}">
                  <a16:creationId xmlns:a16="http://schemas.microsoft.com/office/drawing/2014/main" id="{310F4CA0-58B4-CE14-22A3-AEED13A8E97F}"/>
                </a:ext>
              </a:extLst>
            </p:cNvPr>
            <p:cNvCxnSpPr/>
            <p:nvPr/>
          </p:nvCxnSpPr>
          <p:spPr>
            <a:xfrm flipV="1">
              <a:off x="4586288" y="3546366"/>
              <a:ext cx="0" cy="174168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92" name="Straight Arrow Connector 991">
              <a:extLst>
                <a:ext uri="{FF2B5EF4-FFF2-40B4-BE49-F238E27FC236}">
                  <a16:creationId xmlns:a16="http://schemas.microsoft.com/office/drawing/2014/main" id="{8C405790-082E-8795-16C5-CBE065215641}"/>
                </a:ext>
              </a:extLst>
            </p:cNvPr>
            <p:cNvCxnSpPr/>
            <p:nvPr/>
          </p:nvCxnSpPr>
          <p:spPr>
            <a:xfrm>
              <a:off x="4586288" y="3546366"/>
              <a:ext cx="1371600" cy="0"/>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998" name="Group 997">
            <a:extLst>
              <a:ext uri="{FF2B5EF4-FFF2-40B4-BE49-F238E27FC236}">
                <a16:creationId xmlns:a16="http://schemas.microsoft.com/office/drawing/2014/main" id="{D81DFA5D-43B4-58CF-E05D-BB5B6B4A9D7E}"/>
              </a:ext>
            </a:extLst>
          </p:cNvPr>
          <p:cNvGrpSpPr/>
          <p:nvPr/>
        </p:nvGrpSpPr>
        <p:grpSpPr>
          <a:xfrm>
            <a:off x="6714583" y="4958136"/>
            <a:ext cx="4181407" cy="717286"/>
            <a:chOff x="6277184" y="5100634"/>
            <a:chExt cx="4181407" cy="717286"/>
          </a:xfrm>
        </p:grpSpPr>
        <p:sp>
          <p:nvSpPr>
            <p:cNvPr id="26" name="TextBox 25">
              <a:extLst>
                <a:ext uri="{FF2B5EF4-FFF2-40B4-BE49-F238E27FC236}">
                  <a16:creationId xmlns:a16="http://schemas.microsoft.com/office/drawing/2014/main" id="{321E80B0-9BE1-E5E6-245F-C2A285163459}"/>
                </a:ext>
              </a:extLst>
            </p:cNvPr>
            <p:cNvSpPr txBox="1"/>
            <p:nvPr/>
          </p:nvSpPr>
          <p:spPr>
            <a:xfrm>
              <a:off x="6277184" y="5448588"/>
              <a:ext cx="4181407"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spcBef>
                  <a:spcPts val="800"/>
                </a:spcBef>
              </a:pPr>
              <a:r>
                <a:rPr lang="en-US" dirty="0"/>
                <a:t>Scenario, Time, Dose, Concentration</a:t>
              </a:r>
            </a:p>
          </p:txBody>
        </p:sp>
        <p:cxnSp>
          <p:nvCxnSpPr>
            <p:cNvPr id="995" name="Straight Arrow Connector 994">
              <a:extLst>
                <a:ext uri="{FF2B5EF4-FFF2-40B4-BE49-F238E27FC236}">
                  <a16:creationId xmlns:a16="http://schemas.microsoft.com/office/drawing/2014/main" id="{27E03525-9B90-2428-89AD-FEE198C5B23A}"/>
                </a:ext>
              </a:extLst>
            </p:cNvPr>
            <p:cNvCxnSpPr>
              <a:cxnSpLocks/>
            </p:cNvCxnSpPr>
            <p:nvPr/>
          </p:nvCxnSpPr>
          <p:spPr>
            <a:xfrm>
              <a:off x="8350363" y="5100634"/>
              <a:ext cx="0" cy="255082"/>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4" name="TextBox 3">
            <a:extLst>
              <a:ext uri="{FF2B5EF4-FFF2-40B4-BE49-F238E27FC236}">
                <a16:creationId xmlns:a16="http://schemas.microsoft.com/office/drawing/2014/main" id="{770700CD-C07A-2BAD-C94C-ACA1216CCD1A}"/>
              </a:ext>
            </a:extLst>
          </p:cNvPr>
          <p:cNvSpPr txBox="1"/>
          <p:nvPr/>
        </p:nvSpPr>
        <p:spPr>
          <a:xfrm>
            <a:off x="7827990" y="6380645"/>
            <a:ext cx="3472017" cy="253916"/>
          </a:xfrm>
          <a:prstGeom prst="rect">
            <a:avLst/>
          </a:prstGeom>
          <a:noFill/>
        </p:spPr>
        <p:txBody>
          <a:bodyPr wrap="square">
            <a:spAutoFit/>
          </a:bodyPr>
          <a:lstStyle/>
          <a:p>
            <a:r>
              <a:rPr lang="en-US" sz="1050" b="0" dirty="0">
                <a:solidFill>
                  <a:schemeClr val="bg1">
                    <a:lumMod val="25000"/>
                  </a:schemeClr>
                </a:solidFill>
              </a:rPr>
              <a:t>J </a:t>
            </a:r>
            <a:r>
              <a:rPr lang="en-US" sz="1050" b="0" dirty="0" err="1">
                <a:solidFill>
                  <a:schemeClr val="bg1">
                    <a:lumMod val="25000"/>
                  </a:schemeClr>
                </a:solidFill>
              </a:rPr>
              <a:t>Pharmacokinet</a:t>
            </a:r>
            <a:r>
              <a:rPr lang="en-US" sz="1050" b="0" dirty="0">
                <a:solidFill>
                  <a:schemeClr val="bg1">
                    <a:lumMod val="25000"/>
                  </a:schemeClr>
                </a:solidFill>
              </a:rPr>
              <a:t> </a:t>
            </a:r>
            <a:r>
              <a:rPr lang="en-US" sz="1050" b="0" dirty="0" err="1">
                <a:solidFill>
                  <a:schemeClr val="bg1">
                    <a:lumMod val="25000"/>
                  </a:schemeClr>
                </a:solidFill>
              </a:rPr>
              <a:t>Pharmacodyn</a:t>
            </a:r>
            <a:r>
              <a:rPr lang="en-US" sz="1050" b="0" dirty="0">
                <a:solidFill>
                  <a:schemeClr val="bg1">
                    <a:lumMod val="25000"/>
                  </a:schemeClr>
                </a:solidFill>
              </a:rPr>
              <a:t>. 2019;46(3):273-285. </a:t>
            </a:r>
            <a:endParaRPr lang="en-US" sz="1200" dirty="0">
              <a:solidFill>
                <a:schemeClr val="bg1">
                  <a:lumMod val="25000"/>
                </a:schemeClr>
              </a:solidFill>
            </a:endParaRPr>
          </a:p>
        </p:txBody>
      </p:sp>
      <p:pic>
        <p:nvPicPr>
          <p:cNvPr id="11" name="Picture 10">
            <a:extLst>
              <a:ext uri="{FF2B5EF4-FFF2-40B4-BE49-F238E27FC236}">
                <a16:creationId xmlns:a16="http://schemas.microsoft.com/office/drawing/2014/main" id="{F5DF12EA-EFD7-D7AC-DA60-A1A4485B8E9D}"/>
              </a:ext>
            </a:extLst>
          </p:cNvPr>
          <p:cNvPicPr>
            <a:picLocks noChangeAspect="1"/>
          </p:cNvPicPr>
          <p:nvPr/>
        </p:nvPicPr>
        <p:blipFill>
          <a:blip r:embed="rId8"/>
          <a:stretch>
            <a:fillRect/>
          </a:stretch>
        </p:blipFill>
        <p:spPr>
          <a:xfrm>
            <a:off x="7224220" y="2752029"/>
            <a:ext cx="3127083" cy="2153298"/>
          </a:xfrm>
          <a:prstGeom prst="rect">
            <a:avLst/>
          </a:prstGeom>
        </p:spPr>
      </p:pic>
    </p:spTree>
    <p:extLst>
      <p:ext uri="{BB962C8B-B14F-4D97-AF65-F5344CB8AC3E}">
        <p14:creationId xmlns:p14="http://schemas.microsoft.com/office/powerpoint/2010/main" val="841582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6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6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9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8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8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98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312895" y="232886"/>
            <a:ext cx="11064240" cy="775597"/>
          </a:xfrm>
        </p:spPr>
        <p:txBody>
          <a:bodyPr/>
          <a:lstStyle/>
          <a:p>
            <a:pPr algn="l">
              <a:buNone/>
            </a:pPr>
            <a:r>
              <a:rPr lang="en-US" sz="2800" b="1" dirty="0">
                <a:solidFill>
                  <a:srgbClr val="0460A9"/>
                </a:solidFill>
                <a:latin typeface="Arial"/>
                <a:cs typeface="Arial"/>
              </a:rPr>
              <a:t>Design 16 scenarios with easy </a:t>
            </a:r>
            <a:r>
              <a:rPr lang="zh-CN" altLang="en-US" sz="2800" b="1" dirty="0">
                <a:solidFill>
                  <a:srgbClr val="0460A9"/>
                </a:solidFill>
                <a:latin typeface="Arial"/>
                <a:cs typeface="Arial"/>
              </a:rPr>
              <a:t>→ </a:t>
            </a:r>
            <a:r>
              <a:rPr lang="en-US" altLang="zh-CN" sz="2800" dirty="0">
                <a:solidFill>
                  <a:srgbClr val="0460A9"/>
                </a:solidFill>
                <a:latin typeface="Arial"/>
                <a:cs typeface="Arial"/>
              </a:rPr>
              <a:t>complex covariate effects from the overall covariate space</a:t>
            </a:r>
            <a:endParaRPr lang="en-US" sz="2800" b="1" dirty="0">
              <a:solidFill>
                <a:srgbClr val="0460A9"/>
              </a:solidFill>
              <a:latin typeface="Arial"/>
              <a:cs typeface="Arial"/>
            </a:endParaRPr>
          </a:p>
        </p:txBody>
      </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F088BF29-56BA-4C96-9148-AF5D956366D1}" type="slidenum">
              <a:rPr lang="en-US" sz="1000">
                <a:solidFill>
                  <a:srgbClr val="8A8A8A"/>
                </a:solidFill>
                <a:latin typeface="Arial"/>
              </a:rPr>
              <a:t>12</a:t>
            </a:fld>
            <a:endParaRPr lang="en-US" sz="1000">
              <a:solidFill>
                <a:srgbClr val="8A8A8A"/>
              </a:solidFill>
              <a:latin typeface="Arial"/>
            </a:endParaRPr>
          </a:p>
        </p:txBody>
      </p:sp>
      <p:grpSp>
        <p:nvGrpSpPr>
          <p:cNvPr id="993" name="Group 992">
            <a:extLst>
              <a:ext uri="{FF2B5EF4-FFF2-40B4-BE49-F238E27FC236}">
                <a16:creationId xmlns:a16="http://schemas.microsoft.com/office/drawing/2014/main" id="{6EF62B28-F8E4-D375-23BD-F8F98BBB9E99}"/>
              </a:ext>
            </a:extLst>
          </p:cNvPr>
          <p:cNvGrpSpPr/>
          <p:nvPr/>
        </p:nvGrpSpPr>
        <p:grpSpPr>
          <a:xfrm>
            <a:off x="652495" y="1306697"/>
            <a:ext cx="3293288" cy="4271961"/>
            <a:chOff x="-3089670" y="1655206"/>
            <a:chExt cx="3230627" cy="3328858"/>
          </a:xfrm>
        </p:grpSpPr>
        <p:sp>
          <p:nvSpPr>
            <p:cNvPr id="5" name="TextBox 4">
              <a:extLst>
                <a:ext uri="{FF2B5EF4-FFF2-40B4-BE49-F238E27FC236}">
                  <a16:creationId xmlns:a16="http://schemas.microsoft.com/office/drawing/2014/main" id="{5E172CD7-53E7-19CC-9C58-DACC6759ACFA}"/>
                </a:ext>
              </a:extLst>
            </p:cNvPr>
            <p:cNvSpPr txBox="1"/>
            <p:nvPr/>
          </p:nvSpPr>
          <p:spPr>
            <a:xfrm>
              <a:off x="-2968002" y="1655206"/>
              <a:ext cx="3108959" cy="307777"/>
            </a:xfrm>
            <a:prstGeom prst="rect">
              <a:avLst/>
            </a:prstGeom>
            <a:noFill/>
          </p:spPr>
          <p:txBody>
            <a:bodyPr wrap="square" lIns="0" tIns="0" rIns="0" bIns="0" rtlCol="0">
              <a:spAutoFit/>
            </a:bodyPr>
            <a:lstStyle/>
            <a:p>
              <a:pPr algn="l">
                <a:spcBef>
                  <a:spcPts val="800"/>
                </a:spcBef>
              </a:pPr>
              <a:r>
                <a:rPr lang="en-US" sz="2000" b="1" dirty="0"/>
                <a:t>Overall covariate space</a:t>
              </a:r>
            </a:p>
          </p:txBody>
        </p:sp>
        <p:grpSp>
          <p:nvGrpSpPr>
            <p:cNvPr id="990" name="Group 989">
              <a:extLst>
                <a:ext uri="{FF2B5EF4-FFF2-40B4-BE49-F238E27FC236}">
                  <a16:creationId xmlns:a16="http://schemas.microsoft.com/office/drawing/2014/main" id="{2CAC4DFB-15AB-7E79-982D-5F23B3892C60}"/>
                </a:ext>
              </a:extLst>
            </p:cNvPr>
            <p:cNvGrpSpPr/>
            <p:nvPr/>
          </p:nvGrpSpPr>
          <p:grpSpPr>
            <a:xfrm>
              <a:off x="-3089670" y="2132207"/>
              <a:ext cx="1464125" cy="1930192"/>
              <a:chOff x="4386428" y="1823760"/>
              <a:chExt cx="1497550" cy="2112129"/>
            </a:xfrm>
          </p:grpSpPr>
          <p:sp>
            <p:nvSpPr>
              <p:cNvPr id="20" name="Rectangle: Rounded Corners 19">
                <a:extLst>
                  <a:ext uri="{FF2B5EF4-FFF2-40B4-BE49-F238E27FC236}">
                    <a16:creationId xmlns:a16="http://schemas.microsoft.com/office/drawing/2014/main" id="{A0A5192A-AD82-630F-92F9-BC452DCD64DB}"/>
                  </a:ext>
                </a:extLst>
              </p:cNvPr>
              <p:cNvSpPr/>
              <p:nvPr/>
            </p:nvSpPr>
            <p:spPr>
              <a:xfrm>
                <a:off x="4734211" y="2300795"/>
                <a:ext cx="860498" cy="42445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algn="ctr">
                  <a:lnSpc>
                    <a:spcPts val="1800"/>
                  </a:lnSpc>
                </a:pPr>
                <a:r>
                  <a:rPr lang="en-US" dirty="0" err="1"/>
                  <a:t>Wt</a:t>
                </a:r>
                <a:endParaRPr lang="en-US" dirty="0"/>
              </a:p>
            </p:txBody>
          </p:sp>
          <p:sp>
            <p:nvSpPr>
              <p:cNvPr id="22" name="Rectangle: Rounded Corners 21">
                <a:extLst>
                  <a:ext uri="{FF2B5EF4-FFF2-40B4-BE49-F238E27FC236}">
                    <a16:creationId xmlns:a16="http://schemas.microsoft.com/office/drawing/2014/main" id="{DEE4D179-279C-BB6D-7DC0-4BAECD8A165D}"/>
                  </a:ext>
                </a:extLst>
              </p:cNvPr>
              <p:cNvSpPr/>
              <p:nvPr/>
            </p:nvSpPr>
            <p:spPr>
              <a:xfrm>
                <a:off x="4739594" y="2813224"/>
                <a:ext cx="860496" cy="42445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algn="ctr">
                  <a:lnSpc>
                    <a:spcPts val="1800"/>
                  </a:lnSpc>
                </a:pPr>
                <a:r>
                  <a:rPr lang="en-US" dirty="0"/>
                  <a:t>BMI</a:t>
                </a:r>
              </a:p>
            </p:txBody>
          </p:sp>
          <p:sp>
            <p:nvSpPr>
              <p:cNvPr id="24" name="Rectangle: Rounded Corners 23">
                <a:extLst>
                  <a:ext uri="{FF2B5EF4-FFF2-40B4-BE49-F238E27FC236}">
                    <a16:creationId xmlns:a16="http://schemas.microsoft.com/office/drawing/2014/main" id="{655D504F-E8E3-0DFF-4504-F770E14DFAE9}"/>
                  </a:ext>
                </a:extLst>
              </p:cNvPr>
              <p:cNvSpPr/>
              <p:nvPr/>
            </p:nvSpPr>
            <p:spPr>
              <a:xfrm>
                <a:off x="4733558" y="3325652"/>
                <a:ext cx="860497" cy="424450"/>
              </a:xfrm>
              <a:prstGeom prst="roundRect">
                <a:avLst/>
              </a:prstGeom>
              <a:solidFill>
                <a:srgbClr val="048CFC"/>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algn="ctr">
                  <a:lnSpc>
                    <a:spcPts val="1800"/>
                  </a:lnSpc>
                </a:pPr>
                <a:r>
                  <a:rPr lang="en-US" dirty="0"/>
                  <a:t>CrCl</a:t>
                </a:r>
              </a:p>
            </p:txBody>
          </p:sp>
          <p:sp>
            <p:nvSpPr>
              <p:cNvPr id="43" name="TextBox 42">
                <a:extLst>
                  <a:ext uri="{FF2B5EF4-FFF2-40B4-BE49-F238E27FC236}">
                    <a16:creationId xmlns:a16="http://schemas.microsoft.com/office/drawing/2014/main" id="{95C3D4C9-4667-0FBF-CDFF-5E1C57EB9D34}"/>
                  </a:ext>
                </a:extLst>
              </p:cNvPr>
              <p:cNvSpPr txBox="1"/>
              <p:nvPr/>
            </p:nvSpPr>
            <p:spPr>
              <a:xfrm>
                <a:off x="4690972" y="1972042"/>
                <a:ext cx="1193006" cy="276999"/>
              </a:xfrm>
              <a:prstGeom prst="rect">
                <a:avLst/>
              </a:prstGeom>
              <a:noFill/>
            </p:spPr>
            <p:txBody>
              <a:bodyPr wrap="square" lIns="0" tIns="0" rIns="0" bIns="0" rtlCol="0">
                <a:spAutoFit/>
              </a:bodyPr>
              <a:lstStyle/>
              <a:p>
                <a:pPr marL="180000" indent="-180000" algn="l">
                  <a:spcBef>
                    <a:spcPts val="800"/>
                  </a:spcBef>
                  <a:buFont typeface="Arial" panose="020B0604020202020204" pitchFamily="34" charset="0"/>
                  <a:buChar char="•"/>
                </a:pPr>
                <a:r>
                  <a:rPr lang="en-US" dirty="0"/>
                  <a:t>Power </a:t>
                </a:r>
              </a:p>
            </p:txBody>
          </p:sp>
          <p:sp>
            <p:nvSpPr>
              <p:cNvPr id="48" name="Rectangle: Rounded Corners 47">
                <a:extLst>
                  <a:ext uri="{FF2B5EF4-FFF2-40B4-BE49-F238E27FC236}">
                    <a16:creationId xmlns:a16="http://schemas.microsoft.com/office/drawing/2014/main" id="{599CB8E5-D9C0-1557-F8C0-B142D4046446}"/>
                  </a:ext>
                </a:extLst>
              </p:cNvPr>
              <p:cNvSpPr/>
              <p:nvPr/>
            </p:nvSpPr>
            <p:spPr>
              <a:xfrm>
                <a:off x="4386428" y="1823760"/>
                <a:ext cx="1490290" cy="2112129"/>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grpSp>
        <p:grpSp>
          <p:nvGrpSpPr>
            <p:cNvPr id="991" name="Group 990">
              <a:extLst>
                <a:ext uri="{FF2B5EF4-FFF2-40B4-BE49-F238E27FC236}">
                  <a16:creationId xmlns:a16="http://schemas.microsoft.com/office/drawing/2014/main" id="{4D00ED46-D9F5-30AF-2860-0C4BA0F6909C}"/>
                </a:ext>
              </a:extLst>
            </p:cNvPr>
            <p:cNvGrpSpPr/>
            <p:nvPr/>
          </p:nvGrpSpPr>
          <p:grpSpPr>
            <a:xfrm>
              <a:off x="-1546571" y="2123177"/>
              <a:ext cx="1391494" cy="1930192"/>
              <a:chOff x="5962951" y="1823760"/>
              <a:chExt cx="1391494" cy="2103099"/>
            </a:xfrm>
          </p:grpSpPr>
          <p:sp>
            <p:nvSpPr>
              <p:cNvPr id="33" name="Isosceles Triangle 32">
                <a:extLst>
                  <a:ext uri="{FF2B5EF4-FFF2-40B4-BE49-F238E27FC236}">
                    <a16:creationId xmlns:a16="http://schemas.microsoft.com/office/drawing/2014/main" id="{25FE5648-FD57-9E70-9E8D-D752D352DA9B}"/>
                  </a:ext>
                </a:extLst>
              </p:cNvPr>
              <p:cNvSpPr/>
              <p:nvPr/>
            </p:nvSpPr>
            <p:spPr>
              <a:xfrm>
                <a:off x="6321334" y="3256123"/>
                <a:ext cx="884368" cy="476976"/>
              </a:xfrm>
              <a:prstGeom prst="triangle">
                <a:avLst>
                  <a:gd name="adj" fmla="val 53299"/>
                </a:avLst>
              </a:prstGeom>
              <a:solidFill>
                <a:srgbClr val="048CFC"/>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solidFill>
                    <a:srgbClr val="048CFC"/>
                  </a:solidFill>
                </a:endParaRPr>
              </a:p>
            </p:txBody>
          </p:sp>
          <p:grpSp>
            <p:nvGrpSpPr>
              <p:cNvPr id="37" name="Group 36">
                <a:extLst>
                  <a:ext uri="{FF2B5EF4-FFF2-40B4-BE49-F238E27FC236}">
                    <a16:creationId xmlns:a16="http://schemas.microsoft.com/office/drawing/2014/main" id="{1851AA92-CD2E-8591-9C17-E9CEC43BCFCC}"/>
                  </a:ext>
                </a:extLst>
              </p:cNvPr>
              <p:cNvGrpSpPr/>
              <p:nvPr/>
            </p:nvGrpSpPr>
            <p:grpSpPr>
              <a:xfrm>
                <a:off x="6285056" y="2210754"/>
                <a:ext cx="1069388" cy="485955"/>
                <a:chOff x="4672014" y="2350444"/>
                <a:chExt cx="953362" cy="626923"/>
              </a:xfrm>
            </p:grpSpPr>
            <p:sp>
              <p:nvSpPr>
                <p:cNvPr id="29" name="Isosceles Triangle 28">
                  <a:extLst>
                    <a:ext uri="{FF2B5EF4-FFF2-40B4-BE49-F238E27FC236}">
                      <a16:creationId xmlns:a16="http://schemas.microsoft.com/office/drawing/2014/main" id="{31FD95FC-9757-68EC-691A-E565A5A42761}"/>
                    </a:ext>
                  </a:extLst>
                </p:cNvPr>
                <p:cNvSpPr/>
                <p:nvPr/>
              </p:nvSpPr>
              <p:spPr>
                <a:xfrm>
                  <a:off x="4672014" y="2350444"/>
                  <a:ext cx="725300" cy="626923"/>
                </a:xfrm>
                <a:prstGeom prst="triangl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marL="180000" indent="-180000" algn="l">
                    <a:lnSpc>
                      <a:spcPts val="1800"/>
                    </a:lnSpc>
                    <a:buFont typeface="Arial" panose="020B0604020202020204" pitchFamily="34" charset="0"/>
                    <a:buChar char="•"/>
                  </a:pPr>
                  <a:endParaRPr lang="en-US" dirty="0" err="1"/>
                </a:p>
              </p:txBody>
            </p:sp>
            <p:sp>
              <p:nvSpPr>
                <p:cNvPr id="36" name="TextBox 35">
                  <a:extLst>
                    <a:ext uri="{FF2B5EF4-FFF2-40B4-BE49-F238E27FC236}">
                      <a16:creationId xmlns:a16="http://schemas.microsoft.com/office/drawing/2014/main" id="{3FCFFC82-AE78-6099-1A48-BD90B5968F91}"/>
                    </a:ext>
                  </a:extLst>
                </p:cNvPr>
                <p:cNvSpPr txBox="1"/>
                <p:nvPr/>
              </p:nvSpPr>
              <p:spPr>
                <a:xfrm>
                  <a:off x="4900076" y="2605278"/>
                  <a:ext cx="725300" cy="276999"/>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spAutoFit/>
                </a:bodyPr>
                <a:lstStyle/>
                <a:p>
                  <a:pPr algn="l">
                    <a:spcBef>
                      <a:spcPts val="800"/>
                    </a:spcBef>
                  </a:pPr>
                  <a:r>
                    <a:rPr lang="en-US" dirty="0" err="1">
                      <a:solidFill>
                        <a:schemeClr val="bg1"/>
                      </a:solidFill>
                    </a:rPr>
                    <a:t>Wt</a:t>
                  </a:r>
                  <a:endParaRPr lang="en-US" dirty="0">
                    <a:solidFill>
                      <a:schemeClr val="bg1"/>
                    </a:solidFill>
                  </a:endParaRPr>
                </a:p>
              </p:txBody>
            </p:sp>
          </p:grpSp>
          <p:grpSp>
            <p:nvGrpSpPr>
              <p:cNvPr id="38" name="Group 37">
                <a:extLst>
                  <a:ext uri="{FF2B5EF4-FFF2-40B4-BE49-F238E27FC236}">
                    <a16:creationId xmlns:a16="http://schemas.microsoft.com/office/drawing/2014/main" id="{D336EAFF-2B77-818B-ADB4-9763C70F7CDC}"/>
                  </a:ext>
                </a:extLst>
              </p:cNvPr>
              <p:cNvGrpSpPr/>
              <p:nvPr/>
            </p:nvGrpSpPr>
            <p:grpSpPr>
              <a:xfrm>
                <a:off x="6325815" y="2729661"/>
                <a:ext cx="983616" cy="485955"/>
                <a:chOff x="4672014" y="2340697"/>
                <a:chExt cx="879511" cy="626923"/>
              </a:xfrm>
            </p:grpSpPr>
            <p:sp>
              <p:nvSpPr>
                <p:cNvPr id="39" name="Isosceles Triangle 38">
                  <a:extLst>
                    <a:ext uri="{FF2B5EF4-FFF2-40B4-BE49-F238E27FC236}">
                      <a16:creationId xmlns:a16="http://schemas.microsoft.com/office/drawing/2014/main" id="{888872FF-65D8-F6FC-8C74-E953A4B86BC4}"/>
                    </a:ext>
                  </a:extLst>
                </p:cNvPr>
                <p:cNvSpPr/>
                <p:nvPr/>
              </p:nvSpPr>
              <p:spPr>
                <a:xfrm>
                  <a:off x="4672014" y="2340697"/>
                  <a:ext cx="725300" cy="626923"/>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sp>
              <p:nvSpPr>
                <p:cNvPr id="40" name="TextBox 39">
                  <a:extLst>
                    <a:ext uri="{FF2B5EF4-FFF2-40B4-BE49-F238E27FC236}">
                      <a16:creationId xmlns:a16="http://schemas.microsoft.com/office/drawing/2014/main" id="{9A544126-4329-4919-52D6-5C081298CF37}"/>
                    </a:ext>
                  </a:extLst>
                </p:cNvPr>
                <p:cNvSpPr txBox="1"/>
                <p:nvPr/>
              </p:nvSpPr>
              <p:spPr>
                <a:xfrm>
                  <a:off x="4826225" y="2634591"/>
                  <a:ext cx="725300" cy="314929"/>
                </a:xfrm>
                <a:prstGeom prst="rect">
                  <a:avLst/>
                </a:prstGeom>
                <a:noFill/>
              </p:spPr>
              <p:txBody>
                <a:bodyPr wrap="square" lIns="0" tIns="0" rIns="0" bIns="0" rtlCol="0">
                  <a:spAutoFit/>
                </a:bodyPr>
                <a:lstStyle/>
                <a:p>
                  <a:pPr algn="l">
                    <a:lnSpc>
                      <a:spcPts val="1800"/>
                    </a:lnSpc>
                  </a:pPr>
                  <a:r>
                    <a:rPr lang="en-US" dirty="0">
                      <a:solidFill>
                        <a:schemeClr val="bg1"/>
                      </a:solidFill>
                    </a:rPr>
                    <a:t>BMI</a:t>
                  </a:r>
                </a:p>
              </p:txBody>
            </p:sp>
          </p:grpSp>
          <p:sp>
            <p:nvSpPr>
              <p:cNvPr id="42" name="TextBox 41">
                <a:extLst>
                  <a:ext uri="{FF2B5EF4-FFF2-40B4-BE49-F238E27FC236}">
                    <a16:creationId xmlns:a16="http://schemas.microsoft.com/office/drawing/2014/main" id="{1D718820-D5AA-8E6F-92B0-D10B2AEC524F}"/>
                  </a:ext>
                </a:extLst>
              </p:cNvPr>
              <p:cNvSpPr txBox="1"/>
              <p:nvPr/>
            </p:nvSpPr>
            <p:spPr>
              <a:xfrm>
                <a:off x="6190726" y="3445649"/>
                <a:ext cx="1126534" cy="341761"/>
              </a:xfrm>
              <a:prstGeom prst="rect">
                <a:avLst/>
              </a:prstGeom>
              <a:noFill/>
            </p:spPr>
            <p:txBody>
              <a:bodyPr wrap="square">
                <a:spAutoFit/>
              </a:bodyPr>
              <a:lstStyle/>
              <a:p>
                <a:pPr algn="ctr">
                  <a:lnSpc>
                    <a:spcPts val="1800"/>
                  </a:lnSpc>
                </a:pPr>
                <a:r>
                  <a:rPr lang="en-US" sz="1800" dirty="0">
                    <a:solidFill>
                      <a:schemeClr val="bg1"/>
                    </a:solidFill>
                  </a:rPr>
                  <a:t>CrCl</a:t>
                </a:r>
              </a:p>
            </p:txBody>
          </p:sp>
          <p:sp>
            <p:nvSpPr>
              <p:cNvPr id="45" name="TextBox 44">
                <a:extLst>
                  <a:ext uri="{FF2B5EF4-FFF2-40B4-BE49-F238E27FC236}">
                    <a16:creationId xmlns:a16="http://schemas.microsoft.com/office/drawing/2014/main" id="{04FCB679-6B94-22E2-9315-9FA75095CAB9}"/>
                  </a:ext>
                </a:extLst>
              </p:cNvPr>
              <p:cNvSpPr txBox="1"/>
              <p:nvPr/>
            </p:nvSpPr>
            <p:spPr>
              <a:xfrm>
                <a:off x="6045031" y="1919172"/>
                <a:ext cx="1126534" cy="276999"/>
              </a:xfrm>
              <a:prstGeom prst="rect">
                <a:avLst/>
              </a:prstGeom>
              <a:noFill/>
            </p:spPr>
            <p:txBody>
              <a:bodyPr wrap="square" lIns="0" tIns="0" rIns="0" bIns="0" rtlCol="0">
                <a:spAutoFit/>
              </a:bodyPr>
              <a:lstStyle/>
              <a:p>
                <a:pPr marL="180000" indent="-180000" algn="l">
                  <a:spcBef>
                    <a:spcPts val="800"/>
                  </a:spcBef>
                  <a:buFont typeface="Arial" panose="020B0604020202020204" pitchFamily="34" charset="0"/>
                  <a:buChar char="•"/>
                </a:pPr>
                <a:r>
                  <a:rPr lang="en-US" dirty="0"/>
                  <a:t>Linear</a:t>
                </a:r>
              </a:p>
            </p:txBody>
          </p:sp>
          <p:sp>
            <p:nvSpPr>
              <p:cNvPr id="50" name="Rectangle: Rounded Corners 49">
                <a:extLst>
                  <a:ext uri="{FF2B5EF4-FFF2-40B4-BE49-F238E27FC236}">
                    <a16:creationId xmlns:a16="http://schemas.microsoft.com/office/drawing/2014/main" id="{D208289E-FFE1-607F-6802-9F6C04E949E2}"/>
                  </a:ext>
                </a:extLst>
              </p:cNvPr>
              <p:cNvSpPr/>
              <p:nvPr/>
            </p:nvSpPr>
            <p:spPr>
              <a:xfrm>
                <a:off x="5962951" y="1823760"/>
                <a:ext cx="1391494" cy="2103099"/>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grpSp>
        <p:grpSp>
          <p:nvGrpSpPr>
            <p:cNvPr id="992" name="Group 991">
              <a:extLst>
                <a:ext uri="{FF2B5EF4-FFF2-40B4-BE49-F238E27FC236}">
                  <a16:creationId xmlns:a16="http://schemas.microsoft.com/office/drawing/2014/main" id="{7135C857-CF92-6644-27DF-38BBDB91ED40}"/>
                </a:ext>
              </a:extLst>
            </p:cNvPr>
            <p:cNvGrpSpPr/>
            <p:nvPr/>
          </p:nvGrpSpPr>
          <p:grpSpPr>
            <a:xfrm>
              <a:off x="-3089670" y="4096777"/>
              <a:ext cx="2959794" cy="887287"/>
              <a:chOff x="4516541" y="4596314"/>
              <a:chExt cx="2837904" cy="887287"/>
            </a:xfrm>
          </p:grpSpPr>
          <p:sp>
            <p:nvSpPr>
              <p:cNvPr id="47" name="TextBox 46">
                <a:extLst>
                  <a:ext uri="{FF2B5EF4-FFF2-40B4-BE49-F238E27FC236}">
                    <a16:creationId xmlns:a16="http://schemas.microsoft.com/office/drawing/2014/main" id="{C0C1404E-5457-4C9D-4A1F-52115C84ED27}"/>
                  </a:ext>
                </a:extLst>
              </p:cNvPr>
              <p:cNvSpPr txBox="1"/>
              <p:nvPr/>
            </p:nvSpPr>
            <p:spPr>
              <a:xfrm>
                <a:off x="5168312" y="4637252"/>
                <a:ext cx="1431332" cy="276999"/>
              </a:xfrm>
              <a:prstGeom prst="rect">
                <a:avLst/>
              </a:prstGeom>
              <a:noFill/>
            </p:spPr>
            <p:txBody>
              <a:bodyPr wrap="square" lIns="0" tIns="0" rIns="0" bIns="0" rtlCol="0">
                <a:spAutoFit/>
              </a:bodyPr>
              <a:lstStyle/>
              <a:p>
                <a:pPr marL="180000" indent="-180000" algn="l">
                  <a:spcBef>
                    <a:spcPts val="800"/>
                  </a:spcBef>
                  <a:buFont typeface="Arial" panose="020B0604020202020204" pitchFamily="34" charset="0"/>
                  <a:buChar char="•"/>
                </a:pPr>
                <a:r>
                  <a:rPr lang="en-US" dirty="0"/>
                  <a:t>Categorical</a:t>
                </a:r>
              </a:p>
            </p:txBody>
          </p:sp>
          <p:sp>
            <p:nvSpPr>
              <p:cNvPr id="52" name="Rectangle: Rounded Corners 51">
                <a:extLst>
                  <a:ext uri="{FF2B5EF4-FFF2-40B4-BE49-F238E27FC236}">
                    <a16:creationId xmlns:a16="http://schemas.microsoft.com/office/drawing/2014/main" id="{F3534FE7-2878-024B-61A5-A08BAD5CBEBE}"/>
                  </a:ext>
                </a:extLst>
              </p:cNvPr>
              <p:cNvSpPr/>
              <p:nvPr/>
            </p:nvSpPr>
            <p:spPr>
              <a:xfrm>
                <a:off x="4516541" y="4596314"/>
                <a:ext cx="2837904" cy="887287"/>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sp>
            <p:nvSpPr>
              <p:cNvPr id="971" name="Rectangle 970">
                <a:extLst>
                  <a:ext uri="{FF2B5EF4-FFF2-40B4-BE49-F238E27FC236}">
                    <a16:creationId xmlns:a16="http://schemas.microsoft.com/office/drawing/2014/main" id="{B6046426-4A0C-788B-78D5-9252AD8D43EF}"/>
                  </a:ext>
                </a:extLst>
              </p:cNvPr>
              <p:cNvSpPr/>
              <p:nvPr/>
            </p:nvSpPr>
            <p:spPr>
              <a:xfrm>
                <a:off x="4915384" y="4974784"/>
                <a:ext cx="769843" cy="423248"/>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algn="l">
                  <a:spcBef>
                    <a:spcPts val="800"/>
                  </a:spcBef>
                </a:pPr>
                <a:r>
                  <a:rPr lang="en-US" dirty="0"/>
                  <a:t>Race</a:t>
                </a:r>
              </a:p>
              <a:p>
                <a:pPr algn="l">
                  <a:spcBef>
                    <a:spcPts val="800"/>
                  </a:spcBef>
                </a:pPr>
                <a:endParaRPr lang="en-US" dirty="0" err="1"/>
              </a:p>
            </p:txBody>
          </p:sp>
          <p:sp>
            <p:nvSpPr>
              <p:cNvPr id="973" name="Rectangle 972">
                <a:extLst>
                  <a:ext uri="{FF2B5EF4-FFF2-40B4-BE49-F238E27FC236}">
                    <a16:creationId xmlns:a16="http://schemas.microsoft.com/office/drawing/2014/main" id="{B8601E1F-B51B-7B56-F3F2-8AD5F59C1B49}"/>
                  </a:ext>
                </a:extLst>
              </p:cNvPr>
              <p:cNvSpPr/>
              <p:nvPr/>
            </p:nvSpPr>
            <p:spPr>
              <a:xfrm>
                <a:off x="6084070" y="4981431"/>
                <a:ext cx="769843" cy="409523"/>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algn="ctr">
                  <a:spcBef>
                    <a:spcPts val="800"/>
                  </a:spcBef>
                </a:pPr>
                <a:r>
                  <a:rPr lang="en-US" dirty="0"/>
                  <a:t>Sex</a:t>
                </a:r>
              </a:p>
              <a:p>
                <a:pPr algn="ctr">
                  <a:spcBef>
                    <a:spcPts val="800"/>
                  </a:spcBef>
                </a:pPr>
                <a:endParaRPr lang="en-US" dirty="0" err="1"/>
              </a:p>
            </p:txBody>
          </p:sp>
        </p:grpSp>
      </p:grpSp>
      <p:grpSp>
        <p:nvGrpSpPr>
          <p:cNvPr id="1002" name="Group 1001">
            <a:extLst>
              <a:ext uri="{FF2B5EF4-FFF2-40B4-BE49-F238E27FC236}">
                <a16:creationId xmlns:a16="http://schemas.microsoft.com/office/drawing/2014/main" id="{BF95EDDF-48A2-BCF7-297B-135605F961F4}"/>
              </a:ext>
            </a:extLst>
          </p:cNvPr>
          <p:cNvGrpSpPr/>
          <p:nvPr/>
        </p:nvGrpSpPr>
        <p:grpSpPr>
          <a:xfrm>
            <a:off x="4091883" y="2422890"/>
            <a:ext cx="2974791" cy="2755435"/>
            <a:chOff x="4022124" y="2422889"/>
            <a:chExt cx="2974791" cy="2755435"/>
          </a:xfrm>
        </p:grpSpPr>
        <p:grpSp>
          <p:nvGrpSpPr>
            <p:cNvPr id="994" name="Group 993">
              <a:extLst>
                <a:ext uri="{FF2B5EF4-FFF2-40B4-BE49-F238E27FC236}">
                  <a16:creationId xmlns:a16="http://schemas.microsoft.com/office/drawing/2014/main" id="{C993AC13-FFC1-5003-44B5-787902E6C8DD}"/>
                </a:ext>
              </a:extLst>
            </p:cNvPr>
            <p:cNvGrpSpPr/>
            <p:nvPr/>
          </p:nvGrpSpPr>
          <p:grpSpPr>
            <a:xfrm>
              <a:off x="4022124" y="2422889"/>
              <a:ext cx="2974791" cy="1743724"/>
              <a:chOff x="3644728" y="2507673"/>
              <a:chExt cx="2974791" cy="1743724"/>
            </a:xfrm>
          </p:grpSpPr>
          <p:sp>
            <p:nvSpPr>
              <p:cNvPr id="4" name="Oval 3">
                <a:extLst>
                  <a:ext uri="{FF2B5EF4-FFF2-40B4-BE49-F238E27FC236}">
                    <a16:creationId xmlns:a16="http://schemas.microsoft.com/office/drawing/2014/main" id="{BF6A0D7D-FBCF-C71E-EAD9-80142EB9E63E}"/>
                  </a:ext>
                </a:extLst>
              </p:cNvPr>
              <p:cNvSpPr/>
              <p:nvPr/>
            </p:nvSpPr>
            <p:spPr>
              <a:xfrm>
                <a:off x="4086656" y="2827959"/>
                <a:ext cx="2532863" cy="1125511"/>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algn="ctr">
                  <a:spcBef>
                    <a:spcPts val="800"/>
                  </a:spcBef>
                </a:pPr>
                <a:r>
                  <a:rPr lang="en-US" sz="2000" dirty="0"/>
                  <a:t>B</a:t>
                </a:r>
                <a:r>
                  <a:rPr lang="en-US" altLang="zh-CN" sz="2000" dirty="0"/>
                  <a:t>ase Model (No covariate)</a:t>
                </a:r>
                <a:endParaRPr lang="en-US" sz="2000" dirty="0"/>
              </a:p>
            </p:txBody>
          </p:sp>
          <p:sp>
            <p:nvSpPr>
              <p:cNvPr id="53" name="Oval 52">
                <a:extLst>
                  <a:ext uri="{FF2B5EF4-FFF2-40B4-BE49-F238E27FC236}">
                    <a16:creationId xmlns:a16="http://schemas.microsoft.com/office/drawing/2014/main" id="{6BD6B9B9-057C-3A98-9F02-DF43B2A29094}"/>
                  </a:ext>
                </a:extLst>
              </p:cNvPr>
              <p:cNvSpPr/>
              <p:nvPr/>
            </p:nvSpPr>
            <p:spPr>
              <a:xfrm>
                <a:off x="3644728" y="2507673"/>
                <a:ext cx="745092" cy="745092"/>
              </a:xfrm>
              <a:prstGeom prst="ellipse">
                <a:avLst/>
              </a:prstGeom>
              <a:ln/>
            </p:spPr>
            <p:style>
              <a:lnRef idx="0">
                <a:schemeClr val="accent5"/>
              </a:lnRef>
              <a:fillRef idx="3">
                <a:schemeClr val="accent5"/>
              </a:fillRef>
              <a:effectRef idx="3">
                <a:schemeClr val="accent5"/>
              </a:effectRef>
              <a:fontRef idx="minor">
                <a:schemeClr val="lt1"/>
              </a:fontRef>
            </p:style>
            <p:txBody>
              <a:bodyPr lIns="108000" tIns="108000" rIns="108000" bIns="108000" rtlCol="0" anchor="t"/>
              <a:lstStyle/>
              <a:p>
                <a:pPr algn="l">
                  <a:spcBef>
                    <a:spcPts val="800"/>
                  </a:spcBef>
                </a:pPr>
                <a:r>
                  <a:rPr lang="en-US" sz="2000" dirty="0" err="1">
                    <a:solidFill>
                      <a:schemeClr val="bg1"/>
                    </a:solidFill>
                  </a:rPr>
                  <a:t>V</a:t>
                </a:r>
                <a:r>
                  <a:rPr lang="en-US" altLang="zh-CN" sz="2000" dirty="0" err="1">
                    <a:solidFill>
                      <a:schemeClr val="bg1"/>
                    </a:solidFill>
                  </a:rPr>
                  <a:t>c</a:t>
                </a:r>
                <a:endParaRPr lang="en-US" sz="2000" dirty="0">
                  <a:solidFill>
                    <a:schemeClr val="bg1"/>
                  </a:solidFill>
                </a:endParaRPr>
              </a:p>
            </p:txBody>
          </p:sp>
          <p:sp>
            <p:nvSpPr>
              <p:cNvPr id="55" name="Oval 54">
                <a:extLst>
                  <a:ext uri="{FF2B5EF4-FFF2-40B4-BE49-F238E27FC236}">
                    <a16:creationId xmlns:a16="http://schemas.microsoft.com/office/drawing/2014/main" id="{F390D61C-8311-350A-7879-A545E1CE40D3}"/>
                  </a:ext>
                </a:extLst>
              </p:cNvPr>
              <p:cNvSpPr/>
              <p:nvPr/>
            </p:nvSpPr>
            <p:spPr>
              <a:xfrm>
                <a:off x="3690262" y="3506305"/>
                <a:ext cx="779776" cy="745092"/>
              </a:xfrm>
              <a:prstGeom prst="ellipse">
                <a:avLst/>
              </a:prstGeom>
              <a:ln/>
            </p:spPr>
            <p:style>
              <a:lnRef idx="0">
                <a:schemeClr val="accent5"/>
              </a:lnRef>
              <a:fillRef idx="3">
                <a:schemeClr val="accent5"/>
              </a:fillRef>
              <a:effectRef idx="3">
                <a:schemeClr val="accent5"/>
              </a:effectRef>
              <a:fontRef idx="minor">
                <a:schemeClr val="lt1"/>
              </a:fontRef>
            </p:style>
            <p:txBody>
              <a:bodyPr lIns="108000" tIns="108000" rIns="108000" bIns="108000" rtlCol="0" anchor="t"/>
              <a:lstStyle/>
              <a:p>
                <a:pPr>
                  <a:spcBef>
                    <a:spcPts val="800"/>
                  </a:spcBef>
                </a:pPr>
                <a:r>
                  <a:rPr lang="en-US" sz="2000" dirty="0">
                    <a:solidFill>
                      <a:schemeClr val="bg1"/>
                    </a:solidFill>
                  </a:rPr>
                  <a:t>CL</a:t>
                </a:r>
              </a:p>
            </p:txBody>
          </p:sp>
        </p:grpSp>
        <p:sp>
          <p:nvSpPr>
            <p:cNvPr id="985" name="TextBox 984">
              <a:extLst>
                <a:ext uri="{FF2B5EF4-FFF2-40B4-BE49-F238E27FC236}">
                  <a16:creationId xmlns:a16="http://schemas.microsoft.com/office/drawing/2014/main" id="{A785CD27-4058-1766-01F6-5DBC125C7153}"/>
                </a:ext>
              </a:extLst>
            </p:cNvPr>
            <p:cNvSpPr txBox="1"/>
            <p:nvPr/>
          </p:nvSpPr>
          <p:spPr>
            <a:xfrm>
              <a:off x="4847434" y="4614067"/>
              <a:ext cx="1398988" cy="564257"/>
            </a:xfrm>
            <a:prstGeom prst="rect">
              <a:avLst/>
            </a:prstGeom>
            <a:noFill/>
          </p:spPr>
          <p:txBody>
            <a:bodyPr wrap="square" lIns="0" tIns="0" rIns="0" bIns="0" rtlCol="0">
              <a:spAutoFit/>
            </a:bodyPr>
            <a:lstStyle/>
            <a:p>
              <a:pPr algn="ctr">
                <a:lnSpc>
                  <a:spcPts val="2160"/>
                </a:lnSpc>
              </a:pPr>
              <a:r>
                <a:rPr lang="en-US" sz="2000" b="1" dirty="0"/>
                <a:t>Scenario 1</a:t>
              </a:r>
            </a:p>
            <a:p>
              <a:pPr algn="ctr">
                <a:lnSpc>
                  <a:spcPts val="2160"/>
                </a:lnSpc>
              </a:pPr>
              <a:r>
                <a:rPr lang="en-US" sz="2000" b="1" dirty="0"/>
                <a:t>(Easiest)</a:t>
              </a:r>
            </a:p>
          </p:txBody>
        </p:sp>
      </p:grpSp>
      <p:grpSp>
        <p:nvGrpSpPr>
          <p:cNvPr id="1004" name="Group 1003">
            <a:extLst>
              <a:ext uri="{FF2B5EF4-FFF2-40B4-BE49-F238E27FC236}">
                <a16:creationId xmlns:a16="http://schemas.microsoft.com/office/drawing/2014/main" id="{C7DCF15A-2AF7-53E2-14E2-1E816FE2F590}"/>
              </a:ext>
            </a:extLst>
          </p:cNvPr>
          <p:cNvGrpSpPr/>
          <p:nvPr/>
        </p:nvGrpSpPr>
        <p:grpSpPr>
          <a:xfrm>
            <a:off x="7994384" y="2255166"/>
            <a:ext cx="3460377" cy="2890087"/>
            <a:chOff x="8024126" y="2206475"/>
            <a:chExt cx="3605874" cy="2890087"/>
          </a:xfrm>
        </p:grpSpPr>
        <p:grpSp>
          <p:nvGrpSpPr>
            <p:cNvPr id="997" name="Group 996">
              <a:extLst>
                <a:ext uri="{FF2B5EF4-FFF2-40B4-BE49-F238E27FC236}">
                  <a16:creationId xmlns:a16="http://schemas.microsoft.com/office/drawing/2014/main" id="{B6A3B384-686F-9368-BFC0-1149203ED559}"/>
                </a:ext>
              </a:extLst>
            </p:cNvPr>
            <p:cNvGrpSpPr/>
            <p:nvPr/>
          </p:nvGrpSpPr>
          <p:grpSpPr>
            <a:xfrm>
              <a:off x="8024126" y="2206475"/>
              <a:ext cx="3605874" cy="2046276"/>
              <a:chOff x="7962414" y="2329991"/>
              <a:chExt cx="3605874" cy="2046276"/>
            </a:xfrm>
          </p:grpSpPr>
          <p:sp>
            <p:nvSpPr>
              <p:cNvPr id="63" name="Oval 62">
                <a:extLst>
                  <a:ext uri="{FF2B5EF4-FFF2-40B4-BE49-F238E27FC236}">
                    <a16:creationId xmlns:a16="http://schemas.microsoft.com/office/drawing/2014/main" id="{65777C82-61F8-C07D-9BE2-8F768CAFCA69}"/>
                  </a:ext>
                </a:extLst>
              </p:cNvPr>
              <p:cNvSpPr/>
              <p:nvPr/>
            </p:nvSpPr>
            <p:spPr>
              <a:xfrm>
                <a:off x="7962414" y="2810377"/>
                <a:ext cx="2532863" cy="1125511"/>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algn="ctr">
                  <a:spcBef>
                    <a:spcPts val="800"/>
                  </a:spcBef>
                </a:pPr>
                <a:endParaRPr lang="en-US" sz="2000" dirty="0"/>
              </a:p>
            </p:txBody>
          </p:sp>
          <p:sp>
            <p:nvSpPr>
              <p:cNvPr id="961" name="Oval 960">
                <a:extLst>
                  <a:ext uri="{FF2B5EF4-FFF2-40B4-BE49-F238E27FC236}">
                    <a16:creationId xmlns:a16="http://schemas.microsoft.com/office/drawing/2014/main" id="{965F9FF0-AAF4-B9D5-13E9-3D6B42A29EDC}"/>
                  </a:ext>
                </a:extLst>
              </p:cNvPr>
              <p:cNvSpPr/>
              <p:nvPr/>
            </p:nvSpPr>
            <p:spPr>
              <a:xfrm>
                <a:off x="10112359" y="2587266"/>
                <a:ext cx="782411" cy="745092"/>
              </a:xfrm>
              <a:prstGeom prst="ellipse">
                <a:avLst/>
              </a:prstGeom>
              <a:ln/>
            </p:spPr>
            <p:style>
              <a:lnRef idx="0">
                <a:schemeClr val="accent5"/>
              </a:lnRef>
              <a:fillRef idx="3">
                <a:schemeClr val="accent5"/>
              </a:fillRef>
              <a:effectRef idx="3">
                <a:schemeClr val="accent5"/>
              </a:effectRef>
              <a:fontRef idx="minor">
                <a:schemeClr val="lt1"/>
              </a:fontRef>
            </p:style>
            <p:txBody>
              <a:bodyPr lIns="108000" tIns="108000" rIns="108000" bIns="108000" rtlCol="0" anchor="t"/>
              <a:lstStyle/>
              <a:p>
                <a:pPr algn="l">
                  <a:spcBef>
                    <a:spcPts val="800"/>
                  </a:spcBef>
                </a:pPr>
                <a:r>
                  <a:rPr lang="en-US" sz="2000" dirty="0" err="1">
                    <a:solidFill>
                      <a:schemeClr val="bg1"/>
                    </a:solidFill>
                  </a:rPr>
                  <a:t>V</a:t>
                </a:r>
                <a:r>
                  <a:rPr lang="en-US" altLang="zh-CN" sz="2000" dirty="0" err="1">
                    <a:solidFill>
                      <a:schemeClr val="bg1"/>
                    </a:solidFill>
                  </a:rPr>
                  <a:t>c</a:t>
                </a:r>
                <a:endParaRPr lang="en-US" sz="2000" dirty="0">
                  <a:solidFill>
                    <a:schemeClr val="bg1"/>
                  </a:solidFill>
                </a:endParaRPr>
              </a:p>
            </p:txBody>
          </p:sp>
          <p:sp>
            <p:nvSpPr>
              <p:cNvPr id="962" name="Oval 961">
                <a:extLst>
                  <a:ext uri="{FF2B5EF4-FFF2-40B4-BE49-F238E27FC236}">
                    <a16:creationId xmlns:a16="http://schemas.microsoft.com/office/drawing/2014/main" id="{D667EF84-1742-9A18-7183-CB81FDB93A3A}"/>
                  </a:ext>
                </a:extLst>
              </p:cNvPr>
              <p:cNvSpPr/>
              <p:nvPr/>
            </p:nvSpPr>
            <p:spPr>
              <a:xfrm>
                <a:off x="10148742" y="3467454"/>
                <a:ext cx="887442" cy="745092"/>
              </a:xfrm>
              <a:prstGeom prst="ellipse">
                <a:avLst/>
              </a:prstGeom>
              <a:ln/>
            </p:spPr>
            <p:style>
              <a:lnRef idx="0">
                <a:schemeClr val="accent5"/>
              </a:lnRef>
              <a:fillRef idx="3">
                <a:schemeClr val="accent5"/>
              </a:fillRef>
              <a:effectRef idx="3">
                <a:schemeClr val="accent5"/>
              </a:effectRef>
              <a:fontRef idx="minor">
                <a:schemeClr val="lt1"/>
              </a:fontRef>
            </p:style>
            <p:txBody>
              <a:bodyPr lIns="108000" tIns="108000" rIns="108000" bIns="108000" rtlCol="0" anchor="t"/>
              <a:lstStyle/>
              <a:p>
                <a:pPr>
                  <a:spcBef>
                    <a:spcPts val="800"/>
                  </a:spcBef>
                </a:pPr>
                <a:r>
                  <a:rPr lang="en-US" sz="2000" dirty="0">
                    <a:solidFill>
                      <a:schemeClr val="bg1"/>
                    </a:solidFill>
                  </a:rPr>
                  <a:t>CL</a:t>
                </a:r>
              </a:p>
            </p:txBody>
          </p:sp>
          <p:sp>
            <p:nvSpPr>
              <p:cNvPr id="964" name="TextBox 963">
                <a:extLst>
                  <a:ext uri="{FF2B5EF4-FFF2-40B4-BE49-F238E27FC236}">
                    <a16:creationId xmlns:a16="http://schemas.microsoft.com/office/drawing/2014/main" id="{2F0D08A5-7D71-C694-634C-57080E1D8410}"/>
                  </a:ext>
                </a:extLst>
              </p:cNvPr>
              <p:cNvSpPr txBox="1"/>
              <p:nvPr/>
            </p:nvSpPr>
            <p:spPr>
              <a:xfrm>
                <a:off x="8051755" y="3166084"/>
                <a:ext cx="2532863" cy="400110"/>
              </a:xfrm>
              <a:prstGeom prst="rect">
                <a:avLst/>
              </a:prstGeom>
              <a:noFill/>
            </p:spPr>
            <p:txBody>
              <a:bodyPr wrap="square">
                <a:spAutoFit/>
              </a:bodyPr>
              <a:lstStyle/>
              <a:p>
                <a:pPr algn="ctr">
                  <a:spcBef>
                    <a:spcPts val="800"/>
                  </a:spcBef>
                </a:pPr>
                <a:r>
                  <a:rPr lang="en-US" sz="2000" dirty="0">
                    <a:solidFill>
                      <a:schemeClr val="bg1"/>
                    </a:solidFill>
                  </a:rPr>
                  <a:t>F</a:t>
                </a:r>
                <a:r>
                  <a:rPr lang="en-US" altLang="zh-CN" sz="2000" dirty="0">
                    <a:solidFill>
                      <a:schemeClr val="bg1"/>
                    </a:solidFill>
                  </a:rPr>
                  <a:t>ull Model</a:t>
                </a:r>
                <a:endParaRPr lang="en-US" sz="2000" dirty="0">
                  <a:solidFill>
                    <a:schemeClr val="bg1"/>
                  </a:solidFill>
                </a:endParaRPr>
              </a:p>
            </p:txBody>
          </p:sp>
          <p:sp>
            <p:nvSpPr>
              <p:cNvPr id="975" name="Rectangle: Rounded Corners 974">
                <a:extLst>
                  <a:ext uri="{FF2B5EF4-FFF2-40B4-BE49-F238E27FC236}">
                    <a16:creationId xmlns:a16="http://schemas.microsoft.com/office/drawing/2014/main" id="{81DF16EC-1619-A221-3B68-750ADCBB0EB5}"/>
                  </a:ext>
                </a:extLst>
              </p:cNvPr>
              <p:cNvSpPr/>
              <p:nvPr/>
            </p:nvSpPr>
            <p:spPr>
              <a:xfrm>
                <a:off x="9585521" y="2329991"/>
                <a:ext cx="680741" cy="484355"/>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algn="ctr">
                  <a:spcBef>
                    <a:spcPts val="800"/>
                  </a:spcBef>
                </a:pPr>
                <a:r>
                  <a:rPr lang="en-US" dirty="0" err="1"/>
                  <a:t>Wt</a:t>
                </a:r>
                <a:endParaRPr lang="en-US" dirty="0"/>
              </a:p>
            </p:txBody>
          </p:sp>
          <p:sp>
            <p:nvSpPr>
              <p:cNvPr id="977" name="Rectangle 976">
                <a:extLst>
                  <a:ext uri="{FF2B5EF4-FFF2-40B4-BE49-F238E27FC236}">
                    <a16:creationId xmlns:a16="http://schemas.microsoft.com/office/drawing/2014/main" id="{F0A9E853-F186-66B3-AF9E-EC8FE47F122F}"/>
                  </a:ext>
                </a:extLst>
              </p:cNvPr>
              <p:cNvSpPr/>
              <p:nvPr/>
            </p:nvSpPr>
            <p:spPr>
              <a:xfrm>
                <a:off x="10685629" y="2353291"/>
                <a:ext cx="679600" cy="443305"/>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algn="ctr">
                  <a:spcBef>
                    <a:spcPts val="800"/>
                  </a:spcBef>
                </a:pPr>
                <a:r>
                  <a:rPr lang="en-US" dirty="0"/>
                  <a:t>Sex</a:t>
                </a:r>
              </a:p>
              <a:p>
                <a:pPr algn="ctr">
                  <a:spcBef>
                    <a:spcPts val="800"/>
                  </a:spcBef>
                </a:pPr>
                <a:endParaRPr lang="en-US" dirty="0" err="1"/>
              </a:p>
            </p:txBody>
          </p:sp>
          <p:sp>
            <p:nvSpPr>
              <p:cNvPr id="981" name="Rectangle: Rounded Corners 980">
                <a:extLst>
                  <a:ext uri="{FF2B5EF4-FFF2-40B4-BE49-F238E27FC236}">
                    <a16:creationId xmlns:a16="http://schemas.microsoft.com/office/drawing/2014/main" id="{AC2AD735-689C-E6EE-0E5E-8F5056075B2D}"/>
                  </a:ext>
                </a:extLst>
              </p:cNvPr>
              <p:cNvSpPr/>
              <p:nvPr/>
            </p:nvSpPr>
            <p:spPr>
              <a:xfrm>
                <a:off x="9656374" y="3891912"/>
                <a:ext cx="679994" cy="484355"/>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algn="ctr">
                  <a:spcBef>
                    <a:spcPts val="800"/>
                  </a:spcBef>
                </a:pPr>
                <a:r>
                  <a:rPr lang="en-US" dirty="0" err="1"/>
                  <a:t>Wt</a:t>
                </a:r>
                <a:endParaRPr lang="en-US" dirty="0"/>
              </a:p>
            </p:txBody>
          </p:sp>
          <p:sp>
            <p:nvSpPr>
              <p:cNvPr id="983" name="Rectangle: Rounded Corners 982">
                <a:extLst>
                  <a:ext uri="{FF2B5EF4-FFF2-40B4-BE49-F238E27FC236}">
                    <a16:creationId xmlns:a16="http://schemas.microsoft.com/office/drawing/2014/main" id="{FC132E53-6FC3-748A-155D-7151BC6AF31C}"/>
                  </a:ext>
                </a:extLst>
              </p:cNvPr>
              <p:cNvSpPr/>
              <p:nvPr/>
            </p:nvSpPr>
            <p:spPr>
              <a:xfrm>
                <a:off x="10808288" y="3884339"/>
                <a:ext cx="760000" cy="484355"/>
              </a:xfrm>
              <a:prstGeom prst="roundRect">
                <a:avLst/>
              </a:prstGeom>
              <a:solidFill>
                <a:srgbClr val="048CFC"/>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algn="ctr">
                  <a:spcBef>
                    <a:spcPts val="800"/>
                  </a:spcBef>
                </a:pPr>
                <a:r>
                  <a:rPr lang="en-US" dirty="0"/>
                  <a:t>CrC</a:t>
                </a:r>
                <a:r>
                  <a:rPr lang="en-US" altLang="zh-CN" dirty="0"/>
                  <a:t>l</a:t>
                </a:r>
                <a:endParaRPr lang="en-US" dirty="0"/>
              </a:p>
            </p:txBody>
          </p:sp>
        </p:grpSp>
        <p:sp>
          <p:nvSpPr>
            <p:cNvPr id="996" name="TextBox 995">
              <a:extLst>
                <a:ext uri="{FF2B5EF4-FFF2-40B4-BE49-F238E27FC236}">
                  <a16:creationId xmlns:a16="http://schemas.microsoft.com/office/drawing/2014/main" id="{D3439EC4-A904-A559-77F0-FE5C0B346D05}"/>
                </a:ext>
              </a:extLst>
            </p:cNvPr>
            <p:cNvSpPr txBox="1"/>
            <p:nvPr/>
          </p:nvSpPr>
          <p:spPr>
            <a:xfrm>
              <a:off x="8555688" y="4532305"/>
              <a:ext cx="2090642" cy="564257"/>
            </a:xfrm>
            <a:prstGeom prst="rect">
              <a:avLst/>
            </a:prstGeom>
            <a:noFill/>
          </p:spPr>
          <p:txBody>
            <a:bodyPr wrap="square" lIns="0" tIns="0" rIns="0" bIns="0" rtlCol="0">
              <a:spAutoFit/>
            </a:bodyPr>
            <a:lstStyle/>
            <a:p>
              <a:pPr algn="ctr">
                <a:lnSpc>
                  <a:spcPts val="2160"/>
                </a:lnSpc>
              </a:pPr>
              <a:r>
                <a:rPr lang="en-US" sz="2000" b="1" dirty="0"/>
                <a:t>Scenario 16</a:t>
              </a:r>
            </a:p>
            <a:p>
              <a:pPr algn="ctr">
                <a:lnSpc>
                  <a:spcPts val="2160"/>
                </a:lnSpc>
              </a:pPr>
              <a:r>
                <a:rPr lang="en-US" sz="2000" b="1" dirty="0"/>
                <a:t>(Most complex)</a:t>
              </a:r>
            </a:p>
          </p:txBody>
        </p:sp>
      </p:grpSp>
      <p:grpSp>
        <p:nvGrpSpPr>
          <p:cNvPr id="1003" name="Group 1002">
            <a:extLst>
              <a:ext uri="{FF2B5EF4-FFF2-40B4-BE49-F238E27FC236}">
                <a16:creationId xmlns:a16="http://schemas.microsoft.com/office/drawing/2014/main" id="{3EE49DDF-409E-3206-DBDD-8CF5636E8A03}"/>
              </a:ext>
            </a:extLst>
          </p:cNvPr>
          <p:cNvGrpSpPr/>
          <p:nvPr/>
        </p:nvGrpSpPr>
        <p:grpSpPr>
          <a:xfrm>
            <a:off x="6693032" y="2926386"/>
            <a:ext cx="1384419" cy="2119206"/>
            <a:chOff x="6584678" y="2918053"/>
            <a:chExt cx="1678962" cy="2119206"/>
          </a:xfrm>
        </p:grpSpPr>
        <p:pic>
          <p:nvPicPr>
            <p:cNvPr id="999" name="Graphic 998" descr="Arrow Right with solid fill">
              <a:extLst>
                <a:ext uri="{FF2B5EF4-FFF2-40B4-BE49-F238E27FC236}">
                  <a16:creationId xmlns:a16="http://schemas.microsoft.com/office/drawing/2014/main" id="{4BD0DE86-9DD7-4112-81B5-B9E76CBBEA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49597" y="2918053"/>
              <a:ext cx="761456" cy="761456"/>
            </a:xfrm>
            <a:prstGeom prst="rect">
              <a:avLst/>
            </a:prstGeom>
          </p:spPr>
        </p:pic>
        <p:sp>
          <p:nvSpPr>
            <p:cNvPr id="1001" name="TextBox 1000">
              <a:extLst>
                <a:ext uri="{FF2B5EF4-FFF2-40B4-BE49-F238E27FC236}">
                  <a16:creationId xmlns:a16="http://schemas.microsoft.com/office/drawing/2014/main" id="{DBCCC858-4E46-FA3F-1EF8-D24949068B10}"/>
                </a:ext>
              </a:extLst>
            </p:cNvPr>
            <p:cNvSpPr txBox="1"/>
            <p:nvPr/>
          </p:nvSpPr>
          <p:spPr>
            <a:xfrm>
              <a:off x="6584678" y="4755130"/>
              <a:ext cx="1678962" cy="282129"/>
            </a:xfrm>
            <a:prstGeom prst="rect">
              <a:avLst/>
            </a:prstGeom>
            <a:noFill/>
          </p:spPr>
          <p:txBody>
            <a:bodyPr wrap="square" lIns="0" tIns="0" rIns="0" bIns="0" rtlCol="0">
              <a:spAutoFit/>
            </a:bodyPr>
            <a:lstStyle/>
            <a:p>
              <a:pPr algn="ctr">
                <a:lnSpc>
                  <a:spcPts val="2160"/>
                </a:lnSpc>
              </a:pPr>
              <a:r>
                <a:rPr lang="en-US" sz="2000" b="1" dirty="0"/>
                <a:t>Sc</a:t>
              </a:r>
              <a:r>
                <a:rPr lang="en-US" altLang="zh-CN" sz="2000" b="1" dirty="0"/>
                <a:t>n</a:t>
              </a:r>
              <a:r>
                <a:rPr lang="en-US" sz="2000" b="1" dirty="0"/>
                <a:t>2-15</a:t>
              </a:r>
            </a:p>
          </p:txBody>
        </p:sp>
      </p:grpSp>
      <p:sp>
        <p:nvSpPr>
          <p:cNvPr id="1006" name="TextBox 1005">
            <a:extLst>
              <a:ext uri="{FF2B5EF4-FFF2-40B4-BE49-F238E27FC236}">
                <a16:creationId xmlns:a16="http://schemas.microsoft.com/office/drawing/2014/main" id="{84FA3864-7BDB-3713-E1F3-0B604885CA85}"/>
              </a:ext>
            </a:extLst>
          </p:cNvPr>
          <p:cNvSpPr txBox="1"/>
          <p:nvPr/>
        </p:nvSpPr>
        <p:spPr>
          <a:xfrm>
            <a:off x="485792" y="5613651"/>
            <a:ext cx="3318451" cy="369332"/>
          </a:xfrm>
          <a:prstGeom prst="rect">
            <a:avLst/>
          </a:prstGeom>
          <a:noFill/>
        </p:spPr>
        <p:txBody>
          <a:bodyPr wrap="square">
            <a:spAutoFit/>
          </a:bodyPr>
          <a:lstStyle/>
          <a:p>
            <a:pPr algn="ctr"/>
            <a:r>
              <a:rPr lang="en-US" sz="1800" dirty="0">
                <a:solidFill>
                  <a:schemeClr val="bg1">
                    <a:lumMod val="10000"/>
                  </a:schemeClr>
                </a:solidFill>
              </a:rPr>
              <a:t>(16 combinations in total)</a:t>
            </a:r>
          </a:p>
        </p:txBody>
      </p:sp>
      <p:pic>
        <p:nvPicPr>
          <p:cNvPr id="1008" name="Graphic 1007" descr="Add with solid fill">
            <a:extLst>
              <a:ext uri="{FF2B5EF4-FFF2-40B4-BE49-F238E27FC236}">
                <a16:creationId xmlns:a16="http://schemas.microsoft.com/office/drawing/2014/main" id="{3F1748DC-4F11-E10E-4FCB-300F6594C5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700000">
            <a:off x="3580190" y="3002090"/>
            <a:ext cx="633284" cy="633284"/>
          </a:xfrm>
          <a:prstGeom prst="rect">
            <a:avLst/>
          </a:prstGeom>
        </p:spPr>
      </p:pic>
      <p:sp>
        <p:nvSpPr>
          <p:cNvPr id="6" name="TextBox 5">
            <a:extLst>
              <a:ext uri="{FF2B5EF4-FFF2-40B4-BE49-F238E27FC236}">
                <a16:creationId xmlns:a16="http://schemas.microsoft.com/office/drawing/2014/main" id="{0366A75E-C40B-F716-DE37-F8B1CD67BEF0}"/>
              </a:ext>
            </a:extLst>
          </p:cNvPr>
          <p:cNvSpPr txBox="1"/>
          <p:nvPr/>
        </p:nvSpPr>
        <p:spPr>
          <a:xfrm>
            <a:off x="7827990" y="6380645"/>
            <a:ext cx="3472017" cy="253916"/>
          </a:xfrm>
          <a:prstGeom prst="rect">
            <a:avLst/>
          </a:prstGeom>
          <a:noFill/>
        </p:spPr>
        <p:txBody>
          <a:bodyPr wrap="square">
            <a:spAutoFit/>
          </a:bodyPr>
          <a:lstStyle/>
          <a:p>
            <a:r>
              <a:rPr lang="en-US" sz="1050" b="0" dirty="0">
                <a:solidFill>
                  <a:schemeClr val="bg1">
                    <a:lumMod val="25000"/>
                  </a:schemeClr>
                </a:solidFill>
              </a:rPr>
              <a:t>J </a:t>
            </a:r>
            <a:r>
              <a:rPr lang="en-US" sz="1050" b="0" dirty="0" err="1">
                <a:solidFill>
                  <a:schemeClr val="bg1">
                    <a:lumMod val="25000"/>
                  </a:schemeClr>
                </a:solidFill>
              </a:rPr>
              <a:t>Pharmacokinet</a:t>
            </a:r>
            <a:r>
              <a:rPr lang="en-US" sz="1050" b="0" dirty="0">
                <a:solidFill>
                  <a:schemeClr val="bg1">
                    <a:lumMod val="25000"/>
                  </a:schemeClr>
                </a:solidFill>
              </a:rPr>
              <a:t> </a:t>
            </a:r>
            <a:r>
              <a:rPr lang="en-US" sz="1050" b="0" dirty="0" err="1">
                <a:solidFill>
                  <a:schemeClr val="bg1">
                    <a:lumMod val="25000"/>
                  </a:schemeClr>
                </a:solidFill>
              </a:rPr>
              <a:t>Pharmacodyn</a:t>
            </a:r>
            <a:r>
              <a:rPr lang="en-US" sz="1050" b="0" dirty="0">
                <a:solidFill>
                  <a:schemeClr val="bg1">
                    <a:lumMod val="25000"/>
                  </a:schemeClr>
                </a:solidFill>
              </a:rPr>
              <a:t>. 2019;46(3):273-285. </a:t>
            </a:r>
            <a:endParaRPr lang="en-US" sz="1200" dirty="0">
              <a:solidFill>
                <a:schemeClr val="bg1">
                  <a:lumMod val="2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320438" y="258497"/>
            <a:ext cx="11064240" cy="387798"/>
          </a:xfrm>
        </p:spPr>
        <p:txBody>
          <a:bodyPr/>
          <a:lstStyle/>
          <a:p>
            <a:pPr algn="l">
              <a:buNone/>
            </a:pPr>
            <a:r>
              <a:rPr lang="en-US" sz="2800" dirty="0">
                <a:solidFill>
                  <a:srgbClr val="0460A9"/>
                </a:solidFill>
                <a:latin typeface="Arial"/>
                <a:cs typeface="Arial"/>
              </a:rPr>
              <a:t>Set up three workflows for benchmarking </a:t>
            </a:r>
            <a:endParaRPr lang="en-US" sz="2800" b="1" dirty="0">
              <a:solidFill>
                <a:srgbClr val="0460A9"/>
              </a:solidFill>
              <a:latin typeface="Arial"/>
              <a:cs typeface="Arial"/>
            </a:endParaRPr>
          </a:p>
        </p:txBody>
      </p:sp>
      <p:sp>
        <p:nvSpPr>
          <p:cNvPr id="3" name="Content Placeholder 2"/>
          <p:cNvSpPr>
            <a:spLocks noGrp="1"/>
          </p:cNvSpPr>
          <p:nvPr>
            <p:ph/>
          </p:nvPr>
        </p:nvSpPr>
        <p:spPr>
          <a:xfrm>
            <a:off x="566928" y="1188720"/>
            <a:ext cx="3108960" cy="64008"/>
          </a:xfrm>
        </p:spPr>
        <p:txBody>
          <a:bodyPr/>
          <a:lstStyle/>
          <a:p>
            <a:pPr marL="0" marR="0" algn="l">
              <a:lnSpc>
                <a:spcPct val="100000"/>
              </a:lnSpc>
              <a:spcBef>
                <a:spcPts val="0"/>
              </a:spcBef>
              <a:spcAft>
                <a:spcPts val="0"/>
              </a:spcAft>
              <a:buNone/>
            </a:pPr>
            <a:r>
              <a:rPr sz="200" b="0" i="0" u="none" strike="noStrike" cap="none">
                <a:solidFill>
                  <a:srgbClr val="000000">
                    <a:alpha val="100000"/>
                  </a:srgbClr>
                </a:solidFill>
                <a:latin typeface="Arial"/>
                <a:cs typeface="Arial"/>
                <a:sym typeface="Arial"/>
              </a:rPr>
              <a:t> </a:t>
            </a:r>
          </a:p>
        </p:txBody>
      </p:sp>
      <p:graphicFrame>
        <p:nvGraphicFramePr>
          <p:cNvPr id="7" name="Table 6">
            <a:extLst>
              <a:ext uri="{FF2B5EF4-FFF2-40B4-BE49-F238E27FC236}">
                <a16:creationId xmlns:a16="http://schemas.microsoft.com/office/drawing/2014/main" id="{721221B6-ABC3-ADC3-025F-87CC84732677}"/>
              </a:ext>
            </a:extLst>
          </p:cNvPr>
          <p:cNvGraphicFramePr>
            <a:graphicFrameLocks noGrp="1"/>
          </p:cNvGraphicFramePr>
          <p:nvPr>
            <p:extLst>
              <p:ext uri="{D42A27DB-BD31-4B8C-83A1-F6EECF244321}">
                <p14:modId xmlns:p14="http://schemas.microsoft.com/office/powerpoint/2010/main" val="3892540789"/>
              </p:ext>
            </p:extLst>
          </p:nvPr>
        </p:nvGraphicFramePr>
        <p:xfrm>
          <a:off x="1247596" y="1252728"/>
          <a:ext cx="9523392" cy="4384348"/>
        </p:xfrm>
        <a:graphic>
          <a:graphicData uri="http://schemas.openxmlformats.org/drawingml/2006/table">
            <a:tbl>
              <a:tblPr firstRow="1" bandRow="1">
                <a:tableStyleId>{D27102A9-8310-4765-A935-A1911B00CA55}</a:tableStyleId>
              </a:tblPr>
              <a:tblGrid>
                <a:gridCol w="2380848">
                  <a:extLst>
                    <a:ext uri="{9D8B030D-6E8A-4147-A177-3AD203B41FA5}">
                      <a16:colId xmlns:a16="http://schemas.microsoft.com/office/drawing/2014/main" val="3768908098"/>
                    </a:ext>
                  </a:extLst>
                </a:gridCol>
                <a:gridCol w="2380848">
                  <a:extLst>
                    <a:ext uri="{9D8B030D-6E8A-4147-A177-3AD203B41FA5}">
                      <a16:colId xmlns:a16="http://schemas.microsoft.com/office/drawing/2014/main" val="1444247574"/>
                    </a:ext>
                  </a:extLst>
                </a:gridCol>
                <a:gridCol w="2380848">
                  <a:extLst>
                    <a:ext uri="{9D8B030D-6E8A-4147-A177-3AD203B41FA5}">
                      <a16:colId xmlns:a16="http://schemas.microsoft.com/office/drawing/2014/main" val="3505329722"/>
                    </a:ext>
                  </a:extLst>
                </a:gridCol>
                <a:gridCol w="2380848">
                  <a:extLst>
                    <a:ext uri="{9D8B030D-6E8A-4147-A177-3AD203B41FA5}">
                      <a16:colId xmlns:a16="http://schemas.microsoft.com/office/drawing/2014/main" val="1557763212"/>
                    </a:ext>
                  </a:extLst>
                </a:gridCol>
              </a:tblGrid>
              <a:tr h="392352">
                <a:tc>
                  <a:txBody>
                    <a:bodyPr/>
                    <a:lstStyle/>
                    <a:p>
                      <a:endParaRPr lang="en-US" dirty="0">
                        <a:solidFill>
                          <a:schemeClr val="bg1">
                            <a:lumMod val="10000"/>
                          </a:schemeClr>
                        </a:solidFill>
                      </a:endParaRPr>
                    </a:p>
                  </a:txBody>
                  <a:tcPr/>
                </a:tc>
                <a:tc>
                  <a:txBody>
                    <a:bodyPr/>
                    <a:lstStyle/>
                    <a:p>
                      <a:r>
                        <a:rPr lang="en-US" dirty="0">
                          <a:solidFill>
                            <a:schemeClr val="bg1">
                              <a:lumMod val="10000"/>
                            </a:schemeClr>
                          </a:solidFill>
                        </a:rPr>
                        <a:t>Nlmixr2-SCM</a:t>
                      </a:r>
                    </a:p>
                  </a:txBody>
                  <a:tcPr/>
                </a:tc>
                <a:tc>
                  <a:txBody>
                    <a:bodyPr/>
                    <a:lstStyle/>
                    <a:p>
                      <a:r>
                        <a:rPr lang="en-US" dirty="0" err="1">
                          <a:solidFill>
                            <a:schemeClr val="bg1">
                              <a:lumMod val="10000"/>
                            </a:schemeClr>
                          </a:solidFill>
                        </a:rPr>
                        <a:t>PsN</a:t>
                      </a:r>
                      <a:r>
                        <a:rPr lang="en-US" dirty="0">
                          <a:solidFill>
                            <a:schemeClr val="bg1">
                              <a:lumMod val="10000"/>
                            </a:schemeClr>
                          </a:solidFill>
                        </a:rPr>
                        <a:t>-SCM</a:t>
                      </a:r>
                    </a:p>
                  </a:txBody>
                  <a:tcPr/>
                </a:tc>
                <a:tc>
                  <a:txBody>
                    <a:bodyPr/>
                    <a:lstStyle/>
                    <a:p>
                      <a:r>
                        <a:rPr lang="en-US" dirty="0">
                          <a:solidFill>
                            <a:schemeClr val="bg1">
                              <a:lumMod val="10000"/>
                            </a:schemeClr>
                          </a:solidFill>
                        </a:rPr>
                        <a:t>Nlmixr2-VAE</a:t>
                      </a:r>
                    </a:p>
                  </a:txBody>
                  <a:tcPr/>
                </a:tc>
                <a:extLst>
                  <a:ext uri="{0D108BD9-81ED-4DB2-BD59-A6C34878D82A}">
                    <a16:rowId xmlns:a16="http://schemas.microsoft.com/office/drawing/2014/main" val="1806088623"/>
                  </a:ext>
                </a:extLst>
              </a:tr>
              <a:tr h="686615">
                <a:tc>
                  <a:txBody>
                    <a:bodyPr/>
                    <a:lstStyle/>
                    <a:p>
                      <a:r>
                        <a:rPr lang="en-US" b="1" dirty="0">
                          <a:solidFill>
                            <a:schemeClr val="bg1">
                              <a:lumMod val="10000"/>
                            </a:schemeClr>
                          </a:solidFill>
                        </a:rPr>
                        <a:t>Model type</a:t>
                      </a:r>
                    </a:p>
                  </a:txBody>
                  <a:tcPr/>
                </a:tc>
                <a:tc>
                  <a:txBody>
                    <a:bodyPr/>
                    <a:lstStyle/>
                    <a:p>
                      <a:r>
                        <a:rPr lang="en-US" dirty="0" err="1">
                          <a:solidFill>
                            <a:schemeClr val="bg1">
                              <a:lumMod val="10000"/>
                            </a:schemeClr>
                          </a:solidFill>
                        </a:rPr>
                        <a:t>lincmt</a:t>
                      </a:r>
                      <a:r>
                        <a:rPr lang="en-US" dirty="0">
                          <a:solidFill>
                            <a:schemeClr val="bg1">
                              <a:lumMod val="10000"/>
                            </a:schemeClr>
                          </a:solidFill>
                        </a:rPr>
                        <a:t> (analytic)</a:t>
                      </a:r>
                    </a:p>
                    <a:p>
                      <a:r>
                        <a:rPr lang="en-US" dirty="0">
                          <a:solidFill>
                            <a:schemeClr val="bg1">
                              <a:lumMod val="10000"/>
                            </a:schemeClr>
                          </a:solidFill>
                        </a:rPr>
                        <a:t>ODE</a:t>
                      </a:r>
                    </a:p>
                  </a:txBody>
                  <a:tcPr/>
                </a:tc>
                <a:tc>
                  <a:txBody>
                    <a:bodyPr/>
                    <a:lstStyle/>
                    <a:p>
                      <a:r>
                        <a:rPr lang="en-US" dirty="0">
                          <a:solidFill>
                            <a:schemeClr val="bg1">
                              <a:lumMod val="10000"/>
                            </a:schemeClr>
                          </a:solidFill>
                        </a:rPr>
                        <a:t>ADVAN4 (analytic)</a:t>
                      </a:r>
                    </a:p>
                    <a:p>
                      <a:r>
                        <a:rPr lang="en-US" dirty="0">
                          <a:solidFill>
                            <a:schemeClr val="bg1">
                              <a:lumMod val="10000"/>
                            </a:schemeClr>
                          </a:solidFill>
                        </a:rPr>
                        <a:t>ADVAN13 (ODE)</a:t>
                      </a:r>
                    </a:p>
                  </a:txBody>
                  <a:tcPr/>
                </a:tc>
                <a:tc>
                  <a:txBody>
                    <a:bodyPr/>
                    <a:lstStyle/>
                    <a:p>
                      <a:r>
                        <a:rPr lang="en-US" dirty="0" err="1">
                          <a:solidFill>
                            <a:schemeClr val="bg1">
                              <a:lumMod val="10000"/>
                            </a:schemeClr>
                          </a:solidFill>
                        </a:rPr>
                        <a:t>lincmt</a:t>
                      </a:r>
                      <a:r>
                        <a:rPr lang="en-US" dirty="0">
                          <a:solidFill>
                            <a:schemeClr val="bg1">
                              <a:lumMod val="10000"/>
                            </a:schemeClr>
                          </a:solidFill>
                        </a:rPr>
                        <a:t> (analytic)</a:t>
                      </a:r>
                    </a:p>
                    <a:p>
                      <a:r>
                        <a:rPr lang="en-US" dirty="0">
                          <a:solidFill>
                            <a:schemeClr val="bg1">
                              <a:lumMod val="10000"/>
                            </a:schemeClr>
                          </a:solidFill>
                        </a:rPr>
                        <a:t>ODE</a:t>
                      </a:r>
                    </a:p>
                  </a:txBody>
                  <a:tcPr/>
                </a:tc>
                <a:extLst>
                  <a:ext uri="{0D108BD9-81ED-4DB2-BD59-A6C34878D82A}">
                    <a16:rowId xmlns:a16="http://schemas.microsoft.com/office/drawing/2014/main" val="1752037938"/>
                  </a:ext>
                </a:extLst>
              </a:tr>
              <a:tr h="392352">
                <a:tc>
                  <a:txBody>
                    <a:bodyPr/>
                    <a:lstStyle/>
                    <a:p>
                      <a:r>
                        <a:rPr lang="en-US" b="1" dirty="0">
                          <a:solidFill>
                            <a:schemeClr val="bg1">
                              <a:lumMod val="10000"/>
                            </a:schemeClr>
                          </a:solidFill>
                        </a:rPr>
                        <a:t>Estimator</a:t>
                      </a:r>
                    </a:p>
                  </a:txBody>
                  <a:tcPr/>
                </a:tc>
                <a:tc>
                  <a:txBody>
                    <a:bodyPr/>
                    <a:lstStyle/>
                    <a:p>
                      <a:r>
                        <a:rPr lang="en-US" dirty="0">
                          <a:solidFill>
                            <a:schemeClr val="bg1">
                              <a:lumMod val="10000"/>
                            </a:schemeClr>
                          </a:solidFill>
                        </a:rPr>
                        <a:t>FOCEI</a:t>
                      </a:r>
                    </a:p>
                  </a:txBody>
                  <a:tcPr/>
                </a:tc>
                <a:tc>
                  <a:txBody>
                    <a:bodyPr/>
                    <a:lstStyle/>
                    <a:p>
                      <a:r>
                        <a:rPr lang="en-US" dirty="0">
                          <a:solidFill>
                            <a:schemeClr val="bg1">
                              <a:lumMod val="10000"/>
                            </a:schemeClr>
                          </a:solidFill>
                        </a:rPr>
                        <a:t>FOCEI</a:t>
                      </a:r>
                    </a:p>
                  </a:txBody>
                  <a:tcPr/>
                </a:tc>
                <a:tc>
                  <a:txBody>
                    <a:bodyPr/>
                    <a:lstStyle/>
                    <a:p>
                      <a:r>
                        <a:rPr lang="en-US" dirty="0">
                          <a:solidFill>
                            <a:schemeClr val="bg1">
                              <a:lumMod val="10000"/>
                            </a:schemeClr>
                          </a:solidFill>
                        </a:rPr>
                        <a:t>VAE</a:t>
                      </a:r>
                    </a:p>
                  </a:txBody>
                  <a:tcPr/>
                </a:tc>
                <a:extLst>
                  <a:ext uri="{0D108BD9-81ED-4DB2-BD59-A6C34878D82A}">
                    <a16:rowId xmlns:a16="http://schemas.microsoft.com/office/drawing/2014/main" val="3697346027"/>
                  </a:ext>
                </a:extLst>
              </a:tr>
              <a:tr h="948680">
                <a:tc>
                  <a:txBody>
                    <a:bodyPr/>
                    <a:lstStyle/>
                    <a:p>
                      <a:r>
                        <a:rPr lang="en-US" b="1" dirty="0">
                          <a:solidFill>
                            <a:schemeClr val="bg1">
                              <a:lumMod val="10000"/>
                            </a:schemeClr>
                          </a:solidFill>
                        </a:rPr>
                        <a:t>Convergence-related settings</a:t>
                      </a:r>
                    </a:p>
                  </a:txBody>
                  <a:tcPr/>
                </a:tc>
                <a:tc>
                  <a:txBody>
                    <a:bodyPr/>
                    <a:lstStyle/>
                    <a:p>
                      <a:r>
                        <a:rPr lang="en-US" dirty="0" err="1">
                          <a:solidFill>
                            <a:schemeClr val="bg1">
                              <a:lumMod val="10000"/>
                            </a:schemeClr>
                          </a:solidFill>
                        </a:rPr>
                        <a:t>Sigdig</a:t>
                      </a:r>
                      <a:r>
                        <a:rPr lang="en-US" dirty="0">
                          <a:solidFill>
                            <a:schemeClr val="bg1">
                              <a:lumMod val="10000"/>
                            </a:schemeClr>
                          </a:solidFill>
                        </a:rPr>
                        <a:t> =4</a:t>
                      </a:r>
                    </a:p>
                    <a:p>
                      <a:r>
                        <a:rPr lang="en-US" dirty="0">
                          <a:solidFill>
                            <a:schemeClr val="bg1">
                              <a:lumMod val="10000"/>
                            </a:schemeClr>
                          </a:solidFill>
                        </a:rPr>
                        <a:t>Tol=1e-6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lumMod val="10000"/>
                            </a:schemeClr>
                          </a:solidFill>
                        </a:rPr>
                        <a:t>Atol=1e-8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bg1">
                              <a:lumMod val="10000"/>
                            </a:schemeClr>
                          </a:solidFill>
                        </a:rPr>
                        <a:t>Sigdig</a:t>
                      </a:r>
                      <a:r>
                        <a:rPr lang="en-US" dirty="0">
                          <a:solidFill>
                            <a:schemeClr val="bg1">
                              <a:lumMod val="10000"/>
                            </a:schemeClr>
                          </a:solidFill>
                        </a:rPr>
                        <a:t>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lumMod val="10000"/>
                            </a:schemeClr>
                          </a:solidFill>
                        </a:rPr>
                        <a:t>Tol=1e-6</a:t>
                      </a:r>
                    </a:p>
                    <a:p>
                      <a:r>
                        <a:rPr lang="en-US" dirty="0">
                          <a:solidFill>
                            <a:schemeClr val="bg1">
                              <a:lumMod val="10000"/>
                            </a:schemeClr>
                          </a:solidFill>
                        </a:rPr>
                        <a:t>Atol=1e-8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bg1">
                              <a:lumMod val="10000"/>
                            </a:schemeClr>
                          </a:solidFill>
                        </a:rPr>
                        <a:t>Sigdig</a:t>
                      </a:r>
                      <a:r>
                        <a:rPr lang="en-US" dirty="0">
                          <a:solidFill>
                            <a:schemeClr val="bg1">
                              <a:lumMod val="10000"/>
                            </a:schemeClr>
                          </a:solidFill>
                        </a:rPr>
                        <a:t>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lumMod val="10000"/>
                            </a:schemeClr>
                          </a:solidFill>
                        </a:rPr>
                        <a:t>Tol=1e-6</a:t>
                      </a:r>
                    </a:p>
                    <a:p>
                      <a:r>
                        <a:rPr lang="en-US" dirty="0">
                          <a:solidFill>
                            <a:schemeClr val="bg1">
                              <a:lumMod val="10000"/>
                            </a:schemeClr>
                          </a:solidFill>
                        </a:rPr>
                        <a:t>Atol=1e-8</a:t>
                      </a:r>
                    </a:p>
                  </a:txBody>
                  <a:tcPr/>
                </a:tc>
                <a:extLst>
                  <a:ext uri="{0D108BD9-81ED-4DB2-BD59-A6C34878D82A}">
                    <a16:rowId xmlns:a16="http://schemas.microsoft.com/office/drawing/2014/main" val="98446076"/>
                  </a:ext>
                </a:extLst>
              </a:tr>
              <a:tr h="686615">
                <a:tc>
                  <a:txBody>
                    <a:bodyPr/>
                    <a:lstStyle/>
                    <a:p>
                      <a:r>
                        <a:rPr lang="en-US" b="1" dirty="0">
                          <a:solidFill>
                            <a:schemeClr val="bg1">
                              <a:lumMod val="10000"/>
                            </a:schemeClr>
                          </a:solidFill>
                        </a:rPr>
                        <a:t>LRT criteria </a:t>
                      </a:r>
                    </a:p>
                  </a:txBody>
                  <a:tcPr/>
                </a:tc>
                <a:tc>
                  <a:txBody>
                    <a:bodyPr/>
                    <a:lstStyle/>
                    <a:p>
                      <a:r>
                        <a:rPr lang="en-US" sz="1800" b="0" u="none" strike="noStrike" cap="none" dirty="0">
                          <a:solidFill>
                            <a:schemeClr val="bg1">
                              <a:lumMod val="10000"/>
                            </a:schemeClr>
                          </a:solidFill>
                          <a:sym typeface="Arial"/>
                        </a:rPr>
                        <a:t>Forward p&lt;0.05 / Backward p&lt;0.01</a:t>
                      </a:r>
                      <a:endParaRPr lang="en-US" dirty="0">
                        <a:solidFill>
                          <a:schemeClr val="bg1">
                            <a:lumMod val="10000"/>
                          </a:schemeClr>
                        </a:solidFill>
                      </a:endParaRPr>
                    </a:p>
                  </a:txBody>
                  <a:tcPr/>
                </a:tc>
                <a:tc>
                  <a:txBody>
                    <a:bodyPr/>
                    <a:lstStyle/>
                    <a:p>
                      <a:r>
                        <a:rPr lang="en-US" sz="1800" b="0" u="none" strike="noStrike" cap="none" dirty="0">
                          <a:solidFill>
                            <a:schemeClr val="bg1">
                              <a:lumMod val="10000"/>
                            </a:schemeClr>
                          </a:solidFill>
                          <a:sym typeface="Arial"/>
                        </a:rPr>
                        <a:t>Forward p&lt;0.05/ Backward p&lt;0.01</a:t>
                      </a:r>
                      <a:endParaRPr lang="en-US" dirty="0">
                        <a:solidFill>
                          <a:schemeClr val="bg1">
                            <a:lumMod val="10000"/>
                          </a:schemeClr>
                        </a:solidFill>
                      </a:endParaRPr>
                    </a:p>
                  </a:txBody>
                  <a:tcPr/>
                </a:tc>
                <a:tc>
                  <a:txBody>
                    <a:bodyPr/>
                    <a:lstStyle/>
                    <a:p>
                      <a:r>
                        <a:rPr lang="en-US" dirty="0">
                          <a:solidFill>
                            <a:schemeClr val="bg1">
                              <a:lumMod val="10000"/>
                            </a:schemeClr>
                          </a:solidFill>
                        </a:rPr>
                        <a:t>N.A.</a:t>
                      </a:r>
                    </a:p>
                  </a:txBody>
                  <a:tcPr/>
                </a:tc>
                <a:extLst>
                  <a:ext uri="{0D108BD9-81ED-4DB2-BD59-A6C34878D82A}">
                    <a16:rowId xmlns:a16="http://schemas.microsoft.com/office/drawing/2014/main" val="620110273"/>
                  </a:ext>
                </a:extLst>
              </a:tr>
              <a:tr h="392352">
                <a:tc>
                  <a:txBody>
                    <a:bodyPr/>
                    <a:lstStyle/>
                    <a:p>
                      <a:r>
                        <a:rPr lang="en-US" b="1" dirty="0">
                          <a:solidFill>
                            <a:schemeClr val="bg1">
                              <a:lumMod val="10000"/>
                            </a:schemeClr>
                          </a:solidFill>
                        </a:rPr>
                        <a:t>Warm Start </a:t>
                      </a:r>
                    </a:p>
                  </a:txBody>
                  <a:tcPr/>
                </a:tc>
                <a:tc>
                  <a:txBody>
                    <a:bodyPr/>
                    <a:lstStyle/>
                    <a:p>
                      <a:r>
                        <a:rPr lang="en-US" dirty="0">
                          <a:solidFill>
                            <a:schemeClr val="bg1">
                              <a:lumMod val="10000"/>
                            </a:schemeClr>
                          </a:solidFill>
                        </a:rPr>
                        <a:t>Yes</a:t>
                      </a:r>
                    </a:p>
                  </a:txBody>
                  <a:tcPr/>
                </a:tc>
                <a:tc>
                  <a:txBody>
                    <a:bodyPr/>
                    <a:lstStyle/>
                    <a:p>
                      <a:r>
                        <a:rPr lang="en-US" dirty="0">
                          <a:solidFill>
                            <a:schemeClr val="bg1">
                              <a:lumMod val="10000"/>
                            </a:schemeClr>
                          </a:solidFill>
                        </a:rPr>
                        <a:t>N.A.</a:t>
                      </a:r>
                    </a:p>
                  </a:txBody>
                  <a:tcPr/>
                </a:tc>
                <a:tc>
                  <a:txBody>
                    <a:bodyPr/>
                    <a:lstStyle/>
                    <a:p>
                      <a:r>
                        <a:rPr lang="en-US" dirty="0">
                          <a:solidFill>
                            <a:schemeClr val="bg1">
                              <a:lumMod val="10000"/>
                            </a:schemeClr>
                          </a:solidFill>
                        </a:rPr>
                        <a:t>N.A.</a:t>
                      </a:r>
                    </a:p>
                  </a:txBody>
                  <a:tcPr/>
                </a:tc>
                <a:extLst>
                  <a:ext uri="{0D108BD9-81ED-4DB2-BD59-A6C34878D82A}">
                    <a16:rowId xmlns:a16="http://schemas.microsoft.com/office/drawing/2014/main" val="2459237394"/>
                  </a:ext>
                </a:extLst>
              </a:tr>
              <a:tr h="885382">
                <a:tc>
                  <a:txBody>
                    <a:bodyPr/>
                    <a:lstStyle/>
                    <a:p>
                      <a:r>
                        <a:rPr lang="en-US" b="1" dirty="0">
                          <a:solidFill>
                            <a:schemeClr val="bg1">
                              <a:lumMod val="10000"/>
                            </a:schemeClr>
                          </a:solidFill>
                        </a:rPr>
                        <a:t>Parallelism </a:t>
                      </a:r>
                    </a:p>
                  </a:txBody>
                  <a:tcPr/>
                </a:tc>
                <a:tc>
                  <a:txBody>
                    <a:bodyPr/>
                    <a:lstStyle/>
                    <a:p>
                      <a:endParaRPr lang="en-US" dirty="0">
                        <a:solidFill>
                          <a:schemeClr val="bg1">
                            <a:lumMod val="10000"/>
                          </a:schemeClr>
                        </a:solidFill>
                      </a:endParaRPr>
                    </a:p>
                    <a:p>
                      <a:pPr algn="ctr"/>
                      <a:r>
                        <a:rPr lang="en-US" dirty="0">
                          <a:solidFill>
                            <a:schemeClr val="bg1">
                              <a:lumMod val="10000"/>
                            </a:schemeClr>
                          </a:solidFill>
                        </a:rPr>
                        <a:t>HPCE/CPU core = 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bg1">
                            <a:lumMod val="10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lumMod val="10000"/>
                            </a:schemeClr>
                          </a:solidFill>
                        </a:rPr>
                        <a:t>HPCE/CPU core = 4</a:t>
                      </a:r>
                    </a:p>
                  </a:txBody>
                  <a:tcPr/>
                </a:tc>
                <a:tc>
                  <a:txBody>
                    <a:bodyPr/>
                    <a:lstStyle/>
                    <a:p>
                      <a:endParaRPr lang="en-US" dirty="0">
                        <a:solidFill>
                          <a:schemeClr val="bg1">
                            <a:lumMod val="10000"/>
                          </a:schemeClr>
                        </a:solidFill>
                      </a:endParaRPr>
                    </a:p>
                    <a:p>
                      <a:r>
                        <a:rPr lang="en-US" dirty="0">
                          <a:solidFill>
                            <a:schemeClr val="bg1">
                              <a:lumMod val="10000"/>
                            </a:schemeClr>
                          </a:solidFill>
                        </a:rPr>
                        <a:t>HPCE/CPU core = 4</a:t>
                      </a:r>
                    </a:p>
                  </a:txBody>
                  <a:tcPr/>
                </a:tc>
                <a:extLst>
                  <a:ext uri="{0D108BD9-81ED-4DB2-BD59-A6C34878D82A}">
                    <a16:rowId xmlns:a16="http://schemas.microsoft.com/office/drawing/2014/main" val="533674293"/>
                  </a:ext>
                </a:extLst>
              </a:tr>
            </a:tbl>
          </a:graphicData>
        </a:graphic>
      </p:graphicFrame>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BA9AAAE4-34A3-4ED1-A002-C1E36D25B782}" type="slidenum">
              <a:rPr lang="en-US" sz="1000">
                <a:solidFill>
                  <a:srgbClr val="8A8A8A"/>
                </a:solidFill>
                <a:latin typeface="Arial"/>
              </a:rPr>
              <a:t>13</a:t>
            </a:fld>
            <a:endParaRPr lang="en-US" sz="1000">
              <a:solidFill>
                <a:srgbClr val="8A8A8A"/>
              </a:solidFill>
              <a:latin typeface="Arial"/>
            </a:endParaRPr>
          </a:p>
        </p:txBody>
      </p:sp>
      <p:sp>
        <p:nvSpPr>
          <p:cNvPr id="5" name="TextBox 4">
            <a:extLst>
              <a:ext uri="{FF2B5EF4-FFF2-40B4-BE49-F238E27FC236}">
                <a16:creationId xmlns:a16="http://schemas.microsoft.com/office/drawing/2014/main" id="{581BB96F-C53A-A8A9-8E8C-5CDBC706068F}"/>
              </a:ext>
            </a:extLst>
          </p:cNvPr>
          <p:cNvSpPr txBox="1"/>
          <p:nvPr/>
        </p:nvSpPr>
        <p:spPr>
          <a:xfrm>
            <a:off x="1247596" y="5701084"/>
            <a:ext cx="6096000" cy="369332"/>
          </a:xfrm>
          <a:prstGeom prst="rect">
            <a:avLst/>
          </a:prstGeom>
          <a:noFill/>
        </p:spPr>
        <p:txBody>
          <a:bodyPr wrap="square">
            <a:spAutoFit/>
          </a:bodyPr>
          <a:lstStyle/>
          <a:p>
            <a:r>
              <a:rPr lang="en-US" sz="1800" dirty="0">
                <a:solidFill>
                  <a:schemeClr val="bg1">
                    <a:lumMod val="10000"/>
                  </a:schemeClr>
                </a:solidFill>
              </a:rPr>
              <a:t>N.A., not applicable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548640" y="411480"/>
            <a:ext cx="11064240" cy="387798"/>
          </a:xfrm>
        </p:spPr>
        <p:txBody>
          <a:bodyPr/>
          <a:lstStyle/>
          <a:p>
            <a:pPr algn="l">
              <a:buNone/>
            </a:pPr>
            <a:r>
              <a:rPr lang="en-US" sz="2800" b="1" dirty="0">
                <a:solidFill>
                  <a:srgbClr val="0460A9"/>
                </a:solidFill>
                <a:latin typeface="Arial"/>
                <a:cs typeface="Arial"/>
              </a:rPr>
              <a:t>Four operating characteristics score every method</a:t>
            </a:r>
          </a:p>
        </p:txBody>
      </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11A797E3-A50A-4C80-9B6B-5BAF1C54AD0C}" type="slidenum">
              <a:rPr lang="en-US" sz="1000">
                <a:solidFill>
                  <a:srgbClr val="8A8A8A"/>
                </a:solidFill>
                <a:latin typeface="Arial"/>
              </a:rPr>
              <a:t>14</a:t>
            </a:fld>
            <a:endParaRPr lang="en-US" sz="1000">
              <a:solidFill>
                <a:srgbClr val="8A8A8A"/>
              </a:solidFill>
              <a:latin typeface="Arial"/>
            </a:endParaRPr>
          </a:p>
        </p:txBody>
      </p:sp>
      <p:grpSp>
        <p:nvGrpSpPr>
          <p:cNvPr id="24" name="Group 23">
            <a:extLst>
              <a:ext uri="{FF2B5EF4-FFF2-40B4-BE49-F238E27FC236}">
                <a16:creationId xmlns:a16="http://schemas.microsoft.com/office/drawing/2014/main" id="{1610543C-E52B-554E-CBBE-017AD66C317A}"/>
              </a:ext>
            </a:extLst>
          </p:cNvPr>
          <p:cNvGrpSpPr/>
          <p:nvPr/>
        </p:nvGrpSpPr>
        <p:grpSpPr>
          <a:xfrm>
            <a:off x="7446752" y="1266094"/>
            <a:ext cx="4745248" cy="4431922"/>
            <a:chOff x="7430676" y="1319464"/>
            <a:chExt cx="4745248" cy="4431922"/>
          </a:xfrm>
        </p:grpSpPr>
        <p:sp>
          <p:nvSpPr>
            <p:cNvPr id="23" name="c1">
              <a:extLst>
                <a:ext uri="{FF2B5EF4-FFF2-40B4-BE49-F238E27FC236}">
                  <a16:creationId xmlns:a16="http://schemas.microsoft.com/office/drawing/2014/main" id="{76927121-0505-402E-FDA6-184A0FFEC502}"/>
                </a:ext>
              </a:extLst>
            </p:cNvPr>
            <p:cNvSpPr/>
            <p:nvPr/>
          </p:nvSpPr>
          <p:spPr>
            <a:xfrm>
              <a:off x="7845789" y="1319464"/>
              <a:ext cx="4218548" cy="4431922"/>
            </a:xfrm>
            <a:prstGeom prst="roundRect">
              <a:avLst>
                <a:gd name="adj" fmla="val 6000"/>
              </a:avLst>
            </a:prstGeom>
            <a:solidFill>
              <a:srgbClr val="FFF4EF"/>
            </a:solidFill>
            <a:ln w="9525">
              <a:solidFill>
                <a:schemeClr val="accent1">
                  <a:lumMod val="20000"/>
                  <a:lumOff val="80000"/>
                </a:schemeClr>
              </a:solidFill>
            </a:ln>
          </p:spPr>
          <p:txBody>
            <a:bodyPr/>
            <a:lstStyle/>
            <a:p>
              <a:pPr>
                <a:buNone/>
              </a:pPr>
              <a:endParaRPr lang="en-US" dirty="0"/>
            </a:p>
          </p:txBody>
        </p:sp>
        <p:grpSp>
          <p:nvGrpSpPr>
            <p:cNvPr id="5" name="Group 4">
              <a:extLst>
                <a:ext uri="{FF2B5EF4-FFF2-40B4-BE49-F238E27FC236}">
                  <a16:creationId xmlns:a16="http://schemas.microsoft.com/office/drawing/2014/main" id="{52EE4FB5-C106-A6FC-E624-8ED976E1E5F2}"/>
                </a:ext>
              </a:extLst>
            </p:cNvPr>
            <p:cNvGrpSpPr/>
            <p:nvPr/>
          </p:nvGrpSpPr>
          <p:grpSpPr>
            <a:xfrm>
              <a:off x="7430676" y="1528634"/>
              <a:ext cx="4560449" cy="1289351"/>
              <a:chOff x="1228639" y="1760000"/>
              <a:chExt cx="4560449" cy="1289351"/>
            </a:xfrm>
          </p:grpSpPr>
          <p:sp>
            <p:nvSpPr>
              <p:cNvPr id="8" name="t0">
                <a:extLst>
                  <a:ext uri="{FF2B5EF4-FFF2-40B4-BE49-F238E27FC236}">
                    <a16:creationId xmlns:a16="http://schemas.microsoft.com/office/drawing/2014/main" id="{98613C4C-FCF5-10D2-98BB-F301D29C0CB8}"/>
                  </a:ext>
                </a:extLst>
              </p:cNvPr>
              <p:cNvSpPr txBox="1"/>
              <p:nvPr/>
            </p:nvSpPr>
            <p:spPr>
              <a:xfrm>
                <a:off x="1228639" y="1760000"/>
                <a:ext cx="4519075" cy="380000"/>
              </a:xfrm>
              <a:prstGeom prst="rect">
                <a:avLst/>
              </a:prstGeom>
              <a:noFill/>
            </p:spPr>
            <p:txBody>
              <a:bodyPr wrap="square" lIns="0" tIns="0" rIns="0" bIns="0" anchor="t"/>
              <a:lstStyle/>
              <a:p>
                <a:pPr marL="342900" indent="-342900" algn="ctr">
                  <a:lnSpc>
                    <a:spcPct val="102000"/>
                  </a:lnSpc>
                  <a:spcAft>
                    <a:spcPts val="140"/>
                  </a:spcAft>
                  <a:buFont typeface="Wingdings" panose="05000000000000000000" pitchFamily="2" charset="2"/>
                  <a:buChar char="Ø"/>
                </a:pPr>
                <a:r>
                  <a:rPr lang="en-US" sz="2000" i="0" dirty="0">
                    <a:ln w="0"/>
                    <a:solidFill>
                      <a:schemeClr val="accent1"/>
                    </a:solidFill>
                    <a:effectLst>
                      <a:outerShdw blurRad="38100" dist="25400" dir="5400000" algn="ctr" rotWithShape="0">
                        <a:srgbClr val="6E747A">
                          <a:alpha val="43000"/>
                        </a:srgbClr>
                      </a:outerShdw>
                    </a:effectLst>
                    <a:latin typeface="Arial"/>
                    <a:cs typeface="Arial"/>
                  </a:rPr>
                  <a:t>Primary statistical test</a:t>
                </a:r>
              </a:p>
              <a:p>
                <a:pPr marL="0" algn="ctr">
                  <a:lnSpc>
                    <a:spcPct val="102000"/>
                  </a:lnSpc>
                  <a:spcAft>
                    <a:spcPts val="140"/>
                  </a:spcAft>
                  <a:buNone/>
                </a:pPr>
                <a:r>
                  <a:rPr lang="en-US" sz="2000" b="1" i="0" dirty="0">
                    <a:solidFill>
                      <a:srgbClr val="0460A9"/>
                    </a:solidFill>
                    <a:latin typeface="Arial"/>
                    <a:cs typeface="Arial"/>
                  </a:rPr>
                  <a:t>paired mixed-effects model</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787244A-A997-55B5-0DC1-3BAF538A016D}"/>
                      </a:ext>
                    </a:extLst>
                  </p:cNvPr>
                  <p:cNvSpPr txBox="1"/>
                  <p:nvPr/>
                </p:nvSpPr>
                <p:spPr>
                  <a:xfrm>
                    <a:off x="1570540" y="2464576"/>
                    <a:ext cx="4218548" cy="584775"/>
                  </a:xfrm>
                  <a:prstGeom prst="rect">
                    <a:avLst/>
                  </a:prstGeom>
                  <a:noFill/>
                </p:spPr>
                <p:txBody>
                  <a:bodyPr wrap="square">
                    <a:spAutoFit/>
                  </a:bodyPr>
                  <a:lstStyle/>
                  <a:p>
                    <a:pPr algn="ctr">
                      <a:defRPr sz="1500">
                        <a:solidFill>
                          <a:srgbClr val="33475B"/>
                        </a:solidFill>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𝑦</m:t>
                          </m:r>
                          <m:r>
                            <a:rPr lang="en-US" sz="1600" b="0" i="1" smtClean="0">
                              <a:latin typeface="Cambria Math" panose="02040503050406030204" pitchFamily="18" charset="0"/>
                            </a:rPr>
                            <m:t> ~ </m:t>
                          </m:r>
                          <m:r>
                            <a:rPr lang="en-US" sz="1600" b="0" i="1" smtClean="0">
                              <a:latin typeface="Cambria Math" panose="02040503050406030204" pitchFamily="18" charset="0"/>
                            </a:rPr>
                            <m:t>𝑚𝑒𝑡</m:t>
                          </m:r>
                          <m:r>
                            <a:rPr lang="en-US" sz="1600" b="0" i="1" smtClean="0">
                              <a:latin typeface="Cambria Math" panose="02040503050406030204" pitchFamily="18" charset="0"/>
                            </a:rPr>
                            <m:t>h</m:t>
                          </m:r>
                          <m:r>
                            <a:rPr lang="en-US" sz="1600" b="0" i="1" smtClean="0">
                              <a:latin typeface="Cambria Math" panose="02040503050406030204" pitchFamily="18" charset="0"/>
                            </a:rPr>
                            <m:t>𝑜𝑑</m:t>
                          </m:r>
                          <m:r>
                            <a:rPr lang="en-US" sz="1600" b="0" i="1" smtClean="0">
                              <a:latin typeface="Cambria Math" panose="02040503050406030204" pitchFamily="18" charset="0"/>
                            </a:rPr>
                            <m:t>+</m:t>
                          </m:r>
                        </m:oMath>
                      </m:oMathPara>
                    </a14:m>
                    <a:endParaRPr lang="en-US" sz="1600" b="0" i="1" dirty="0">
                      <a:latin typeface="Cambria Math" panose="02040503050406030204" pitchFamily="18" charset="0"/>
                    </a:endParaRPr>
                  </a:p>
                  <a:p>
                    <a:pPr algn="ctr">
                      <a:defRPr sz="1500">
                        <a:solidFill>
                          <a:srgbClr val="33475B"/>
                        </a:solidFill>
                      </a:defRPr>
                    </a:pPr>
                    <a14:m>
                      <m:oMathPara xmlns:m="http://schemas.openxmlformats.org/officeDocument/2006/math">
                        <m:oMathParaPr>
                          <m:jc m:val="centerGroup"/>
                        </m:oMathParaPr>
                        <m:oMath xmlns:m="http://schemas.openxmlformats.org/officeDocument/2006/math">
                          <m:d>
                            <m:dPr>
                              <m:ctrlPr>
                                <a:rPr lang="en-US" sz="1600" b="0" i="1" smtClean="0">
                                  <a:latin typeface="Cambria Math" panose="02040503050406030204" pitchFamily="18" charset="0"/>
                                </a:rPr>
                              </m:ctrlPr>
                            </m:dPr>
                            <m:e>
                              <m:r>
                                <a:rPr lang="en-US" sz="1600" b="0" i="1" smtClean="0">
                                  <a:latin typeface="Cambria Math" panose="02040503050406030204" pitchFamily="18" charset="0"/>
                                </a:rPr>
                                <m:t>1</m:t>
                              </m:r>
                            </m:e>
                            <m:e>
                              <m:r>
                                <a:rPr lang="en-US" sz="1600" b="0" i="1" smtClean="0">
                                  <a:latin typeface="Cambria Math" panose="02040503050406030204" pitchFamily="18" charset="0"/>
                                </a:rPr>
                                <m:t>𝑠𝑐𝑒𝑛𝑎𝑟𝑖𝑜</m:t>
                              </m:r>
                            </m:e>
                          </m:d>
                          <m:r>
                            <a:rPr lang="en-US" sz="1600" b="0" i="1" smtClean="0">
                              <a:latin typeface="Cambria Math" panose="02040503050406030204" pitchFamily="18" charset="0"/>
                            </a:rPr>
                            <m:t>+(</m:t>
                          </m:r>
                          <m:r>
                            <a:rPr lang="en-US" sz="1600" b="0" i="1" smtClean="0">
                              <a:latin typeface="Cambria Math" panose="02040503050406030204" pitchFamily="18" charset="0"/>
                            </a:rPr>
                            <m:t>1</m:t>
                          </m:r>
                          <m:r>
                            <a:rPr lang="en-US" sz="1600" b="0" i="1" smtClean="0">
                              <a:latin typeface="Cambria Math" panose="02040503050406030204" pitchFamily="18" charset="0"/>
                            </a:rPr>
                            <m:t>|</m:t>
                          </m:r>
                          <m:r>
                            <a:rPr lang="en-US" sz="1600" b="0" i="1" smtClean="0">
                              <a:latin typeface="Cambria Math" panose="02040503050406030204" pitchFamily="18" charset="0"/>
                            </a:rPr>
                            <m:t>𝑠𝑐𝑒𝑛𝑎𝑟𝑖𝑜</m:t>
                          </m:r>
                          <m:r>
                            <a:rPr lang="en-US" sz="1600" b="0" i="1" smtClean="0">
                              <a:latin typeface="Cambria Math" panose="02040503050406030204" pitchFamily="18" charset="0"/>
                            </a:rPr>
                            <m:t>:</m:t>
                          </m:r>
                          <m:r>
                            <a:rPr lang="en-US" sz="1600" b="0" i="1" smtClean="0">
                              <a:latin typeface="Cambria Math" panose="02040503050406030204" pitchFamily="18" charset="0"/>
                            </a:rPr>
                            <m:t>𝑑𝑎𝑡𝑎𝑠𝑒𝑡</m:t>
                          </m:r>
                          <m:r>
                            <a:rPr lang="en-US" sz="1600" b="0" i="1" smtClean="0">
                              <a:latin typeface="Cambria Math" panose="02040503050406030204" pitchFamily="18" charset="0"/>
                            </a:rPr>
                            <m:t>) </m:t>
                          </m:r>
                        </m:oMath>
                      </m:oMathPara>
                    </a14:m>
                    <a:endParaRPr lang="en-US" sz="1600" dirty="0">
                      <a:solidFill>
                        <a:srgbClr val="33475B"/>
                      </a:solidFill>
                    </a:endParaRPr>
                  </a:p>
                </p:txBody>
              </p:sp>
            </mc:Choice>
            <mc:Fallback xmlns="">
              <p:sp>
                <p:nvSpPr>
                  <p:cNvPr id="10" name="TextBox 9">
                    <a:extLst>
                      <a:ext uri="{FF2B5EF4-FFF2-40B4-BE49-F238E27FC236}">
                        <a16:creationId xmlns:a16="http://schemas.microsoft.com/office/drawing/2014/main" id="{1787244A-A997-55B5-0DC1-3BAF538A016D}"/>
                      </a:ext>
                    </a:extLst>
                  </p:cNvPr>
                  <p:cNvSpPr txBox="1">
                    <a:spLocks noRot="1" noChangeAspect="1" noMove="1" noResize="1" noEditPoints="1" noAdjustHandles="1" noChangeArrowheads="1" noChangeShapeType="1" noTextEdit="1"/>
                  </p:cNvSpPr>
                  <p:nvPr/>
                </p:nvSpPr>
                <p:spPr>
                  <a:xfrm>
                    <a:off x="1570540" y="2464576"/>
                    <a:ext cx="4218548" cy="584775"/>
                  </a:xfrm>
                  <a:prstGeom prst="rect">
                    <a:avLst/>
                  </a:prstGeom>
                  <a:blipFill>
                    <a:blip r:embed="rId8"/>
                    <a:stretch>
                      <a:fillRect b="-625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F61F06C-8191-8B2E-8C65-1A4BD14F0CE2}"/>
                    </a:ext>
                  </a:extLst>
                </p:cNvPr>
                <p:cNvSpPr txBox="1"/>
                <p:nvPr/>
              </p:nvSpPr>
              <p:spPr>
                <a:xfrm>
                  <a:off x="7964851" y="2978257"/>
                  <a:ext cx="4211073" cy="1261114"/>
                </a:xfrm>
                <a:prstGeom prst="rect">
                  <a:avLst/>
                </a:prstGeom>
                <a:noFill/>
              </p:spPr>
              <p:txBody>
                <a:bodyPr wrap="square">
                  <a:spAutoFit/>
                </a:bodyPr>
                <a:lstStyle/>
                <a:p>
                  <a:pPr>
                    <a:lnSpc>
                      <a:spcPct val="120000"/>
                    </a:lnSpc>
                    <a:spcAft>
                      <a:spcPts val="140"/>
                    </a:spcAft>
                  </a:pPr>
                  <a14:m>
                    <m:oMath xmlns:m="http://schemas.openxmlformats.org/officeDocument/2006/math">
                      <m:r>
                        <a:rPr lang="en-US" sz="1600" b="1" i="1" smtClean="0">
                          <a:solidFill>
                            <a:schemeClr val="tx1"/>
                          </a:solidFill>
                          <a:latin typeface="Cambria Math" panose="02040503050406030204" pitchFamily="18" charset="0"/>
                        </a:rPr>
                        <m:t>𝒚</m:t>
                      </m:r>
                      <m:r>
                        <a:rPr lang="en-US" sz="1600" b="1" i="1" smtClean="0">
                          <a:solidFill>
                            <a:schemeClr val="tx1"/>
                          </a:solidFill>
                          <a:latin typeface="Cambria Math" panose="02040503050406030204" pitchFamily="18" charset="0"/>
                        </a:rPr>
                        <m:t>: </m:t>
                      </m:r>
                    </m:oMath>
                  </a14:m>
                  <a:r>
                    <a:rPr lang="en-US" sz="1600" dirty="0">
                      <a:solidFill>
                        <a:srgbClr val="3C3C3C"/>
                      </a:solidFill>
                      <a:cs typeface="Arial"/>
                    </a:rPr>
                    <a:t>Raw binary (0,1) per dataset replicate</a:t>
                  </a:r>
                </a:p>
                <a:p>
                  <a:pPr>
                    <a:lnSpc>
                      <a:spcPct val="120000"/>
                    </a:lnSpc>
                    <a:spcAft>
                      <a:spcPts val="140"/>
                    </a:spcAft>
                  </a:pPr>
                  <a:r>
                    <a:rPr lang="en-US" sz="1600" b="1" i="0" dirty="0">
                      <a:latin typeface="Arial"/>
                      <a:cs typeface="Arial"/>
                    </a:rPr>
                    <a:t>Method</a:t>
                  </a:r>
                  <a:r>
                    <a:rPr lang="en-US" sz="1600" b="0" i="0" dirty="0">
                      <a:latin typeface="Arial"/>
                      <a:cs typeface="Arial"/>
                    </a:rPr>
                    <a:t>:</a:t>
                  </a:r>
                  <a:r>
                    <a:rPr lang="en-US" sz="1600" dirty="0">
                      <a:cs typeface="Arial"/>
                    </a:rPr>
                    <a:t> </a:t>
                  </a:r>
                  <a:r>
                    <a:rPr lang="en-US" sz="1600" dirty="0">
                      <a:solidFill>
                        <a:srgbClr val="3C3C3C"/>
                      </a:solidFill>
                      <a:cs typeface="Arial"/>
                    </a:rPr>
                    <a:t>Two-level factor </a:t>
                  </a:r>
                  <a:br>
                    <a:rPr lang="en-US" sz="1600" dirty="0">
                      <a:solidFill>
                        <a:srgbClr val="3C3C3C"/>
                      </a:solidFill>
                      <a:cs typeface="Arial"/>
                    </a:rPr>
                  </a:br>
                  <a:r>
                    <a:rPr lang="en-US" sz="1400" dirty="0">
                      <a:solidFill>
                        <a:srgbClr val="3C3C3C"/>
                      </a:solidFill>
                      <a:cs typeface="Arial"/>
                    </a:rPr>
                    <a:t>(ref= NONMEM, test=nlmixr2scm/VAE)</a:t>
                  </a:r>
                </a:p>
                <a:p>
                  <a:pPr>
                    <a:lnSpc>
                      <a:spcPct val="120000"/>
                    </a:lnSpc>
                    <a:spcAft>
                      <a:spcPts val="140"/>
                    </a:spcAft>
                  </a:pPr>
                  <a14:m>
                    <m:oMath xmlns:m="http://schemas.openxmlformats.org/officeDocument/2006/math">
                      <m:r>
                        <a:rPr lang="en-US" sz="1600" b="1" i="1" smtClean="0">
                          <a:solidFill>
                            <a:srgbClr val="3C3C3C"/>
                          </a:solidFill>
                          <a:latin typeface="Cambria Math" panose="02040503050406030204" pitchFamily="18" charset="0"/>
                          <a:ea typeface="Cambria Math" panose="02040503050406030204" pitchFamily="18" charset="0"/>
                          <a:cs typeface="Arial"/>
                        </a:rPr>
                        <m:t> </m:t>
                      </m:r>
                      <m:sSup>
                        <m:sSupPr>
                          <m:ctrlPr>
                            <a:rPr lang="en-US" sz="1600" b="1" i="1" smtClean="0">
                              <a:solidFill>
                                <a:srgbClr val="3C3C3C"/>
                              </a:solidFill>
                              <a:latin typeface="Cambria Math" panose="02040503050406030204" pitchFamily="18" charset="0"/>
                              <a:ea typeface="Cambria Math" panose="02040503050406030204" pitchFamily="18" charset="0"/>
                              <a:cs typeface="Arial"/>
                            </a:rPr>
                          </m:ctrlPr>
                        </m:sSupPr>
                        <m:e>
                          <m:r>
                            <a:rPr lang="en-US" sz="1600" b="1" i="1" smtClean="0">
                              <a:solidFill>
                                <a:srgbClr val="3C3C3C"/>
                              </a:solidFill>
                              <a:latin typeface="Cambria Math" panose="02040503050406030204" pitchFamily="18" charset="0"/>
                              <a:ea typeface="Cambria Math" panose="02040503050406030204" pitchFamily="18" charset="0"/>
                              <a:cs typeface="Arial"/>
                            </a:rPr>
                            <m:t>𝒆</m:t>
                          </m:r>
                        </m:e>
                        <m:sup>
                          <m:sSub>
                            <m:sSubPr>
                              <m:ctrlPr>
                                <a:rPr lang="en-US" sz="1600" b="1" i="1">
                                  <a:solidFill>
                                    <a:srgbClr val="3C3C3C"/>
                                  </a:solidFill>
                                  <a:latin typeface="Cambria Math" panose="02040503050406030204" pitchFamily="18" charset="0"/>
                                  <a:ea typeface="Cambria Math" panose="02040503050406030204" pitchFamily="18" charset="0"/>
                                  <a:cs typeface="Arial"/>
                                </a:rPr>
                              </m:ctrlPr>
                            </m:sSubPr>
                            <m:e>
                              <m:r>
                                <a:rPr lang="en-US" sz="1600" b="1" i="1">
                                  <a:solidFill>
                                    <a:srgbClr val="3C3C3C"/>
                                  </a:solidFill>
                                  <a:latin typeface="Cambria Math" panose="02040503050406030204" pitchFamily="18" charset="0"/>
                                  <a:ea typeface="Cambria Math" panose="02040503050406030204" pitchFamily="18" charset="0"/>
                                  <a:cs typeface="Arial"/>
                                </a:rPr>
                                <m:t>𝜷</m:t>
                              </m:r>
                            </m:e>
                            <m:sub>
                              <m:r>
                                <a:rPr lang="en-US" sz="1600" b="1" i="1">
                                  <a:solidFill>
                                    <a:srgbClr val="3C3C3C"/>
                                  </a:solidFill>
                                  <a:latin typeface="Cambria Math" panose="02040503050406030204" pitchFamily="18" charset="0"/>
                                  <a:ea typeface="Cambria Math" panose="02040503050406030204" pitchFamily="18" charset="0"/>
                                  <a:cs typeface="Arial"/>
                                </a:rPr>
                                <m:t>𝒎𝒆𝒕𝒉𝒐𝒅</m:t>
                              </m:r>
                            </m:sub>
                          </m:sSub>
                        </m:sup>
                      </m:sSup>
                    </m:oMath>
                  </a14:m>
                  <a:r>
                    <a:rPr lang="en-US" sz="1600" b="1" i="0" dirty="0">
                      <a:solidFill>
                        <a:srgbClr val="3C3C3C"/>
                      </a:solidFill>
                      <a:latin typeface="Arial"/>
                      <a:cs typeface="Arial"/>
                    </a:rPr>
                    <a:t>: </a:t>
                  </a:r>
                  <a:r>
                    <a:rPr lang="en-US" sz="1600" dirty="0">
                      <a:solidFill>
                        <a:srgbClr val="3C3C3C"/>
                      </a:solidFill>
                      <a:latin typeface="Arial"/>
                      <a:cs typeface="Arial"/>
                    </a:rPr>
                    <a:t>Odds-ratio of test over NONMEM</a:t>
                  </a:r>
                  <a:endParaRPr lang="en-US" sz="1600" b="1" i="0" dirty="0">
                    <a:solidFill>
                      <a:srgbClr val="3C3C3C"/>
                    </a:solidFill>
                    <a:latin typeface="Arial"/>
                    <a:cs typeface="Arial"/>
                  </a:endParaRPr>
                </a:p>
              </p:txBody>
            </p:sp>
          </mc:Choice>
          <mc:Fallback xmlns="">
            <p:sp>
              <p:nvSpPr>
                <p:cNvPr id="14" name="TextBox 13">
                  <a:extLst>
                    <a:ext uri="{FF2B5EF4-FFF2-40B4-BE49-F238E27FC236}">
                      <a16:creationId xmlns:a16="http://schemas.microsoft.com/office/drawing/2014/main" id="{4F61F06C-8191-8B2E-8C65-1A4BD14F0CE2}"/>
                    </a:ext>
                  </a:extLst>
                </p:cNvPr>
                <p:cNvSpPr txBox="1">
                  <a:spLocks noRot="1" noChangeAspect="1" noMove="1" noResize="1" noEditPoints="1" noAdjustHandles="1" noChangeArrowheads="1" noChangeShapeType="1" noTextEdit="1"/>
                </p:cNvSpPr>
                <p:nvPr/>
              </p:nvSpPr>
              <p:spPr>
                <a:xfrm>
                  <a:off x="7964851" y="2978257"/>
                  <a:ext cx="4211073" cy="1261114"/>
                </a:xfrm>
                <a:prstGeom prst="rect">
                  <a:avLst/>
                </a:prstGeom>
                <a:blipFill>
                  <a:blip r:embed="rId9"/>
                  <a:stretch>
                    <a:fillRect l="-870" b="-4854"/>
                  </a:stretch>
                </a:blipFill>
              </p:spPr>
              <p:txBody>
                <a:bodyPr/>
                <a:lstStyle/>
                <a:p>
                  <a:r>
                    <a:rPr lang="en-US">
                      <a:noFill/>
                    </a:rPr>
                    <a:t> </a:t>
                  </a:r>
                </a:p>
              </p:txBody>
            </p:sp>
          </mc:Fallback>
        </mc:AlternateContent>
        <p:sp>
          <p:nvSpPr>
            <p:cNvPr id="18" name="t1">
              <a:extLst>
                <a:ext uri="{FF2B5EF4-FFF2-40B4-BE49-F238E27FC236}">
                  <a16:creationId xmlns:a16="http://schemas.microsoft.com/office/drawing/2014/main" id="{6DEE07DA-0FB7-F668-4E3E-F1A10F31FD26}"/>
                </a:ext>
              </a:extLst>
            </p:cNvPr>
            <p:cNvSpPr txBox="1"/>
            <p:nvPr/>
          </p:nvSpPr>
          <p:spPr>
            <a:xfrm>
              <a:off x="7994041" y="4523640"/>
              <a:ext cx="4015959" cy="375810"/>
            </a:xfrm>
            <a:prstGeom prst="rect">
              <a:avLst/>
            </a:prstGeom>
            <a:noFill/>
          </p:spPr>
          <p:txBody>
            <a:bodyPr wrap="square" lIns="0" tIns="0" rIns="0" bIns="0" anchor="t"/>
            <a:lstStyle/>
            <a:p>
              <a:pPr marL="342900" indent="-342900" algn="ctr">
                <a:lnSpc>
                  <a:spcPct val="102000"/>
                </a:lnSpc>
                <a:spcAft>
                  <a:spcPts val="140"/>
                </a:spcAft>
                <a:buFont typeface="Wingdings" panose="05000000000000000000" pitchFamily="2" charset="2"/>
                <a:buChar char="Ø"/>
              </a:pPr>
              <a:r>
                <a:rPr lang="en-US" sz="2000" dirty="0">
                  <a:ln w="0"/>
                  <a:solidFill>
                    <a:schemeClr val="accent1"/>
                  </a:solidFill>
                  <a:effectLst>
                    <a:outerShdw blurRad="38100" dist="25400" dir="5400000" algn="ctr" rotWithShape="0">
                      <a:srgbClr val="6E747A">
                        <a:alpha val="43000"/>
                      </a:srgbClr>
                    </a:outerShdw>
                  </a:effectLst>
                  <a:latin typeface="Arial"/>
                  <a:cs typeface="Arial"/>
                </a:rPr>
                <a:t>Fallback: exact </a:t>
              </a:r>
              <a:r>
                <a:rPr lang="en-US" sz="2000" dirty="0" err="1">
                  <a:ln w="0"/>
                  <a:solidFill>
                    <a:schemeClr val="accent1"/>
                  </a:solidFill>
                  <a:effectLst>
                    <a:outerShdw blurRad="38100" dist="25400" dir="5400000" algn="ctr" rotWithShape="0">
                      <a:srgbClr val="6E747A">
                        <a:alpha val="43000"/>
                      </a:srgbClr>
                    </a:outerShdw>
                  </a:effectLst>
                  <a:latin typeface="Arial"/>
                  <a:cs typeface="Arial"/>
                </a:rPr>
                <a:t>McNemarTest</a:t>
              </a:r>
              <a:endParaRPr lang="en-US" sz="2000" dirty="0">
                <a:ln w="0"/>
                <a:solidFill>
                  <a:schemeClr val="accent1"/>
                </a:solidFill>
                <a:effectLst>
                  <a:outerShdw blurRad="38100" dist="25400" dir="5400000" algn="ctr" rotWithShape="0">
                    <a:srgbClr val="6E747A">
                      <a:alpha val="43000"/>
                    </a:srgbClr>
                  </a:outerShdw>
                </a:effectLst>
                <a:latin typeface="Arial"/>
                <a:cs typeface="Arial"/>
              </a:endParaRPr>
            </a:p>
          </p:txBody>
        </p:sp>
        <p:sp>
          <p:nvSpPr>
            <p:cNvPr id="21" name="TextBox 20">
              <a:extLst>
                <a:ext uri="{FF2B5EF4-FFF2-40B4-BE49-F238E27FC236}">
                  <a16:creationId xmlns:a16="http://schemas.microsoft.com/office/drawing/2014/main" id="{AFD9C8AC-BFB4-F6AA-7E06-C27D3DCD4F4B}"/>
                </a:ext>
              </a:extLst>
            </p:cNvPr>
            <p:cNvSpPr txBox="1"/>
            <p:nvPr/>
          </p:nvSpPr>
          <p:spPr>
            <a:xfrm>
              <a:off x="8157121" y="4899450"/>
              <a:ext cx="3722429" cy="627288"/>
            </a:xfrm>
            <a:prstGeom prst="rect">
              <a:avLst/>
            </a:prstGeom>
            <a:noFill/>
          </p:spPr>
          <p:txBody>
            <a:bodyPr wrap="square">
              <a:spAutoFit/>
            </a:bodyPr>
            <a:lstStyle/>
            <a:p>
              <a:pPr marL="0" algn="l">
                <a:lnSpc>
                  <a:spcPct val="106000"/>
                </a:lnSpc>
                <a:spcAft>
                  <a:spcPts val="140"/>
                </a:spcAft>
                <a:buNone/>
              </a:pPr>
              <a:r>
                <a:rPr lang="en-US" sz="1700" dirty="0">
                  <a:solidFill>
                    <a:srgbClr val="3C3C3C"/>
                  </a:solidFill>
                  <a:latin typeface="Arial"/>
                  <a:cs typeface="Arial"/>
                </a:rPr>
                <a:t>U</a:t>
              </a:r>
              <a:r>
                <a:rPr lang="en-US" sz="1700" b="0" i="0" dirty="0">
                  <a:solidFill>
                    <a:srgbClr val="3C3C3C"/>
                  </a:solidFill>
                  <a:latin typeface="Arial"/>
                  <a:cs typeface="Arial"/>
                </a:rPr>
                <a:t>nder ceiling / separation (e.g., Convergence rates pinned at 100%)</a:t>
              </a:r>
              <a:endParaRPr lang="en-US" sz="1700" dirty="0">
                <a:solidFill>
                  <a:srgbClr val="3C3C3C"/>
                </a:solidFill>
                <a:cs typeface="Arial"/>
              </a:endParaRPr>
            </a:p>
          </p:txBody>
        </p:sp>
      </p:grpSp>
      <p:grpSp>
        <p:nvGrpSpPr>
          <p:cNvPr id="25" name="Group 24">
            <a:extLst>
              <a:ext uri="{FF2B5EF4-FFF2-40B4-BE49-F238E27FC236}">
                <a16:creationId xmlns:a16="http://schemas.microsoft.com/office/drawing/2014/main" id="{C01F0495-7321-D1E0-DD7C-509B2B4B8742}"/>
              </a:ext>
            </a:extLst>
          </p:cNvPr>
          <p:cNvGrpSpPr/>
          <p:nvPr/>
        </p:nvGrpSpPr>
        <p:grpSpPr>
          <a:xfrm>
            <a:off x="452876" y="1331262"/>
            <a:ext cx="3031184" cy="4301586"/>
            <a:chOff x="452876" y="1331262"/>
            <a:chExt cx="3031184" cy="4301586"/>
          </a:xfrm>
        </p:grpSpPr>
        <p:grpSp>
          <p:nvGrpSpPr>
            <p:cNvPr id="12" name="Group 11">
              <a:extLst>
                <a:ext uri="{FF2B5EF4-FFF2-40B4-BE49-F238E27FC236}">
                  <a16:creationId xmlns:a16="http://schemas.microsoft.com/office/drawing/2014/main" id="{BEF3D46F-8299-F7B8-5C3B-D5281DAEFE53}"/>
                </a:ext>
              </a:extLst>
            </p:cNvPr>
            <p:cNvGrpSpPr/>
            <p:nvPr/>
          </p:nvGrpSpPr>
          <p:grpSpPr>
            <a:xfrm>
              <a:off x="452876" y="1331262"/>
              <a:ext cx="3031184" cy="4301586"/>
              <a:chOff x="626101" y="1163982"/>
              <a:chExt cx="3055349" cy="4301586"/>
            </a:xfrm>
          </p:grpSpPr>
          <p:sp>
            <p:nvSpPr>
              <p:cNvPr id="7" name="c0">
                <a:extLst>
                  <a:ext uri="{FF2B5EF4-FFF2-40B4-BE49-F238E27FC236}">
                    <a16:creationId xmlns:a16="http://schemas.microsoft.com/office/drawing/2014/main" id="{430BD8B3-E947-F2B5-5461-85B0842F665E}"/>
                  </a:ext>
                </a:extLst>
              </p:cNvPr>
              <p:cNvSpPr/>
              <p:nvPr/>
            </p:nvSpPr>
            <p:spPr>
              <a:xfrm>
                <a:off x="626101" y="1163982"/>
                <a:ext cx="3055349" cy="4301586"/>
              </a:xfrm>
              <a:prstGeom prst="roundRect">
                <a:avLst>
                  <a:gd name="adj" fmla="val 6000"/>
                </a:avLst>
              </a:prstGeom>
              <a:solidFill>
                <a:srgbClr val="F4F7FB"/>
              </a:solidFill>
              <a:ln w="9525">
                <a:solidFill>
                  <a:srgbClr val="D6E2F0"/>
                </a:solidFill>
              </a:ln>
            </p:spPr>
            <p:txBody>
              <a:bodyPr/>
              <a:lstStyle/>
              <a:p>
                <a:pPr>
                  <a:buNone/>
                </a:pPr>
                <a:endParaRPr lang="en-US"/>
              </a:p>
            </p:txBody>
          </p:sp>
          <p:sp>
            <p:nvSpPr>
              <p:cNvPr id="9" name="n21">
                <a:extLst>
                  <a:ext uri="{FF2B5EF4-FFF2-40B4-BE49-F238E27FC236}">
                    <a16:creationId xmlns:a16="http://schemas.microsoft.com/office/drawing/2014/main" id="{96C84D8F-60BC-8F84-9CA7-BD5D1F5D439C}"/>
                  </a:ext>
                </a:extLst>
              </p:cNvPr>
              <p:cNvSpPr/>
              <p:nvPr/>
            </p:nvSpPr>
            <p:spPr>
              <a:xfrm>
                <a:off x="809958" y="1392432"/>
                <a:ext cx="440000" cy="440000"/>
              </a:xfrm>
              <a:prstGeom prst="ellipse">
                <a:avLst/>
              </a:prstGeom>
              <a:solidFill>
                <a:srgbClr val="0460A9"/>
              </a:solidFill>
              <a:ln>
                <a:noFill/>
              </a:ln>
            </p:spPr>
            <p:txBody>
              <a:bodyPr lIns="0" tIns="0" rIns="0" bIns="0" anchor="ctr"/>
              <a:lstStyle/>
              <a:p>
                <a:pPr algn="ctr">
                  <a:buNone/>
                </a:pPr>
                <a:r>
                  <a:rPr lang="en-US" sz="1600" b="1" i="0" dirty="0">
                    <a:solidFill>
                      <a:srgbClr val="FFFFFF"/>
                    </a:solidFill>
                    <a:latin typeface="Arial"/>
                    <a:cs typeface="Arial"/>
                  </a:rPr>
                  <a:t>1</a:t>
                </a:r>
              </a:p>
            </p:txBody>
          </p:sp>
          <p:sp>
            <p:nvSpPr>
              <p:cNvPr id="19" name="t1">
                <a:extLst>
                  <a:ext uri="{FF2B5EF4-FFF2-40B4-BE49-F238E27FC236}">
                    <a16:creationId xmlns:a16="http://schemas.microsoft.com/office/drawing/2014/main" id="{6DDC64EA-2C4E-B088-EEBE-3589DB9666EF}"/>
                  </a:ext>
                </a:extLst>
              </p:cNvPr>
              <p:cNvSpPr txBox="1"/>
              <p:nvPr/>
            </p:nvSpPr>
            <p:spPr>
              <a:xfrm>
                <a:off x="1376810" y="1509208"/>
                <a:ext cx="2144112" cy="420000"/>
              </a:xfrm>
              <a:prstGeom prst="rect">
                <a:avLst/>
              </a:prstGeom>
              <a:noFill/>
            </p:spPr>
            <p:txBody>
              <a:bodyPr wrap="square" lIns="0" tIns="0" rIns="0" bIns="0" anchor="t"/>
              <a:lstStyle/>
              <a:p>
                <a:pPr marL="0">
                  <a:lnSpc>
                    <a:spcPct val="102000"/>
                  </a:lnSpc>
                  <a:spcAft>
                    <a:spcPts val="40"/>
                  </a:spcAft>
                  <a:buNone/>
                </a:pPr>
                <a:r>
                  <a:rPr lang="en-US" sz="2000" b="1" dirty="0">
                    <a:solidFill>
                      <a:srgbClr val="0460A9"/>
                    </a:solidFill>
                    <a:latin typeface="Arial"/>
                    <a:cs typeface="Arial"/>
                  </a:rPr>
                  <a:t>Model Reliability </a:t>
                </a:r>
                <a:endParaRPr lang="en-US" sz="2000" b="1" i="0" dirty="0">
                  <a:solidFill>
                    <a:srgbClr val="0460A9"/>
                  </a:solidFill>
                  <a:latin typeface="Arial"/>
                  <a:cs typeface="Arial"/>
                </a:endParaRPr>
              </a:p>
            </p:txBody>
          </p:sp>
          <p:sp>
            <p:nvSpPr>
              <p:cNvPr id="11" name="t0">
                <a:extLst>
                  <a:ext uri="{FF2B5EF4-FFF2-40B4-BE49-F238E27FC236}">
                    <a16:creationId xmlns:a16="http://schemas.microsoft.com/office/drawing/2014/main" id="{3CFFBAE6-C219-7F5B-CAB4-FAC52F3F941F}"/>
                  </a:ext>
                </a:extLst>
              </p:cNvPr>
              <p:cNvSpPr txBox="1"/>
              <p:nvPr/>
            </p:nvSpPr>
            <p:spPr>
              <a:xfrm>
                <a:off x="875922" y="2073686"/>
                <a:ext cx="1572944" cy="370817"/>
              </a:xfrm>
              <a:prstGeom prst="rect">
                <a:avLst/>
              </a:prstGeom>
              <a:noFill/>
            </p:spPr>
            <p:txBody>
              <a:bodyPr wrap="square" lIns="0" tIns="0" rIns="0" bIns="0" anchor="t"/>
              <a:lstStyle/>
              <a:p>
                <a:pPr marL="0" algn="l">
                  <a:lnSpc>
                    <a:spcPct val="102000"/>
                  </a:lnSpc>
                  <a:spcAft>
                    <a:spcPts val="40"/>
                  </a:spcAft>
                  <a:buNone/>
                </a:pPr>
                <a:r>
                  <a:rPr lang="en-US" b="1" i="0" dirty="0">
                    <a:solidFill>
                      <a:srgbClr val="0460A9"/>
                    </a:solidFill>
                    <a:latin typeface="Arial"/>
                    <a:cs typeface="Arial"/>
                  </a:rPr>
                  <a:t>Convergence</a:t>
                </a:r>
              </a:p>
            </p:txBody>
          </p:sp>
          <p:grpSp>
            <p:nvGrpSpPr>
              <p:cNvPr id="95" name="Group 94">
                <a:extLst>
                  <a:ext uri="{FF2B5EF4-FFF2-40B4-BE49-F238E27FC236}">
                    <a16:creationId xmlns:a16="http://schemas.microsoft.com/office/drawing/2014/main" id="{C43CA1AA-1E7D-4E75-5DE5-0DCAF2481DAD}"/>
                  </a:ext>
                </a:extLst>
              </p:cNvPr>
              <p:cNvGrpSpPr/>
              <p:nvPr/>
            </p:nvGrpSpPr>
            <p:grpSpPr>
              <a:xfrm>
                <a:off x="769173" y="4053571"/>
                <a:ext cx="2142269" cy="1084175"/>
                <a:chOff x="657855" y="4311139"/>
                <a:chExt cx="2142269" cy="1084175"/>
              </a:xfrm>
            </p:grpSpPr>
            <p:sp>
              <p:nvSpPr>
                <p:cNvPr id="84" name="t0">
                  <a:extLst>
                    <a:ext uri="{FF2B5EF4-FFF2-40B4-BE49-F238E27FC236}">
                      <a16:creationId xmlns:a16="http://schemas.microsoft.com/office/drawing/2014/main" id="{E91A2EC7-6F27-F159-F468-F9C6BC861C64}"/>
                    </a:ext>
                  </a:extLst>
                </p:cNvPr>
                <p:cNvSpPr txBox="1"/>
                <p:nvPr/>
              </p:nvSpPr>
              <p:spPr>
                <a:xfrm>
                  <a:off x="705999" y="4311139"/>
                  <a:ext cx="2094125" cy="520000"/>
                </a:xfrm>
                <a:prstGeom prst="rect">
                  <a:avLst/>
                </a:prstGeom>
                <a:noFill/>
              </p:spPr>
              <p:txBody>
                <a:bodyPr wrap="square" lIns="0" tIns="0" rIns="0" bIns="0" anchor="t"/>
                <a:lstStyle/>
                <a:p>
                  <a:pPr marL="0" algn="l">
                    <a:lnSpc>
                      <a:spcPct val="102000"/>
                    </a:lnSpc>
                    <a:spcAft>
                      <a:spcPts val="40"/>
                    </a:spcAft>
                    <a:buNone/>
                  </a:pPr>
                  <a:r>
                    <a:rPr lang="en-US" b="1" dirty="0">
                      <a:solidFill>
                        <a:srgbClr val="0460A9"/>
                      </a:solidFill>
                      <a:latin typeface="Arial"/>
                      <a:cs typeface="Arial"/>
                    </a:rPr>
                    <a:t>Condition Number</a:t>
                  </a:r>
                  <a:endParaRPr lang="en-US" b="1" i="0" dirty="0">
                    <a:solidFill>
                      <a:srgbClr val="0460A9"/>
                    </a:solidFill>
                    <a:latin typeface="Arial"/>
                    <a:cs typeface="Arial"/>
                  </a:endParaRPr>
                </a:p>
              </p:txBody>
            </p:sp>
            <p:sp>
              <p:nvSpPr>
                <p:cNvPr id="90" name="TextBox 89">
                  <a:extLst>
                    <a:ext uri="{FF2B5EF4-FFF2-40B4-BE49-F238E27FC236}">
                      <a16:creationId xmlns:a16="http://schemas.microsoft.com/office/drawing/2014/main" id="{7B3DB7B5-3469-2E95-9E74-1793F88A42D8}"/>
                    </a:ext>
                  </a:extLst>
                </p:cNvPr>
                <p:cNvSpPr txBox="1"/>
                <p:nvPr/>
              </p:nvSpPr>
              <p:spPr>
                <a:xfrm>
                  <a:off x="657855" y="4697147"/>
                  <a:ext cx="2094125" cy="334772"/>
                </a:xfrm>
                <a:prstGeom prst="rect">
                  <a:avLst/>
                </a:prstGeom>
                <a:noFill/>
              </p:spPr>
              <p:txBody>
                <a:bodyPr wrap="square">
                  <a:spAutoFit/>
                </a:bodyPr>
                <a:lstStyle/>
                <a:p>
                  <a:pPr marL="0" algn="l">
                    <a:lnSpc>
                      <a:spcPct val="106000"/>
                    </a:lnSpc>
                    <a:spcAft>
                      <a:spcPts val="40"/>
                    </a:spcAft>
                    <a:buNone/>
                  </a:pPr>
                  <a:r>
                    <a:rPr lang="en-US" sz="1600" b="1" dirty="0">
                      <a:solidFill>
                        <a:srgbClr val="5A5A5A"/>
                      </a:solidFill>
                      <a:latin typeface="Arial"/>
                      <a:cs typeface="Arial"/>
                    </a:rPr>
                    <a:t>n</a:t>
                  </a:r>
                  <a:r>
                    <a:rPr lang="en-US" sz="1600" b="1" i="0" dirty="0">
                      <a:solidFill>
                        <a:srgbClr val="5A5A5A"/>
                      </a:solidFill>
                      <a:latin typeface="Arial"/>
                      <a:cs typeface="Arial"/>
                    </a:rPr>
                    <a:t>lmixr2&amp;NONMEM </a:t>
                  </a:r>
                </a:p>
              </p:txBody>
            </p:sp>
            <p:sp>
              <p:nvSpPr>
                <p:cNvPr id="92" name="TextBox 91">
                  <a:extLst>
                    <a:ext uri="{FF2B5EF4-FFF2-40B4-BE49-F238E27FC236}">
                      <a16:creationId xmlns:a16="http://schemas.microsoft.com/office/drawing/2014/main" id="{B9C1819E-8875-ABCB-9720-C0CD2FD3FB7F}"/>
                    </a:ext>
                  </a:extLst>
                </p:cNvPr>
                <p:cNvSpPr txBox="1"/>
                <p:nvPr/>
              </p:nvSpPr>
              <p:spPr>
                <a:xfrm>
                  <a:off x="745319" y="5056760"/>
                  <a:ext cx="1811428" cy="338554"/>
                </a:xfrm>
                <a:prstGeom prst="rect">
                  <a:avLst/>
                </a:prstGeom>
                <a:noFill/>
              </p:spPr>
              <p:txBody>
                <a:bodyPr wrap="square">
                  <a:spAutoFit/>
                </a:bodyPr>
                <a:lstStyle/>
                <a:p>
                  <a:r>
                    <a:rPr lang="en-US" sz="1600" b="0" i="0" u="none" strike="noStrike" cap="none" dirty="0">
                      <a:solidFill>
                        <a:srgbClr val="4D4D4D">
                          <a:alpha val="100000"/>
                        </a:srgbClr>
                      </a:solidFill>
                      <a:latin typeface="+mj-lt"/>
                      <a:cs typeface="Arial"/>
                      <a:sym typeface="Arial"/>
                    </a:rPr>
                    <a:t>#CN ≤ 1000</a:t>
                  </a:r>
                  <a:endParaRPr lang="en-US" sz="2400" dirty="0"/>
                </a:p>
              </p:txBody>
            </p:sp>
          </p:grpSp>
        </p:grpSp>
        <p:pic>
          <p:nvPicPr>
            <p:cNvPr id="6" name="Picture 5">
              <a:extLst>
                <a:ext uri="{FF2B5EF4-FFF2-40B4-BE49-F238E27FC236}">
                  <a16:creationId xmlns:a16="http://schemas.microsoft.com/office/drawing/2014/main" id="{88249C75-8112-CA5A-FAD7-18237C137884}"/>
                </a:ext>
              </a:extLst>
            </p:cNvPr>
            <p:cNvPicPr>
              <a:picLocks noChangeAspect="1"/>
            </p:cNvPicPr>
            <p:nvPr/>
          </p:nvPicPr>
          <p:blipFill>
            <a:blip r:embed="rId10"/>
            <a:srcRect l="48970" t="27702"/>
            <a:stretch>
              <a:fillRect/>
            </a:stretch>
          </p:blipFill>
          <p:spPr>
            <a:xfrm>
              <a:off x="700721" y="2695454"/>
              <a:ext cx="2243127" cy="1266799"/>
            </a:xfrm>
            <a:prstGeom prst="rect">
              <a:avLst/>
            </a:prstGeom>
          </p:spPr>
        </p:pic>
      </p:grpSp>
      <p:grpSp>
        <p:nvGrpSpPr>
          <p:cNvPr id="26" name="Group 25">
            <a:extLst>
              <a:ext uri="{FF2B5EF4-FFF2-40B4-BE49-F238E27FC236}">
                <a16:creationId xmlns:a16="http://schemas.microsoft.com/office/drawing/2014/main" id="{08CF875A-4763-A464-BEFE-72C88CD7E1BB}"/>
              </a:ext>
            </a:extLst>
          </p:cNvPr>
          <p:cNvGrpSpPr/>
          <p:nvPr/>
        </p:nvGrpSpPr>
        <p:grpSpPr>
          <a:xfrm>
            <a:off x="3621242" y="1331262"/>
            <a:ext cx="4110173" cy="4301586"/>
            <a:chOff x="3621242" y="1331262"/>
            <a:chExt cx="4110173" cy="4301586"/>
          </a:xfrm>
        </p:grpSpPr>
        <p:grpSp>
          <p:nvGrpSpPr>
            <p:cNvPr id="3" name="Group 2">
              <a:extLst>
                <a:ext uri="{FF2B5EF4-FFF2-40B4-BE49-F238E27FC236}">
                  <a16:creationId xmlns:a16="http://schemas.microsoft.com/office/drawing/2014/main" id="{AC31BCBB-BBBF-7E82-89DC-95AC101219F4}"/>
                </a:ext>
              </a:extLst>
            </p:cNvPr>
            <p:cNvGrpSpPr/>
            <p:nvPr/>
          </p:nvGrpSpPr>
          <p:grpSpPr>
            <a:xfrm>
              <a:off x="3621242" y="1331262"/>
              <a:ext cx="4110173" cy="4301586"/>
              <a:chOff x="3568859" y="1331262"/>
              <a:chExt cx="4110173" cy="4301586"/>
            </a:xfrm>
          </p:grpSpPr>
          <p:sp>
            <p:nvSpPr>
              <p:cNvPr id="15" name="c1">
                <a:extLst>
                  <a:ext uri="{FF2B5EF4-FFF2-40B4-BE49-F238E27FC236}">
                    <a16:creationId xmlns:a16="http://schemas.microsoft.com/office/drawing/2014/main" id="{2B7B19A4-AE0D-764F-4204-E30770FF0D01}"/>
                  </a:ext>
                </a:extLst>
              </p:cNvPr>
              <p:cNvSpPr/>
              <p:nvPr/>
            </p:nvSpPr>
            <p:spPr>
              <a:xfrm>
                <a:off x="3568859" y="1331262"/>
                <a:ext cx="4110173" cy="4301586"/>
              </a:xfrm>
              <a:prstGeom prst="roundRect">
                <a:avLst>
                  <a:gd name="adj" fmla="val 6000"/>
                </a:avLst>
              </a:prstGeom>
              <a:solidFill>
                <a:srgbClr val="F4F7FB"/>
              </a:solidFill>
              <a:ln w="9525">
                <a:solidFill>
                  <a:srgbClr val="D6E2F0"/>
                </a:solidFill>
              </a:ln>
            </p:spPr>
            <p:txBody>
              <a:bodyPr/>
              <a:lstStyle/>
              <a:p>
                <a:pPr>
                  <a:buNone/>
                </a:pPr>
                <a:endParaRPr lang="en-US" dirty="0"/>
              </a:p>
            </p:txBody>
          </p:sp>
          <p:grpSp>
            <p:nvGrpSpPr>
              <p:cNvPr id="78" name="Group 77">
                <a:extLst>
                  <a:ext uri="{FF2B5EF4-FFF2-40B4-BE49-F238E27FC236}">
                    <a16:creationId xmlns:a16="http://schemas.microsoft.com/office/drawing/2014/main" id="{35D2F65E-469B-2398-541D-D74C544E8617}"/>
                  </a:ext>
                </a:extLst>
              </p:cNvPr>
              <p:cNvGrpSpPr/>
              <p:nvPr/>
            </p:nvGrpSpPr>
            <p:grpSpPr>
              <a:xfrm>
                <a:off x="3641057" y="1539701"/>
                <a:ext cx="4033010" cy="2885653"/>
                <a:chOff x="3106515" y="1605302"/>
                <a:chExt cx="4033010" cy="2134513"/>
              </a:xfrm>
            </p:grpSpPr>
            <p:sp>
              <p:nvSpPr>
                <p:cNvPr id="17" name="n25">
                  <a:extLst>
                    <a:ext uri="{FF2B5EF4-FFF2-40B4-BE49-F238E27FC236}">
                      <a16:creationId xmlns:a16="http://schemas.microsoft.com/office/drawing/2014/main" id="{66D82A57-8D45-847C-DB51-54879BB5505C}"/>
                    </a:ext>
                  </a:extLst>
                </p:cNvPr>
                <p:cNvSpPr/>
                <p:nvPr/>
              </p:nvSpPr>
              <p:spPr>
                <a:xfrm>
                  <a:off x="3114001" y="1605302"/>
                  <a:ext cx="616573" cy="436851"/>
                </a:xfrm>
                <a:prstGeom prst="ellipse">
                  <a:avLst/>
                </a:prstGeom>
                <a:solidFill>
                  <a:srgbClr val="0E7C7B"/>
                </a:solidFill>
                <a:ln>
                  <a:noFill/>
                </a:ln>
              </p:spPr>
              <p:txBody>
                <a:bodyPr lIns="0" tIns="0" rIns="0" bIns="0" anchor="ctr"/>
                <a:lstStyle/>
                <a:p>
                  <a:pPr algn="ctr">
                    <a:buNone/>
                  </a:pPr>
                  <a:r>
                    <a:rPr lang="en-US" sz="1600" b="1" i="0" dirty="0">
                      <a:solidFill>
                        <a:srgbClr val="FFFFFF"/>
                      </a:solidFill>
                      <a:latin typeface="Arial"/>
                      <a:cs typeface="Arial"/>
                    </a:rPr>
                    <a:t>2</a:t>
                  </a:r>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09F836B7-C157-2FDD-613D-A3B553925684}"/>
                        </a:ext>
                      </a:extLst>
                    </p:cNvPr>
                    <p:cNvSpPr txBox="1"/>
                    <p:nvPr/>
                  </p:nvSpPr>
                  <p:spPr>
                    <a:xfrm>
                      <a:off x="3125741" y="2170757"/>
                      <a:ext cx="3112230" cy="448607"/>
                    </a:xfrm>
                    <a:prstGeom prst="rect">
                      <a:avLst/>
                    </a:prstGeom>
                    <a:noFill/>
                  </p:spPr>
                  <p:txBody>
                    <a:bodyPr wrap="square" lIns="0" tIns="0" rIns="0" bIns="0" rtlCol="0">
                      <a:spAutoFit/>
                    </a:bodyPr>
                    <a:lstStyle/>
                    <a:p>
                      <a:pPr algn="l">
                        <a:spcBef>
                          <a:spcPts val="800"/>
                        </a:spcBef>
                      </a:pPr>
                      <a:r>
                        <a:rPr lang="en-US" sz="2000" dirty="0"/>
                        <a:t>Power = </a:t>
                      </a:r>
                      <a14:m>
                        <m:oMath xmlns:m="http://schemas.openxmlformats.org/officeDocument/2006/math">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𝑒𝑥𝑎𝑐𝑡</m:t>
                                  </m:r>
                                  <m:r>
                                    <a:rPr lang="en-US" sz="2000" b="0" i="1" smtClean="0">
                                      <a:latin typeface="Cambria Math" panose="02040503050406030204" pitchFamily="18" charset="0"/>
                                    </a:rPr>
                                    <m:t>_</m:t>
                                  </m:r>
                                  <m:r>
                                    <a:rPr lang="en-US" sz="2000" b="0" i="1" smtClean="0">
                                      <a:latin typeface="Cambria Math" panose="02040503050406030204" pitchFamily="18" charset="0"/>
                                    </a:rPr>
                                    <m:t>𝑚𝑎𝑡𝑐</m:t>
                                  </m:r>
                                  <m:r>
                                    <a:rPr lang="en-US" sz="2000" b="0" i="1" smtClean="0">
                                      <a:latin typeface="Cambria Math" panose="02040503050406030204" pitchFamily="18" charset="0"/>
                                    </a:rPr>
                                    <m:t>h</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𝑡𝑜𝑡𝑎𝑙</m:t>
                                  </m:r>
                                </m:sub>
                              </m:sSub>
                            </m:den>
                          </m:f>
                        </m:oMath>
                      </a14:m>
                      <a:endParaRPr lang="en-US" sz="2000" dirty="0" err="1"/>
                    </a:p>
                  </p:txBody>
                </p:sp>
              </mc:Choice>
              <mc:Fallback xmlns="">
                <p:sp>
                  <p:nvSpPr>
                    <p:cNvPr id="62" name="TextBox 61">
                      <a:extLst>
                        <a:ext uri="{FF2B5EF4-FFF2-40B4-BE49-F238E27FC236}">
                          <a16:creationId xmlns:a16="http://schemas.microsoft.com/office/drawing/2014/main" id="{09F836B7-C157-2FDD-613D-A3B553925684}"/>
                        </a:ext>
                      </a:extLst>
                    </p:cNvPr>
                    <p:cNvSpPr txBox="1">
                      <a:spLocks noRot="1" noChangeAspect="1" noMove="1" noResize="1" noEditPoints="1" noAdjustHandles="1" noChangeArrowheads="1" noChangeShapeType="1" noTextEdit="1"/>
                    </p:cNvSpPr>
                    <p:nvPr/>
                  </p:nvSpPr>
                  <p:spPr>
                    <a:xfrm>
                      <a:off x="3125741" y="2170757"/>
                      <a:ext cx="3112230" cy="448607"/>
                    </a:xfrm>
                    <a:prstGeom prst="rect">
                      <a:avLst/>
                    </a:prstGeom>
                    <a:blipFill>
                      <a:blip r:embed="rId11"/>
                      <a:stretch>
                        <a:fillRect l="-4892" t="-20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26D121FB-445E-5DEC-ED62-9963B5006169}"/>
                        </a:ext>
                      </a:extLst>
                    </p:cNvPr>
                    <p:cNvSpPr txBox="1"/>
                    <p:nvPr/>
                  </p:nvSpPr>
                  <p:spPr>
                    <a:xfrm>
                      <a:off x="3106515" y="2693512"/>
                      <a:ext cx="2877711" cy="355674"/>
                    </a:xfrm>
                    <a:prstGeom prst="rect">
                      <a:avLst/>
                    </a:prstGeom>
                    <a:noFill/>
                  </p:spPr>
                  <p:txBody>
                    <a:bodyPr wrap="none" lIns="0" tIns="0" rIns="0" bIns="0" rtlCol="0">
                      <a:spAutoFit/>
                    </a:bodyPr>
                    <a:lstStyle/>
                    <a:p>
                      <a:pPr>
                        <a:spcBef>
                          <a:spcPts val="800"/>
                        </a:spcBef>
                      </a:pPr>
                      <a14:m>
                        <m:oMath xmlns:m="http://schemas.openxmlformats.org/officeDocument/2006/math">
                          <m:sSub>
                            <m:sSubPr>
                              <m:ctrlPr>
                                <a:rPr lang="en-US" sz="2000" i="1" dirty="0">
                                  <a:latin typeface="Cambria Math" panose="02040503050406030204" pitchFamily="18" charset="0"/>
                                </a:rPr>
                              </m:ctrlPr>
                            </m:sSubPr>
                            <m:e>
                              <m:r>
                                <m:rPr>
                                  <m:nor/>
                                </m:rPr>
                                <a:rPr lang="en-US" sz="2000" i="0" dirty="0"/>
                                <m:t>Power</m:t>
                              </m:r>
                            </m:e>
                            <m:sub>
                              <m:r>
                                <a:rPr lang="en-US" sz="2000" b="0" i="1" smtClean="0">
                                  <a:latin typeface="Cambria Math" panose="02040503050406030204" pitchFamily="18" charset="0"/>
                                </a:rPr>
                                <m:t>𝑀𝑖𝑛𝑆𝑢𝑐</m:t>
                              </m:r>
                            </m:sub>
                          </m:sSub>
                        </m:oMath>
                      </a14:m>
                      <a:r>
                        <a:rPr lang="en-US" sz="2000" dirty="0"/>
                        <a:t> = </a:t>
                      </a:r>
                      <a14:m>
                        <m:oMath xmlns:m="http://schemas.openxmlformats.org/officeDocument/2006/math">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𝑒𝑥𝑎𝑐𝑡</m:t>
                                  </m:r>
                                  <m:r>
                                    <a:rPr lang="en-US" sz="2000" b="0" i="1" smtClean="0">
                                      <a:latin typeface="Cambria Math" panose="02040503050406030204" pitchFamily="18" charset="0"/>
                                    </a:rPr>
                                    <m:t>_</m:t>
                                  </m:r>
                                  <m:r>
                                    <a:rPr lang="en-US" sz="2000" b="0" i="1" smtClean="0">
                                      <a:latin typeface="Cambria Math" panose="02040503050406030204" pitchFamily="18" charset="0"/>
                                    </a:rPr>
                                    <m:t>𝑚𝑎𝑡𝑐</m:t>
                                  </m:r>
                                  <m:r>
                                    <a:rPr lang="en-US" sz="2000" b="0" i="1" smtClean="0">
                                      <a:latin typeface="Cambria Math" panose="02040503050406030204" pitchFamily="18" charset="0"/>
                                    </a:rPr>
                                    <m:t>h</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𝑡𝑜𝑡𝑎𝑙</m:t>
                                  </m:r>
                                </m:sub>
                              </m:sSub>
                            </m:den>
                          </m:f>
                        </m:oMath>
                      </a14:m>
                      <a:endParaRPr lang="en-US" sz="2000" dirty="0" err="1"/>
                    </a:p>
                  </p:txBody>
                </p:sp>
              </mc:Choice>
              <mc:Fallback xmlns="">
                <p:sp>
                  <p:nvSpPr>
                    <p:cNvPr id="64" name="TextBox 63">
                      <a:extLst>
                        <a:ext uri="{FF2B5EF4-FFF2-40B4-BE49-F238E27FC236}">
                          <a16:creationId xmlns:a16="http://schemas.microsoft.com/office/drawing/2014/main" id="{26D121FB-445E-5DEC-ED62-9963B5006169}"/>
                        </a:ext>
                      </a:extLst>
                    </p:cNvPr>
                    <p:cNvSpPr txBox="1">
                      <a:spLocks noRot="1" noChangeAspect="1" noMove="1" noResize="1" noEditPoints="1" noAdjustHandles="1" noChangeArrowheads="1" noChangeShapeType="1" noTextEdit="1"/>
                    </p:cNvSpPr>
                    <p:nvPr/>
                  </p:nvSpPr>
                  <p:spPr>
                    <a:xfrm>
                      <a:off x="3106515" y="2693512"/>
                      <a:ext cx="2877711" cy="355674"/>
                    </a:xfrm>
                    <a:prstGeom prst="rect">
                      <a:avLst/>
                    </a:prstGeom>
                    <a:blipFill>
                      <a:blip r:embed="rId12"/>
                      <a:stretch>
                        <a:fillRect t="-2532" b="-8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B5260B9B-0438-F4B8-689F-EB18912AFDFA}"/>
                        </a:ext>
                      </a:extLst>
                    </p:cNvPr>
                    <p:cNvSpPr txBox="1"/>
                    <p:nvPr/>
                  </p:nvSpPr>
                  <p:spPr>
                    <a:xfrm>
                      <a:off x="3125741" y="3277208"/>
                      <a:ext cx="2457724" cy="355674"/>
                    </a:xfrm>
                    <a:prstGeom prst="rect">
                      <a:avLst/>
                    </a:prstGeom>
                    <a:noFill/>
                  </p:spPr>
                  <p:txBody>
                    <a:bodyPr wrap="none" lIns="0" tIns="0" rIns="0" bIns="0" rtlCol="0">
                      <a:spAutoFit/>
                    </a:bodyPr>
                    <a:lstStyle/>
                    <a:p>
                      <a:pPr>
                        <a:spcBef>
                          <a:spcPts val="800"/>
                        </a:spcBef>
                      </a:pPr>
                      <a14:m>
                        <m:oMath xmlns:m="http://schemas.openxmlformats.org/officeDocument/2006/math">
                          <m:sSub>
                            <m:sSubPr>
                              <m:ctrlPr>
                                <a:rPr lang="en-US" sz="2000" i="1" dirty="0">
                                  <a:latin typeface="Cambria Math" panose="02040503050406030204" pitchFamily="18" charset="0"/>
                                </a:rPr>
                              </m:ctrlPr>
                            </m:sSubPr>
                            <m:e>
                              <m:r>
                                <m:rPr>
                                  <m:nor/>
                                </m:rPr>
                                <a:rPr lang="en-US" sz="2000" i="0" dirty="0"/>
                                <m:t>Power</m:t>
                              </m:r>
                            </m:e>
                            <m:sub>
                              <m:r>
                                <a:rPr lang="en-US" sz="2000" b="0" i="1" dirty="0" smtClean="0">
                                  <a:latin typeface="Cambria Math" panose="02040503050406030204" pitchFamily="18" charset="0"/>
                                </a:rPr>
                                <m:t>𝐶𝑁</m:t>
                              </m:r>
                            </m:sub>
                          </m:sSub>
                        </m:oMath>
                      </a14:m>
                      <a:r>
                        <a:rPr lang="en-US" sz="2000" dirty="0"/>
                        <a:t> = </a:t>
                      </a:r>
                      <a14:m>
                        <m:oMath xmlns:m="http://schemas.openxmlformats.org/officeDocument/2006/math">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𝑒𝑥𝑎𝑐𝑡</m:t>
                                  </m:r>
                                  <m:r>
                                    <a:rPr lang="en-US" sz="2000" b="0" i="1" smtClean="0">
                                      <a:latin typeface="Cambria Math" panose="02040503050406030204" pitchFamily="18" charset="0"/>
                                    </a:rPr>
                                    <m:t>_</m:t>
                                  </m:r>
                                  <m:r>
                                    <a:rPr lang="en-US" sz="2000" b="0" i="1" smtClean="0">
                                      <a:latin typeface="Cambria Math" panose="02040503050406030204" pitchFamily="18" charset="0"/>
                                    </a:rPr>
                                    <m:t>𝑚𝑎𝑡𝑐</m:t>
                                  </m:r>
                                  <m:r>
                                    <a:rPr lang="en-US" sz="2000" b="0" i="1" smtClean="0">
                                      <a:latin typeface="Cambria Math" panose="02040503050406030204" pitchFamily="18" charset="0"/>
                                    </a:rPr>
                                    <m:t>h</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𝑡𝑜𝑡𝑎𝑙</m:t>
                                  </m:r>
                                </m:sub>
                              </m:sSub>
                            </m:den>
                          </m:f>
                        </m:oMath>
                      </a14:m>
                      <a:endParaRPr lang="en-US" sz="2000" dirty="0" err="1"/>
                    </a:p>
                  </p:txBody>
                </p:sp>
              </mc:Choice>
              <mc:Fallback xmlns="">
                <p:sp>
                  <p:nvSpPr>
                    <p:cNvPr id="66" name="TextBox 65">
                      <a:extLst>
                        <a:ext uri="{FF2B5EF4-FFF2-40B4-BE49-F238E27FC236}">
                          <a16:creationId xmlns:a16="http://schemas.microsoft.com/office/drawing/2014/main" id="{B5260B9B-0438-F4B8-689F-EB18912AFDFA}"/>
                        </a:ext>
                      </a:extLst>
                    </p:cNvPr>
                    <p:cNvSpPr txBox="1">
                      <a:spLocks noRot="1" noChangeAspect="1" noMove="1" noResize="1" noEditPoints="1" noAdjustHandles="1" noChangeArrowheads="1" noChangeShapeType="1" noTextEdit="1"/>
                    </p:cNvSpPr>
                    <p:nvPr/>
                  </p:nvSpPr>
                  <p:spPr>
                    <a:xfrm>
                      <a:off x="3125741" y="3277208"/>
                      <a:ext cx="2457724" cy="355674"/>
                    </a:xfrm>
                    <a:prstGeom prst="rect">
                      <a:avLst/>
                    </a:prstGeom>
                    <a:blipFill>
                      <a:blip r:embed="rId13"/>
                      <a:stretch>
                        <a:fillRect t="-2532" b="-10127"/>
                      </a:stretch>
                    </a:blipFill>
                  </p:spPr>
                  <p:txBody>
                    <a:bodyPr/>
                    <a:lstStyle/>
                    <a:p>
                      <a:r>
                        <a:rPr lang="en-US">
                          <a:noFill/>
                        </a:rPr>
                        <a:t> </a:t>
                      </a:r>
                    </a:p>
                  </p:txBody>
                </p:sp>
              </mc:Fallback>
            </mc:AlternateContent>
            <p:cxnSp>
              <p:nvCxnSpPr>
                <p:cNvPr id="68" name="Straight Connector 67">
                  <a:extLst>
                    <a:ext uri="{FF2B5EF4-FFF2-40B4-BE49-F238E27FC236}">
                      <a16:creationId xmlns:a16="http://schemas.microsoft.com/office/drawing/2014/main" id="{ACDA4C7B-8882-3F42-E5A9-6DB34D7AE2BB}"/>
                    </a:ext>
                  </a:extLst>
                </p:cNvPr>
                <p:cNvCxnSpPr/>
                <p:nvPr/>
              </p:nvCxnSpPr>
              <p:spPr>
                <a:xfrm>
                  <a:off x="6142564" y="2654680"/>
                  <a:ext cx="0" cy="49303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EE361538-A82C-570B-2E05-DAC0C1E3FE42}"/>
                    </a:ext>
                  </a:extLst>
                </p:cNvPr>
                <p:cNvCxnSpPr/>
                <p:nvPr/>
              </p:nvCxnSpPr>
              <p:spPr>
                <a:xfrm>
                  <a:off x="5758386" y="3246784"/>
                  <a:ext cx="0" cy="49303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DC2BBBBE-6835-06C0-837A-53DCAB8152BE}"/>
                        </a:ext>
                      </a:extLst>
                    </p:cNvPr>
                    <p:cNvSpPr txBox="1"/>
                    <p:nvPr/>
                  </p:nvSpPr>
                  <p:spPr>
                    <a:xfrm>
                      <a:off x="6073390" y="2733337"/>
                      <a:ext cx="1066135"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𝑀𝑖𝑛𝑆𝑢</m:t>
                            </m:r>
                            <m:r>
                              <m:rPr>
                                <m:sty m:val="p"/>
                              </m:rPr>
                              <a:rPr lang="en-US" altLang="zh-CN" sz="1600" i="1">
                                <a:latin typeface="Cambria Math" panose="02040503050406030204" pitchFamily="18" charset="0"/>
                              </a:rPr>
                              <m:t>c</m:t>
                            </m:r>
                          </m:oMath>
                        </m:oMathPara>
                      </a14:m>
                      <a:endParaRPr lang="en-US" sz="1600" dirty="0"/>
                    </a:p>
                  </p:txBody>
                </p:sp>
              </mc:Choice>
              <mc:Fallback xmlns="">
                <p:sp>
                  <p:nvSpPr>
                    <p:cNvPr id="71" name="TextBox 70">
                      <a:extLst>
                        <a:ext uri="{FF2B5EF4-FFF2-40B4-BE49-F238E27FC236}">
                          <a16:creationId xmlns:a16="http://schemas.microsoft.com/office/drawing/2014/main" id="{DC2BBBBE-6835-06C0-837A-53DCAB8152BE}"/>
                        </a:ext>
                      </a:extLst>
                    </p:cNvPr>
                    <p:cNvSpPr txBox="1">
                      <a:spLocks noRot="1" noChangeAspect="1" noMove="1" noResize="1" noEditPoints="1" noAdjustHandles="1" noChangeArrowheads="1" noChangeShapeType="1" noTextEdit="1"/>
                    </p:cNvSpPr>
                    <p:nvPr/>
                  </p:nvSpPr>
                  <p:spPr>
                    <a:xfrm>
                      <a:off x="6073390" y="2733337"/>
                      <a:ext cx="1066135"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F6F14072-CA23-452F-2E79-DCFC70E04B9E}"/>
                        </a:ext>
                      </a:extLst>
                    </p:cNvPr>
                    <p:cNvSpPr txBox="1"/>
                    <p:nvPr/>
                  </p:nvSpPr>
                  <p:spPr>
                    <a:xfrm>
                      <a:off x="5649825" y="3354026"/>
                      <a:ext cx="1412539" cy="2504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m:t>
                            </m:r>
                            <m:r>
                              <a:rPr lang="en-US" sz="1600" b="0" i="1" dirty="0" smtClean="0">
                                <a:latin typeface="Cambria Math" panose="02040503050406030204" pitchFamily="18" charset="0"/>
                              </a:rPr>
                              <m:t>𝐶𝑁</m:t>
                            </m:r>
                            <m:r>
                              <a:rPr lang="en-US" sz="1600" b="0" i="1" dirty="0" smtClean="0">
                                <a:latin typeface="Cambria Math" panose="02040503050406030204" pitchFamily="18" charset="0"/>
                              </a:rPr>
                              <m:t>&lt;</m:t>
                            </m:r>
                            <m:r>
                              <a:rPr lang="en-US" sz="1600" b="0" i="1" dirty="0" smtClean="0">
                                <a:latin typeface="Cambria Math" panose="02040503050406030204" pitchFamily="18" charset="0"/>
                              </a:rPr>
                              <m:t>1000</m:t>
                            </m:r>
                          </m:oMath>
                        </m:oMathPara>
                      </a14:m>
                      <a:endParaRPr lang="en-US" sz="1600" dirty="0"/>
                    </a:p>
                  </p:txBody>
                </p:sp>
              </mc:Choice>
              <mc:Fallback xmlns="">
                <p:sp>
                  <p:nvSpPr>
                    <p:cNvPr id="73" name="TextBox 72">
                      <a:extLst>
                        <a:ext uri="{FF2B5EF4-FFF2-40B4-BE49-F238E27FC236}">
                          <a16:creationId xmlns:a16="http://schemas.microsoft.com/office/drawing/2014/main" id="{F6F14072-CA23-452F-2E79-DCFC70E04B9E}"/>
                        </a:ext>
                      </a:extLst>
                    </p:cNvPr>
                    <p:cNvSpPr txBox="1">
                      <a:spLocks noRot="1" noChangeAspect="1" noMove="1" noResize="1" noEditPoints="1" noAdjustHandles="1" noChangeArrowheads="1" noChangeShapeType="1" noTextEdit="1"/>
                    </p:cNvSpPr>
                    <p:nvPr/>
                  </p:nvSpPr>
                  <p:spPr>
                    <a:xfrm>
                      <a:off x="5649825" y="3354026"/>
                      <a:ext cx="1412539" cy="250428"/>
                    </a:xfrm>
                    <a:prstGeom prst="rect">
                      <a:avLst/>
                    </a:prstGeom>
                    <a:blipFill>
                      <a:blip r:embed="rId15"/>
                      <a:stretch>
                        <a:fillRect/>
                      </a:stretch>
                    </a:blipFill>
                  </p:spPr>
                  <p:txBody>
                    <a:bodyPr/>
                    <a:lstStyle/>
                    <a:p>
                      <a:r>
                        <a:rPr lang="en-US">
                          <a:noFill/>
                        </a:rPr>
                        <a:t> </a:t>
                      </a:r>
                    </a:p>
                  </p:txBody>
                </p:sp>
              </mc:Fallback>
            </mc:AlternateContent>
            <p:sp>
              <p:nvSpPr>
                <p:cNvPr id="77" name="t1">
                  <a:extLst>
                    <a:ext uri="{FF2B5EF4-FFF2-40B4-BE49-F238E27FC236}">
                      <a16:creationId xmlns:a16="http://schemas.microsoft.com/office/drawing/2014/main" id="{7DECBDCD-563E-3EAF-0A8E-7348C9046AD4}"/>
                    </a:ext>
                  </a:extLst>
                </p:cNvPr>
                <p:cNvSpPr txBox="1"/>
                <p:nvPr/>
              </p:nvSpPr>
              <p:spPr>
                <a:xfrm>
                  <a:off x="3810258" y="1676508"/>
                  <a:ext cx="3112231" cy="308338"/>
                </a:xfrm>
                <a:prstGeom prst="rect">
                  <a:avLst/>
                </a:prstGeom>
                <a:noFill/>
              </p:spPr>
              <p:txBody>
                <a:bodyPr wrap="square" lIns="0" tIns="0" rIns="0" bIns="0" anchor="t"/>
                <a:lstStyle/>
                <a:p>
                  <a:pPr marL="0">
                    <a:lnSpc>
                      <a:spcPct val="102000"/>
                    </a:lnSpc>
                    <a:spcAft>
                      <a:spcPts val="40"/>
                    </a:spcAft>
                    <a:buNone/>
                  </a:pPr>
                  <a:r>
                    <a:rPr lang="en-US" sz="2000" b="1" i="0" dirty="0">
                      <a:solidFill>
                        <a:srgbClr val="0460A9"/>
                      </a:solidFill>
                      <a:latin typeface="Arial"/>
                      <a:cs typeface="Arial"/>
                    </a:rPr>
                    <a:t>Power (Exact match) </a:t>
                  </a:r>
                </a:p>
              </p:txBody>
            </p:sp>
          </p:grpSp>
        </p:grpSp>
        <p:pic>
          <p:nvPicPr>
            <p:cNvPr id="22" name="Graphic 21" descr="Bullseye with solid fill">
              <a:extLst>
                <a:ext uri="{FF2B5EF4-FFF2-40B4-BE49-F238E27FC236}">
                  <a16:creationId xmlns:a16="http://schemas.microsoft.com/office/drawing/2014/main" id="{37AFD833-5A7E-D0F3-F3F7-139443BF297C}"/>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758562" y="4499618"/>
              <a:ext cx="973749" cy="973749"/>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82E44B5-3B07-6B24-25A0-6A623EE64231}"/>
              </a:ext>
            </a:extLst>
          </p:cNvPr>
          <p:cNvSpPr>
            <a:spLocks noGrp="1"/>
          </p:cNvSpPr>
          <p:nvPr>
            <p:ph type="sldNum" sz="quarter" idx="12"/>
          </p:nvPr>
        </p:nvSpPr>
        <p:spPr/>
        <p:txBody>
          <a:bodyPr/>
          <a:lstStyle/>
          <a:p>
            <a:fld id="{1EDD9F3E-8BFD-4E3C-98D1-767322780FDD}" type="slidenum">
              <a:rPr lang="en-US" noProof="0" smtClean="0"/>
              <a:t>15</a:t>
            </a:fld>
            <a:endParaRPr lang="en-US" noProof="0"/>
          </a:p>
        </p:txBody>
      </p:sp>
      <p:sp>
        <p:nvSpPr>
          <p:cNvPr id="6" name="Content Placeholder 1">
            <a:extLst>
              <a:ext uri="{FF2B5EF4-FFF2-40B4-BE49-F238E27FC236}">
                <a16:creationId xmlns:a16="http://schemas.microsoft.com/office/drawing/2014/main" id="{2E9247C7-47AD-BE43-8678-2D2196AADAE4}"/>
              </a:ext>
            </a:extLst>
          </p:cNvPr>
          <p:cNvSpPr txBox="1">
            <a:spLocks/>
          </p:cNvSpPr>
          <p:nvPr/>
        </p:nvSpPr>
        <p:spPr bwMode="gray">
          <a:xfrm>
            <a:off x="548640" y="411480"/>
            <a:ext cx="11064240" cy="387798"/>
          </a:xfrm>
          <a:prstGeom prst="rect">
            <a:avLst/>
          </a:prstGeom>
        </p:spPr>
        <p:txBody>
          <a:bodyPr vert="horz"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r>
              <a:rPr lang="en-US" sz="2800" dirty="0">
                <a:solidFill>
                  <a:srgbClr val="0460A9"/>
                </a:solidFill>
                <a:latin typeface="Arial"/>
                <a:cs typeface="Arial"/>
              </a:rPr>
              <a:t>Four operating characteristics score every method</a:t>
            </a:r>
          </a:p>
        </p:txBody>
      </p:sp>
      <p:grpSp>
        <p:nvGrpSpPr>
          <p:cNvPr id="7" name="Group 6">
            <a:extLst>
              <a:ext uri="{FF2B5EF4-FFF2-40B4-BE49-F238E27FC236}">
                <a16:creationId xmlns:a16="http://schemas.microsoft.com/office/drawing/2014/main" id="{440F4546-59A1-2F87-BABB-B005C208FD73}"/>
              </a:ext>
            </a:extLst>
          </p:cNvPr>
          <p:cNvGrpSpPr/>
          <p:nvPr/>
        </p:nvGrpSpPr>
        <p:grpSpPr>
          <a:xfrm>
            <a:off x="636664" y="1081377"/>
            <a:ext cx="4511806" cy="4838459"/>
            <a:chOff x="7101074" y="1256306"/>
            <a:chExt cx="4511806" cy="4838459"/>
          </a:xfrm>
        </p:grpSpPr>
        <p:sp>
          <p:nvSpPr>
            <p:cNvPr id="8" name="c3">
              <a:extLst>
                <a:ext uri="{FF2B5EF4-FFF2-40B4-BE49-F238E27FC236}">
                  <a16:creationId xmlns:a16="http://schemas.microsoft.com/office/drawing/2014/main" id="{106E4349-696D-6C1E-69AD-A65E3EF4B748}"/>
                </a:ext>
              </a:extLst>
            </p:cNvPr>
            <p:cNvSpPr/>
            <p:nvPr/>
          </p:nvSpPr>
          <p:spPr>
            <a:xfrm>
              <a:off x="7409258" y="1256306"/>
              <a:ext cx="4203622" cy="3965017"/>
            </a:xfrm>
            <a:prstGeom prst="roundRect">
              <a:avLst>
                <a:gd name="adj" fmla="val 6000"/>
              </a:avLst>
            </a:prstGeom>
            <a:solidFill>
              <a:srgbClr val="F4F7FB"/>
            </a:solidFill>
            <a:ln w="9525">
              <a:solidFill>
                <a:srgbClr val="D6E2F0"/>
              </a:solidFill>
            </a:ln>
          </p:spPr>
          <p:txBody>
            <a:bodyPr/>
            <a:lstStyle/>
            <a:p>
              <a:pPr>
                <a:buNone/>
              </a:pPr>
              <a:endParaRPr lang="en-US"/>
            </a:p>
          </p:txBody>
        </p:sp>
        <p:sp>
          <p:nvSpPr>
            <p:cNvPr id="9" name="n33">
              <a:extLst>
                <a:ext uri="{FF2B5EF4-FFF2-40B4-BE49-F238E27FC236}">
                  <a16:creationId xmlns:a16="http://schemas.microsoft.com/office/drawing/2014/main" id="{F9E8816A-702F-CF8E-F68F-CB20FD4529FF}"/>
                </a:ext>
              </a:extLst>
            </p:cNvPr>
            <p:cNvSpPr/>
            <p:nvPr/>
          </p:nvSpPr>
          <p:spPr>
            <a:xfrm>
              <a:off x="7701818" y="1479894"/>
              <a:ext cx="440000" cy="440000"/>
            </a:xfrm>
            <a:prstGeom prst="ellipse">
              <a:avLst/>
            </a:prstGeom>
            <a:solidFill>
              <a:srgbClr val="0460A9"/>
            </a:solidFill>
            <a:ln>
              <a:noFill/>
            </a:ln>
          </p:spPr>
          <p:txBody>
            <a:bodyPr lIns="0" tIns="0" rIns="0" bIns="0" anchor="ctr"/>
            <a:lstStyle/>
            <a:p>
              <a:pPr algn="ctr">
                <a:buNone/>
              </a:pPr>
              <a:r>
                <a:rPr lang="en-US" sz="1600" b="1" dirty="0">
                  <a:solidFill>
                    <a:srgbClr val="FFFFFF"/>
                  </a:solidFill>
                  <a:latin typeface="Arial"/>
                  <a:cs typeface="Arial"/>
                </a:rPr>
                <a:t>3</a:t>
              </a:r>
              <a:endParaRPr lang="en-US" sz="1600" b="1" i="0" dirty="0">
                <a:solidFill>
                  <a:srgbClr val="FFFFFF"/>
                </a:solidFill>
                <a:latin typeface="Arial"/>
                <a:cs typeface="Arial"/>
              </a:endParaRPr>
            </a:p>
          </p:txBody>
        </p:sp>
        <p:sp>
          <p:nvSpPr>
            <p:cNvPr id="10" name="t3">
              <a:extLst>
                <a:ext uri="{FF2B5EF4-FFF2-40B4-BE49-F238E27FC236}">
                  <a16:creationId xmlns:a16="http://schemas.microsoft.com/office/drawing/2014/main" id="{DB03766F-AA35-E739-1721-84BD4AF2D3DA}"/>
                </a:ext>
              </a:extLst>
            </p:cNvPr>
            <p:cNvSpPr txBox="1"/>
            <p:nvPr/>
          </p:nvSpPr>
          <p:spPr>
            <a:xfrm>
              <a:off x="8515910" y="1576508"/>
              <a:ext cx="2467879" cy="520000"/>
            </a:xfrm>
            <a:prstGeom prst="rect">
              <a:avLst/>
            </a:prstGeom>
            <a:noFill/>
          </p:spPr>
          <p:txBody>
            <a:bodyPr wrap="square" lIns="0" tIns="0" rIns="0" bIns="0" anchor="t"/>
            <a:lstStyle/>
            <a:p>
              <a:pPr marL="0" algn="l">
                <a:lnSpc>
                  <a:spcPct val="102000"/>
                </a:lnSpc>
                <a:spcAft>
                  <a:spcPts val="40"/>
                </a:spcAft>
                <a:buNone/>
              </a:pPr>
              <a:r>
                <a:rPr lang="en-US" b="1" i="0" dirty="0">
                  <a:solidFill>
                    <a:srgbClr val="0460A9"/>
                  </a:solidFill>
                  <a:latin typeface="Arial"/>
                  <a:cs typeface="Arial"/>
                </a:rPr>
                <a:t>Estimation accuracy</a:t>
              </a:r>
            </a:p>
          </p:txBody>
        </p:sp>
        <p:sp>
          <p:nvSpPr>
            <p:cNvPr id="11" name="rcap">
              <a:extLst>
                <a:ext uri="{FF2B5EF4-FFF2-40B4-BE49-F238E27FC236}">
                  <a16:creationId xmlns:a16="http://schemas.microsoft.com/office/drawing/2014/main" id="{664CFD1D-FA7D-9C56-13D4-15900718872C}"/>
                </a:ext>
              </a:extLst>
            </p:cNvPr>
            <p:cNvSpPr txBox="1"/>
            <p:nvPr/>
          </p:nvSpPr>
          <p:spPr>
            <a:xfrm>
              <a:off x="7996657" y="2072200"/>
              <a:ext cx="3087879" cy="504488"/>
            </a:xfrm>
            <a:prstGeom prst="rect">
              <a:avLst/>
            </a:prstGeom>
            <a:noFill/>
          </p:spPr>
          <p:txBody>
            <a:bodyPr wrap="square" lIns="0" tIns="0" rIns="0" bIns="0" anchor="t"/>
            <a:lstStyle/>
            <a:p>
              <a:pPr marL="0">
                <a:lnSpc>
                  <a:spcPct val="104000"/>
                </a:lnSpc>
                <a:spcAft>
                  <a:spcPts val="40"/>
                </a:spcAft>
                <a:buNone/>
              </a:pPr>
              <a:r>
                <a:rPr lang="en-US" sz="1600" b="1" i="0" dirty="0">
                  <a:solidFill>
                    <a:srgbClr val="3C3C3C"/>
                  </a:solidFill>
                  <a:latin typeface="Arial"/>
                  <a:cs typeface="Arial"/>
                </a:rPr>
                <a:t>RMRSE — outlier-sensitive</a:t>
              </a:r>
            </a:p>
          </p:txBody>
        </p:sp>
        <p:sp>
          <p:nvSpPr>
            <p:cNvPr id="12" name="mcap">
              <a:extLst>
                <a:ext uri="{FF2B5EF4-FFF2-40B4-BE49-F238E27FC236}">
                  <a16:creationId xmlns:a16="http://schemas.microsoft.com/office/drawing/2014/main" id="{78F64E04-3375-FB8A-778C-7795B704986D}"/>
                </a:ext>
              </a:extLst>
            </p:cNvPr>
            <p:cNvSpPr txBox="1"/>
            <p:nvPr/>
          </p:nvSpPr>
          <p:spPr>
            <a:xfrm>
              <a:off x="8079293" y="3476526"/>
              <a:ext cx="2202866" cy="355682"/>
            </a:xfrm>
            <a:prstGeom prst="rect">
              <a:avLst/>
            </a:prstGeom>
            <a:noFill/>
          </p:spPr>
          <p:txBody>
            <a:bodyPr wrap="square" lIns="0" tIns="0" rIns="0" bIns="0" anchor="t"/>
            <a:lstStyle/>
            <a:p>
              <a:pPr marL="0">
                <a:lnSpc>
                  <a:spcPct val="104000"/>
                </a:lnSpc>
                <a:spcAft>
                  <a:spcPts val="40"/>
                </a:spcAft>
                <a:buNone/>
              </a:pPr>
              <a:r>
                <a:rPr lang="en-US" sz="1600" b="1" i="0" dirty="0">
                  <a:solidFill>
                    <a:srgbClr val="3C3C3C"/>
                  </a:solidFill>
                  <a:latin typeface="Arial"/>
                  <a:cs typeface="Arial"/>
                </a:rPr>
                <a:t>MARE — robust</a:t>
              </a:r>
            </a:p>
          </p:txBody>
        </p:sp>
        <p:grpSp>
          <p:nvGrpSpPr>
            <p:cNvPr id="13" name="Group 12">
              <a:extLst>
                <a:ext uri="{FF2B5EF4-FFF2-40B4-BE49-F238E27FC236}">
                  <a16:creationId xmlns:a16="http://schemas.microsoft.com/office/drawing/2014/main" id="{EC585B0E-48AE-A3A1-253C-D2EA8D402BA4}"/>
                </a:ext>
              </a:extLst>
            </p:cNvPr>
            <p:cNvGrpSpPr/>
            <p:nvPr/>
          </p:nvGrpSpPr>
          <p:grpSpPr>
            <a:xfrm>
              <a:off x="7478712" y="5298901"/>
              <a:ext cx="4107357" cy="795864"/>
              <a:chOff x="7836788" y="4580844"/>
              <a:chExt cx="3927612" cy="795864"/>
            </a:xfrm>
          </p:grpSpPr>
          <p:sp>
            <p:nvSpPr>
              <p:cNvPr id="17" name="c4">
                <a:extLst>
                  <a:ext uri="{FF2B5EF4-FFF2-40B4-BE49-F238E27FC236}">
                    <a16:creationId xmlns:a16="http://schemas.microsoft.com/office/drawing/2014/main" id="{5F828867-B5EB-2AD5-A8A6-FE312851978E}"/>
                  </a:ext>
                </a:extLst>
              </p:cNvPr>
              <p:cNvSpPr/>
              <p:nvPr/>
            </p:nvSpPr>
            <p:spPr>
              <a:xfrm>
                <a:off x="7836788" y="4580844"/>
                <a:ext cx="3927612" cy="795864"/>
              </a:xfrm>
              <a:prstGeom prst="roundRect">
                <a:avLst>
                  <a:gd name="adj" fmla="val 6000"/>
                </a:avLst>
              </a:prstGeom>
              <a:solidFill>
                <a:srgbClr val="F4F7FB"/>
              </a:solidFill>
              <a:ln w="9525">
                <a:solidFill>
                  <a:srgbClr val="D6E2F0"/>
                </a:solidFill>
              </a:ln>
            </p:spPr>
            <p:txBody>
              <a:bodyPr/>
              <a:lstStyle/>
              <a:p>
                <a:pPr>
                  <a:buNone/>
                </a:pPr>
                <a:endParaRPr lang="en-US" dirty="0"/>
              </a:p>
            </p:txBody>
          </p:sp>
          <p:sp>
            <p:nvSpPr>
              <p:cNvPr id="18" name="n37">
                <a:extLst>
                  <a:ext uri="{FF2B5EF4-FFF2-40B4-BE49-F238E27FC236}">
                    <a16:creationId xmlns:a16="http://schemas.microsoft.com/office/drawing/2014/main" id="{D0E76F4B-23E4-7A93-CF82-E5C6B82BD057}"/>
                  </a:ext>
                </a:extLst>
              </p:cNvPr>
              <p:cNvSpPr/>
              <p:nvPr/>
            </p:nvSpPr>
            <p:spPr>
              <a:xfrm>
                <a:off x="7949882" y="4601449"/>
                <a:ext cx="429254" cy="440000"/>
              </a:xfrm>
              <a:prstGeom prst="ellipse">
                <a:avLst/>
              </a:prstGeom>
              <a:solidFill>
                <a:srgbClr val="0E7C7B"/>
              </a:solidFill>
              <a:ln>
                <a:noFill/>
              </a:ln>
            </p:spPr>
            <p:txBody>
              <a:bodyPr lIns="0" tIns="0" rIns="0" bIns="0" anchor="ctr"/>
              <a:lstStyle/>
              <a:p>
                <a:pPr algn="ctr">
                  <a:buNone/>
                </a:pPr>
                <a:r>
                  <a:rPr lang="en-US" sz="1600" b="1" dirty="0">
                    <a:solidFill>
                      <a:srgbClr val="FFFFFF"/>
                    </a:solidFill>
                    <a:latin typeface="Arial"/>
                    <a:cs typeface="Arial"/>
                  </a:rPr>
                  <a:t>4</a:t>
                </a:r>
                <a:endParaRPr lang="en-US" sz="1600" b="1" i="0" dirty="0">
                  <a:solidFill>
                    <a:srgbClr val="FFFFFF"/>
                  </a:solidFill>
                  <a:latin typeface="Arial"/>
                  <a:cs typeface="Arial"/>
                </a:endParaRPr>
              </a:p>
            </p:txBody>
          </p:sp>
          <p:sp>
            <p:nvSpPr>
              <p:cNvPr id="19" name="t4">
                <a:extLst>
                  <a:ext uri="{FF2B5EF4-FFF2-40B4-BE49-F238E27FC236}">
                    <a16:creationId xmlns:a16="http://schemas.microsoft.com/office/drawing/2014/main" id="{77706914-73D1-63B6-6A8E-42D9C941DFF9}"/>
                  </a:ext>
                </a:extLst>
              </p:cNvPr>
              <p:cNvSpPr txBox="1"/>
              <p:nvPr/>
            </p:nvSpPr>
            <p:spPr>
              <a:xfrm>
                <a:off x="8625890" y="4700109"/>
                <a:ext cx="1979450" cy="520000"/>
              </a:xfrm>
              <a:prstGeom prst="rect">
                <a:avLst/>
              </a:prstGeom>
              <a:noFill/>
            </p:spPr>
            <p:txBody>
              <a:bodyPr wrap="square" lIns="0" tIns="0" rIns="0" bIns="0" anchor="t"/>
              <a:lstStyle/>
              <a:p>
                <a:pPr marL="0" algn="l">
                  <a:lnSpc>
                    <a:spcPct val="102000"/>
                  </a:lnSpc>
                  <a:spcAft>
                    <a:spcPts val="40"/>
                  </a:spcAft>
                  <a:buNone/>
                </a:pPr>
                <a:r>
                  <a:rPr lang="en-US" b="1" i="0" dirty="0">
                    <a:solidFill>
                      <a:srgbClr val="0460A9"/>
                    </a:solidFill>
                    <a:latin typeface="Arial"/>
                    <a:cs typeface="Arial"/>
                  </a:rPr>
                  <a:t>Run-time</a:t>
                </a:r>
              </a:p>
            </p:txBody>
          </p:sp>
          <p:sp>
            <p:nvSpPr>
              <p:cNvPr id="20" name="TextBox 19">
                <a:extLst>
                  <a:ext uri="{FF2B5EF4-FFF2-40B4-BE49-F238E27FC236}">
                    <a16:creationId xmlns:a16="http://schemas.microsoft.com/office/drawing/2014/main" id="{8EE4E750-D540-58B5-9CD4-416E898A84FE}"/>
                  </a:ext>
                </a:extLst>
              </p:cNvPr>
              <p:cNvSpPr txBox="1"/>
              <p:nvPr/>
            </p:nvSpPr>
            <p:spPr>
              <a:xfrm>
                <a:off x="8332067" y="5020844"/>
                <a:ext cx="2405891" cy="334772"/>
              </a:xfrm>
              <a:prstGeom prst="rect">
                <a:avLst/>
              </a:prstGeom>
              <a:noFill/>
            </p:spPr>
            <p:txBody>
              <a:bodyPr wrap="square">
                <a:spAutoFit/>
              </a:bodyPr>
              <a:lstStyle/>
              <a:p>
                <a:pPr marL="0" algn="l">
                  <a:lnSpc>
                    <a:spcPct val="106000"/>
                  </a:lnSpc>
                  <a:spcAft>
                    <a:spcPts val="40"/>
                  </a:spcAft>
                  <a:buNone/>
                </a:pPr>
                <a:r>
                  <a:rPr lang="en-US" sz="1600" b="0" i="0" dirty="0">
                    <a:solidFill>
                      <a:srgbClr val="5A5A5A"/>
                    </a:solidFill>
                    <a:latin typeface="Arial"/>
                    <a:cs typeface="Arial"/>
                  </a:rPr>
                  <a:t>H</a:t>
                </a:r>
                <a:r>
                  <a:rPr lang="en-US" sz="1600" dirty="0">
                    <a:solidFill>
                      <a:srgbClr val="5A5A5A"/>
                    </a:solidFill>
                    <a:latin typeface="Arial"/>
                    <a:cs typeface="Arial"/>
                  </a:rPr>
                  <a:t>PCE CPU core=4</a:t>
                </a:r>
                <a:endParaRPr lang="en-US" sz="1600" b="0" i="0" dirty="0">
                  <a:solidFill>
                    <a:srgbClr val="5A5A5A"/>
                  </a:solidFill>
                  <a:latin typeface="Arial"/>
                  <a:cs typeface="Arial"/>
                </a:endParaRPr>
              </a:p>
            </p:txBody>
          </p:sp>
        </p:grpSp>
        <mc:AlternateContent xmlns:mc="http://schemas.openxmlformats.org/markup-compatibility/2006" xmlns:a14="http://schemas.microsoft.com/office/drawing/2010/main">
          <mc:Choice Requires="a14">
            <p:sp>
              <p:nvSpPr>
                <p:cNvPr id="14" name="rmrse_eq">
                  <a:extLst>
                    <a:ext uri="{FF2B5EF4-FFF2-40B4-BE49-F238E27FC236}">
                      <a16:creationId xmlns:a16="http://schemas.microsoft.com/office/drawing/2014/main" id="{24EF8916-E4F4-BB93-C9E6-258E89665F31}"/>
                    </a:ext>
                  </a:extLst>
                </p:cNvPr>
                <p:cNvSpPr txBox="1"/>
                <p:nvPr/>
              </p:nvSpPr>
              <p:spPr>
                <a:xfrm>
                  <a:off x="7436069" y="2345536"/>
                  <a:ext cx="4150000" cy="889971"/>
                </a:xfrm>
                <a:prstGeom prst="rect">
                  <a:avLst/>
                </a:prstGeom>
                <a:noFill/>
              </p:spPr>
              <p:txBody>
                <a:bodyPr wrap="square" lIns="0" tIns="0" rIns="0" bIns="0" anchor="ctr"/>
                <a:lstStyle/>
                <a:p>
                  <a:pPr algn="ctr">
                    <a:defRPr sz="1950">
                      <a:solidFill>
                        <a:srgbClr val="33475B"/>
                      </a:solidFill>
                    </a:defRPr>
                  </a:pPr>
                  <a14:m>
                    <m:oMathPara xmlns:m="http://schemas.openxmlformats.org/officeDocument/2006/math">
                      <m:oMathParaPr>
                        <m:jc m:val="centerGroup"/>
                      </m:oMathParaPr>
                      <m:oMath xmlns:m="http://schemas.openxmlformats.org/officeDocument/2006/math">
                        <m:r>
                          <a:rPr lang="ar-AE" sz="1600" smtClean="0">
                            <a:latin typeface="Cambria Math" panose="02040503050406030204" pitchFamily="18" charset="0"/>
                          </a:rPr>
                          <m:t>𝑅𝑀𝑅𝑆</m:t>
                        </m:r>
                        <m:sSub>
                          <m:sSubPr>
                            <m:ctrlPr>
                              <a:rPr lang="ar-AE" sz="1600" i="1">
                                <a:latin typeface="Cambria Math" panose="02040503050406030204" pitchFamily="18" charset="0"/>
                              </a:rPr>
                            </m:ctrlPr>
                          </m:sSubPr>
                          <m:e>
                            <m:r>
                              <a:rPr lang="ar-AE" sz="1600">
                                <a:latin typeface="Cambria Math" panose="02040503050406030204" pitchFamily="18" charset="0"/>
                              </a:rPr>
                              <m:t>𝐸</m:t>
                            </m:r>
                          </m:e>
                          <m:sub>
                            <m:r>
                              <a:rPr lang="ar-AE" sz="1600">
                                <a:latin typeface="Cambria Math" panose="02040503050406030204" pitchFamily="18" charset="0"/>
                              </a:rPr>
                              <m:t>𝑝</m:t>
                            </m:r>
                          </m:sub>
                        </m:sSub>
                        <m:r>
                          <a:rPr lang="ar-AE" sz="1600">
                            <a:latin typeface="Cambria Math" panose="02040503050406030204" pitchFamily="18" charset="0"/>
                          </a:rPr>
                          <m:t>=</m:t>
                        </m:r>
                        <m:rad>
                          <m:radPr>
                            <m:degHide m:val="on"/>
                            <m:ctrlPr>
                              <a:rPr lang="ar-AE" sz="1600" i="1">
                                <a:latin typeface="Cambria Math" panose="02040503050406030204" pitchFamily="18" charset="0"/>
                              </a:rPr>
                            </m:ctrlPr>
                          </m:radPr>
                          <m:deg/>
                          <m:e>
                            <m:f>
                              <m:fPr>
                                <m:ctrlPr>
                                  <a:rPr lang="ar-AE" sz="1600" i="1">
                                    <a:latin typeface="Cambria Math" panose="02040503050406030204" pitchFamily="18" charset="0"/>
                                  </a:rPr>
                                </m:ctrlPr>
                              </m:fPr>
                              <m:num>
                                <m:r>
                                  <a:rPr lang="ar-AE" sz="1600">
                                    <a:latin typeface="Cambria Math" panose="02040503050406030204" pitchFamily="18" charset="0"/>
                                  </a:rPr>
                                  <m:t>1</m:t>
                                </m:r>
                              </m:num>
                              <m:den>
                                <m:nary>
                                  <m:naryPr>
                                    <m:chr m:val="∑"/>
                                    <m:ctrlPr>
                                      <a:rPr lang="en-US" altLang="zh-CN" sz="1600" i="1">
                                        <a:latin typeface="Cambria Math" panose="02040503050406030204" pitchFamily="18" charset="0"/>
                                      </a:rPr>
                                    </m:ctrlPr>
                                  </m:naryPr>
                                  <m:sub>
                                    <m:r>
                                      <m:rPr>
                                        <m:sty m:val="p"/>
                                        <m:brk m:alnAt="23"/>
                                      </m:rPr>
                                      <a:rPr lang="en-US" altLang="zh-CN" sz="1600" i="1">
                                        <a:latin typeface="Cambria Math" panose="02040503050406030204" pitchFamily="18" charset="0"/>
                                      </a:rPr>
                                      <m:t>i</m:t>
                                    </m:r>
                                    <m:r>
                                      <a:rPr lang="en-US" altLang="zh-CN" sz="1600" i="1">
                                        <a:latin typeface="Cambria Math" panose="02040503050406030204" pitchFamily="18" charset="0"/>
                                      </a:rPr>
                                      <m:t>=</m:t>
                                    </m:r>
                                    <m:r>
                                      <m:rPr>
                                        <m:brk m:alnAt="23"/>
                                      </m:rPr>
                                      <a:rPr lang="en-US" altLang="zh-CN" sz="1600" i="1">
                                        <a:latin typeface="Cambria Math" panose="02040503050406030204" pitchFamily="18" charset="0"/>
                                      </a:rPr>
                                      <m:t>1</m:t>
                                    </m:r>
                                  </m:sub>
                                  <m:sup>
                                    <m:r>
                                      <a:rPr lang="en-US" sz="1600" i="1">
                                        <a:latin typeface="Cambria Math" panose="02040503050406030204" pitchFamily="18" charset="0"/>
                                      </a:rPr>
                                      <m:t>100</m:t>
                                    </m:r>
                                  </m:sup>
                                  <m:e>
                                    <m:sSub>
                                      <m:sSubPr>
                                        <m:ctrlPr>
                                          <a:rPr lang="ar-AE" sz="1600" i="1">
                                            <a:latin typeface="Cambria Math" panose="02040503050406030204" pitchFamily="18" charset="0"/>
                                          </a:rPr>
                                        </m:ctrlPr>
                                      </m:sSubPr>
                                      <m:e>
                                        <m:r>
                                          <a:rPr lang="ar-AE" sz="1600" i="1">
                                            <a:latin typeface="Cambria Math" panose="02040503050406030204" pitchFamily="18" charset="0"/>
                                          </a:rPr>
                                          <m:t>𝛿</m:t>
                                        </m:r>
                                      </m:e>
                                      <m:sub>
                                        <m:r>
                                          <m:rPr>
                                            <m:sty m:val="p"/>
                                          </m:rPr>
                                          <a:rPr lang="en-US" altLang="zh-CN" sz="1600" i="1">
                                            <a:latin typeface="Cambria Math" panose="02040503050406030204" pitchFamily="18" charset="0"/>
                                          </a:rPr>
                                          <m:t>i</m:t>
                                        </m:r>
                                      </m:sub>
                                    </m:sSub>
                                  </m:e>
                                </m:nary>
                              </m:den>
                            </m:f>
                            <m:nary>
                              <m:naryPr>
                                <m:chr m:val="∑"/>
                                <m:limLoc m:val="undOvr"/>
                                <m:ctrlPr>
                                  <a:rPr lang="ar-AE" sz="1600" i="1">
                                    <a:latin typeface="Cambria Math" panose="02040503050406030204" pitchFamily="18" charset="0"/>
                                  </a:rPr>
                                </m:ctrlPr>
                              </m:naryPr>
                              <m:sub>
                                <m:r>
                                  <a:rPr lang="ar-AE" sz="1600">
                                    <a:latin typeface="Cambria Math" panose="02040503050406030204" pitchFamily="18" charset="0"/>
                                  </a:rPr>
                                  <m:t>𝑖</m:t>
                                </m:r>
                                <m:r>
                                  <a:rPr lang="ar-AE" sz="1600">
                                    <a:latin typeface="Cambria Math" panose="02040503050406030204" pitchFamily="18" charset="0"/>
                                  </a:rPr>
                                  <m:t>=</m:t>
                                </m:r>
                                <m:r>
                                  <a:rPr lang="ar-AE" sz="1600">
                                    <a:latin typeface="Cambria Math" panose="02040503050406030204" pitchFamily="18" charset="0"/>
                                  </a:rPr>
                                  <m:t>1</m:t>
                                </m:r>
                              </m:sub>
                              <m:sup>
                                <m:r>
                                  <a:rPr lang="en-US" sz="1600" b="0" i="0" smtClean="0">
                                    <a:latin typeface="Cambria Math" panose="02040503050406030204" pitchFamily="18" charset="0"/>
                                  </a:rPr>
                                  <m:t>10</m:t>
                                </m:r>
                                <m:r>
                                  <a:rPr lang="ar-AE" sz="1600">
                                    <a:latin typeface="Cambria Math" panose="02040503050406030204" pitchFamily="18" charset="0"/>
                                  </a:rPr>
                                  <m:t>0</m:t>
                                </m:r>
                              </m:sup>
                              <m:e>
                                <m:sSub>
                                  <m:sSubPr>
                                    <m:ctrlPr>
                                      <a:rPr lang="ar-AE" sz="1600" i="1" smtClean="0">
                                        <a:latin typeface="Cambria Math" panose="02040503050406030204" pitchFamily="18" charset="0"/>
                                      </a:rPr>
                                    </m:ctrlPr>
                                  </m:sSubPr>
                                  <m:e>
                                    <m:r>
                                      <a:rPr lang="ar-AE" sz="1600" i="1" smtClean="0">
                                        <a:latin typeface="Cambria Math" panose="02040503050406030204" pitchFamily="18" charset="0"/>
                                      </a:rPr>
                                      <m:t>𝛿</m:t>
                                    </m:r>
                                  </m:e>
                                  <m:sub>
                                    <m:r>
                                      <m:rPr>
                                        <m:sty m:val="p"/>
                                      </m:rPr>
                                      <a:rPr lang="en-US" altLang="zh-CN" sz="1600" i="1">
                                        <a:latin typeface="Cambria Math" panose="02040503050406030204" pitchFamily="18" charset="0"/>
                                      </a:rPr>
                                      <m:t>i</m:t>
                                    </m:r>
                                  </m:sub>
                                </m:sSub>
                                <m:sSup>
                                  <m:sSupPr>
                                    <m:ctrlPr>
                                      <a:rPr lang="ar-AE" sz="1600" i="1">
                                        <a:latin typeface="Cambria Math" panose="02040503050406030204" pitchFamily="18" charset="0"/>
                                      </a:rPr>
                                    </m:ctrlPr>
                                  </m:sSupPr>
                                  <m:e>
                                    <m:d>
                                      <m:dPr>
                                        <m:ctrlPr>
                                          <a:rPr lang="ar-AE" sz="1600" i="1">
                                            <a:latin typeface="Cambria Math" panose="02040503050406030204" pitchFamily="18" charset="0"/>
                                          </a:rPr>
                                        </m:ctrlPr>
                                      </m:dPr>
                                      <m:e>
                                        <m:f>
                                          <m:fPr>
                                            <m:ctrlPr>
                                              <a:rPr lang="ar-AE" sz="1600" i="1">
                                                <a:latin typeface="Cambria Math" panose="02040503050406030204" pitchFamily="18" charset="0"/>
                                              </a:rPr>
                                            </m:ctrlPr>
                                          </m:fPr>
                                          <m:num>
                                            <m:sSup>
                                              <m:sSupPr>
                                                <m:ctrlPr>
                                                  <a:rPr lang="ar-AE" sz="1600" i="1">
                                                    <a:latin typeface="Cambria Math" panose="02040503050406030204" pitchFamily="18" charset="0"/>
                                                  </a:rPr>
                                                </m:ctrlPr>
                                              </m:sSupPr>
                                              <m:e>
                                                <m:r>
                                                  <a:rPr lang="ar-AE" sz="1600">
                                                    <a:latin typeface="Cambria Math" panose="02040503050406030204" pitchFamily="18" charset="0"/>
                                                  </a:rPr>
                                                  <m:t>𝑝</m:t>
                                                </m:r>
                                              </m:e>
                                              <m:sup>
                                                <m:r>
                                                  <m:rPr>
                                                    <m:nor/>
                                                  </m:rPr>
                                                  <a:rPr lang="en-US" sz="1600" i="0">
                                                    <a:latin typeface="+mn-ea"/>
                                                  </a:rPr>
                                                  <m:t>true</m:t>
                                                </m:r>
                                              </m:sup>
                                            </m:sSup>
                                            <m:r>
                                              <a:rPr lang="ar-AE" sz="1600">
                                                <a:latin typeface="Cambria Math" panose="02040503050406030204" pitchFamily="18" charset="0"/>
                                              </a:rPr>
                                              <m:t>−</m:t>
                                            </m:r>
                                            <m:sSubSup>
                                              <m:sSubSupPr>
                                                <m:ctrlPr>
                                                  <a:rPr lang="ar-AE" sz="1600" i="1">
                                                    <a:latin typeface="Cambria Math" panose="02040503050406030204" pitchFamily="18" charset="0"/>
                                                  </a:rPr>
                                                </m:ctrlPr>
                                              </m:sSubSupPr>
                                              <m:e>
                                                <m:r>
                                                  <a:rPr lang="ar-AE" sz="1600">
                                                    <a:latin typeface="Cambria Math" panose="02040503050406030204" pitchFamily="18" charset="0"/>
                                                  </a:rPr>
                                                  <m:t>𝑝</m:t>
                                                </m:r>
                                              </m:e>
                                              <m:sub>
                                                <m:r>
                                                  <a:rPr lang="ar-AE" sz="1600">
                                                    <a:latin typeface="Cambria Math" panose="02040503050406030204" pitchFamily="18" charset="0"/>
                                                  </a:rPr>
                                                  <m:t>𝑖</m:t>
                                                </m:r>
                                              </m:sub>
                                              <m:sup>
                                                <m:r>
                                                  <m:rPr>
                                                    <m:nor/>
                                                  </m:rPr>
                                                  <a:rPr lang="en-US" sz="1600" i="0">
                                                    <a:latin typeface="+mn-ea"/>
                                                  </a:rPr>
                                                  <m:t>est</m:t>
                                                </m:r>
                                              </m:sup>
                                            </m:sSubSup>
                                          </m:num>
                                          <m:den>
                                            <m:sSup>
                                              <m:sSupPr>
                                                <m:ctrlPr>
                                                  <a:rPr lang="ar-AE" sz="1600" i="1">
                                                    <a:latin typeface="Cambria Math" panose="02040503050406030204" pitchFamily="18" charset="0"/>
                                                  </a:rPr>
                                                </m:ctrlPr>
                                              </m:sSupPr>
                                              <m:e>
                                                <m:r>
                                                  <a:rPr lang="ar-AE" sz="1600">
                                                    <a:latin typeface="Cambria Math" panose="02040503050406030204" pitchFamily="18" charset="0"/>
                                                  </a:rPr>
                                                  <m:t>𝑝</m:t>
                                                </m:r>
                                              </m:e>
                                              <m:sup>
                                                <m:r>
                                                  <m:rPr>
                                                    <m:nor/>
                                                  </m:rPr>
                                                  <a:rPr lang="en-US" sz="1600" i="0">
                                                    <a:latin typeface="+mn-ea"/>
                                                  </a:rPr>
                                                  <m:t>true</m:t>
                                                </m:r>
                                              </m:sup>
                                            </m:sSup>
                                          </m:den>
                                        </m:f>
                                      </m:e>
                                    </m:d>
                                  </m:e>
                                  <m:sup>
                                    <m:r>
                                      <a:rPr lang="ar-AE" sz="1600">
                                        <a:latin typeface="Cambria Math" panose="02040503050406030204" pitchFamily="18" charset="0"/>
                                      </a:rPr>
                                      <m:t>2</m:t>
                                    </m:r>
                                  </m:sup>
                                </m:sSup>
                              </m:e>
                            </m:nary>
                          </m:e>
                        </m:rad>
                      </m:oMath>
                    </m:oMathPara>
                  </a14:m>
                  <a:endParaRPr lang="en-US" sz="1600" dirty="0">
                    <a:solidFill>
                      <a:srgbClr val="33475B"/>
                    </a:solidFill>
                    <a:latin typeface="+mn-ea"/>
                  </a:endParaRPr>
                </a:p>
              </p:txBody>
            </p:sp>
          </mc:Choice>
          <mc:Fallback xmlns="">
            <p:sp>
              <p:nvSpPr>
                <p:cNvPr id="14" name="rmrse_eq">
                  <a:extLst>
                    <a:ext uri="{FF2B5EF4-FFF2-40B4-BE49-F238E27FC236}">
                      <a16:creationId xmlns:a16="http://schemas.microsoft.com/office/drawing/2014/main" id="{24EF8916-E4F4-BB93-C9E6-258E89665F31}"/>
                    </a:ext>
                  </a:extLst>
                </p:cNvPr>
                <p:cNvSpPr txBox="1">
                  <a:spLocks noRot="1" noChangeAspect="1" noMove="1" noResize="1" noEditPoints="1" noAdjustHandles="1" noChangeArrowheads="1" noChangeShapeType="1" noTextEdit="1"/>
                </p:cNvSpPr>
                <p:nvPr/>
              </p:nvSpPr>
              <p:spPr>
                <a:xfrm>
                  <a:off x="7436069" y="2345536"/>
                  <a:ext cx="4150000" cy="889971"/>
                </a:xfrm>
                <a:prstGeom prst="rect">
                  <a:avLst/>
                </a:prstGeom>
                <a:blipFill>
                  <a:blip r:embed="rId3"/>
                  <a:stretch>
                    <a:fillRect b="-41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mare_eq">
                  <a:extLst>
                    <a:ext uri="{FF2B5EF4-FFF2-40B4-BE49-F238E27FC236}">
                      <a16:creationId xmlns:a16="http://schemas.microsoft.com/office/drawing/2014/main" id="{17647CE3-CBD9-4891-7129-422A2AE03BE6}"/>
                    </a:ext>
                  </a:extLst>
                </p:cNvPr>
                <p:cNvSpPr txBox="1"/>
                <p:nvPr/>
              </p:nvSpPr>
              <p:spPr>
                <a:xfrm>
                  <a:off x="7436069" y="3799955"/>
                  <a:ext cx="3900000" cy="748993"/>
                </a:xfrm>
                <a:prstGeom prst="rect">
                  <a:avLst/>
                </a:prstGeom>
                <a:noFill/>
              </p:spPr>
              <p:txBody>
                <a:bodyPr wrap="square" lIns="0" tIns="0" rIns="0" bIns="0" anchor="ctr"/>
                <a:lstStyle/>
                <a:p>
                  <a:pPr algn="ctr">
                    <a:defRPr sz="1950">
                      <a:solidFill>
                        <a:srgbClr val="33475B"/>
                      </a:solidFill>
                    </a:defRPr>
                  </a:pPr>
                  <a14:m>
                    <m:oMathPara xmlns:m="http://schemas.openxmlformats.org/officeDocument/2006/math">
                      <m:oMathParaPr>
                        <m:jc m:val="centerGroup"/>
                      </m:oMathParaPr>
                      <m:oMath xmlns:m="http://schemas.openxmlformats.org/officeDocument/2006/math">
                        <m:r>
                          <a:rPr lang="ar-AE" sz="1600" smtClean="0">
                            <a:latin typeface="Cambria Math" panose="02040503050406030204" pitchFamily="18" charset="0"/>
                          </a:rPr>
                          <m:t>𝑀𝐴𝑅</m:t>
                        </m:r>
                        <m:sSub>
                          <m:sSubPr>
                            <m:ctrlPr>
                              <a:rPr lang="ar-AE" sz="1600" i="1">
                                <a:latin typeface="Cambria Math" panose="02040503050406030204" pitchFamily="18" charset="0"/>
                              </a:rPr>
                            </m:ctrlPr>
                          </m:sSubPr>
                          <m:e>
                            <m:r>
                              <a:rPr lang="ar-AE" sz="1600">
                                <a:latin typeface="Cambria Math" panose="02040503050406030204" pitchFamily="18" charset="0"/>
                              </a:rPr>
                              <m:t>𝐸</m:t>
                            </m:r>
                          </m:e>
                          <m:sub>
                            <m:r>
                              <a:rPr lang="ar-AE" sz="1600">
                                <a:latin typeface="Cambria Math" panose="02040503050406030204" pitchFamily="18" charset="0"/>
                              </a:rPr>
                              <m:t>𝑝</m:t>
                            </m:r>
                          </m:sub>
                        </m:sSub>
                        <m:r>
                          <a:rPr lang="ar-AE" sz="1600">
                            <a:latin typeface="Cambria Math" panose="02040503050406030204" pitchFamily="18" charset="0"/>
                          </a:rPr>
                          <m:t>=</m:t>
                        </m:r>
                        <m:f>
                          <m:fPr>
                            <m:ctrlPr>
                              <a:rPr lang="ar-AE" sz="1600" i="1">
                                <a:latin typeface="Cambria Math" panose="02040503050406030204" pitchFamily="18" charset="0"/>
                              </a:rPr>
                            </m:ctrlPr>
                          </m:fPr>
                          <m:num>
                            <m:r>
                              <a:rPr lang="ar-AE" sz="1600">
                                <a:latin typeface="Cambria Math" panose="02040503050406030204" pitchFamily="18" charset="0"/>
                              </a:rPr>
                              <m:t>1</m:t>
                            </m:r>
                          </m:num>
                          <m:den>
                            <m:nary>
                              <m:naryPr>
                                <m:chr m:val="∑"/>
                                <m:ctrlPr>
                                  <a:rPr lang="en-US" altLang="zh-CN" sz="1600" i="1">
                                    <a:latin typeface="Cambria Math" panose="02040503050406030204" pitchFamily="18" charset="0"/>
                                  </a:rPr>
                                </m:ctrlPr>
                              </m:naryPr>
                              <m:sub>
                                <m:r>
                                  <m:rPr>
                                    <m:sty m:val="p"/>
                                    <m:brk m:alnAt="23"/>
                                  </m:rPr>
                                  <a:rPr lang="en-US" altLang="zh-CN" sz="1600" i="1">
                                    <a:latin typeface="Cambria Math" panose="02040503050406030204" pitchFamily="18" charset="0"/>
                                  </a:rPr>
                                  <m:t>i</m:t>
                                </m:r>
                                <m:r>
                                  <a:rPr lang="en-US" altLang="zh-CN" sz="1600" b="0" i="1" smtClean="0">
                                    <a:latin typeface="Cambria Math" panose="02040503050406030204" pitchFamily="18" charset="0"/>
                                  </a:rPr>
                                  <m:t>=</m:t>
                                </m:r>
                                <m:r>
                                  <m:rPr>
                                    <m:brk m:alnAt="23"/>
                                  </m:rPr>
                                  <a:rPr lang="en-US" altLang="zh-CN" sz="1600" b="0" i="1" smtClean="0">
                                    <a:latin typeface="Cambria Math" panose="02040503050406030204" pitchFamily="18" charset="0"/>
                                  </a:rPr>
                                  <m:t>1</m:t>
                                </m:r>
                              </m:sub>
                              <m:sup>
                                <m:r>
                                  <a:rPr lang="en-US" sz="1600" b="0" i="1" smtClean="0">
                                    <a:latin typeface="Cambria Math" panose="02040503050406030204" pitchFamily="18" charset="0"/>
                                  </a:rPr>
                                  <m:t>100</m:t>
                                </m:r>
                              </m:sup>
                              <m:e>
                                <m:sSub>
                                  <m:sSubPr>
                                    <m:ctrlPr>
                                      <a:rPr lang="ar-AE" sz="1600" i="1" smtClean="0">
                                        <a:latin typeface="Cambria Math" panose="02040503050406030204" pitchFamily="18" charset="0"/>
                                      </a:rPr>
                                    </m:ctrlPr>
                                  </m:sSubPr>
                                  <m:e>
                                    <m:r>
                                      <a:rPr lang="ar-AE" sz="1600" i="1" smtClean="0">
                                        <a:latin typeface="Cambria Math" panose="02040503050406030204" pitchFamily="18" charset="0"/>
                                      </a:rPr>
                                      <m:t>𝛿</m:t>
                                    </m:r>
                                  </m:e>
                                  <m:sub>
                                    <m:r>
                                      <m:rPr>
                                        <m:sty m:val="p"/>
                                      </m:rPr>
                                      <a:rPr lang="en-US" altLang="zh-CN" sz="1600" i="1">
                                        <a:latin typeface="Cambria Math" panose="02040503050406030204" pitchFamily="18" charset="0"/>
                                      </a:rPr>
                                      <m:t>i</m:t>
                                    </m:r>
                                  </m:sub>
                                </m:sSub>
                              </m:e>
                            </m:nary>
                          </m:den>
                        </m:f>
                        <m:nary>
                          <m:naryPr>
                            <m:chr m:val="∑"/>
                            <m:limLoc m:val="undOvr"/>
                            <m:ctrlPr>
                              <a:rPr lang="ar-AE" sz="1600" i="1">
                                <a:latin typeface="Cambria Math" panose="02040503050406030204" pitchFamily="18" charset="0"/>
                              </a:rPr>
                            </m:ctrlPr>
                          </m:naryPr>
                          <m:sub>
                            <m:r>
                              <a:rPr lang="ar-AE" sz="1600">
                                <a:latin typeface="Cambria Math" panose="02040503050406030204" pitchFamily="18" charset="0"/>
                              </a:rPr>
                              <m:t>𝑖</m:t>
                            </m:r>
                            <m:r>
                              <a:rPr lang="ar-AE" sz="1600">
                                <a:latin typeface="Cambria Math" panose="02040503050406030204" pitchFamily="18" charset="0"/>
                              </a:rPr>
                              <m:t>=</m:t>
                            </m:r>
                            <m:r>
                              <a:rPr lang="ar-AE" sz="1600">
                                <a:latin typeface="Cambria Math" panose="02040503050406030204" pitchFamily="18" charset="0"/>
                              </a:rPr>
                              <m:t>1</m:t>
                            </m:r>
                          </m:sub>
                          <m:sup>
                            <m:r>
                              <a:rPr lang="ar-AE" sz="1600" b="0" i="0" smtClean="0">
                                <a:latin typeface="Cambria Math" panose="02040503050406030204" pitchFamily="18" charset="0"/>
                              </a:rPr>
                              <m:t>1</m:t>
                            </m:r>
                            <m:r>
                              <a:rPr lang="en-US" sz="1600" b="0" i="0" smtClean="0">
                                <a:latin typeface="Cambria Math" panose="02040503050406030204" pitchFamily="18" charset="0"/>
                              </a:rPr>
                              <m:t>0</m:t>
                            </m:r>
                            <m:r>
                              <a:rPr lang="ar-AE" sz="1600">
                                <a:latin typeface="Cambria Math" panose="02040503050406030204" pitchFamily="18" charset="0"/>
                              </a:rPr>
                              <m:t>0</m:t>
                            </m:r>
                          </m:sup>
                          <m:e>
                            <m:sSub>
                              <m:sSubPr>
                                <m:ctrlPr>
                                  <a:rPr lang="ar-AE" sz="1600" i="1">
                                    <a:latin typeface="Cambria Math" panose="02040503050406030204" pitchFamily="18" charset="0"/>
                                  </a:rPr>
                                </m:ctrlPr>
                              </m:sSubPr>
                              <m:e>
                                <m:r>
                                  <a:rPr lang="ar-AE" sz="1600" i="1">
                                    <a:latin typeface="Cambria Math" panose="02040503050406030204" pitchFamily="18" charset="0"/>
                                  </a:rPr>
                                  <m:t>𝛿</m:t>
                                </m:r>
                              </m:e>
                              <m:sub>
                                <m:r>
                                  <m:rPr>
                                    <m:sty m:val="p"/>
                                  </m:rPr>
                                  <a:rPr lang="en-US" altLang="zh-CN" sz="1600" i="1">
                                    <a:latin typeface="Cambria Math" panose="02040503050406030204" pitchFamily="18" charset="0"/>
                                  </a:rPr>
                                  <m:t>i</m:t>
                                </m:r>
                              </m:sub>
                            </m:sSub>
                            <m:d>
                              <m:dPr>
                                <m:begChr m:val="|"/>
                                <m:endChr m:val="|"/>
                                <m:ctrlPr>
                                  <a:rPr lang="ar-AE" sz="1600" i="1">
                                    <a:latin typeface="Cambria Math" panose="02040503050406030204" pitchFamily="18" charset="0"/>
                                  </a:rPr>
                                </m:ctrlPr>
                              </m:dPr>
                              <m:e>
                                <m:f>
                                  <m:fPr>
                                    <m:ctrlPr>
                                      <a:rPr lang="ar-AE" sz="1600" i="1">
                                        <a:latin typeface="Cambria Math" panose="02040503050406030204" pitchFamily="18" charset="0"/>
                                      </a:rPr>
                                    </m:ctrlPr>
                                  </m:fPr>
                                  <m:num>
                                    <m:sSubSup>
                                      <m:sSubSupPr>
                                        <m:ctrlPr>
                                          <a:rPr lang="ar-AE" sz="1600" i="1">
                                            <a:latin typeface="Cambria Math" panose="02040503050406030204" pitchFamily="18" charset="0"/>
                                          </a:rPr>
                                        </m:ctrlPr>
                                      </m:sSubSupPr>
                                      <m:e>
                                        <m:r>
                                          <a:rPr lang="ar-AE" sz="1600">
                                            <a:latin typeface="Cambria Math" panose="02040503050406030204" pitchFamily="18" charset="0"/>
                                          </a:rPr>
                                          <m:t>𝑝</m:t>
                                        </m:r>
                                      </m:e>
                                      <m:sub>
                                        <m:r>
                                          <a:rPr lang="ar-AE" sz="1600">
                                            <a:latin typeface="Cambria Math" panose="02040503050406030204" pitchFamily="18" charset="0"/>
                                          </a:rPr>
                                          <m:t>𝑖</m:t>
                                        </m:r>
                                      </m:sub>
                                      <m:sup>
                                        <m:r>
                                          <m:rPr>
                                            <m:nor/>
                                          </m:rPr>
                                          <a:rPr lang="en-US" sz="1600" i="0">
                                            <a:latin typeface="+mn-ea"/>
                                          </a:rPr>
                                          <m:t>est</m:t>
                                        </m:r>
                                      </m:sup>
                                    </m:sSubSup>
                                    <m:r>
                                      <a:rPr lang="ar-AE" sz="1600">
                                        <a:latin typeface="Cambria Math" panose="02040503050406030204" pitchFamily="18" charset="0"/>
                                      </a:rPr>
                                      <m:t>−</m:t>
                                    </m:r>
                                    <m:sSup>
                                      <m:sSupPr>
                                        <m:ctrlPr>
                                          <a:rPr lang="ar-AE" sz="1600" i="1">
                                            <a:latin typeface="Cambria Math" panose="02040503050406030204" pitchFamily="18" charset="0"/>
                                          </a:rPr>
                                        </m:ctrlPr>
                                      </m:sSupPr>
                                      <m:e>
                                        <m:r>
                                          <a:rPr lang="ar-AE" sz="1600">
                                            <a:latin typeface="Cambria Math" panose="02040503050406030204" pitchFamily="18" charset="0"/>
                                          </a:rPr>
                                          <m:t>𝑝</m:t>
                                        </m:r>
                                      </m:e>
                                      <m:sup>
                                        <m:r>
                                          <m:rPr>
                                            <m:nor/>
                                          </m:rPr>
                                          <a:rPr lang="en-US" sz="1600" i="0">
                                            <a:latin typeface="+mn-ea"/>
                                          </a:rPr>
                                          <m:t>true</m:t>
                                        </m:r>
                                      </m:sup>
                                    </m:sSup>
                                  </m:num>
                                  <m:den>
                                    <m:sSup>
                                      <m:sSupPr>
                                        <m:ctrlPr>
                                          <a:rPr lang="ar-AE" sz="1600" i="1">
                                            <a:latin typeface="Cambria Math" panose="02040503050406030204" pitchFamily="18" charset="0"/>
                                          </a:rPr>
                                        </m:ctrlPr>
                                      </m:sSupPr>
                                      <m:e>
                                        <m:r>
                                          <a:rPr lang="ar-AE" sz="1600">
                                            <a:latin typeface="Cambria Math" panose="02040503050406030204" pitchFamily="18" charset="0"/>
                                          </a:rPr>
                                          <m:t>𝑝</m:t>
                                        </m:r>
                                      </m:e>
                                      <m:sup>
                                        <m:r>
                                          <m:rPr>
                                            <m:nor/>
                                          </m:rPr>
                                          <a:rPr lang="en-US" sz="1600" i="0">
                                            <a:latin typeface="+mn-ea"/>
                                          </a:rPr>
                                          <m:t>true</m:t>
                                        </m:r>
                                      </m:sup>
                                    </m:sSup>
                                  </m:den>
                                </m:f>
                              </m:e>
                            </m:d>
                          </m:e>
                        </m:nary>
                      </m:oMath>
                    </m:oMathPara>
                  </a14:m>
                  <a:endParaRPr lang="en-US" sz="1600" dirty="0">
                    <a:solidFill>
                      <a:srgbClr val="33475B"/>
                    </a:solidFill>
                    <a:latin typeface="+mn-ea"/>
                  </a:endParaRPr>
                </a:p>
              </p:txBody>
            </p:sp>
          </mc:Choice>
          <mc:Fallback xmlns="">
            <p:sp>
              <p:nvSpPr>
                <p:cNvPr id="15" name="mare_eq">
                  <a:extLst>
                    <a:ext uri="{FF2B5EF4-FFF2-40B4-BE49-F238E27FC236}">
                      <a16:creationId xmlns:a16="http://schemas.microsoft.com/office/drawing/2014/main" id="{17647CE3-CBD9-4891-7129-422A2AE03BE6}"/>
                    </a:ext>
                  </a:extLst>
                </p:cNvPr>
                <p:cNvSpPr txBox="1">
                  <a:spLocks noRot="1" noChangeAspect="1" noMove="1" noResize="1" noEditPoints="1" noAdjustHandles="1" noChangeArrowheads="1" noChangeShapeType="1" noTextEdit="1"/>
                </p:cNvSpPr>
                <p:nvPr/>
              </p:nvSpPr>
              <p:spPr>
                <a:xfrm>
                  <a:off x="7436069" y="3799955"/>
                  <a:ext cx="3900000" cy="748993"/>
                </a:xfrm>
                <a:prstGeom prst="rect">
                  <a:avLst/>
                </a:prstGeom>
                <a:blipFill>
                  <a:blip r:embed="rId4"/>
                  <a:stretch>
                    <a:fillRect b="-2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2FE0916-9513-AF7C-CD83-8388E018A976}"/>
                    </a:ext>
                  </a:extLst>
                </p:cNvPr>
                <p:cNvSpPr txBox="1"/>
                <p:nvPr/>
              </p:nvSpPr>
              <p:spPr>
                <a:xfrm>
                  <a:off x="7101074" y="4721248"/>
                  <a:ext cx="4494249"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600" i="1" smtClean="0">
                                <a:latin typeface="Cambria Math" panose="02040503050406030204" pitchFamily="18" charset="0"/>
                              </a:rPr>
                            </m:ctrlPr>
                          </m:sSubPr>
                          <m:e>
                            <m:r>
                              <a:rPr lang="ar-AE" sz="1600" i="1" smtClean="0">
                                <a:latin typeface="Cambria Math" panose="02040503050406030204" pitchFamily="18" charset="0"/>
                              </a:rPr>
                              <m:t>𝛿</m:t>
                            </m:r>
                          </m:e>
                          <m:sub>
                            <m:r>
                              <m:rPr>
                                <m:sty m:val="p"/>
                              </m:rPr>
                              <a:rPr lang="en-US" altLang="zh-CN" sz="1600" i="1">
                                <a:latin typeface="Cambria Math" panose="02040503050406030204" pitchFamily="18" charset="0"/>
                              </a:rPr>
                              <m:t>i</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𝑒𝑥𝑎𝑐</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𝑚𝑎𝑡𝑐</m:t>
                            </m:r>
                            <m:r>
                              <a:rPr lang="en-US" altLang="zh-CN" sz="1600" b="0" i="1" smtClean="0">
                                <a:latin typeface="Cambria Math" panose="02040503050406030204" pitchFamily="18" charset="0"/>
                              </a:rPr>
                              <m:t>h</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0</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𝑜𝑡</m:t>
                        </m:r>
                        <m:r>
                          <a:rPr lang="en-US" altLang="zh-CN" sz="1600" b="0" i="1" smtClean="0">
                            <a:latin typeface="Cambria Math" panose="02040503050406030204" pitchFamily="18" charset="0"/>
                          </a:rPr>
                          <m:t>h</m:t>
                        </m:r>
                        <m:r>
                          <a:rPr lang="en-US" altLang="zh-CN" sz="1600" b="0" i="1" smtClean="0">
                            <a:latin typeface="Cambria Math" panose="02040503050406030204" pitchFamily="18" charset="0"/>
                          </a:rPr>
                          <m:t>𝑒𝑟𝑤𝑖𝑠𝑒</m:t>
                        </m:r>
                      </m:oMath>
                    </m:oMathPara>
                  </a14:m>
                  <a:endParaRPr lang="en-US" dirty="0"/>
                </a:p>
              </p:txBody>
            </p:sp>
          </mc:Choice>
          <mc:Fallback xmlns="">
            <p:sp>
              <p:nvSpPr>
                <p:cNvPr id="16" name="TextBox 15">
                  <a:extLst>
                    <a:ext uri="{FF2B5EF4-FFF2-40B4-BE49-F238E27FC236}">
                      <a16:creationId xmlns:a16="http://schemas.microsoft.com/office/drawing/2014/main" id="{32FE0916-9513-AF7C-CD83-8388E018A976}"/>
                    </a:ext>
                  </a:extLst>
                </p:cNvPr>
                <p:cNvSpPr txBox="1">
                  <a:spLocks noRot="1" noChangeAspect="1" noMove="1" noResize="1" noEditPoints="1" noAdjustHandles="1" noChangeArrowheads="1" noChangeShapeType="1" noTextEdit="1"/>
                </p:cNvSpPr>
                <p:nvPr/>
              </p:nvSpPr>
              <p:spPr>
                <a:xfrm>
                  <a:off x="7101074" y="4721248"/>
                  <a:ext cx="4494249" cy="338554"/>
                </a:xfrm>
                <a:prstGeom prst="rect">
                  <a:avLst/>
                </a:prstGeom>
                <a:blipFill>
                  <a:blip r:embed="rId5"/>
                  <a:stretch>
                    <a:fillRect/>
                  </a:stretch>
                </a:blipFill>
              </p:spPr>
              <p:txBody>
                <a:bodyPr/>
                <a:lstStyle/>
                <a:p>
                  <a:r>
                    <a:rPr lang="en-US">
                      <a:noFill/>
                    </a:rPr>
                    <a:t> </a:t>
                  </a:r>
                </a:p>
              </p:txBody>
            </p:sp>
          </mc:Fallback>
        </mc:AlternateContent>
      </p:grpSp>
      <p:grpSp>
        <p:nvGrpSpPr>
          <p:cNvPr id="25" name="Group 24">
            <a:extLst>
              <a:ext uri="{FF2B5EF4-FFF2-40B4-BE49-F238E27FC236}">
                <a16:creationId xmlns:a16="http://schemas.microsoft.com/office/drawing/2014/main" id="{C3852D93-631A-7EEB-6343-D86A167EE1E6}"/>
              </a:ext>
            </a:extLst>
          </p:cNvPr>
          <p:cNvGrpSpPr/>
          <p:nvPr/>
        </p:nvGrpSpPr>
        <p:grpSpPr>
          <a:xfrm>
            <a:off x="5544240" y="1151249"/>
            <a:ext cx="5633458" cy="4809717"/>
            <a:chOff x="5544240" y="1151249"/>
            <a:chExt cx="5633458" cy="4809717"/>
          </a:xfrm>
        </p:grpSpPr>
        <p:grpSp>
          <p:nvGrpSpPr>
            <p:cNvPr id="2" name="Group 1">
              <a:extLst>
                <a:ext uri="{FF2B5EF4-FFF2-40B4-BE49-F238E27FC236}">
                  <a16:creationId xmlns:a16="http://schemas.microsoft.com/office/drawing/2014/main" id="{A0B68937-0D43-A0E4-56DC-F85CDB3063EA}"/>
                </a:ext>
              </a:extLst>
            </p:cNvPr>
            <p:cNvGrpSpPr/>
            <p:nvPr/>
          </p:nvGrpSpPr>
          <p:grpSpPr>
            <a:xfrm>
              <a:off x="5601928" y="1151249"/>
              <a:ext cx="5457499" cy="4809717"/>
              <a:chOff x="5601928" y="1151249"/>
              <a:chExt cx="5457499" cy="4809717"/>
            </a:xfrm>
          </p:grpSpPr>
          <p:sp>
            <p:nvSpPr>
              <p:cNvPr id="28" name="c1">
                <a:extLst>
                  <a:ext uri="{FF2B5EF4-FFF2-40B4-BE49-F238E27FC236}">
                    <a16:creationId xmlns:a16="http://schemas.microsoft.com/office/drawing/2014/main" id="{4B786386-4E2F-EACE-6BED-BB5451771C2F}"/>
                  </a:ext>
                </a:extLst>
              </p:cNvPr>
              <p:cNvSpPr/>
              <p:nvPr/>
            </p:nvSpPr>
            <p:spPr>
              <a:xfrm>
                <a:off x="5601928" y="1151249"/>
                <a:ext cx="5457499" cy="4809717"/>
              </a:xfrm>
              <a:prstGeom prst="roundRect">
                <a:avLst>
                  <a:gd name="adj" fmla="val 6000"/>
                </a:avLst>
              </a:prstGeom>
              <a:solidFill>
                <a:srgbClr val="FFF4EF"/>
              </a:solidFill>
              <a:ln w="9525">
                <a:solidFill>
                  <a:srgbClr val="FFF4EF"/>
                </a:solidFill>
              </a:ln>
            </p:spPr>
            <p:txBody>
              <a:bodyPr/>
              <a:lstStyle/>
              <a:p>
                <a:pPr>
                  <a:buNone/>
                </a:pPr>
                <a:endParaRPr lang="en-US" dirty="0"/>
              </a:p>
            </p:txBody>
          </p:sp>
          <p:grpSp>
            <p:nvGrpSpPr>
              <p:cNvPr id="21" name="Group 20">
                <a:extLst>
                  <a:ext uri="{FF2B5EF4-FFF2-40B4-BE49-F238E27FC236}">
                    <a16:creationId xmlns:a16="http://schemas.microsoft.com/office/drawing/2014/main" id="{5B24E8C8-F579-2764-A672-32545EE820E8}"/>
                  </a:ext>
                </a:extLst>
              </p:cNvPr>
              <p:cNvGrpSpPr/>
              <p:nvPr/>
            </p:nvGrpSpPr>
            <p:grpSpPr>
              <a:xfrm>
                <a:off x="5879427" y="1759078"/>
                <a:ext cx="4560449" cy="1289351"/>
                <a:chOff x="1228639" y="1760000"/>
                <a:chExt cx="4560449" cy="1289351"/>
              </a:xfrm>
            </p:grpSpPr>
            <p:sp>
              <p:nvSpPr>
                <p:cNvPr id="22" name="t0">
                  <a:extLst>
                    <a:ext uri="{FF2B5EF4-FFF2-40B4-BE49-F238E27FC236}">
                      <a16:creationId xmlns:a16="http://schemas.microsoft.com/office/drawing/2014/main" id="{9433AD59-6AC4-617F-8178-5460E65CBDB0}"/>
                    </a:ext>
                  </a:extLst>
                </p:cNvPr>
                <p:cNvSpPr txBox="1"/>
                <p:nvPr/>
              </p:nvSpPr>
              <p:spPr>
                <a:xfrm>
                  <a:off x="1228639" y="1760000"/>
                  <a:ext cx="4519075" cy="380000"/>
                </a:xfrm>
                <a:prstGeom prst="rect">
                  <a:avLst/>
                </a:prstGeom>
                <a:noFill/>
              </p:spPr>
              <p:txBody>
                <a:bodyPr wrap="square" lIns="0" tIns="0" rIns="0" bIns="0" anchor="t"/>
                <a:lstStyle/>
                <a:p>
                  <a:pPr marL="342900" indent="-342900" algn="ctr">
                    <a:lnSpc>
                      <a:spcPct val="102000"/>
                    </a:lnSpc>
                    <a:spcAft>
                      <a:spcPts val="140"/>
                    </a:spcAft>
                    <a:buFont typeface="Wingdings" panose="05000000000000000000" pitchFamily="2" charset="2"/>
                    <a:buChar char="Ø"/>
                  </a:pPr>
                  <a:r>
                    <a:rPr lang="en-US" sz="2000" i="0" dirty="0">
                      <a:ln w="0"/>
                      <a:solidFill>
                        <a:schemeClr val="accent1"/>
                      </a:solidFill>
                      <a:effectLst>
                        <a:outerShdw blurRad="38100" dist="25400" dir="5400000" algn="ctr" rotWithShape="0">
                          <a:srgbClr val="6E747A">
                            <a:alpha val="43000"/>
                          </a:srgbClr>
                        </a:outerShdw>
                      </a:effectLst>
                      <a:latin typeface="Arial"/>
                      <a:cs typeface="Arial"/>
                    </a:rPr>
                    <a:t>Primary statistical test</a:t>
                  </a:r>
                </a:p>
                <a:p>
                  <a:pPr marL="0" algn="ctr">
                    <a:lnSpc>
                      <a:spcPct val="102000"/>
                    </a:lnSpc>
                    <a:spcAft>
                      <a:spcPts val="140"/>
                    </a:spcAft>
                    <a:buNone/>
                  </a:pPr>
                  <a:r>
                    <a:rPr lang="en-US" sz="2000" b="1" i="0" dirty="0">
                      <a:solidFill>
                        <a:srgbClr val="0460A9"/>
                      </a:solidFill>
                      <a:latin typeface="Arial"/>
                      <a:cs typeface="Arial"/>
                    </a:rPr>
                    <a:t>paired mixed-effects model</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B31057F-5E83-BAE2-3134-E59C5001D252}"/>
                        </a:ext>
                      </a:extLst>
                    </p:cNvPr>
                    <p:cNvSpPr txBox="1"/>
                    <p:nvPr/>
                  </p:nvSpPr>
                  <p:spPr>
                    <a:xfrm>
                      <a:off x="1371674" y="2464576"/>
                      <a:ext cx="4417414" cy="584775"/>
                    </a:xfrm>
                    <a:prstGeom prst="rect">
                      <a:avLst/>
                    </a:prstGeom>
                    <a:noFill/>
                  </p:spPr>
                  <p:txBody>
                    <a:bodyPr wrap="square">
                      <a:spAutoFit/>
                    </a:bodyPr>
                    <a:lstStyle/>
                    <a:p>
                      <a:pPr algn="ctr">
                        <a:defRPr sz="1500">
                          <a:solidFill>
                            <a:srgbClr val="33475B"/>
                          </a:solidFill>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𝑦</m:t>
                            </m:r>
                            <m:r>
                              <a:rPr lang="en-US" sz="1600" b="0" i="1" smtClean="0">
                                <a:latin typeface="Cambria Math" panose="02040503050406030204" pitchFamily="18" charset="0"/>
                              </a:rPr>
                              <m:t> ~ </m:t>
                            </m:r>
                            <m:r>
                              <a:rPr lang="en-US" sz="1600" b="0" i="1" smtClean="0">
                                <a:latin typeface="Cambria Math" panose="02040503050406030204" pitchFamily="18" charset="0"/>
                              </a:rPr>
                              <m:t>𝑚𝑒𝑡</m:t>
                            </m:r>
                            <m:r>
                              <a:rPr lang="en-US" sz="1600" b="0" i="1" smtClean="0">
                                <a:latin typeface="Cambria Math" panose="02040503050406030204" pitchFamily="18" charset="0"/>
                              </a:rPr>
                              <m:t>h</m:t>
                            </m:r>
                            <m:r>
                              <a:rPr lang="en-US" sz="1600" b="0" i="1" smtClean="0">
                                <a:latin typeface="Cambria Math" panose="02040503050406030204" pitchFamily="18" charset="0"/>
                              </a:rPr>
                              <m:t>𝑜𝑑</m:t>
                            </m:r>
                            <m:r>
                              <a:rPr lang="en-US" sz="1600" b="0" i="1" smtClean="0">
                                <a:latin typeface="Cambria Math" panose="02040503050406030204" pitchFamily="18" charset="0"/>
                              </a:rPr>
                              <m:t>+</m:t>
                            </m:r>
                          </m:oMath>
                        </m:oMathPara>
                      </a14:m>
                      <a:endParaRPr lang="en-US" sz="1600" b="0" i="1" dirty="0">
                        <a:latin typeface="Cambria Math" panose="02040503050406030204" pitchFamily="18" charset="0"/>
                      </a:endParaRPr>
                    </a:p>
                    <a:p>
                      <a:pPr algn="ctr">
                        <a:defRPr sz="1500">
                          <a:solidFill>
                            <a:srgbClr val="33475B"/>
                          </a:solidFill>
                        </a:defRPr>
                      </a:pPr>
                      <a14:m>
                        <m:oMathPara xmlns:m="http://schemas.openxmlformats.org/officeDocument/2006/math">
                          <m:oMathParaPr>
                            <m:jc m:val="centerGroup"/>
                          </m:oMathParaPr>
                          <m:oMath xmlns:m="http://schemas.openxmlformats.org/officeDocument/2006/math">
                            <m:d>
                              <m:dPr>
                                <m:ctrlPr>
                                  <a:rPr lang="en-US" sz="1600" b="0" i="1" smtClean="0">
                                    <a:latin typeface="Cambria Math" panose="02040503050406030204" pitchFamily="18" charset="0"/>
                                  </a:rPr>
                                </m:ctrlPr>
                              </m:dPr>
                              <m:e>
                                <m:r>
                                  <a:rPr lang="en-US" sz="1600" b="0" i="1" smtClean="0">
                                    <a:latin typeface="Cambria Math" panose="02040503050406030204" pitchFamily="18" charset="0"/>
                                  </a:rPr>
                                  <m:t>1</m:t>
                                </m:r>
                              </m:e>
                              <m:e>
                                <m:r>
                                  <a:rPr lang="en-US" sz="1600" b="0" i="1" smtClean="0">
                                    <a:latin typeface="Cambria Math" panose="02040503050406030204" pitchFamily="18" charset="0"/>
                                  </a:rPr>
                                  <m:t>𝑠𝑐𝑒𝑛𝑎𝑟𝑖𝑜</m:t>
                                </m:r>
                              </m:e>
                            </m:d>
                            <m:r>
                              <a:rPr lang="en-US" sz="1600" b="0" i="1" smtClean="0">
                                <a:latin typeface="Cambria Math" panose="02040503050406030204" pitchFamily="18" charset="0"/>
                              </a:rPr>
                              <m:t>+(</m:t>
                            </m:r>
                            <m:r>
                              <a:rPr lang="en-US" sz="1600" b="0" i="1" smtClean="0">
                                <a:latin typeface="Cambria Math" panose="02040503050406030204" pitchFamily="18" charset="0"/>
                              </a:rPr>
                              <m:t>1</m:t>
                            </m:r>
                            <m:r>
                              <a:rPr lang="en-US" sz="1600" b="0" i="1" smtClean="0">
                                <a:latin typeface="Cambria Math" panose="02040503050406030204" pitchFamily="18" charset="0"/>
                              </a:rPr>
                              <m:t>|</m:t>
                            </m:r>
                            <m:r>
                              <a:rPr lang="en-US" sz="1600" b="0" i="1" smtClean="0">
                                <a:latin typeface="Cambria Math" panose="02040503050406030204" pitchFamily="18" charset="0"/>
                              </a:rPr>
                              <m:t>𝑠𝑐𝑒𝑛𝑎𝑟𝑖𝑜</m:t>
                            </m:r>
                            <m:r>
                              <a:rPr lang="en-US" sz="1600" b="0" i="1" smtClean="0">
                                <a:latin typeface="Cambria Math" panose="02040503050406030204" pitchFamily="18" charset="0"/>
                              </a:rPr>
                              <m:t>:</m:t>
                            </m:r>
                            <m:r>
                              <a:rPr lang="en-US" sz="1600" b="0" i="1" smtClean="0">
                                <a:latin typeface="Cambria Math" panose="02040503050406030204" pitchFamily="18" charset="0"/>
                              </a:rPr>
                              <m:t>𝑑𝑎𝑡𝑎𝑠𝑒𝑡</m:t>
                            </m:r>
                            <m:r>
                              <a:rPr lang="en-US" sz="1600" b="0" i="1" smtClean="0">
                                <a:latin typeface="Cambria Math" panose="02040503050406030204" pitchFamily="18" charset="0"/>
                              </a:rPr>
                              <m:t>) </m:t>
                            </m:r>
                          </m:oMath>
                        </m:oMathPara>
                      </a14:m>
                      <a:endParaRPr lang="en-US" sz="1600" dirty="0">
                        <a:solidFill>
                          <a:srgbClr val="33475B"/>
                        </a:solidFill>
                      </a:endParaRPr>
                    </a:p>
                  </p:txBody>
                </p:sp>
              </mc:Choice>
              <mc:Fallback xmlns="">
                <p:sp>
                  <p:nvSpPr>
                    <p:cNvPr id="23" name="TextBox 22">
                      <a:extLst>
                        <a:ext uri="{FF2B5EF4-FFF2-40B4-BE49-F238E27FC236}">
                          <a16:creationId xmlns:a16="http://schemas.microsoft.com/office/drawing/2014/main" id="{FB31057F-5E83-BAE2-3134-E59C5001D252}"/>
                        </a:ext>
                      </a:extLst>
                    </p:cNvPr>
                    <p:cNvSpPr txBox="1">
                      <a:spLocks noRot="1" noChangeAspect="1" noMove="1" noResize="1" noEditPoints="1" noAdjustHandles="1" noChangeArrowheads="1" noChangeShapeType="1" noTextEdit="1"/>
                    </p:cNvSpPr>
                    <p:nvPr/>
                  </p:nvSpPr>
                  <p:spPr>
                    <a:xfrm>
                      <a:off x="1371674" y="2464576"/>
                      <a:ext cx="4417414" cy="584775"/>
                    </a:xfrm>
                    <a:prstGeom prst="rect">
                      <a:avLst/>
                    </a:prstGeom>
                    <a:blipFill>
                      <a:blip r:embed="rId6"/>
                      <a:stretch>
                        <a:fillRect b="-625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BCBB9E6-4652-8721-2380-2937BB42D989}"/>
                      </a:ext>
                    </a:extLst>
                  </p:cNvPr>
                  <p:cNvSpPr txBox="1"/>
                  <p:nvPr/>
                </p:nvSpPr>
                <p:spPr>
                  <a:xfrm>
                    <a:off x="5862366" y="3451483"/>
                    <a:ext cx="5112581" cy="1417055"/>
                  </a:xfrm>
                  <a:prstGeom prst="rect">
                    <a:avLst/>
                  </a:prstGeom>
                  <a:noFill/>
                </p:spPr>
                <p:txBody>
                  <a:bodyPr wrap="square">
                    <a:spAutoFit/>
                  </a:bodyPr>
                  <a:lstStyle/>
                  <a:p>
                    <a:pPr>
                      <a:lnSpc>
                        <a:spcPct val="120000"/>
                      </a:lnSpc>
                      <a:spcAft>
                        <a:spcPts val="140"/>
                      </a:spcAft>
                    </a:pPr>
                    <a14:m>
                      <m:oMath xmlns:m="http://schemas.openxmlformats.org/officeDocument/2006/math">
                        <m:r>
                          <a:rPr lang="en-US" b="1" i="1" smtClean="0">
                            <a:solidFill>
                              <a:schemeClr val="tx1"/>
                            </a:solidFill>
                            <a:latin typeface="Cambria Math" panose="02040503050406030204" pitchFamily="18" charset="0"/>
                          </a:rPr>
                          <m:t>𝒚</m:t>
                        </m:r>
                        <m:r>
                          <a:rPr lang="en-US" b="1" i="1" smtClean="0">
                            <a:solidFill>
                              <a:schemeClr val="tx1"/>
                            </a:solidFill>
                            <a:latin typeface="Cambria Math" panose="02040503050406030204" pitchFamily="18" charset="0"/>
                          </a:rPr>
                          <m:t>: </m:t>
                        </m:r>
                      </m:oMath>
                    </a14:m>
                    <a:r>
                      <a:rPr lang="en-US" dirty="0">
                        <a:solidFill>
                          <a:srgbClr val="3C3C3C"/>
                        </a:solidFill>
                        <a:cs typeface="Arial"/>
                      </a:rPr>
                      <a:t>Raw </a:t>
                    </a:r>
                    <a:r>
                      <a:rPr lang="en-US" u="sng" dirty="0">
                        <a:solidFill>
                          <a:srgbClr val="3C3C3C"/>
                        </a:solidFill>
                        <a:cs typeface="Arial"/>
                      </a:rPr>
                      <a:t>continuous</a:t>
                    </a:r>
                    <a:r>
                      <a:rPr lang="en-US" dirty="0">
                        <a:solidFill>
                          <a:srgbClr val="3C3C3C"/>
                        </a:solidFill>
                        <a:cs typeface="Arial"/>
                      </a:rPr>
                      <a:t> per dataset replicate</a:t>
                    </a:r>
                  </a:p>
                  <a:p>
                    <a:pPr>
                      <a:lnSpc>
                        <a:spcPct val="120000"/>
                      </a:lnSpc>
                      <a:spcAft>
                        <a:spcPts val="140"/>
                      </a:spcAft>
                    </a:pPr>
                    <a:r>
                      <a:rPr lang="en-US" b="1" i="0" dirty="0">
                        <a:latin typeface="Arial"/>
                        <a:cs typeface="Arial"/>
                      </a:rPr>
                      <a:t>Method</a:t>
                    </a:r>
                    <a:r>
                      <a:rPr lang="en-US" b="0" i="0" dirty="0">
                        <a:latin typeface="Arial"/>
                        <a:cs typeface="Arial"/>
                      </a:rPr>
                      <a:t>:</a:t>
                    </a:r>
                    <a:r>
                      <a:rPr lang="en-US" dirty="0">
                        <a:cs typeface="Arial"/>
                      </a:rPr>
                      <a:t> </a:t>
                    </a:r>
                    <a:r>
                      <a:rPr lang="en-US" dirty="0">
                        <a:solidFill>
                          <a:srgbClr val="3C3C3C"/>
                        </a:solidFill>
                        <a:cs typeface="Arial"/>
                      </a:rPr>
                      <a:t>Two-level factor </a:t>
                    </a:r>
                    <a:br>
                      <a:rPr lang="en-US" dirty="0">
                        <a:solidFill>
                          <a:srgbClr val="3C3C3C"/>
                        </a:solidFill>
                        <a:cs typeface="Arial"/>
                      </a:rPr>
                    </a:br>
                    <a:r>
                      <a:rPr lang="en-US" dirty="0">
                        <a:solidFill>
                          <a:srgbClr val="3C3C3C"/>
                        </a:solidFill>
                        <a:cs typeface="Arial"/>
                      </a:rPr>
                      <a:t>(ref= NONMEM, test=nlmixr2scm/VAE)</a:t>
                    </a:r>
                  </a:p>
                  <a:p>
                    <a:pPr>
                      <a:lnSpc>
                        <a:spcPct val="120000"/>
                      </a:lnSpc>
                      <a:spcAft>
                        <a:spcPts val="140"/>
                      </a:spcAft>
                    </a:pPr>
                    <a14:m>
                      <m:oMath xmlns:m="http://schemas.openxmlformats.org/officeDocument/2006/math">
                        <m:sSub>
                          <m:sSubPr>
                            <m:ctrlPr>
                              <a:rPr lang="en-US" b="1" i="1">
                                <a:solidFill>
                                  <a:srgbClr val="3C3C3C"/>
                                </a:solidFill>
                                <a:latin typeface="Cambria Math" panose="02040503050406030204" pitchFamily="18" charset="0"/>
                                <a:ea typeface="Cambria Math" panose="02040503050406030204" pitchFamily="18" charset="0"/>
                                <a:cs typeface="Arial"/>
                              </a:rPr>
                            </m:ctrlPr>
                          </m:sSubPr>
                          <m:e>
                            <m:r>
                              <a:rPr lang="en-US" b="1" i="1">
                                <a:solidFill>
                                  <a:srgbClr val="3C3C3C"/>
                                </a:solidFill>
                                <a:latin typeface="Cambria Math" panose="02040503050406030204" pitchFamily="18" charset="0"/>
                                <a:ea typeface="Cambria Math" panose="02040503050406030204" pitchFamily="18" charset="0"/>
                                <a:cs typeface="Arial"/>
                              </a:rPr>
                              <m:t>𝜷</m:t>
                            </m:r>
                          </m:e>
                          <m:sub>
                            <m:r>
                              <a:rPr lang="en-US" b="1" i="1">
                                <a:solidFill>
                                  <a:srgbClr val="3C3C3C"/>
                                </a:solidFill>
                                <a:latin typeface="Cambria Math" panose="02040503050406030204" pitchFamily="18" charset="0"/>
                                <a:ea typeface="Cambria Math" panose="02040503050406030204" pitchFamily="18" charset="0"/>
                                <a:cs typeface="Arial"/>
                              </a:rPr>
                              <m:t>𝒎𝒆𝒕𝒉𝒐𝒅</m:t>
                            </m:r>
                          </m:sub>
                        </m:sSub>
                        <m:r>
                          <a:rPr lang="en-US" b="1" i="1">
                            <a:solidFill>
                              <a:srgbClr val="3C3C3C"/>
                            </a:solidFill>
                            <a:latin typeface="Cambria Math" panose="02040503050406030204" pitchFamily="18" charset="0"/>
                            <a:ea typeface="Cambria Math" panose="02040503050406030204" pitchFamily="18" charset="0"/>
                            <a:cs typeface="Arial"/>
                          </a:rPr>
                          <m:t> </m:t>
                        </m:r>
                      </m:oMath>
                    </a14:m>
                    <a:r>
                      <a:rPr lang="en-US" b="1" i="0" dirty="0">
                        <a:solidFill>
                          <a:srgbClr val="3C3C3C"/>
                        </a:solidFill>
                        <a:latin typeface="Arial"/>
                        <a:cs typeface="Arial"/>
                      </a:rPr>
                      <a:t>: </a:t>
                    </a:r>
                    <a:r>
                      <a:rPr lang="en-US" u="sng" dirty="0">
                        <a:solidFill>
                          <a:srgbClr val="3C3C3C"/>
                        </a:solidFill>
                        <a:latin typeface="Arial"/>
                        <a:cs typeface="Arial"/>
                      </a:rPr>
                      <a:t>Mean difference </a:t>
                    </a:r>
                    <a:r>
                      <a:rPr lang="en-US" dirty="0">
                        <a:solidFill>
                          <a:srgbClr val="3C3C3C"/>
                        </a:solidFill>
                        <a:latin typeface="Arial"/>
                        <a:cs typeface="Arial"/>
                      </a:rPr>
                      <a:t>of test from NONMEM</a:t>
                    </a:r>
                    <a:endParaRPr lang="en-US" b="1" i="0" dirty="0">
                      <a:solidFill>
                        <a:srgbClr val="3C3C3C"/>
                      </a:solidFill>
                      <a:latin typeface="Arial"/>
                      <a:cs typeface="Arial"/>
                    </a:endParaRPr>
                  </a:p>
                </p:txBody>
              </p:sp>
            </mc:Choice>
            <mc:Fallback xmlns="">
              <p:sp>
                <p:nvSpPr>
                  <p:cNvPr id="24" name="TextBox 23">
                    <a:extLst>
                      <a:ext uri="{FF2B5EF4-FFF2-40B4-BE49-F238E27FC236}">
                        <a16:creationId xmlns:a16="http://schemas.microsoft.com/office/drawing/2014/main" id="{ABCBB9E6-4652-8721-2380-2937BB42D989}"/>
                      </a:ext>
                    </a:extLst>
                  </p:cNvPr>
                  <p:cNvSpPr txBox="1">
                    <a:spLocks noRot="1" noChangeAspect="1" noMove="1" noResize="1" noEditPoints="1" noAdjustHandles="1" noChangeArrowheads="1" noChangeShapeType="1" noTextEdit="1"/>
                  </p:cNvSpPr>
                  <p:nvPr/>
                </p:nvSpPr>
                <p:spPr>
                  <a:xfrm>
                    <a:off x="5862366" y="3451483"/>
                    <a:ext cx="5112581" cy="1417055"/>
                  </a:xfrm>
                  <a:prstGeom prst="rect">
                    <a:avLst/>
                  </a:prstGeom>
                  <a:blipFill>
                    <a:blip r:embed="rId7"/>
                    <a:stretch>
                      <a:fillRect l="-1074" r="-955" b="-6009"/>
                    </a:stretch>
                  </a:blipFill>
                </p:spPr>
                <p:txBody>
                  <a:bodyPr/>
                  <a:lstStyle/>
                  <a:p>
                    <a:r>
                      <a:rPr lang="en-US">
                        <a:noFill/>
                      </a:rPr>
                      <a:t> </a:t>
                    </a:r>
                  </a:p>
                </p:txBody>
              </p:sp>
            </mc:Fallback>
          </mc:AlternateContent>
        </p:grpSp>
        <p:sp>
          <p:nvSpPr>
            <p:cNvPr id="4" name="TextBox 3">
              <a:extLst>
                <a:ext uri="{FF2B5EF4-FFF2-40B4-BE49-F238E27FC236}">
                  <a16:creationId xmlns:a16="http://schemas.microsoft.com/office/drawing/2014/main" id="{ABD41083-EAFE-EC17-B082-47CFB235A76E}"/>
                </a:ext>
              </a:extLst>
            </p:cNvPr>
            <p:cNvSpPr txBox="1"/>
            <p:nvPr/>
          </p:nvSpPr>
          <p:spPr>
            <a:xfrm>
              <a:off x="5544240" y="5220509"/>
              <a:ext cx="5633458" cy="707886"/>
            </a:xfrm>
            <a:prstGeom prst="rect">
              <a:avLst/>
            </a:prstGeom>
            <a:noFill/>
          </p:spPr>
          <p:txBody>
            <a:bodyPr wrap="square">
              <a:spAutoFit/>
            </a:bodyPr>
            <a:lstStyle/>
            <a:p>
              <a:pPr algn="ctr"/>
              <a:r>
                <a:rPr lang="en-US" sz="2000" b="1" dirty="0">
                  <a:solidFill>
                    <a:srgbClr val="3C3C3C"/>
                  </a:solidFill>
                  <a:cs typeface="Arial"/>
                </a:rPr>
                <a:t>Practical-equivalence band: </a:t>
              </a:r>
              <a:br>
                <a:rPr lang="en-US" sz="2000" b="1" dirty="0">
                  <a:solidFill>
                    <a:srgbClr val="3C3C3C"/>
                  </a:solidFill>
                  <a:cs typeface="Arial"/>
                </a:rPr>
              </a:br>
              <a:r>
                <a:rPr lang="en-US" sz="2000" dirty="0">
                  <a:solidFill>
                    <a:srgbClr val="3C3C3C"/>
                  </a:solidFill>
                  <a:cs typeface="Arial"/>
                </a:rPr>
                <a:t>relative change over NONMEM &gt;=10%</a:t>
              </a:r>
            </a:p>
          </p:txBody>
        </p:sp>
      </p:grpSp>
    </p:spTree>
    <p:extLst>
      <p:ext uri="{BB962C8B-B14F-4D97-AF65-F5344CB8AC3E}">
        <p14:creationId xmlns:p14="http://schemas.microsoft.com/office/powerpoint/2010/main" val="3678150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2CF8F08-B693-22E7-376A-685E9790876C}"/>
              </a:ext>
            </a:extLst>
          </p:cNvPr>
          <p:cNvGrpSpPr/>
          <p:nvPr/>
        </p:nvGrpSpPr>
        <p:grpSpPr>
          <a:xfrm>
            <a:off x="2561101" y="6133756"/>
            <a:ext cx="8783534" cy="560000"/>
            <a:chOff x="880000" y="5150000"/>
            <a:chExt cx="9400000" cy="560000"/>
          </a:xfrm>
        </p:grpSpPr>
        <p:sp>
          <p:nvSpPr>
            <p:cNvPr id="90" name="pill90"/>
            <p:cNvSpPr/>
            <p:nvPr/>
          </p:nvSpPr>
          <p:spPr>
            <a:xfrm>
              <a:off x="880000" y="5150000"/>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250" b="0" dirty="0">
                  <a:solidFill>
                    <a:srgbClr val="6B7683"/>
                  </a:solidFill>
                  <a:latin typeface="Arial"/>
                  <a:cs typeface="Arial"/>
                </a:rPr>
                <a:t>1  Background</a:t>
              </a:r>
            </a:p>
          </p:txBody>
        </p:sp>
        <p:sp>
          <p:nvSpPr>
            <p:cNvPr id="91" name="pill91"/>
            <p:cNvSpPr/>
            <p:nvPr/>
          </p:nvSpPr>
          <p:spPr>
            <a:xfrm>
              <a:off x="3230000" y="5150000"/>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250" b="0" dirty="0">
                  <a:solidFill>
                    <a:srgbClr val="6B7683"/>
                  </a:solidFill>
                  <a:latin typeface="Arial"/>
                  <a:cs typeface="Arial"/>
                </a:rPr>
                <a:t>2  Methods</a:t>
              </a:r>
            </a:p>
          </p:txBody>
        </p:sp>
        <p:sp>
          <p:nvSpPr>
            <p:cNvPr id="92" name="pill92"/>
            <p:cNvSpPr/>
            <p:nvPr/>
          </p:nvSpPr>
          <p:spPr>
            <a:xfrm>
              <a:off x="5580000" y="5150000"/>
              <a:ext cx="2350000" cy="560000"/>
            </a:xfrm>
            <a:prstGeom prst="roundRect">
              <a:avLst>
                <a:gd name="adj" fmla="val 30000"/>
              </a:avLst>
            </a:prstGeom>
            <a:solidFill>
              <a:srgbClr val="0460A9"/>
            </a:solidFill>
          </p:spPr>
          <p:txBody>
            <a:bodyPr lIns="91440" tIns="0" rIns="45720" bIns="0" anchor="ctr"/>
            <a:lstStyle/>
            <a:p>
              <a:pPr algn="ctr">
                <a:buNone/>
              </a:pPr>
              <a:r>
                <a:rPr lang="en-US" sz="1250" b="1" dirty="0">
                  <a:solidFill>
                    <a:srgbClr val="FFFFFF"/>
                  </a:solidFill>
                  <a:latin typeface="Arial"/>
                  <a:cs typeface="Arial"/>
                </a:rPr>
                <a:t>3  Results</a:t>
              </a:r>
            </a:p>
          </p:txBody>
        </p:sp>
        <p:sp>
          <p:nvSpPr>
            <p:cNvPr id="93" name="pill93"/>
            <p:cNvSpPr/>
            <p:nvPr/>
          </p:nvSpPr>
          <p:spPr>
            <a:xfrm>
              <a:off x="7930000" y="5150000"/>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250" b="0" dirty="0">
                  <a:solidFill>
                    <a:srgbClr val="6B7683"/>
                  </a:solidFill>
                  <a:latin typeface="Arial"/>
                  <a:cs typeface="Arial"/>
                </a:rPr>
                <a:t>4  Discussion</a:t>
              </a:r>
            </a:p>
          </p:txBody>
        </p:sp>
      </p:gr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2F397E74-AD83-44B6-A30D-74B3D8FB4C65}" type="slidenum">
              <a:rPr lang="en-US" sz="1000">
                <a:solidFill>
                  <a:srgbClr val="8A8A8A"/>
                </a:solidFill>
                <a:latin typeface="Arial"/>
              </a:rPr>
              <a:t>16</a:t>
            </a:fld>
            <a:endParaRPr lang="en-US" sz="1000">
              <a:solidFill>
                <a:srgbClr val="8A8A8A"/>
              </a:solidFill>
              <a:latin typeface="Arial"/>
            </a:endParaRPr>
          </a:p>
        </p:txBody>
      </p:sp>
      <p:grpSp>
        <p:nvGrpSpPr>
          <p:cNvPr id="18" name="Group 17">
            <a:extLst>
              <a:ext uri="{FF2B5EF4-FFF2-40B4-BE49-F238E27FC236}">
                <a16:creationId xmlns:a16="http://schemas.microsoft.com/office/drawing/2014/main" id="{6BB1A074-DB81-CB1B-F4DF-DDD812868B0A}"/>
              </a:ext>
            </a:extLst>
          </p:cNvPr>
          <p:cNvGrpSpPr/>
          <p:nvPr/>
        </p:nvGrpSpPr>
        <p:grpSpPr>
          <a:xfrm>
            <a:off x="1008582" y="1853993"/>
            <a:ext cx="9914883" cy="2996709"/>
            <a:chOff x="897485" y="1717260"/>
            <a:chExt cx="9914883" cy="2996709"/>
          </a:xfrm>
        </p:grpSpPr>
        <p:grpSp>
          <p:nvGrpSpPr>
            <p:cNvPr id="2" name="Group 1">
              <a:extLst>
                <a:ext uri="{FF2B5EF4-FFF2-40B4-BE49-F238E27FC236}">
                  <a16:creationId xmlns:a16="http://schemas.microsoft.com/office/drawing/2014/main" id="{1C6220BA-618A-906D-3C1F-11F4E6BAC10A}"/>
                </a:ext>
              </a:extLst>
            </p:cNvPr>
            <p:cNvGrpSpPr/>
            <p:nvPr/>
          </p:nvGrpSpPr>
          <p:grpSpPr>
            <a:xfrm>
              <a:off x="897485" y="1717260"/>
              <a:ext cx="9914883" cy="2996709"/>
              <a:chOff x="249236" y="4048898"/>
              <a:chExt cx="5105940" cy="1576389"/>
            </a:xfrm>
          </p:grpSpPr>
          <p:grpSp>
            <p:nvGrpSpPr>
              <p:cNvPr id="3" name="Group 2">
                <a:extLst>
                  <a:ext uri="{FF2B5EF4-FFF2-40B4-BE49-F238E27FC236}">
                    <a16:creationId xmlns:a16="http://schemas.microsoft.com/office/drawing/2014/main" id="{BD9A60EC-286D-FEA0-EE90-0B91B1592007}"/>
                  </a:ext>
                </a:extLst>
              </p:cNvPr>
              <p:cNvGrpSpPr/>
              <p:nvPr/>
            </p:nvGrpSpPr>
            <p:grpSpPr>
              <a:xfrm>
                <a:off x="249236" y="4231349"/>
                <a:ext cx="2538468" cy="1253427"/>
                <a:chOff x="249236" y="4231349"/>
                <a:chExt cx="2538468" cy="1253427"/>
              </a:xfrm>
            </p:grpSpPr>
            <p:grpSp>
              <p:nvGrpSpPr>
                <p:cNvPr id="9" name="Group 8">
                  <a:extLst>
                    <a:ext uri="{FF2B5EF4-FFF2-40B4-BE49-F238E27FC236}">
                      <a16:creationId xmlns:a16="http://schemas.microsoft.com/office/drawing/2014/main" id="{E980080A-F10C-6552-AF41-1CC69CC13E29}"/>
                    </a:ext>
                  </a:extLst>
                </p:cNvPr>
                <p:cNvGrpSpPr/>
                <p:nvPr/>
              </p:nvGrpSpPr>
              <p:grpSpPr>
                <a:xfrm>
                  <a:off x="249236" y="4339685"/>
                  <a:ext cx="1945033" cy="1104214"/>
                  <a:chOff x="594003" y="4444099"/>
                  <a:chExt cx="1764881" cy="1001940"/>
                </a:xfrm>
              </p:grpSpPr>
              <p:pic>
                <p:nvPicPr>
                  <p:cNvPr id="12" name="Picture 11">
                    <a:extLst>
                      <a:ext uri="{FF2B5EF4-FFF2-40B4-BE49-F238E27FC236}">
                        <a16:creationId xmlns:a16="http://schemas.microsoft.com/office/drawing/2014/main" id="{A81E2B79-5AFF-0817-C24A-28C0B85243F6}"/>
                      </a:ext>
                    </a:extLst>
                  </p:cNvPr>
                  <p:cNvPicPr>
                    <a:picLocks noChangeAspect="1"/>
                  </p:cNvPicPr>
                  <p:nvPr/>
                </p:nvPicPr>
                <p:blipFill>
                  <a:blip r:embed="rId3"/>
                  <a:stretch>
                    <a:fillRect/>
                  </a:stretch>
                </p:blipFill>
                <p:spPr>
                  <a:xfrm>
                    <a:off x="594003" y="4764884"/>
                    <a:ext cx="1764881" cy="681155"/>
                  </a:xfrm>
                  <a:prstGeom prst="rect">
                    <a:avLst/>
                  </a:prstGeom>
                </p:spPr>
              </p:pic>
              <p:pic>
                <p:nvPicPr>
                  <p:cNvPr id="13" name="Picture 12">
                    <a:extLst>
                      <a:ext uri="{FF2B5EF4-FFF2-40B4-BE49-F238E27FC236}">
                        <a16:creationId xmlns:a16="http://schemas.microsoft.com/office/drawing/2014/main" id="{78104586-60DB-5564-228E-DE522235FF5D}"/>
                      </a:ext>
                    </a:extLst>
                  </p:cNvPr>
                  <p:cNvPicPr>
                    <a:picLocks noChangeAspect="1"/>
                  </p:cNvPicPr>
                  <p:nvPr/>
                </p:nvPicPr>
                <p:blipFill>
                  <a:blip r:embed="rId4"/>
                  <a:stretch>
                    <a:fillRect/>
                  </a:stretch>
                </p:blipFill>
                <p:spPr>
                  <a:xfrm>
                    <a:off x="707840" y="4444099"/>
                    <a:ext cx="1613484" cy="348277"/>
                  </a:xfrm>
                  <a:prstGeom prst="rect">
                    <a:avLst/>
                  </a:prstGeom>
                </p:spPr>
              </p:pic>
            </p:grpSp>
            <p:pic>
              <p:nvPicPr>
                <p:cNvPr id="10" name="Graphic 9" descr="Bullseye with solid fill">
                  <a:extLst>
                    <a:ext uri="{FF2B5EF4-FFF2-40B4-BE49-F238E27FC236}">
                      <a16:creationId xmlns:a16="http://schemas.microsoft.com/office/drawing/2014/main" id="{42120117-97DB-FA36-4583-3773D0EF9A1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169181" y="4231349"/>
                  <a:ext cx="618523" cy="618523"/>
                </a:xfrm>
                <a:prstGeom prst="rect">
                  <a:avLst/>
                </a:prstGeom>
              </p:spPr>
            </p:pic>
            <p:pic>
              <p:nvPicPr>
                <p:cNvPr id="11" name="Graphic 10" descr="Stopwatch 75% with solid fill">
                  <a:extLst>
                    <a:ext uri="{FF2B5EF4-FFF2-40B4-BE49-F238E27FC236}">
                      <a16:creationId xmlns:a16="http://schemas.microsoft.com/office/drawing/2014/main" id="{8F973D1A-6EF2-1602-8D71-D684DD65D7D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169181" y="4866253"/>
                  <a:ext cx="618523" cy="618523"/>
                </a:xfrm>
                <a:prstGeom prst="rect">
                  <a:avLst/>
                </a:prstGeom>
              </p:spPr>
            </p:pic>
          </p:grpSp>
          <p:grpSp>
            <p:nvGrpSpPr>
              <p:cNvPr id="4" name="Group 3">
                <a:extLst>
                  <a:ext uri="{FF2B5EF4-FFF2-40B4-BE49-F238E27FC236}">
                    <a16:creationId xmlns:a16="http://schemas.microsoft.com/office/drawing/2014/main" id="{ACE6F113-91A5-7724-58F2-404C44A5C5A5}"/>
                  </a:ext>
                </a:extLst>
              </p:cNvPr>
              <p:cNvGrpSpPr/>
              <p:nvPr/>
            </p:nvGrpSpPr>
            <p:grpSpPr>
              <a:xfrm>
                <a:off x="3164503" y="4048898"/>
                <a:ext cx="2190673" cy="1576389"/>
                <a:chOff x="3293074" y="4048468"/>
                <a:chExt cx="2190673" cy="1576389"/>
              </a:xfrm>
            </p:grpSpPr>
            <p:pic>
              <p:nvPicPr>
                <p:cNvPr id="6" name="Picture 5">
                  <a:extLst>
                    <a:ext uri="{FF2B5EF4-FFF2-40B4-BE49-F238E27FC236}">
                      <a16:creationId xmlns:a16="http://schemas.microsoft.com/office/drawing/2014/main" id="{E7947783-F5E8-174A-B589-EA7DAAC6F1C1}"/>
                    </a:ext>
                  </a:extLst>
                </p:cNvPr>
                <p:cNvPicPr>
                  <a:picLocks noChangeAspect="1"/>
                </p:cNvPicPr>
                <p:nvPr/>
              </p:nvPicPr>
              <p:blipFill>
                <a:blip r:embed="rId7"/>
                <a:stretch>
                  <a:fillRect/>
                </a:stretch>
              </p:blipFill>
              <p:spPr>
                <a:xfrm>
                  <a:off x="3907358" y="4048468"/>
                  <a:ext cx="1576389" cy="1576389"/>
                </a:xfrm>
                <a:prstGeom prst="rect">
                  <a:avLst/>
                </a:prstGeom>
              </p:spPr>
            </p:pic>
            <p:pic>
              <p:nvPicPr>
                <p:cNvPr id="7" name="Graphic 6" descr="Stopwatch 25% with solid fill">
                  <a:extLst>
                    <a:ext uri="{FF2B5EF4-FFF2-40B4-BE49-F238E27FC236}">
                      <a16:creationId xmlns:a16="http://schemas.microsoft.com/office/drawing/2014/main" id="{3E868EC1-1E5A-521A-265B-E2C99DE8DCB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307995" y="4849442"/>
                  <a:ext cx="625723" cy="625723"/>
                </a:xfrm>
                <a:prstGeom prst="rect">
                  <a:avLst/>
                </a:prstGeom>
              </p:spPr>
            </p:pic>
            <p:pic>
              <p:nvPicPr>
                <p:cNvPr id="8" name="Graphic 7" descr="Bullseye with solid fill">
                  <a:extLst>
                    <a:ext uri="{FF2B5EF4-FFF2-40B4-BE49-F238E27FC236}">
                      <a16:creationId xmlns:a16="http://schemas.microsoft.com/office/drawing/2014/main" id="{7BDFB784-6193-D7AD-006F-51970EDBFC2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293074" y="4218140"/>
                  <a:ext cx="618523" cy="618523"/>
                </a:xfrm>
                <a:prstGeom prst="rect">
                  <a:avLst/>
                </a:prstGeom>
              </p:spPr>
            </p:pic>
          </p:grpSp>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C583CB7-F138-7EB6-4CB9-6BCDA5755BBF}"/>
                    </a:ext>
                  </a:extLst>
                </p:cNvPr>
                <p:cNvSpPr txBox="1"/>
                <p:nvPr/>
              </p:nvSpPr>
              <p:spPr>
                <a:xfrm>
                  <a:off x="3184804" y="2291814"/>
                  <a:ext cx="6097022"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000" b="1" i="1" smtClean="0">
                            <a:solidFill>
                              <a:srgbClr val="4D4D4D">
                                <a:alpha val="100000"/>
                              </a:srgbClr>
                            </a:solidFill>
                            <a:latin typeface="Cambria Math" panose="02040503050406030204" pitchFamily="18" charset="0"/>
                            <a:ea typeface="Cambria Math" panose="02040503050406030204" pitchFamily="18" charset="0"/>
                            <a:cs typeface="Arial"/>
                            <a:sym typeface="Arial"/>
                          </a:rPr>
                          <m:t>≈</m:t>
                        </m:r>
                      </m:oMath>
                    </m:oMathPara>
                  </a14:m>
                  <a:endParaRPr lang="en-US" sz="3600" b="1" dirty="0"/>
                </a:p>
              </p:txBody>
            </p:sp>
          </mc:Choice>
          <mc:Fallback xmlns="">
            <p:sp>
              <p:nvSpPr>
                <p:cNvPr id="15" name="TextBox 14">
                  <a:extLst>
                    <a:ext uri="{FF2B5EF4-FFF2-40B4-BE49-F238E27FC236}">
                      <a16:creationId xmlns:a16="http://schemas.microsoft.com/office/drawing/2014/main" id="{2C583CB7-F138-7EB6-4CB9-6BCDA5755BBF}"/>
                    </a:ext>
                  </a:extLst>
                </p:cNvPr>
                <p:cNvSpPr txBox="1">
                  <a:spLocks noRot="1" noChangeAspect="1" noMove="1" noResize="1" noEditPoints="1" noAdjustHandles="1" noChangeArrowheads="1" noChangeShapeType="1" noTextEdit="1"/>
                </p:cNvSpPr>
                <p:nvPr/>
              </p:nvSpPr>
              <p:spPr>
                <a:xfrm>
                  <a:off x="3184804" y="2291814"/>
                  <a:ext cx="6097022" cy="70788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56CE388-224A-28F1-A08C-51A64882C6B9}"/>
                    </a:ext>
                  </a:extLst>
                </p:cNvPr>
                <p:cNvSpPr txBox="1"/>
                <p:nvPr/>
              </p:nvSpPr>
              <p:spPr>
                <a:xfrm>
                  <a:off x="3236576" y="3480713"/>
                  <a:ext cx="6097022"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000" b="0" i="1" smtClean="0">
                            <a:solidFill>
                              <a:srgbClr val="4D4D4D">
                                <a:alpha val="100000"/>
                              </a:srgbClr>
                            </a:solidFill>
                            <a:latin typeface="Cambria Math" panose="02040503050406030204" pitchFamily="18" charset="0"/>
                            <a:ea typeface="Cambria Math" panose="02040503050406030204" pitchFamily="18" charset="0"/>
                            <a:cs typeface="Arial"/>
                            <a:sym typeface="Arial"/>
                          </a:rPr>
                          <m:t>&gt;</m:t>
                        </m:r>
                      </m:oMath>
                    </m:oMathPara>
                  </a14:m>
                  <a:endParaRPr lang="en-US" sz="3600" dirty="0"/>
                </a:p>
              </p:txBody>
            </p:sp>
          </mc:Choice>
          <mc:Fallback xmlns="">
            <p:sp>
              <p:nvSpPr>
                <p:cNvPr id="17" name="TextBox 16">
                  <a:extLst>
                    <a:ext uri="{FF2B5EF4-FFF2-40B4-BE49-F238E27FC236}">
                      <a16:creationId xmlns:a16="http://schemas.microsoft.com/office/drawing/2014/main" id="{956CE388-224A-28F1-A08C-51A64882C6B9}"/>
                    </a:ext>
                  </a:extLst>
                </p:cNvPr>
                <p:cNvSpPr txBox="1">
                  <a:spLocks noRot="1" noChangeAspect="1" noMove="1" noResize="1" noEditPoints="1" noAdjustHandles="1" noChangeArrowheads="1" noChangeShapeType="1" noTextEdit="1"/>
                </p:cNvSpPr>
                <p:nvPr/>
              </p:nvSpPr>
              <p:spPr>
                <a:xfrm>
                  <a:off x="3236576" y="3480713"/>
                  <a:ext cx="6097022" cy="707886"/>
                </a:xfrm>
                <a:prstGeom prst="rect">
                  <a:avLst/>
                </a:prstGeom>
                <a:blipFill>
                  <a:blip r:embed="rId11"/>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860743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23467EF-0647-123A-3CB8-C13386CE1CD5}"/>
              </a:ext>
            </a:extLst>
          </p:cNvPr>
          <p:cNvSpPr>
            <a:spLocks noGrp="1"/>
          </p:cNvSpPr>
          <p:nvPr>
            <p:ph type="sldNum" sz="quarter" idx="12"/>
          </p:nvPr>
        </p:nvSpPr>
        <p:spPr/>
        <p:txBody>
          <a:bodyPr/>
          <a:lstStyle/>
          <a:p>
            <a:fld id="{1EDD9F3E-8BFD-4E3C-98D1-767322780FDD}" type="slidenum">
              <a:rPr lang="en-US" noProof="0" smtClean="0"/>
              <a:t>17</a:t>
            </a:fld>
            <a:endParaRPr lang="en-US" noProof="0"/>
          </a:p>
        </p:txBody>
      </p:sp>
      <p:sp>
        <p:nvSpPr>
          <p:cNvPr id="6" name="Content Placeholder 1">
            <a:extLst>
              <a:ext uri="{FF2B5EF4-FFF2-40B4-BE49-F238E27FC236}">
                <a16:creationId xmlns:a16="http://schemas.microsoft.com/office/drawing/2014/main" id="{99683706-B196-5932-354F-9A0E3E521E53}"/>
              </a:ext>
            </a:extLst>
          </p:cNvPr>
          <p:cNvSpPr>
            <a:spLocks noGrp="1"/>
          </p:cNvSpPr>
          <p:nvPr>
            <p:ph type="title"/>
          </p:nvPr>
        </p:nvSpPr>
        <p:spPr>
          <a:xfrm>
            <a:off x="233024" y="311445"/>
            <a:ext cx="11725951" cy="775597"/>
          </a:xfrm>
        </p:spPr>
        <p:txBody>
          <a:bodyPr/>
          <a:lstStyle/>
          <a:p>
            <a:pPr algn="l">
              <a:buNone/>
            </a:pPr>
            <a:r>
              <a:rPr lang="en-US" sz="2800" b="1" dirty="0">
                <a:solidFill>
                  <a:srgbClr val="0460A9"/>
                </a:solidFill>
                <a:latin typeface="Arial"/>
                <a:cs typeface="Arial"/>
              </a:rPr>
              <a:t>Simulated datasets retained the correlation structure from </a:t>
            </a:r>
            <a:r>
              <a:rPr lang="en-US" sz="2800" dirty="0">
                <a:solidFill>
                  <a:srgbClr val="0460A9"/>
                </a:solidFill>
                <a:latin typeface="Arial"/>
                <a:cs typeface="Arial"/>
              </a:rPr>
              <a:t>NHAENS</a:t>
            </a:r>
            <a:endParaRPr lang="en-US" sz="2800" b="1" dirty="0">
              <a:solidFill>
                <a:srgbClr val="0460A9"/>
              </a:solidFill>
              <a:latin typeface="Arial"/>
              <a:cs typeface="Arial"/>
            </a:endParaRPr>
          </a:p>
        </p:txBody>
      </p:sp>
      <p:pic>
        <p:nvPicPr>
          <p:cNvPr id="7" name="Picture 6">
            <a:extLst>
              <a:ext uri="{FF2B5EF4-FFF2-40B4-BE49-F238E27FC236}">
                <a16:creationId xmlns:a16="http://schemas.microsoft.com/office/drawing/2014/main" id="{EB81344C-1DE2-4AD0-A7B1-6BEEA686B2F4}"/>
              </a:ext>
            </a:extLst>
          </p:cNvPr>
          <p:cNvPicPr>
            <a:picLocks noChangeAspect="1"/>
          </p:cNvPicPr>
          <p:nvPr/>
        </p:nvPicPr>
        <p:blipFill>
          <a:blip r:embed="rId3"/>
          <a:stretch>
            <a:fillRect/>
          </a:stretch>
        </p:blipFill>
        <p:spPr>
          <a:xfrm>
            <a:off x="5720480" y="1144920"/>
            <a:ext cx="4393048" cy="4393048"/>
          </a:xfrm>
          <a:prstGeom prst="rect">
            <a:avLst/>
          </a:prstGeom>
        </p:spPr>
      </p:pic>
      <p:pic>
        <p:nvPicPr>
          <p:cNvPr id="9" name="Picture 8">
            <a:extLst>
              <a:ext uri="{FF2B5EF4-FFF2-40B4-BE49-F238E27FC236}">
                <a16:creationId xmlns:a16="http://schemas.microsoft.com/office/drawing/2014/main" id="{5441FD95-4082-EE51-DDE5-F68A104102B4}"/>
              </a:ext>
            </a:extLst>
          </p:cNvPr>
          <p:cNvPicPr>
            <a:picLocks noChangeAspect="1"/>
          </p:cNvPicPr>
          <p:nvPr/>
        </p:nvPicPr>
        <p:blipFill>
          <a:blip r:embed="rId4"/>
          <a:stretch>
            <a:fillRect/>
          </a:stretch>
        </p:blipFill>
        <p:spPr>
          <a:xfrm>
            <a:off x="1254420" y="1144920"/>
            <a:ext cx="4393048" cy="4393048"/>
          </a:xfrm>
          <a:prstGeom prst="rect">
            <a:avLst/>
          </a:prstGeom>
        </p:spPr>
      </p:pic>
      <p:sp>
        <p:nvSpPr>
          <p:cNvPr id="3" name="Rectangle 2">
            <a:extLst>
              <a:ext uri="{FF2B5EF4-FFF2-40B4-BE49-F238E27FC236}">
                <a16:creationId xmlns:a16="http://schemas.microsoft.com/office/drawing/2014/main" id="{710FA3E9-705E-0094-E485-08983DFBACAE}"/>
              </a:ext>
            </a:extLst>
          </p:cNvPr>
          <p:cNvSpPr/>
          <p:nvPr/>
        </p:nvSpPr>
        <p:spPr>
          <a:xfrm>
            <a:off x="5981060" y="1459966"/>
            <a:ext cx="1487821" cy="1559859"/>
          </a:xfrm>
          <a:prstGeom prst="rect">
            <a:avLst/>
          </a:prstGeom>
          <a:noFill/>
          <a:ln>
            <a:solidFill>
              <a:schemeClr val="accent1"/>
            </a:solidFill>
            <a:prstDash val="dash"/>
          </a:ln>
        </p:spPr>
        <p:style>
          <a:lnRef idx="2">
            <a:schemeClr val="accent3"/>
          </a:lnRef>
          <a:fillRef idx="1">
            <a:schemeClr val="lt1"/>
          </a:fillRef>
          <a:effectRef idx="0">
            <a:schemeClr val="accent3"/>
          </a:effectRef>
          <a:fontRef idx="minor">
            <a:schemeClr val="dk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sp>
        <p:nvSpPr>
          <p:cNvPr id="10" name="Rectangle 9">
            <a:extLst>
              <a:ext uri="{FF2B5EF4-FFF2-40B4-BE49-F238E27FC236}">
                <a16:creationId xmlns:a16="http://schemas.microsoft.com/office/drawing/2014/main" id="{3ACB6ACC-FA8E-29C2-0A58-55597A4F9C03}"/>
              </a:ext>
            </a:extLst>
          </p:cNvPr>
          <p:cNvSpPr/>
          <p:nvPr/>
        </p:nvSpPr>
        <p:spPr>
          <a:xfrm>
            <a:off x="1515356" y="1459965"/>
            <a:ext cx="1487821" cy="1559859"/>
          </a:xfrm>
          <a:prstGeom prst="rect">
            <a:avLst/>
          </a:prstGeom>
          <a:noFill/>
          <a:ln>
            <a:solidFill>
              <a:schemeClr val="accent1"/>
            </a:solidFill>
            <a:prstDash val="dash"/>
          </a:ln>
        </p:spPr>
        <p:style>
          <a:lnRef idx="2">
            <a:schemeClr val="accent3"/>
          </a:lnRef>
          <a:fillRef idx="1">
            <a:schemeClr val="lt1"/>
          </a:fillRef>
          <a:effectRef idx="0">
            <a:schemeClr val="accent3"/>
          </a:effectRef>
          <a:fontRef idx="minor">
            <a:schemeClr val="dk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sp>
        <p:nvSpPr>
          <p:cNvPr id="12" name="Rectangle 11">
            <a:extLst>
              <a:ext uri="{FF2B5EF4-FFF2-40B4-BE49-F238E27FC236}">
                <a16:creationId xmlns:a16="http://schemas.microsoft.com/office/drawing/2014/main" id="{F21ECAE1-5230-459C-0BAF-2E38A9D52571}"/>
              </a:ext>
            </a:extLst>
          </p:cNvPr>
          <p:cNvSpPr/>
          <p:nvPr/>
        </p:nvSpPr>
        <p:spPr>
          <a:xfrm>
            <a:off x="1515355" y="1459965"/>
            <a:ext cx="2326662" cy="2320580"/>
          </a:xfrm>
          <a:prstGeom prst="rect">
            <a:avLst/>
          </a:prstGeom>
          <a:noFill/>
          <a:ln>
            <a:solidFill>
              <a:schemeClr val="accent1">
                <a:lumMod val="40000"/>
                <a:lumOff val="60000"/>
              </a:schemeClr>
            </a:solidFill>
            <a:prstDash val="dash"/>
          </a:ln>
        </p:spPr>
        <p:style>
          <a:lnRef idx="2">
            <a:schemeClr val="accent3"/>
          </a:lnRef>
          <a:fillRef idx="1">
            <a:schemeClr val="lt1"/>
          </a:fillRef>
          <a:effectRef idx="0">
            <a:schemeClr val="accent3"/>
          </a:effectRef>
          <a:fontRef idx="minor">
            <a:schemeClr val="dk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sp>
        <p:nvSpPr>
          <p:cNvPr id="14" name="Rectangle 13">
            <a:extLst>
              <a:ext uri="{FF2B5EF4-FFF2-40B4-BE49-F238E27FC236}">
                <a16:creationId xmlns:a16="http://schemas.microsoft.com/office/drawing/2014/main" id="{C0B1FF53-623D-71F9-E809-E1B2A702FC53}"/>
              </a:ext>
            </a:extLst>
          </p:cNvPr>
          <p:cNvSpPr/>
          <p:nvPr/>
        </p:nvSpPr>
        <p:spPr>
          <a:xfrm>
            <a:off x="5981060" y="1459965"/>
            <a:ext cx="2326662" cy="2320580"/>
          </a:xfrm>
          <a:prstGeom prst="rect">
            <a:avLst/>
          </a:prstGeom>
          <a:noFill/>
          <a:ln>
            <a:solidFill>
              <a:schemeClr val="accent1">
                <a:lumMod val="40000"/>
                <a:lumOff val="60000"/>
              </a:schemeClr>
            </a:solidFill>
            <a:prstDash val="dash"/>
          </a:ln>
        </p:spPr>
        <p:style>
          <a:lnRef idx="2">
            <a:schemeClr val="accent3"/>
          </a:lnRef>
          <a:fillRef idx="1">
            <a:schemeClr val="lt1"/>
          </a:fillRef>
          <a:effectRef idx="0">
            <a:schemeClr val="accent3"/>
          </a:effectRef>
          <a:fontRef idx="minor">
            <a:schemeClr val="dk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sp>
        <p:nvSpPr>
          <p:cNvPr id="8" name="TextBox 7">
            <a:extLst>
              <a:ext uri="{FF2B5EF4-FFF2-40B4-BE49-F238E27FC236}">
                <a16:creationId xmlns:a16="http://schemas.microsoft.com/office/drawing/2014/main" id="{83CE7CD3-8A57-AFA8-2E46-A56F8E5395DD}"/>
              </a:ext>
            </a:extLst>
          </p:cNvPr>
          <p:cNvSpPr txBox="1"/>
          <p:nvPr/>
        </p:nvSpPr>
        <p:spPr>
          <a:xfrm>
            <a:off x="2600131" y="5668347"/>
            <a:ext cx="6094674" cy="369332"/>
          </a:xfrm>
          <a:prstGeom prst="rect">
            <a:avLst/>
          </a:prstGeom>
          <a:noFill/>
        </p:spPr>
        <p:txBody>
          <a:bodyPr wrap="square">
            <a:spAutoFit/>
          </a:bodyPr>
          <a:lstStyle/>
          <a:p>
            <a:r>
              <a:rPr lang="en-US" b="1" dirty="0"/>
              <a:t>Weight and BMI are highly collinear — a selection trap</a:t>
            </a:r>
          </a:p>
        </p:txBody>
      </p:sp>
    </p:spTree>
    <p:extLst>
      <p:ext uri="{BB962C8B-B14F-4D97-AF65-F5344CB8AC3E}">
        <p14:creationId xmlns:p14="http://schemas.microsoft.com/office/powerpoint/2010/main" val="4272469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273436" y="297415"/>
            <a:ext cx="11064240" cy="387798"/>
          </a:xfrm>
        </p:spPr>
        <p:txBody>
          <a:bodyPr/>
          <a:lstStyle/>
          <a:p>
            <a:pPr algn="l">
              <a:buNone/>
            </a:pPr>
            <a:r>
              <a:rPr lang="en-US" sz="2800" b="1" dirty="0">
                <a:solidFill>
                  <a:srgbClr val="0460A9"/>
                </a:solidFill>
                <a:latin typeface="Arial"/>
                <a:cs typeface="Arial"/>
              </a:rPr>
              <a:t>nlmixr2 SCM converges reliably in both analytic and ODE forms</a:t>
            </a:r>
          </a:p>
        </p:txBody>
      </p:sp>
      <p:sp>
        <p:nvSpPr>
          <p:cNvPr id="3" name="Content Placeholder 2"/>
          <p:cNvSpPr>
            <a:spLocks noGrp="1"/>
          </p:cNvSpPr>
          <p:nvPr>
            <p:ph/>
          </p:nvPr>
        </p:nvSpPr>
        <p:spPr>
          <a:xfrm>
            <a:off x="566928" y="1188720"/>
            <a:ext cx="3108960" cy="64008"/>
          </a:xfrm>
        </p:spPr>
        <p:txBody>
          <a:bodyPr/>
          <a:lstStyle/>
          <a:p>
            <a:pPr marL="0" marR="0" algn="l">
              <a:lnSpc>
                <a:spcPct val="100000"/>
              </a:lnSpc>
              <a:spcBef>
                <a:spcPts val="0"/>
              </a:spcBef>
              <a:spcAft>
                <a:spcPts val="0"/>
              </a:spcAft>
              <a:buNone/>
            </a:pPr>
            <a:r>
              <a:rPr sz="200" b="0" i="0" u="none" strike="noStrike" cap="none">
                <a:solidFill>
                  <a:srgbClr val="000000">
                    <a:alpha val="100000"/>
                  </a:srgbClr>
                </a:solidFill>
                <a:latin typeface="Arial"/>
                <a:cs typeface="Arial"/>
                <a:sym typeface="Arial"/>
              </a:rPr>
              <a:t> </a:t>
            </a:r>
          </a:p>
        </p:txBody>
      </p:sp>
      <p:sp>
        <p:nvSpPr>
          <p:cNvPr id="4" name="Content Placeholder 3"/>
          <p:cNvSpPr>
            <a:spLocks noGrp="1"/>
          </p:cNvSpPr>
          <p:nvPr>
            <p:ph/>
          </p:nvPr>
        </p:nvSpPr>
        <p:spPr>
          <a:xfrm>
            <a:off x="1614810" y="5392146"/>
            <a:ext cx="8805332" cy="554267"/>
          </a:xfrm>
        </p:spPr>
        <p:txBody>
          <a:bodyPr/>
          <a:lstStyle/>
          <a:p>
            <a:pPr marL="0" marR="0" algn="l">
              <a:lnSpc>
                <a:spcPct val="105000"/>
              </a:lnSpc>
              <a:spcBef>
                <a:spcPts val="0"/>
              </a:spcBef>
              <a:spcAft>
                <a:spcPts val="500"/>
              </a:spcAft>
              <a:buNone/>
            </a:pPr>
            <a:r>
              <a:rPr lang="en-US" sz="1800" b="0" i="0" u="none" strike="noStrike" cap="none" dirty="0">
                <a:solidFill>
                  <a:srgbClr val="4D4D4D">
                    <a:alpha val="100000"/>
                  </a:srgbClr>
                </a:solidFill>
                <a:latin typeface="Arial"/>
                <a:cs typeface="Arial"/>
                <a:sym typeface="Arial"/>
              </a:rPr>
              <a:t>High convergence rate and condition number &lt;1000 for both analytic and ODE setting</a:t>
            </a:r>
          </a:p>
        </p:txBody>
      </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F22BE438-08DB-4305-9AFC-FBC1289C148A}" type="slidenum">
              <a:rPr lang="en-US" sz="1000">
                <a:solidFill>
                  <a:srgbClr val="8A8A8A"/>
                </a:solidFill>
                <a:latin typeface="Arial"/>
              </a:rPr>
              <a:t>18</a:t>
            </a:fld>
            <a:endParaRPr lang="en-US" sz="1000">
              <a:solidFill>
                <a:srgbClr val="8A8A8A"/>
              </a:solidFill>
              <a:latin typeface="Arial"/>
            </a:endParaRPr>
          </a:p>
        </p:txBody>
      </p:sp>
      <p:pic>
        <p:nvPicPr>
          <p:cNvPr id="6" name="Picture 5">
            <a:extLst>
              <a:ext uri="{FF2B5EF4-FFF2-40B4-BE49-F238E27FC236}">
                <a16:creationId xmlns:a16="http://schemas.microsoft.com/office/drawing/2014/main" id="{435775F3-FFB7-1F32-C9E9-666BF6E9D760}"/>
              </a:ext>
            </a:extLst>
          </p:cNvPr>
          <p:cNvPicPr>
            <a:picLocks noChangeAspect="1"/>
          </p:cNvPicPr>
          <p:nvPr/>
        </p:nvPicPr>
        <p:blipFill>
          <a:blip r:embed="rId3"/>
          <a:stretch>
            <a:fillRect/>
          </a:stretch>
        </p:blipFill>
        <p:spPr>
          <a:xfrm>
            <a:off x="1123045" y="1437058"/>
            <a:ext cx="9365022" cy="3856185"/>
          </a:xfrm>
          <a:prstGeom prst="rect">
            <a:avLst/>
          </a:prstGeom>
        </p:spPr>
      </p:pic>
      <p:sp>
        <p:nvSpPr>
          <p:cNvPr id="7" name="TextBox 6">
            <a:extLst>
              <a:ext uri="{FF2B5EF4-FFF2-40B4-BE49-F238E27FC236}">
                <a16:creationId xmlns:a16="http://schemas.microsoft.com/office/drawing/2014/main" id="{C72026C2-161A-402F-0E64-BC5483FB1F4B}"/>
              </a:ext>
            </a:extLst>
          </p:cNvPr>
          <p:cNvSpPr txBox="1"/>
          <p:nvPr/>
        </p:nvSpPr>
        <p:spPr>
          <a:xfrm>
            <a:off x="5188569" y="1018945"/>
            <a:ext cx="1814861" cy="368661"/>
          </a:xfrm>
          <a:prstGeom prst="rect">
            <a:avLst/>
          </a:prstGeom>
          <a:noFill/>
        </p:spPr>
        <p:txBody>
          <a:bodyPr wrap="square">
            <a:spAutoFit/>
          </a:bodyPr>
          <a:lstStyle/>
          <a:p>
            <a:r>
              <a:rPr lang="en-US" b="1" dirty="0"/>
              <a:t>Nlmixr2 SCM</a:t>
            </a:r>
            <a:endParaRPr lang="en-US" dirty="0"/>
          </a:p>
        </p:txBody>
      </p:sp>
      <p:grpSp>
        <p:nvGrpSpPr>
          <p:cNvPr id="5" name="Group 4">
            <a:extLst>
              <a:ext uri="{FF2B5EF4-FFF2-40B4-BE49-F238E27FC236}">
                <a16:creationId xmlns:a16="http://schemas.microsoft.com/office/drawing/2014/main" id="{0FEE9510-AE6B-04B0-18C8-65B7986F4CBA}"/>
              </a:ext>
            </a:extLst>
          </p:cNvPr>
          <p:cNvGrpSpPr/>
          <p:nvPr/>
        </p:nvGrpSpPr>
        <p:grpSpPr>
          <a:xfrm>
            <a:off x="2622788" y="6227064"/>
            <a:ext cx="8733555" cy="462936"/>
            <a:chOff x="880000" y="5195331"/>
            <a:chExt cx="9400001" cy="560000"/>
          </a:xfrm>
        </p:grpSpPr>
        <p:sp>
          <p:nvSpPr>
            <p:cNvPr id="8" name="pill90">
              <a:extLst>
                <a:ext uri="{FF2B5EF4-FFF2-40B4-BE49-F238E27FC236}">
                  <a16:creationId xmlns:a16="http://schemas.microsoft.com/office/drawing/2014/main" id="{E6250C73-ABB6-0EC1-FDC9-2F76A1013B01}"/>
                </a:ext>
              </a:extLst>
            </p:cNvPr>
            <p:cNvSpPr/>
            <p:nvPr/>
          </p:nvSpPr>
          <p:spPr>
            <a:xfrm>
              <a:off x="3230000" y="5195331"/>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400" b="0" dirty="0">
                  <a:solidFill>
                    <a:srgbClr val="6B7683"/>
                  </a:solidFill>
                  <a:latin typeface="Arial"/>
                  <a:cs typeface="Arial"/>
                </a:rPr>
                <a:t>2 Power</a:t>
              </a:r>
            </a:p>
          </p:txBody>
        </p:sp>
        <p:sp>
          <p:nvSpPr>
            <p:cNvPr id="9" name="pill91">
              <a:extLst>
                <a:ext uri="{FF2B5EF4-FFF2-40B4-BE49-F238E27FC236}">
                  <a16:creationId xmlns:a16="http://schemas.microsoft.com/office/drawing/2014/main" id="{B68F1448-C4CC-6E59-11E7-CC3F526F6FE9}"/>
                </a:ext>
              </a:extLst>
            </p:cNvPr>
            <p:cNvSpPr/>
            <p:nvPr/>
          </p:nvSpPr>
          <p:spPr>
            <a:xfrm>
              <a:off x="880000" y="5195331"/>
              <a:ext cx="2350000" cy="560000"/>
            </a:xfrm>
            <a:prstGeom prst="roundRect">
              <a:avLst>
                <a:gd name="adj" fmla="val 30000"/>
              </a:avLst>
            </a:prstGeom>
            <a:solidFill>
              <a:srgbClr val="0460A9"/>
            </a:solidFill>
          </p:spPr>
          <p:txBody>
            <a:bodyPr lIns="91440" tIns="0" rIns="45720" bIns="0" anchor="ctr"/>
            <a:lstStyle/>
            <a:p>
              <a:pPr algn="ctr">
                <a:buNone/>
              </a:pPr>
              <a:r>
                <a:rPr lang="en-US" sz="1400" b="1" dirty="0">
                  <a:solidFill>
                    <a:srgbClr val="FFFFFF"/>
                  </a:solidFill>
                  <a:latin typeface="Arial"/>
                  <a:cs typeface="Arial"/>
                </a:rPr>
                <a:t>1 Reliability</a:t>
              </a:r>
            </a:p>
          </p:txBody>
        </p:sp>
        <p:sp>
          <p:nvSpPr>
            <p:cNvPr id="10" name="pill92">
              <a:extLst>
                <a:ext uri="{FF2B5EF4-FFF2-40B4-BE49-F238E27FC236}">
                  <a16:creationId xmlns:a16="http://schemas.microsoft.com/office/drawing/2014/main" id="{6F642388-379D-3C58-1B56-8F86B858FA43}"/>
                </a:ext>
              </a:extLst>
            </p:cNvPr>
            <p:cNvSpPr/>
            <p:nvPr/>
          </p:nvSpPr>
          <p:spPr>
            <a:xfrm>
              <a:off x="5580001" y="5195331"/>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400" b="0" dirty="0">
                  <a:solidFill>
                    <a:srgbClr val="6B7683"/>
                  </a:solidFill>
                  <a:latin typeface="Arial"/>
                  <a:cs typeface="Arial"/>
                </a:rPr>
                <a:t>3  Accuracy</a:t>
              </a:r>
            </a:p>
          </p:txBody>
        </p:sp>
        <p:sp>
          <p:nvSpPr>
            <p:cNvPr id="11" name="pill93">
              <a:extLst>
                <a:ext uri="{FF2B5EF4-FFF2-40B4-BE49-F238E27FC236}">
                  <a16:creationId xmlns:a16="http://schemas.microsoft.com/office/drawing/2014/main" id="{0BD42444-8E9E-3DC4-B526-5A43F331AEB2}"/>
                </a:ext>
              </a:extLst>
            </p:cNvPr>
            <p:cNvSpPr/>
            <p:nvPr/>
          </p:nvSpPr>
          <p:spPr>
            <a:xfrm>
              <a:off x="7930001" y="5195331"/>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400" b="0" dirty="0">
                  <a:solidFill>
                    <a:srgbClr val="6B7683"/>
                  </a:solidFill>
                  <a:latin typeface="Arial"/>
                  <a:cs typeface="Arial"/>
                </a:rPr>
                <a:t>4  Runtime</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4E251-4E03-EC00-0562-A05D8F31037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BF6FFB5-DFEF-E7BB-2B74-227D9FDD74F1}"/>
              </a:ext>
            </a:extLst>
          </p:cNvPr>
          <p:cNvSpPr>
            <a:spLocks noGrp="1"/>
          </p:cNvSpPr>
          <p:nvPr>
            <p:ph type="sldNum" sz="quarter" idx="12"/>
          </p:nvPr>
        </p:nvSpPr>
        <p:spPr/>
        <p:txBody>
          <a:bodyPr/>
          <a:lstStyle/>
          <a:p>
            <a:fld id="{1EDD9F3E-8BFD-4E3C-98D1-767322780FDD}" type="slidenum">
              <a:rPr lang="en-US" noProof="0" smtClean="0"/>
              <a:t>19</a:t>
            </a:fld>
            <a:endParaRPr lang="en-US" noProof="0"/>
          </a:p>
        </p:txBody>
      </p:sp>
      <p:sp>
        <p:nvSpPr>
          <p:cNvPr id="9" name="Content Placeholder 1">
            <a:extLst>
              <a:ext uri="{FF2B5EF4-FFF2-40B4-BE49-F238E27FC236}">
                <a16:creationId xmlns:a16="http://schemas.microsoft.com/office/drawing/2014/main" id="{65937E69-D8DB-BF2E-F0F7-A958E85284F4}"/>
              </a:ext>
            </a:extLst>
          </p:cNvPr>
          <p:cNvSpPr txBox="1">
            <a:spLocks/>
          </p:cNvSpPr>
          <p:nvPr/>
        </p:nvSpPr>
        <p:spPr bwMode="gray">
          <a:xfrm>
            <a:off x="233680" y="241756"/>
            <a:ext cx="11740984" cy="430887"/>
          </a:xfrm>
          <a:prstGeom prst="rect">
            <a:avLst/>
          </a:prstGeom>
        </p:spPr>
        <p:txBody>
          <a:bodyPr vert="horz" wrap="square" lIns="0" tIns="0" rIns="0" bIns="0" rtlCol="0" anchor="t">
            <a:spAutoFit/>
          </a:bodyPr>
          <a:lstStyle/>
          <a:p>
            <a:pPr algn="l">
              <a:buNone/>
            </a:pPr>
            <a:r>
              <a:rPr lang="en-US" sz="2800" b="1" dirty="0">
                <a:solidFill>
                  <a:srgbClr val="0460A9"/>
                </a:solidFill>
                <a:latin typeface="Arial"/>
                <a:cs typeface="Arial"/>
              </a:rPr>
              <a:t>nlmixr2 matches or exceeds NONMEM on convergence &amp; </a:t>
            </a:r>
            <a:r>
              <a:rPr lang="en-US" sz="2800" b="1" dirty="0" err="1">
                <a:solidFill>
                  <a:srgbClr val="0460A9"/>
                </a:solidFill>
                <a:latin typeface="Arial"/>
                <a:cs typeface="Arial"/>
              </a:rPr>
              <a:t>cov_step</a:t>
            </a:r>
            <a:endParaRPr lang="en-US" sz="2800" b="1" dirty="0">
              <a:solidFill>
                <a:srgbClr val="0460A9"/>
              </a:solidFill>
              <a:latin typeface="Arial"/>
              <a:cs typeface="Arial"/>
            </a:endParaRPr>
          </a:p>
        </p:txBody>
      </p:sp>
      <p:pic>
        <p:nvPicPr>
          <p:cNvPr id="3" name="Picture 2">
            <a:extLst>
              <a:ext uri="{FF2B5EF4-FFF2-40B4-BE49-F238E27FC236}">
                <a16:creationId xmlns:a16="http://schemas.microsoft.com/office/drawing/2014/main" id="{47628A45-502A-0751-0A18-C6FB3F02541A}"/>
              </a:ext>
            </a:extLst>
          </p:cNvPr>
          <p:cNvPicPr>
            <a:picLocks noChangeAspect="1"/>
          </p:cNvPicPr>
          <p:nvPr/>
        </p:nvPicPr>
        <p:blipFill>
          <a:blip r:embed="rId3"/>
          <a:stretch>
            <a:fillRect/>
          </a:stretch>
        </p:blipFill>
        <p:spPr>
          <a:xfrm>
            <a:off x="1252175" y="994951"/>
            <a:ext cx="9831665" cy="4915833"/>
          </a:xfrm>
          <a:prstGeom prst="rect">
            <a:avLst/>
          </a:prstGeom>
        </p:spPr>
      </p:pic>
      <p:grpSp>
        <p:nvGrpSpPr>
          <p:cNvPr id="10" name="Group 9">
            <a:extLst>
              <a:ext uri="{FF2B5EF4-FFF2-40B4-BE49-F238E27FC236}">
                <a16:creationId xmlns:a16="http://schemas.microsoft.com/office/drawing/2014/main" id="{D0DE8823-54E3-EA24-29DB-D93A9C071553}"/>
              </a:ext>
            </a:extLst>
          </p:cNvPr>
          <p:cNvGrpSpPr/>
          <p:nvPr/>
        </p:nvGrpSpPr>
        <p:grpSpPr>
          <a:xfrm>
            <a:off x="2622788" y="6233092"/>
            <a:ext cx="8733555" cy="456908"/>
            <a:chOff x="880000" y="5195331"/>
            <a:chExt cx="9400001" cy="560000"/>
          </a:xfrm>
        </p:grpSpPr>
        <p:sp>
          <p:nvSpPr>
            <p:cNvPr id="11" name="pill90">
              <a:extLst>
                <a:ext uri="{FF2B5EF4-FFF2-40B4-BE49-F238E27FC236}">
                  <a16:creationId xmlns:a16="http://schemas.microsoft.com/office/drawing/2014/main" id="{CC7DC97A-431B-39D4-BD78-955BDE644B45}"/>
                </a:ext>
              </a:extLst>
            </p:cNvPr>
            <p:cNvSpPr/>
            <p:nvPr/>
          </p:nvSpPr>
          <p:spPr>
            <a:xfrm>
              <a:off x="3230000" y="5195331"/>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400" b="0" dirty="0">
                  <a:solidFill>
                    <a:srgbClr val="6B7683"/>
                  </a:solidFill>
                  <a:latin typeface="Arial"/>
                  <a:cs typeface="Arial"/>
                </a:rPr>
                <a:t>2 Power</a:t>
              </a:r>
            </a:p>
          </p:txBody>
        </p:sp>
        <p:sp>
          <p:nvSpPr>
            <p:cNvPr id="12" name="pill91">
              <a:extLst>
                <a:ext uri="{FF2B5EF4-FFF2-40B4-BE49-F238E27FC236}">
                  <a16:creationId xmlns:a16="http://schemas.microsoft.com/office/drawing/2014/main" id="{8ADCFB29-F98B-41FD-A13E-EEF85C548B70}"/>
                </a:ext>
              </a:extLst>
            </p:cNvPr>
            <p:cNvSpPr/>
            <p:nvPr/>
          </p:nvSpPr>
          <p:spPr>
            <a:xfrm>
              <a:off x="880000" y="5195331"/>
              <a:ext cx="2350000" cy="560000"/>
            </a:xfrm>
            <a:prstGeom prst="roundRect">
              <a:avLst>
                <a:gd name="adj" fmla="val 30000"/>
              </a:avLst>
            </a:prstGeom>
            <a:solidFill>
              <a:srgbClr val="0460A9"/>
            </a:solidFill>
          </p:spPr>
          <p:txBody>
            <a:bodyPr lIns="91440" tIns="0" rIns="45720" bIns="0" anchor="ctr"/>
            <a:lstStyle/>
            <a:p>
              <a:pPr algn="ctr">
                <a:buNone/>
              </a:pPr>
              <a:r>
                <a:rPr lang="en-US" sz="1400" b="1" dirty="0">
                  <a:solidFill>
                    <a:srgbClr val="FFFFFF"/>
                  </a:solidFill>
                  <a:latin typeface="Arial"/>
                  <a:cs typeface="Arial"/>
                </a:rPr>
                <a:t>1 Reliability</a:t>
              </a:r>
            </a:p>
          </p:txBody>
        </p:sp>
        <p:sp>
          <p:nvSpPr>
            <p:cNvPr id="13" name="pill92">
              <a:extLst>
                <a:ext uri="{FF2B5EF4-FFF2-40B4-BE49-F238E27FC236}">
                  <a16:creationId xmlns:a16="http://schemas.microsoft.com/office/drawing/2014/main" id="{5890A900-D768-A6E4-9ABB-E9C5D5219A3D}"/>
                </a:ext>
              </a:extLst>
            </p:cNvPr>
            <p:cNvSpPr/>
            <p:nvPr/>
          </p:nvSpPr>
          <p:spPr>
            <a:xfrm>
              <a:off x="5580001" y="5195331"/>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400" b="0" dirty="0">
                  <a:solidFill>
                    <a:srgbClr val="6B7683"/>
                  </a:solidFill>
                  <a:latin typeface="Arial"/>
                  <a:cs typeface="Arial"/>
                </a:rPr>
                <a:t>3  Accuracy</a:t>
              </a:r>
            </a:p>
          </p:txBody>
        </p:sp>
        <p:sp>
          <p:nvSpPr>
            <p:cNvPr id="14" name="pill93">
              <a:extLst>
                <a:ext uri="{FF2B5EF4-FFF2-40B4-BE49-F238E27FC236}">
                  <a16:creationId xmlns:a16="http://schemas.microsoft.com/office/drawing/2014/main" id="{33086998-C74E-714C-CB83-D1424D74C13B}"/>
                </a:ext>
              </a:extLst>
            </p:cNvPr>
            <p:cNvSpPr/>
            <p:nvPr/>
          </p:nvSpPr>
          <p:spPr>
            <a:xfrm>
              <a:off x="7930001" y="5195331"/>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400" b="0" dirty="0">
                  <a:solidFill>
                    <a:srgbClr val="6B7683"/>
                  </a:solidFill>
                  <a:latin typeface="Arial"/>
                  <a:cs typeface="Arial"/>
                </a:rPr>
                <a:t>4  Runtime</a:t>
              </a:r>
            </a:p>
          </p:txBody>
        </p:sp>
      </p:grpSp>
    </p:spTree>
    <p:extLst>
      <p:ext uri="{BB962C8B-B14F-4D97-AF65-F5344CB8AC3E}">
        <p14:creationId xmlns:p14="http://schemas.microsoft.com/office/powerpoint/2010/main" val="3807049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399784" y="339225"/>
            <a:ext cx="11064240" cy="387798"/>
          </a:xfrm>
        </p:spPr>
        <p:txBody>
          <a:bodyPr/>
          <a:lstStyle/>
          <a:p>
            <a:pPr algn="l">
              <a:buNone/>
            </a:pPr>
            <a:r>
              <a:rPr lang="en-US" sz="2800" b="1" dirty="0">
                <a:solidFill>
                  <a:srgbClr val="0460A9"/>
                </a:solidFill>
                <a:latin typeface="Arial"/>
                <a:cs typeface="Arial"/>
              </a:rPr>
              <a:t>Power rises with sample size and falls with model complexity</a:t>
            </a:r>
          </a:p>
        </p:txBody>
      </p:sp>
      <p:sp>
        <p:nvSpPr>
          <p:cNvPr id="3" name="Content Placeholder 2"/>
          <p:cNvSpPr>
            <a:spLocks noGrp="1"/>
          </p:cNvSpPr>
          <p:nvPr>
            <p:ph/>
          </p:nvPr>
        </p:nvSpPr>
        <p:spPr>
          <a:xfrm>
            <a:off x="566928" y="1188720"/>
            <a:ext cx="3108960" cy="64008"/>
          </a:xfrm>
        </p:spPr>
        <p:txBody>
          <a:bodyPr/>
          <a:lstStyle/>
          <a:p>
            <a:pPr marL="0" marR="0" algn="l">
              <a:lnSpc>
                <a:spcPct val="100000"/>
              </a:lnSpc>
              <a:spcBef>
                <a:spcPts val="0"/>
              </a:spcBef>
              <a:spcAft>
                <a:spcPts val="0"/>
              </a:spcAft>
              <a:buNone/>
            </a:pPr>
            <a:r>
              <a:rPr sz="200" b="0" i="0" u="none" strike="noStrike" cap="none">
                <a:solidFill>
                  <a:srgbClr val="000000">
                    <a:alpha val="100000"/>
                  </a:srgbClr>
                </a:solidFill>
                <a:latin typeface="Arial"/>
                <a:cs typeface="Arial"/>
                <a:sym typeface="Arial"/>
              </a:rPr>
              <a:t> </a:t>
            </a:r>
          </a:p>
        </p:txBody>
      </p:sp>
      <p:grpSp>
        <p:nvGrpSpPr>
          <p:cNvPr id="24" name="Group 23">
            <a:extLst>
              <a:ext uri="{FF2B5EF4-FFF2-40B4-BE49-F238E27FC236}">
                <a16:creationId xmlns:a16="http://schemas.microsoft.com/office/drawing/2014/main" id="{56B9D77C-DC0A-9E9B-D231-6B5EF379EAD1}"/>
              </a:ext>
            </a:extLst>
          </p:cNvPr>
          <p:cNvGrpSpPr/>
          <p:nvPr/>
        </p:nvGrpSpPr>
        <p:grpSpPr>
          <a:xfrm>
            <a:off x="3675888" y="5486291"/>
            <a:ext cx="5650712" cy="393121"/>
            <a:chOff x="1194698" y="5345612"/>
            <a:chExt cx="5650712" cy="393121"/>
          </a:xfrm>
        </p:grpSpPr>
        <mc:AlternateContent xmlns:mc="http://schemas.openxmlformats.org/markup-compatibility/2006" xmlns:a14="http://schemas.microsoft.com/office/drawing/2010/main">
          <mc:Choice Requires="a14">
            <p:sp>
              <p:nvSpPr>
                <p:cNvPr id="9" name="Content Placeholder 3">
                  <a:extLst>
                    <a:ext uri="{FF2B5EF4-FFF2-40B4-BE49-F238E27FC236}">
                      <a16:creationId xmlns:a16="http://schemas.microsoft.com/office/drawing/2014/main" id="{59A5B771-45D2-80F2-1CE6-489196DA3D58}"/>
                    </a:ext>
                  </a:extLst>
                </p:cNvPr>
                <p:cNvSpPr txBox="1">
                  <a:spLocks/>
                </p:cNvSpPr>
                <p:nvPr/>
              </p:nvSpPr>
              <p:spPr bwMode="gray">
                <a:xfrm>
                  <a:off x="1194698" y="5437945"/>
                  <a:ext cx="4450552" cy="30078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pPr>
                    <a:lnSpc>
                      <a:spcPct val="105000"/>
                    </a:lnSpc>
                    <a:spcBef>
                      <a:spcPts val="0"/>
                    </a:spcBef>
                    <a:spcAft>
                      <a:spcPts val="500"/>
                    </a:spcAft>
                  </a:pPr>
                  <a:r>
                    <a:rPr lang="en-US" sz="2000" dirty="0">
                      <a:solidFill>
                        <a:srgbClr val="4D4D4D">
                          <a:alpha val="100000"/>
                        </a:srgbClr>
                      </a:solidFill>
                      <a:latin typeface="+mn-lt"/>
                      <a:cs typeface="Arial"/>
                      <a:sym typeface="Arial"/>
                    </a:rPr>
                    <a:t>Lincmt </a:t>
                  </a:r>
                  <a14:m>
                    <m:oMath xmlns:m="http://schemas.openxmlformats.org/officeDocument/2006/math">
                      <m:r>
                        <a:rPr lang="en-US" sz="2000" b="0" i="1" smtClean="0">
                          <a:solidFill>
                            <a:srgbClr val="4D4D4D">
                              <a:alpha val="100000"/>
                            </a:srgbClr>
                          </a:solidFill>
                          <a:latin typeface="Cambria Math" panose="02040503050406030204" pitchFamily="18" charset="0"/>
                          <a:ea typeface="Cambria Math" panose="02040503050406030204" pitchFamily="18" charset="0"/>
                          <a:cs typeface="Arial"/>
                          <a:sym typeface="Arial"/>
                        </a:rPr>
                        <m:t>≈</m:t>
                      </m:r>
                      <m:r>
                        <a:rPr lang="en-US" sz="2000" b="1" i="0" smtClean="0">
                          <a:solidFill>
                            <a:srgbClr val="4D4D4D">
                              <a:alpha val="100000"/>
                            </a:srgbClr>
                          </a:solidFill>
                          <a:latin typeface="Cambria Math" panose="02040503050406030204" pitchFamily="18" charset="0"/>
                          <a:ea typeface="Cambria Math" panose="02040503050406030204" pitchFamily="18" charset="0"/>
                          <a:cs typeface="Arial"/>
                          <a:sym typeface="Arial"/>
                        </a:rPr>
                        <m:t> </m:t>
                      </m:r>
                    </m:oMath>
                  </a14:m>
                  <a:r>
                    <a:rPr lang="en-US" sz="2000" dirty="0">
                      <a:solidFill>
                        <a:srgbClr val="4D4D4D">
                          <a:alpha val="100000"/>
                        </a:srgbClr>
                      </a:solidFill>
                      <a:latin typeface="+mn-lt"/>
                      <a:cs typeface="Arial"/>
                      <a:sym typeface="Arial"/>
                    </a:rPr>
                    <a:t>ODE</a:t>
                  </a:r>
                </a:p>
              </p:txBody>
            </p:sp>
          </mc:Choice>
          <mc:Fallback xmlns="">
            <p:sp>
              <p:nvSpPr>
                <p:cNvPr id="9" name="Content Placeholder 3">
                  <a:extLst>
                    <a:ext uri="{FF2B5EF4-FFF2-40B4-BE49-F238E27FC236}">
                      <a16:creationId xmlns:a16="http://schemas.microsoft.com/office/drawing/2014/main" id="{59A5B771-45D2-80F2-1CE6-489196DA3D58}"/>
                    </a:ext>
                  </a:extLst>
                </p:cNvPr>
                <p:cNvSpPr txBox="1">
                  <a:spLocks noRot="1" noChangeAspect="1" noMove="1" noResize="1" noEditPoints="1" noAdjustHandles="1" noChangeArrowheads="1" noChangeShapeType="1" noTextEdit="1"/>
                </p:cNvSpPr>
                <p:nvPr/>
              </p:nvSpPr>
              <p:spPr bwMode="gray">
                <a:xfrm>
                  <a:off x="1194698" y="5437945"/>
                  <a:ext cx="4450552" cy="300788"/>
                </a:xfrm>
                <a:prstGeom prst="rect">
                  <a:avLst/>
                </a:prstGeom>
                <a:blipFill>
                  <a:blip r:embed="rId3"/>
                  <a:stretch>
                    <a:fillRect l="-3425" t="-28571" b="-53061"/>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DED1D234-24F5-B414-1A7D-6B366AD8EE13}"/>
                </a:ext>
              </a:extLst>
            </p:cNvPr>
            <p:cNvSpPr txBox="1"/>
            <p:nvPr/>
          </p:nvSpPr>
          <p:spPr>
            <a:xfrm>
              <a:off x="4562417" y="5345612"/>
              <a:ext cx="2282993" cy="393121"/>
            </a:xfrm>
            <a:prstGeom prst="rect">
              <a:avLst/>
            </a:prstGeom>
            <a:noFill/>
          </p:spPr>
          <p:txBody>
            <a:bodyPr wrap="square">
              <a:spAutoFit/>
            </a:bodyPr>
            <a:lstStyle/>
            <a:p>
              <a:pPr>
                <a:lnSpc>
                  <a:spcPct val="105000"/>
                </a:lnSpc>
                <a:spcBef>
                  <a:spcPts val="0"/>
                </a:spcBef>
                <a:spcAft>
                  <a:spcPts val="500"/>
                </a:spcAft>
              </a:pPr>
              <a:r>
                <a:rPr lang="en-US" sz="2000" b="1" dirty="0">
                  <a:solidFill>
                    <a:srgbClr val="4D4D4D">
                      <a:alpha val="100000"/>
                    </a:srgbClr>
                  </a:solidFill>
                  <a:latin typeface="Arial"/>
                  <a:cs typeface="Arial"/>
                  <a:sym typeface="Arial"/>
                </a:rPr>
                <a:t>N ↓, Power</a:t>
              </a:r>
              <a:r>
                <a:rPr lang="en-US" sz="2000" b="1" dirty="0">
                  <a:solidFill>
                    <a:srgbClr val="4D4D4D">
                      <a:alpha val="100000"/>
                    </a:srgbClr>
                  </a:solidFill>
                  <a:cs typeface="Arial"/>
                  <a:sym typeface="Arial"/>
                </a:rPr>
                <a:t> ↓</a:t>
              </a:r>
              <a:endParaRPr lang="en-US" sz="2000" b="1" dirty="0">
                <a:solidFill>
                  <a:srgbClr val="4D4D4D">
                    <a:alpha val="100000"/>
                  </a:srgbClr>
                </a:solidFill>
                <a:latin typeface="Arial"/>
                <a:cs typeface="Arial"/>
                <a:sym typeface="Arial"/>
              </a:endParaRPr>
            </a:p>
          </p:txBody>
        </p:sp>
      </p:gr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92F30AAC-6E70-445B-8C47-250AAFA00FD7}" type="slidenum">
              <a:rPr lang="en-US" sz="1000">
                <a:solidFill>
                  <a:srgbClr val="8A8A8A"/>
                </a:solidFill>
                <a:latin typeface="Arial"/>
              </a:rPr>
              <a:t>20</a:t>
            </a:fld>
            <a:endParaRPr lang="en-US" sz="1000">
              <a:solidFill>
                <a:srgbClr val="8A8A8A"/>
              </a:solidFill>
              <a:latin typeface="Arial"/>
            </a:endParaRPr>
          </a:p>
        </p:txBody>
      </p:sp>
      <p:pic>
        <p:nvPicPr>
          <p:cNvPr id="5" name="Picture 4">
            <a:extLst>
              <a:ext uri="{FF2B5EF4-FFF2-40B4-BE49-F238E27FC236}">
                <a16:creationId xmlns:a16="http://schemas.microsoft.com/office/drawing/2014/main" id="{089F6E9B-CB57-F644-6176-578DC5818FAC}"/>
              </a:ext>
            </a:extLst>
          </p:cNvPr>
          <p:cNvPicPr>
            <a:picLocks noChangeAspect="1"/>
          </p:cNvPicPr>
          <p:nvPr/>
        </p:nvPicPr>
        <p:blipFill>
          <a:blip r:embed="rId4"/>
          <a:stretch>
            <a:fillRect/>
          </a:stretch>
        </p:blipFill>
        <p:spPr>
          <a:xfrm>
            <a:off x="566928" y="1371134"/>
            <a:ext cx="10973751" cy="4115157"/>
          </a:xfrm>
          <a:prstGeom prst="rect">
            <a:avLst/>
          </a:prstGeom>
        </p:spPr>
      </p:pic>
      <p:sp>
        <p:nvSpPr>
          <p:cNvPr id="6" name="TextBox 5">
            <a:extLst>
              <a:ext uri="{FF2B5EF4-FFF2-40B4-BE49-F238E27FC236}">
                <a16:creationId xmlns:a16="http://schemas.microsoft.com/office/drawing/2014/main" id="{9136D046-3B15-9BF5-982F-28B792F83E92}"/>
              </a:ext>
            </a:extLst>
          </p:cNvPr>
          <p:cNvSpPr txBox="1"/>
          <p:nvPr/>
        </p:nvSpPr>
        <p:spPr>
          <a:xfrm>
            <a:off x="5188569" y="1018945"/>
            <a:ext cx="1814861" cy="368661"/>
          </a:xfrm>
          <a:prstGeom prst="rect">
            <a:avLst/>
          </a:prstGeom>
          <a:noFill/>
        </p:spPr>
        <p:txBody>
          <a:bodyPr wrap="square">
            <a:spAutoFit/>
          </a:bodyPr>
          <a:lstStyle/>
          <a:p>
            <a:r>
              <a:rPr lang="en-US" b="1" dirty="0"/>
              <a:t>nlmixr2 SCM</a:t>
            </a:r>
            <a:endParaRPr lang="en-US" dirty="0"/>
          </a:p>
        </p:txBody>
      </p:sp>
      <p:grpSp>
        <p:nvGrpSpPr>
          <p:cNvPr id="4" name="Group 3">
            <a:extLst>
              <a:ext uri="{FF2B5EF4-FFF2-40B4-BE49-F238E27FC236}">
                <a16:creationId xmlns:a16="http://schemas.microsoft.com/office/drawing/2014/main" id="{953B052F-CF2A-0069-B43B-E8F4D7577F7F}"/>
              </a:ext>
            </a:extLst>
          </p:cNvPr>
          <p:cNvGrpSpPr/>
          <p:nvPr/>
        </p:nvGrpSpPr>
        <p:grpSpPr>
          <a:xfrm>
            <a:off x="2622788" y="6208776"/>
            <a:ext cx="8733555" cy="481224"/>
            <a:chOff x="880000" y="5195331"/>
            <a:chExt cx="9400001" cy="560000"/>
          </a:xfrm>
        </p:grpSpPr>
        <p:sp>
          <p:nvSpPr>
            <p:cNvPr id="7" name="pill90">
              <a:extLst>
                <a:ext uri="{FF2B5EF4-FFF2-40B4-BE49-F238E27FC236}">
                  <a16:creationId xmlns:a16="http://schemas.microsoft.com/office/drawing/2014/main" id="{13D4779C-0E3C-09C8-99AB-8EDB40148CEB}"/>
                </a:ext>
              </a:extLst>
            </p:cNvPr>
            <p:cNvSpPr/>
            <p:nvPr/>
          </p:nvSpPr>
          <p:spPr>
            <a:xfrm>
              <a:off x="3230000" y="5195331"/>
              <a:ext cx="2350000" cy="560000"/>
            </a:xfrm>
            <a:prstGeom prst="roundRect">
              <a:avLst>
                <a:gd name="adj" fmla="val 30000"/>
              </a:avLst>
            </a:prstGeom>
            <a:solidFill>
              <a:srgbClr val="0460A9"/>
            </a:solidFill>
            <a:ln w="9525">
              <a:solidFill>
                <a:srgbClr val="D6E2F0"/>
              </a:solidFill>
            </a:ln>
          </p:spPr>
          <p:txBody>
            <a:bodyPr lIns="91440" tIns="0" rIns="45720" bIns="0" anchor="ctr"/>
            <a:lstStyle/>
            <a:p>
              <a:pPr algn="ctr">
                <a:buNone/>
              </a:pPr>
              <a:r>
                <a:rPr lang="en-US" sz="1400" b="1" dirty="0">
                  <a:solidFill>
                    <a:schemeClr val="bg1"/>
                  </a:solidFill>
                  <a:latin typeface="Arial"/>
                  <a:cs typeface="Arial"/>
                </a:rPr>
                <a:t>2 Power</a:t>
              </a:r>
            </a:p>
          </p:txBody>
        </p:sp>
        <p:sp>
          <p:nvSpPr>
            <p:cNvPr id="8" name="pill91">
              <a:extLst>
                <a:ext uri="{FF2B5EF4-FFF2-40B4-BE49-F238E27FC236}">
                  <a16:creationId xmlns:a16="http://schemas.microsoft.com/office/drawing/2014/main" id="{82B61B00-0ECA-0FF0-A403-8D0972AFAC01}"/>
                </a:ext>
              </a:extLst>
            </p:cNvPr>
            <p:cNvSpPr/>
            <p:nvPr/>
          </p:nvSpPr>
          <p:spPr>
            <a:xfrm>
              <a:off x="880000" y="5195331"/>
              <a:ext cx="2350000" cy="560000"/>
            </a:xfrm>
            <a:prstGeom prst="roundRect">
              <a:avLst>
                <a:gd name="adj" fmla="val 30000"/>
              </a:avLst>
            </a:prstGeom>
            <a:solidFill>
              <a:srgbClr val="F0F3F7"/>
            </a:solidFill>
          </p:spPr>
          <p:txBody>
            <a:bodyPr lIns="91440" tIns="0" rIns="45720" bIns="0" anchor="ctr"/>
            <a:lstStyle/>
            <a:p>
              <a:pPr algn="ctr">
                <a:buNone/>
              </a:pPr>
              <a:r>
                <a:rPr lang="en-US" sz="1400" dirty="0">
                  <a:solidFill>
                    <a:schemeClr val="accent4"/>
                  </a:solidFill>
                  <a:latin typeface="Arial"/>
                  <a:cs typeface="Arial"/>
                </a:rPr>
                <a:t>1 Reliability</a:t>
              </a:r>
            </a:p>
          </p:txBody>
        </p:sp>
        <p:sp>
          <p:nvSpPr>
            <p:cNvPr id="10" name="pill92">
              <a:extLst>
                <a:ext uri="{FF2B5EF4-FFF2-40B4-BE49-F238E27FC236}">
                  <a16:creationId xmlns:a16="http://schemas.microsoft.com/office/drawing/2014/main" id="{554F3ADA-499A-ED4E-11A0-41663D2AAC11}"/>
                </a:ext>
              </a:extLst>
            </p:cNvPr>
            <p:cNvSpPr/>
            <p:nvPr/>
          </p:nvSpPr>
          <p:spPr>
            <a:xfrm>
              <a:off x="5580001" y="5195331"/>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400" b="0" dirty="0">
                  <a:solidFill>
                    <a:srgbClr val="6B7683"/>
                  </a:solidFill>
                  <a:latin typeface="Arial"/>
                  <a:cs typeface="Arial"/>
                </a:rPr>
                <a:t>3  Accuracy</a:t>
              </a:r>
            </a:p>
          </p:txBody>
        </p:sp>
        <p:sp>
          <p:nvSpPr>
            <p:cNvPr id="11" name="pill93">
              <a:extLst>
                <a:ext uri="{FF2B5EF4-FFF2-40B4-BE49-F238E27FC236}">
                  <a16:creationId xmlns:a16="http://schemas.microsoft.com/office/drawing/2014/main" id="{9F19B02F-7A2D-FD93-8CE5-6C9D7FE3220F}"/>
                </a:ext>
              </a:extLst>
            </p:cNvPr>
            <p:cNvSpPr/>
            <p:nvPr/>
          </p:nvSpPr>
          <p:spPr>
            <a:xfrm>
              <a:off x="7930001" y="5195331"/>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400" b="0" dirty="0">
                  <a:solidFill>
                    <a:srgbClr val="6B7683"/>
                  </a:solidFill>
                  <a:latin typeface="Arial"/>
                  <a:cs typeface="Arial"/>
                </a:rPr>
                <a:t>4  Runtime</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4F3AB-AE86-A8FB-EE5F-15F49248322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9088B4-1D40-5512-5929-EF9B8CAC3F37}"/>
              </a:ext>
            </a:extLst>
          </p:cNvPr>
          <p:cNvSpPr>
            <a:spLocks noGrp="1"/>
          </p:cNvSpPr>
          <p:nvPr>
            <p:ph/>
          </p:nvPr>
        </p:nvSpPr>
        <p:spPr>
          <a:xfrm>
            <a:off x="566928" y="1188720"/>
            <a:ext cx="3108960" cy="64008"/>
          </a:xfrm>
        </p:spPr>
        <p:txBody>
          <a:bodyPr/>
          <a:lstStyle/>
          <a:p>
            <a:pPr marL="0" marR="0" algn="l">
              <a:lnSpc>
                <a:spcPct val="100000"/>
              </a:lnSpc>
              <a:spcBef>
                <a:spcPts val="0"/>
              </a:spcBef>
              <a:spcAft>
                <a:spcPts val="0"/>
              </a:spcAft>
              <a:buNone/>
            </a:pPr>
            <a:r>
              <a:rPr sz="200" b="0" i="0" u="none" strike="noStrike" cap="none">
                <a:solidFill>
                  <a:srgbClr val="000000">
                    <a:alpha val="100000"/>
                  </a:srgbClr>
                </a:solidFill>
                <a:latin typeface="Arial"/>
                <a:cs typeface="Arial"/>
                <a:sym typeface="Arial"/>
              </a:rPr>
              <a:t> </a:t>
            </a:r>
          </a:p>
        </p:txBody>
      </p:sp>
      <p:sp>
        <p:nvSpPr>
          <p:cNvPr id="960" name="slidenum_fn">
            <a:extLst>
              <a:ext uri="{FF2B5EF4-FFF2-40B4-BE49-F238E27FC236}">
                <a16:creationId xmlns:a16="http://schemas.microsoft.com/office/drawing/2014/main" id="{A9A8375B-B139-127B-1A4B-68785C9E255D}"/>
              </a:ext>
            </a:extLst>
          </p:cNvPr>
          <p:cNvSpPr txBox="1"/>
          <p:nvPr/>
        </p:nvSpPr>
        <p:spPr>
          <a:xfrm>
            <a:off x="11250000" y="6560000"/>
            <a:ext cx="760000" cy="260000"/>
          </a:xfrm>
          <a:prstGeom prst="rect">
            <a:avLst/>
          </a:prstGeom>
          <a:noFill/>
        </p:spPr>
        <p:txBody>
          <a:bodyPr wrap="none" lIns="0" tIns="0" rIns="0" bIns="0" anchor="ctr"/>
          <a:lstStyle/>
          <a:p>
            <a:pPr algn="r">
              <a:buNone/>
            </a:pPr>
            <a:fld id="{92F30AAC-6E70-445B-8C47-250AAFA00FD7}" type="slidenum">
              <a:rPr lang="en-US" sz="1000">
                <a:solidFill>
                  <a:srgbClr val="8A8A8A"/>
                </a:solidFill>
                <a:latin typeface="Arial"/>
              </a:rPr>
              <a:t>21</a:t>
            </a:fld>
            <a:endParaRPr lang="en-US" sz="1000">
              <a:solidFill>
                <a:srgbClr val="8A8A8A"/>
              </a:solidFill>
              <a:latin typeface="Arial"/>
            </a:endParaRPr>
          </a:p>
        </p:txBody>
      </p:sp>
      <p:grpSp>
        <p:nvGrpSpPr>
          <p:cNvPr id="4" name="Group 3">
            <a:extLst>
              <a:ext uri="{FF2B5EF4-FFF2-40B4-BE49-F238E27FC236}">
                <a16:creationId xmlns:a16="http://schemas.microsoft.com/office/drawing/2014/main" id="{14D13D8D-8227-F60F-48FA-9E84E1862BAA}"/>
              </a:ext>
            </a:extLst>
          </p:cNvPr>
          <p:cNvGrpSpPr/>
          <p:nvPr/>
        </p:nvGrpSpPr>
        <p:grpSpPr>
          <a:xfrm>
            <a:off x="2622788" y="6215218"/>
            <a:ext cx="8733555" cy="474782"/>
            <a:chOff x="880000" y="5195331"/>
            <a:chExt cx="9400001" cy="560000"/>
          </a:xfrm>
        </p:grpSpPr>
        <p:sp>
          <p:nvSpPr>
            <p:cNvPr id="7" name="pill90">
              <a:extLst>
                <a:ext uri="{FF2B5EF4-FFF2-40B4-BE49-F238E27FC236}">
                  <a16:creationId xmlns:a16="http://schemas.microsoft.com/office/drawing/2014/main" id="{6B003A3B-EFA9-925E-D424-3D0F734EF862}"/>
                </a:ext>
              </a:extLst>
            </p:cNvPr>
            <p:cNvSpPr/>
            <p:nvPr/>
          </p:nvSpPr>
          <p:spPr>
            <a:xfrm>
              <a:off x="3230000" y="5195331"/>
              <a:ext cx="2350000" cy="560000"/>
            </a:xfrm>
            <a:prstGeom prst="roundRect">
              <a:avLst>
                <a:gd name="adj" fmla="val 30000"/>
              </a:avLst>
            </a:prstGeom>
            <a:solidFill>
              <a:srgbClr val="0460A9"/>
            </a:solidFill>
            <a:ln w="9525">
              <a:solidFill>
                <a:srgbClr val="D6E2F0"/>
              </a:solidFill>
            </a:ln>
          </p:spPr>
          <p:txBody>
            <a:bodyPr lIns="91440" tIns="0" rIns="45720" bIns="0" anchor="ctr"/>
            <a:lstStyle/>
            <a:p>
              <a:pPr algn="ctr">
                <a:buNone/>
              </a:pPr>
              <a:r>
                <a:rPr lang="en-US" sz="1400" b="1" dirty="0">
                  <a:solidFill>
                    <a:schemeClr val="bg1"/>
                  </a:solidFill>
                  <a:latin typeface="Arial"/>
                  <a:cs typeface="Arial"/>
                </a:rPr>
                <a:t>2 Power</a:t>
              </a:r>
            </a:p>
          </p:txBody>
        </p:sp>
        <p:sp>
          <p:nvSpPr>
            <p:cNvPr id="8" name="pill91">
              <a:extLst>
                <a:ext uri="{FF2B5EF4-FFF2-40B4-BE49-F238E27FC236}">
                  <a16:creationId xmlns:a16="http://schemas.microsoft.com/office/drawing/2014/main" id="{6B1D3DBF-65FB-B50F-0199-14C2AFE0E773}"/>
                </a:ext>
              </a:extLst>
            </p:cNvPr>
            <p:cNvSpPr/>
            <p:nvPr/>
          </p:nvSpPr>
          <p:spPr>
            <a:xfrm>
              <a:off x="880000" y="5195331"/>
              <a:ext cx="2350000" cy="560000"/>
            </a:xfrm>
            <a:prstGeom prst="roundRect">
              <a:avLst>
                <a:gd name="adj" fmla="val 30000"/>
              </a:avLst>
            </a:prstGeom>
            <a:solidFill>
              <a:srgbClr val="F0F3F7"/>
            </a:solidFill>
          </p:spPr>
          <p:txBody>
            <a:bodyPr lIns="91440" tIns="0" rIns="45720" bIns="0" anchor="ctr"/>
            <a:lstStyle/>
            <a:p>
              <a:pPr algn="ctr">
                <a:buNone/>
              </a:pPr>
              <a:r>
                <a:rPr lang="en-US" sz="1400" dirty="0">
                  <a:solidFill>
                    <a:schemeClr val="accent4"/>
                  </a:solidFill>
                  <a:latin typeface="Arial"/>
                  <a:cs typeface="Arial"/>
                </a:rPr>
                <a:t>1 Reliability</a:t>
              </a:r>
            </a:p>
          </p:txBody>
        </p:sp>
        <p:sp>
          <p:nvSpPr>
            <p:cNvPr id="10" name="pill92">
              <a:extLst>
                <a:ext uri="{FF2B5EF4-FFF2-40B4-BE49-F238E27FC236}">
                  <a16:creationId xmlns:a16="http://schemas.microsoft.com/office/drawing/2014/main" id="{D1F3F880-0FD7-1F0A-353A-AFC5D29CFEF3}"/>
                </a:ext>
              </a:extLst>
            </p:cNvPr>
            <p:cNvSpPr/>
            <p:nvPr/>
          </p:nvSpPr>
          <p:spPr>
            <a:xfrm>
              <a:off x="5580001" y="5195331"/>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400" b="0" dirty="0">
                  <a:solidFill>
                    <a:srgbClr val="6B7683"/>
                  </a:solidFill>
                  <a:latin typeface="Arial"/>
                  <a:cs typeface="Arial"/>
                </a:rPr>
                <a:t>3  Accuracy</a:t>
              </a:r>
            </a:p>
          </p:txBody>
        </p:sp>
        <p:sp>
          <p:nvSpPr>
            <p:cNvPr id="11" name="pill93">
              <a:extLst>
                <a:ext uri="{FF2B5EF4-FFF2-40B4-BE49-F238E27FC236}">
                  <a16:creationId xmlns:a16="http://schemas.microsoft.com/office/drawing/2014/main" id="{6555ADB4-DEF5-13D7-AEF6-1D7D6539EC88}"/>
                </a:ext>
              </a:extLst>
            </p:cNvPr>
            <p:cNvSpPr/>
            <p:nvPr/>
          </p:nvSpPr>
          <p:spPr>
            <a:xfrm>
              <a:off x="7930001" y="5195331"/>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400" b="0" dirty="0">
                  <a:solidFill>
                    <a:srgbClr val="6B7683"/>
                  </a:solidFill>
                  <a:latin typeface="Arial"/>
                  <a:cs typeface="Arial"/>
                </a:rPr>
                <a:t>4  Runtime</a:t>
              </a:r>
            </a:p>
          </p:txBody>
        </p:sp>
      </p:grpSp>
      <p:grpSp>
        <p:nvGrpSpPr>
          <p:cNvPr id="12" name="Group 11">
            <a:extLst>
              <a:ext uri="{FF2B5EF4-FFF2-40B4-BE49-F238E27FC236}">
                <a16:creationId xmlns:a16="http://schemas.microsoft.com/office/drawing/2014/main" id="{419D811A-7849-6150-0D3C-451F0F3D30A0}"/>
              </a:ext>
            </a:extLst>
          </p:cNvPr>
          <p:cNvGrpSpPr/>
          <p:nvPr/>
        </p:nvGrpSpPr>
        <p:grpSpPr>
          <a:xfrm>
            <a:off x="308344" y="943617"/>
            <a:ext cx="9913774" cy="4729225"/>
            <a:chOff x="870065" y="1091267"/>
            <a:chExt cx="10859403" cy="4994032"/>
          </a:xfrm>
        </p:grpSpPr>
        <p:pic>
          <p:nvPicPr>
            <p:cNvPr id="13" name="Picture 12">
              <a:extLst>
                <a:ext uri="{FF2B5EF4-FFF2-40B4-BE49-F238E27FC236}">
                  <a16:creationId xmlns:a16="http://schemas.microsoft.com/office/drawing/2014/main" id="{F67874D3-2D2F-10C9-C290-9B5C0053D3BC}"/>
                </a:ext>
              </a:extLst>
            </p:cNvPr>
            <p:cNvPicPr>
              <a:picLocks noChangeAspect="1"/>
            </p:cNvPicPr>
            <p:nvPr/>
          </p:nvPicPr>
          <p:blipFill>
            <a:blip r:embed="rId3"/>
            <a:srcRect t="7836"/>
            <a:stretch>
              <a:fillRect/>
            </a:stretch>
          </p:blipFill>
          <p:spPr>
            <a:xfrm>
              <a:off x="870065" y="1091267"/>
              <a:ext cx="10859403" cy="4994032"/>
            </a:xfrm>
            <a:prstGeom prst="rect">
              <a:avLst/>
            </a:prstGeom>
          </p:spPr>
        </p:pic>
        <p:grpSp>
          <p:nvGrpSpPr>
            <p:cNvPr id="14" name="Group 13">
              <a:extLst>
                <a:ext uri="{FF2B5EF4-FFF2-40B4-BE49-F238E27FC236}">
                  <a16:creationId xmlns:a16="http://schemas.microsoft.com/office/drawing/2014/main" id="{44F71BFC-128B-5AC4-D2C1-C949176A9538}"/>
                </a:ext>
              </a:extLst>
            </p:cNvPr>
            <p:cNvGrpSpPr/>
            <p:nvPr/>
          </p:nvGrpSpPr>
          <p:grpSpPr>
            <a:xfrm>
              <a:off x="4360985" y="2323051"/>
              <a:ext cx="7108876" cy="1477360"/>
              <a:chOff x="4107766" y="2722957"/>
              <a:chExt cx="7108876" cy="1477360"/>
            </a:xfrm>
          </p:grpSpPr>
          <p:sp>
            <p:nvSpPr>
              <p:cNvPr id="16" name="TextBox 15">
                <a:extLst>
                  <a:ext uri="{FF2B5EF4-FFF2-40B4-BE49-F238E27FC236}">
                    <a16:creationId xmlns:a16="http://schemas.microsoft.com/office/drawing/2014/main" id="{56338BE5-7891-8B95-1B4C-F771DBB3DC68}"/>
                  </a:ext>
                </a:extLst>
              </p:cNvPr>
              <p:cNvSpPr txBox="1"/>
              <p:nvPr/>
            </p:nvSpPr>
            <p:spPr>
              <a:xfrm>
                <a:off x="4107766" y="2841673"/>
                <a:ext cx="787790" cy="276999"/>
              </a:xfrm>
              <a:prstGeom prst="rect">
                <a:avLst/>
              </a:prstGeom>
              <a:noFill/>
            </p:spPr>
            <p:txBody>
              <a:bodyPr wrap="square" lIns="0" tIns="0" rIns="0" bIns="0" rtlCol="0">
                <a:spAutoFit/>
              </a:bodyPr>
              <a:lstStyle/>
              <a:p>
                <a:pPr algn="l">
                  <a:spcBef>
                    <a:spcPts val="800"/>
                  </a:spcBef>
                </a:pPr>
                <a:r>
                  <a:rPr lang="en-US" dirty="0"/>
                  <a:t>73%</a:t>
                </a:r>
              </a:p>
            </p:txBody>
          </p:sp>
          <p:sp>
            <p:nvSpPr>
              <p:cNvPr id="17" name="TextBox 16">
                <a:extLst>
                  <a:ext uri="{FF2B5EF4-FFF2-40B4-BE49-F238E27FC236}">
                    <a16:creationId xmlns:a16="http://schemas.microsoft.com/office/drawing/2014/main" id="{188AD5A6-368C-6213-D282-6E8A8AE96676}"/>
                  </a:ext>
                </a:extLst>
              </p:cNvPr>
              <p:cNvSpPr txBox="1"/>
              <p:nvPr/>
            </p:nvSpPr>
            <p:spPr>
              <a:xfrm>
                <a:off x="4107766" y="3516400"/>
                <a:ext cx="787790" cy="276999"/>
              </a:xfrm>
              <a:prstGeom prst="rect">
                <a:avLst/>
              </a:prstGeom>
              <a:noFill/>
            </p:spPr>
            <p:txBody>
              <a:bodyPr wrap="square" lIns="0" tIns="0" rIns="0" bIns="0" rtlCol="0">
                <a:spAutoFit/>
              </a:bodyPr>
              <a:lstStyle/>
              <a:p>
                <a:pPr algn="l">
                  <a:spcBef>
                    <a:spcPts val="800"/>
                  </a:spcBef>
                </a:pPr>
                <a:r>
                  <a:rPr lang="en-US" dirty="0"/>
                  <a:t>50%</a:t>
                </a:r>
              </a:p>
            </p:txBody>
          </p:sp>
          <p:sp>
            <p:nvSpPr>
              <p:cNvPr id="18" name="TextBox 17">
                <a:extLst>
                  <a:ext uri="{FF2B5EF4-FFF2-40B4-BE49-F238E27FC236}">
                    <a16:creationId xmlns:a16="http://schemas.microsoft.com/office/drawing/2014/main" id="{F68FD841-2392-87F0-1DBA-C5C14625909F}"/>
                  </a:ext>
                </a:extLst>
              </p:cNvPr>
              <p:cNvSpPr txBox="1"/>
              <p:nvPr/>
            </p:nvSpPr>
            <p:spPr>
              <a:xfrm>
                <a:off x="4107766" y="3923318"/>
                <a:ext cx="635390" cy="276999"/>
              </a:xfrm>
              <a:prstGeom prst="rect">
                <a:avLst/>
              </a:prstGeom>
              <a:noFill/>
            </p:spPr>
            <p:txBody>
              <a:bodyPr wrap="square" lIns="0" tIns="0" rIns="0" bIns="0" rtlCol="0">
                <a:spAutoFit/>
              </a:bodyPr>
              <a:lstStyle/>
              <a:p>
                <a:pPr algn="l">
                  <a:spcBef>
                    <a:spcPts val="800"/>
                  </a:spcBef>
                </a:pPr>
                <a:r>
                  <a:rPr lang="en-US" dirty="0"/>
                  <a:t>23%</a:t>
                </a:r>
              </a:p>
            </p:txBody>
          </p:sp>
          <p:sp>
            <p:nvSpPr>
              <p:cNvPr id="19" name="TextBox 18">
                <a:extLst>
                  <a:ext uri="{FF2B5EF4-FFF2-40B4-BE49-F238E27FC236}">
                    <a16:creationId xmlns:a16="http://schemas.microsoft.com/office/drawing/2014/main" id="{D6F43189-A17C-BE81-3CEE-D183CD9A2CB0}"/>
                  </a:ext>
                </a:extLst>
              </p:cNvPr>
              <p:cNvSpPr txBox="1"/>
              <p:nvPr/>
            </p:nvSpPr>
            <p:spPr>
              <a:xfrm>
                <a:off x="7465257" y="2854436"/>
                <a:ext cx="787790" cy="276999"/>
              </a:xfrm>
              <a:prstGeom prst="rect">
                <a:avLst/>
              </a:prstGeom>
              <a:noFill/>
            </p:spPr>
            <p:txBody>
              <a:bodyPr wrap="square" lIns="0" tIns="0" rIns="0" bIns="0" rtlCol="0">
                <a:spAutoFit/>
              </a:bodyPr>
              <a:lstStyle/>
              <a:p>
                <a:pPr algn="l">
                  <a:spcBef>
                    <a:spcPts val="800"/>
                  </a:spcBef>
                </a:pPr>
                <a:r>
                  <a:rPr lang="en-US" dirty="0"/>
                  <a:t>66%</a:t>
                </a:r>
              </a:p>
            </p:txBody>
          </p:sp>
          <p:sp>
            <p:nvSpPr>
              <p:cNvPr id="20" name="TextBox 19">
                <a:extLst>
                  <a:ext uri="{FF2B5EF4-FFF2-40B4-BE49-F238E27FC236}">
                    <a16:creationId xmlns:a16="http://schemas.microsoft.com/office/drawing/2014/main" id="{29FB46A8-29AF-C6FC-6057-2295412C31E3}"/>
                  </a:ext>
                </a:extLst>
              </p:cNvPr>
              <p:cNvSpPr txBox="1"/>
              <p:nvPr/>
            </p:nvSpPr>
            <p:spPr>
              <a:xfrm>
                <a:off x="7549234" y="3462330"/>
                <a:ext cx="787790" cy="276999"/>
              </a:xfrm>
              <a:prstGeom prst="rect">
                <a:avLst/>
              </a:prstGeom>
              <a:noFill/>
            </p:spPr>
            <p:txBody>
              <a:bodyPr wrap="square" lIns="0" tIns="0" rIns="0" bIns="0" rtlCol="0">
                <a:spAutoFit/>
              </a:bodyPr>
              <a:lstStyle/>
              <a:p>
                <a:pPr algn="l">
                  <a:spcBef>
                    <a:spcPts val="800"/>
                  </a:spcBef>
                </a:pPr>
                <a:r>
                  <a:rPr lang="en-US" dirty="0"/>
                  <a:t>45%</a:t>
                </a:r>
              </a:p>
            </p:txBody>
          </p:sp>
          <p:sp>
            <p:nvSpPr>
              <p:cNvPr id="22" name="TextBox 21">
                <a:extLst>
                  <a:ext uri="{FF2B5EF4-FFF2-40B4-BE49-F238E27FC236}">
                    <a16:creationId xmlns:a16="http://schemas.microsoft.com/office/drawing/2014/main" id="{902CA131-9164-13EF-1A8A-56C892D8AE19}"/>
                  </a:ext>
                </a:extLst>
              </p:cNvPr>
              <p:cNvSpPr txBox="1"/>
              <p:nvPr/>
            </p:nvSpPr>
            <p:spPr>
              <a:xfrm>
                <a:off x="7625434" y="3793399"/>
                <a:ext cx="635390" cy="276999"/>
              </a:xfrm>
              <a:prstGeom prst="rect">
                <a:avLst/>
              </a:prstGeom>
              <a:noFill/>
            </p:spPr>
            <p:txBody>
              <a:bodyPr wrap="square" lIns="0" tIns="0" rIns="0" bIns="0" rtlCol="0">
                <a:spAutoFit/>
              </a:bodyPr>
              <a:lstStyle/>
              <a:p>
                <a:pPr algn="l">
                  <a:spcBef>
                    <a:spcPts val="800"/>
                  </a:spcBef>
                </a:pPr>
                <a:r>
                  <a:rPr lang="en-US" dirty="0"/>
                  <a:t>23%</a:t>
                </a:r>
              </a:p>
            </p:txBody>
          </p:sp>
          <p:sp>
            <p:nvSpPr>
              <p:cNvPr id="23" name="TextBox 22">
                <a:extLst>
                  <a:ext uri="{FF2B5EF4-FFF2-40B4-BE49-F238E27FC236}">
                    <a16:creationId xmlns:a16="http://schemas.microsoft.com/office/drawing/2014/main" id="{F05CAA71-7EA0-2D6E-F45E-4857C71F01ED}"/>
                  </a:ext>
                </a:extLst>
              </p:cNvPr>
              <p:cNvSpPr txBox="1"/>
              <p:nvPr/>
            </p:nvSpPr>
            <p:spPr>
              <a:xfrm>
                <a:off x="10428852" y="2722957"/>
                <a:ext cx="787790" cy="276999"/>
              </a:xfrm>
              <a:prstGeom prst="rect">
                <a:avLst/>
              </a:prstGeom>
              <a:noFill/>
            </p:spPr>
            <p:txBody>
              <a:bodyPr wrap="square" lIns="0" tIns="0" rIns="0" bIns="0" rtlCol="0">
                <a:spAutoFit/>
              </a:bodyPr>
              <a:lstStyle/>
              <a:p>
                <a:pPr algn="l">
                  <a:spcBef>
                    <a:spcPts val="800"/>
                  </a:spcBef>
                </a:pPr>
                <a:r>
                  <a:rPr lang="en-US" dirty="0"/>
                  <a:t>58%</a:t>
                </a:r>
              </a:p>
            </p:txBody>
          </p:sp>
          <p:sp>
            <p:nvSpPr>
              <p:cNvPr id="25" name="TextBox 24">
                <a:extLst>
                  <a:ext uri="{FF2B5EF4-FFF2-40B4-BE49-F238E27FC236}">
                    <a16:creationId xmlns:a16="http://schemas.microsoft.com/office/drawing/2014/main" id="{2E731AA7-1A39-9BF7-C4F1-DB8785403C7C}"/>
                  </a:ext>
                </a:extLst>
              </p:cNvPr>
              <p:cNvSpPr txBox="1"/>
              <p:nvPr/>
            </p:nvSpPr>
            <p:spPr>
              <a:xfrm>
                <a:off x="10428852" y="3185331"/>
                <a:ext cx="787790" cy="276999"/>
              </a:xfrm>
              <a:prstGeom prst="rect">
                <a:avLst/>
              </a:prstGeom>
              <a:noFill/>
            </p:spPr>
            <p:txBody>
              <a:bodyPr wrap="square" lIns="0" tIns="0" rIns="0" bIns="0" rtlCol="0">
                <a:spAutoFit/>
              </a:bodyPr>
              <a:lstStyle/>
              <a:p>
                <a:pPr algn="l">
                  <a:spcBef>
                    <a:spcPts val="800"/>
                  </a:spcBef>
                </a:pPr>
                <a:r>
                  <a:rPr lang="en-US" dirty="0"/>
                  <a:t>33%</a:t>
                </a:r>
              </a:p>
            </p:txBody>
          </p:sp>
          <p:sp>
            <p:nvSpPr>
              <p:cNvPr id="26" name="TextBox 25">
                <a:extLst>
                  <a:ext uri="{FF2B5EF4-FFF2-40B4-BE49-F238E27FC236}">
                    <a16:creationId xmlns:a16="http://schemas.microsoft.com/office/drawing/2014/main" id="{FC32AB7B-55DB-4FB4-AF9F-75ED6A82645D}"/>
                  </a:ext>
                </a:extLst>
              </p:cNvPr>
              <p:cNvSpPr txBox="1"/>
              <p:nvPr/>
            </p:nvSpPr>
            <p:spPr>
              <a:xfrm>
                <a:off x="10428851" y="3849689"/>
                <a:ext cx="787790" cy="276999"/>
              </a:xfrm>
              <a:prstGeom prst="rect">
                <a:avLst/>
              </a:prstGeom>
              <a:noFill/>
            </p:spPr>
            <p:txBody>
              <a:bodyPr wrap="square" lIns="0" tIns="0" rIns="0" bIns="0" rtlCol="0">
                <a:spAutoFit/>
              </a:bodyPr>
              <a:lstStyle/>
              <a:p>
                <a:pPr algn="l">
                  <a:spcBef>
                    <a:spcPts val="800"/>
                  </a:spcBef>
                </a:pPr>
                <a:r>
                  <a:rPr lang="en-US" dirty="0"/>
                  <a:t>19%</a:t>
                </a:r>
              </a:p>
            </p:txBody>
          </p:sp>
        </p:grpSp>
        <p:sp>
          <p:nvSpPr>
            <p:cNvPr id="15" name="TextBox 14">
              <a:extLst>
                <a:ext uri="{FF2B5EF4-FFF2-40B4-BE49-F238E27FC236}">
                  <a16:creationId xmlns:a16="http://schemas.microsoft.com/office/drawing/2014/main" id="{14C1E1DC-6161-FF55-559D-FE5E2864EAAA}"/>
                </a:ext>
              </a:extLst>
            </p:cNvPr>
            <p:cNvSpPr txBox="1"/>
            <p:nvPr/>
          </p:nvSpPr>
          <p:spPr>
            <a:xfrm>
              <a:off x="4908988" y="1352996"/>
              <a:ext cx="4116717" cy="276999"/>
            </a:xfrm>
            <a:prstGeom prst="rect">
              <a:avLst/>
            </a:prstGeom>
            <a:noFill/>
          </p:spPr>
          <p:txBody>
            <a:bodyPr wrap="square" lIns="0" tIns="0" rIns="0" bIns="0" rtlCol="0">
              <a:spAutoFit/>
            </a:bodyPr>
            <a:lstStyle/>
            <a:p>
              <a:pPr algn="l">
                <a:spcBef>
                  <a:spcPts val="800"/>
                </a:spcBef>
              </a:pPr>
              <a:r>
                <a:rPr lang="en-US" dirty="0"/>
                <a:t>M</a:t>
              </a:r>
              <a:r>
                <a:rPr lang="en-US" altLang="zh-CN" dirty="0"/>
                <a:t>edian of power over 16 scenarios</a:t>
              </a:r>
              <a:endParaRPr lang="en-US" dirty="0"/>
            </a:p>
          </p:txBody>
        </p:sp>
      </p:grpSp>
      <p:sp>
        <p:nvSpPr>
          <p:cNvPr id="30" name="TextBox 29">
            <a:extLst>
              <a:ext uri="{FF2B5EF4-FFF2-40B4-BE49-F238E27FC236}">
                <a16:creationId xmlns:a16="http://schemas.microsoft.com/office/drawing/2014/main" id="{08149B91-8B50-A120-7846-023ADF2AAEC4}"/>
              </a:ext>
            </a:extLst>
          </p:cNvPr>
          <p:cNvSpPr txBox="1"/>
          <p:nvPr/>
        </p:nvSpPr>
        <p:spPr>
          <a:xfrm>
            <a:off x="222637" y="137160"/>
            <a:ext cx="11764924" cy="523220"/>
          </a:xfrm>
          <a:prstGeom prst="rect">
            <a:avLst/>
          </a:prstGeom>
          <a:noFill/>
        </p:spPr>
        <p:txBody>
          <a:bodyPr wrap="square">
            <a:spAutoFit/>
          </a:bodyPr>
          <a:lstStyle/>
          <a:p>
            <a:pPr algn="l">
              <a:buNone/>
            </a:pPr>
            <a:r>
              <a:rPr lang="en-US" sz="2800" b="1" dirty="0">
                <a:solidFill>
                  <a:srgbClr val="0460A9"/>
                </a:solidFill>
                <a:latin typeface="Arial"/>
                <a:cs typeface="Arial"/>
              </a:rPr>
              <a:t>SCM power is </a:t>
            </a:r>
            <a:r>
              <a:rPr lang="en-US" altLang="zh-CN" sz="2800" b="1" dirty="0">
                <a:solidFill>
                  <a:srgbClr val="0460A9"/>
                </a:solidFill>
                <a:latin typeface="Arial"/>
                <a:cs typeface="Arial"/>
              </a:rPr>
              <a:t>comparable</a:t>
            </a:r>
            <a:r>
              <a:rPr lang="en-US" sz="2800" b="1" dirty="0">
                <a:solidFill>
                  <a:srgbClr val="0460A9"/>
                </a:solidFill>
                <a:latin typeface="Arial"/>
                <a:cs typeface="Arial"/>
              </a:rPr>
              <a:t> across nlmixr2 and NONMEM, and ≥ VAE</a:t>
            </a:r>
          </a:p>
        </p:txBody>
      </p:sp>
      <p:pic>
        <p:nvPicPr>
          <p:cNvPr id="32" name="Graphic 31" descr="Fencing with solid fill">
            <a:extLst>
              <a:ext uri="{FF2B5EF4-FFF2-40B4-BE49-F238E27FC236}">
                <a16:creationId xmlns:a16="http://schemas.microsoft.com/office/drawing/2014/main" id="{27F5FA05-9E34-D827-0E2C-F20B7410EC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21578" y="2203818"/>
            <a:ext cx="715188" cy="715188"/>
          </a:xfrm>
          <a:prstGeom prst="rect">
            <a:avLst/>
          </a:prstGeom>
        </p:spPr>
      </p:pic>
      <p:sp>
        <p:nvSpPr>
          <p:cNvPr id="33" name="TextBox 32">
            <a:extLst>
              <a:ext uri="{FF2B5EF4-FFF2-40B4-BE49-F238E27FC236}">
                <a16:creationId xmlns:a16="http://schemas.microsoft.com/office/drawing/2014/main" id="{08DA5BBB-6560-6CC8-B492-7124BB131120}"/>
              </a:ext>
            </a:extLst>
          </p:cNvPr>
          <p:cNvSpPr txBox="1"/>
          <p:nvPr/>
        </p:nvSpPr>
        <p:spPr>
          <a:xfrm>
            <a:off x="10430541" y="2964623"/>
            <a:ext cx="1557020" cy="276999"/>
          </a:xfrm>
          <a:prstGeom prst="rect">
            <a:avLst/>
          </a:prstGeom>
          <a:noFill/>
        </p:spPr>
        <p:txBody>
          <a:bodyPr wrap="square" lIns="0" tIns="0" rIns="0" bIns="0" rtlCol="0">
            <a:spAutoFit/>
          </a:bodyPr>
          <a:lstStyle/>
          <a:p>
            <a:pPr algn="l">
              <a:spcBef>
                <a:spcPts val="800"/>
              </a:spcBef>
            </a:pPr>
            <a:r>
              <a:rPr lang="en-US" dirty="0"/>
              <a:t>Power &amp; linear</a:t>
            </a:r>
          </a:p>
        </p:txBody>
      </p:sp>
      <p:sp>
        <p:nvSpPr>
          <p:cNvPr id="35" name="TextBox 34">
            <a:extLst>
              <a:ext uri="{FF2B5EF4-FFF2-40B4-BE49-F238E27FC236}">
                <a16:creationId xmlns:a16="http://schemas.microsoft.com/office/drawing/2014/main" id="{4282F9AE-1D4B-FCA1-2A53-E320E7D798A0}"/>
              </a:ext>
            </a:extLst>
          </p:cNvPr>
          <p:cNvSpPr txBox="1"/>
          <p:nvPr/>
        </p:nvSpPr>
        <p:spPr>
          <a:xfrm>
            <a:off x="10606941" y="3290369"/>
            <a:ext cx="1557020" cy="276999"/>
          </a:xfrm>
          <a:prstGeom prst="rect">
            <a:avLst/>
          </a:prstGeom>
          <a:noFill/>
        </p:spPr>
        <p:txBody>
          <a:bodyPr wrap="square" lIns="0" tIns="0" rIns="0" bIns="0" rtlCol="0">
            <a:spAutoFit/>
          </a:bodyPr>
          <a:lstStyle/>
          <a:p>
            <a:pPr algn="l">
              <a:spcBef>
                <a:spcPts val="800"/>
              </a:spcBef>
            </a:pPr>
            <a:r>
              <a:rPr lang="en-US" dirty="0"/>
              <a:t>BW vs. BMI</a:t>
            </a:r>
          </a:p>
        </p:txBody>
      </p:sp>
    </p:spTree>
    <p:extLst>
      <p:ext uri="{BB962C8B-B14F-4D97-AF65-F5344CB8AC3E}">
        <p14:creationId xmlns:p14="http://schemas.microsoft.com/office/powerpoint/2010/main" val="159807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397590" y="241756"/>
            <a:ext cx="11064240" cy="387798"/>
          </a:xfrm>
        </p:spPr>
        <p:txBody>
          <a:bodyPr/>
          <a:lstStyle/>
          <a:p>
            <a:pPr algn="l">
              <a:buNone/>
            </a:pPr>
            <a:r>
              <a:rPr lang="en-US" sz="2800" b="1" dirty="0">
                <a:solidFill>
                  <a:srgbClr val="0460A9"/>
                </a:solidFill>
                <a:latin typeface="Arial"/>
                <a:cs typeface="Arial"/>
              </a:rPr>
              <a:t>Covariate-effect errors are low; variance terms are the hard part</a:t>
            </a:r>
          </a:p>
        </p:txBody>
      </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E2FC3942-69FF-4770-AF26-D2C1FBB23DBF}" type="slidenum">
              <a:rPr lang="en-US" sz="1000">
                <a:solidFill>
                  <a:srgbClr val="8A8A8A"/>
                </a:solidFill>
                <a:latin typeface="Arial"/>
              </a:rPr>
              <a:t>22</a:t>
            </a:fld>
            <a:endParaRPr lang="en-US" sz="1000">
              <a:solidFill>
                <a:srgbClr val="8A8A8A"/>
              </a:solidFill>
              <a:latin typeface="Arial"/>
            </a:endParaRPr>
          </a:p>
        </p:txBody>
      </p:sp>
      <p:pic>
        <p:nvPicPr>
          <p:cNvPr id="13" name="Picture 12">
            <a:extLst>
              <a:ext uri="{FF2B5EF4-FFF2-40B4-BE49-F238E27FC236}">
                <a16:creationId xmlns:a16="http://schemas.microsoft.com/office/drawing/2014/main" id="{6D2F88D9-8DE7-B0EF-BC5D-09D8CAD6EB03}"/>
              </a:ext>
            </a:extLst>
          </p:cNvPr>
          <p:cNvPicPr>
            <a:picLocks noChangeAspect="1"/>
          </p:cNvPicPr>
          <p:nvPr/>
        </p:nvPicPr>
        <p:blipFill>
          <a:blip r:embed="rId3"/>
          <a:stretch>
            <a:fillRect/>
          </a:stretch>
        </p:blipFill>
        <p:spPr>
          <a:xfrm>
            <a:off x="384392" y="655563"/>
            <a:ext cx="11090636" cy="4550005"/>
          </a:xfrm>
          <a:prstGeom prst="rect">
            <a:avLst/>
          </a:prstGeom>
        </p:spPr>
      </p:pic>
      <p:grpSp>
        <p:nvGrpSpPr>
          <p:cNvPr id="14" name="Group 13">
            <a:extLst>
              <a:ext uri="{FF2B5EF4-FFF2-40B4-BE49-F238E27FC236}">
                <a16:creationId xmlns:a16="http://schemas.microsoft.com/office/drawing/2014/main" id="{59C288F0-14BF-20E3-2696-7846A70FF51F}"/>
              </a:ext>
            </a:extLst>
          </p:cNvPr>
          <p:cNvGrpSpPr/>
          <p:nvPr/>
        </p:nvGrpSpPr>
        <p:grpSpPr>
          <a:xfrm>
            <a:off x="1540962" y="5207024"/>
            <a:ext cx="9920868" cy="727991"/>
            <a:chOff x="1540962" y="5489354"/>
            <a:chExt cx="9920868" cy="727991"/>
          </a:xfrm>
        </p:grpSpPr>
        <p:sp>
          <p:nvSpPr>
            <p:cNvPr id="16" name="TextBox 15">
              <a:extLst>
                <a:ext uri="{FF2B5EF4-FFF2-40B4-BE49-F238E27FC236}">
                  <a16:creationId xmlns:a16="http://schemas.microsoft.com/office/drawing/2014/main" id="{D3338FB8-0A74-852D-2A36-F940886C6A08}"/>
                </a:ext>
              </a:extLst>
            </p:cNvPr>
            <p:cNvSpPr txBox="1"/>
            <p:nvPr/>
          </p:nvSpPr>
          <p:spPr>
            <a:xfrm>
              <a:off x="6501396" y="5489354"/>
              <a:ext cx="4631238" cy="393121"/>
            </a:xfrm>
            <a:prstGeom prst="rect">
              <a:avLst/>
            </a:prstGeom>
            <a:noFill/>
          </p:spPr>
          <p:txBody>
            <a:bodyPr wrap="square">
              <a:spAutoFit/>
            </a:bodyPr>
            <a:lstStyle/>
            <a:p>
              <a:pPr marL="342900" indent="-342900">
                <a:lnSpc>
                  <a:spcPct val="105000"/>
                </a:lnSpc>
                <a:spcBef>
                  <a:spcPts val="0"/>
                </a:spcBef>
                <a:spcAft>
                  <a:spcPts val="500"/>
                </a:spcAft>
                <a:buFont typeface="Arial" panose="020B0604020202020204" pitchFamily="34" charset="0"/>
                <a:buChar char="•"/>
              </a:pPr>
              <a:r>
                <a:rPr lang="en-US" sz="2000" dirty="0">
                  <a:solidFill>
                    <a:srgbClr val="4D4D4D">
                      <a:alpha val="100000"/>
                    </a:srgbClr>
                  </a:solidFill>
                  <a:cs typeface="Arial"/>
                  <a:sym typeface="Arial"/>
                </a:rPr>
                <a:t>N ↓, RMRSE &amp; MARE </a:t>
              </a:r>
              <a:r>
                <a:rPr lang="zh-CN" altLang="en-US" sz="2000" dirty="0">
                  <a:solidFill>
                    <a:srgbClr val="4D4D4D">
                      <a:alpha val="100000"/>
                    </a:srgbClr>
                  </a:solidFill>
                  <a:cs typeface="Arial"/>
                  <a:sym typeface="Arial"/>
                </a:rPr>
                <a:t>↑</a:t>
              </a:r>
              <a:endParaRPr lang="en-US" sz="2000" dirty="0">
                <a:solidFill>
                  <a:srgbClr val="4D4D4D">
                    <a:alpha val="100000"/>
                  </a:srgbClr>
                </a:solidFill>
                <a:cs typeface="Arial"/>
                <a:sym typeface="Arial"/>
              </a:endParaRPr>
            </a:p>
          </p:txBody>
        </p:sp>
        <p:sp>
          <p:nvSpPr>
            <p:cNvPr id="17" name="Content Placeholder 3">
              <a:extLst>
                <a:ext uri="{FF2B5EF4-FFF2-40B4-BE49-F238E27FC236}">
                  <a16:creationId xmlns:a16="http://schemas.microsoft.com/office/drawing/2014/main" id="{64998AFA-30D1-DB8D-7F55-4697BC176C3C}"/>
                </a:ext>
              </a:extLst>
            </p:cNvPr>
            <p:cNvSpPr txBox="1">
              <a:spLocks/>
            </p:cNvSpPr>
            <p:nvPr/>
          </p:nvSpPr>
          <p:spPr bwMode="gray">
            <a:xfrm>
              <a:off x="1540962" y="5916557"/>
              <a:ext cx="9920868" cy="30078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pPr marL="342900" indent="-342900">
                <a:lnSpc>
                  <a:spcPct val="105000"/>
                </a:lnSpc>
                <a:spcBef>
                  <a:spcPts val="0"/>
                </a:spcBef>
                <a:spcAft>
                  <a:spcPts val="500"/>
                </a:spcAft>
                <a:buFont typeface="Arial" panose="020B0604020202020204" pitchFamily="34" charset="0"/>
                <a:buChar char="•"/>
              </a:pPr>
              <a:r>
                <a:rPr lang="en-US" sz="2000" b="0" dirty="0">
                  <a:solidFill>
                    <a:srgbClr val="4D4D4D">
                      <a:alpha val="100000"/>
                    </a:srgbClr>
                  </a:solidFill>
                  <a:latin typeface="+mn-lt"/>
                  <a:cs typeface="Arial"/>
                  <a:sym typeface="Arial"/>
                </a:rPr>
                <a:t>Estimation difficulty: covariance&gt; variance &gt; covariate effect &gt; typical value </a:t>
              </a:r>
            </a:p>
          </p:txBody>
        </p:sp>
      </p:grpSp>
      <p:grpSp>
        <p:nvGrpSpPr>
          <p:cNvPr id="3" name="Group 2">
            <a:extLst>
              <a:ext uri="{FF2B5EF4-FFF2-40B4-BE49-F238E27FC236}">
                <a16:creationId xmlns:a16="http://schemas.microsoft.com/office/drawing/2014/main" id="{D4138F79-BCAA-159D-DF4D-56EB50A75140}"/>
              </a:ext>
            </a:extLst>
          </p:cNvPr>
          <p:cNvGrpSpPr/>
          <p:nvPr/>
        </p:nvGrpSpPr>
        <p:grpSpPr>
          <a:xfrm>
            <a:off x="2622788" y="6225130"/>
            <a:ext cx="8733555" cy="464870"/>
            <a:chOff x="880000" y="5195331"/>
            <a:chExt cx="9400001" cy="560000"/>
          </a:xfrm>
        </p:grpSpPr>
        <p:sp>
          <p:nvSpPr>
            <p:cNvPr id="4" name="pill90">
              <a:extLst>
                <a:ext uri="{FF2B5EF4-FFF2-40B4-BE49-F238E27FC236}">
                  <a16:creationId xmlns:a16="http://schemas.microsoft.com/office/drawing/2014/main" id="{D668B32C-CA12-5E62-F87F-E6F4DAFFB8D8}"/>
                </a:ext>
              </a:extLst>
            </p:cNvPr>
            <p:cNvSpPr/>
            <p:nvPr/>
          </p:nvSpPr>
          <p:spPr>
            <a:xfrm>
              <a:off x="5580000" y="5195331"/>
              <a:ext cx="2350001" cy="560000"/>
            </a:xfrm>
            <a:prstGeom prst="roundRect">
              <a:avLst>
                <a:gd name="adj" fmla="val 30000"/>
              </a:avLst>
            </a:prstGeom>
            <a:solidFill>
              <a:srgbClr val="0460A9"/>
            </a:solidFill>
            <a:ln w="9525">
              <a:solidFill>
                <a:srgbClr val="D6E2F0"/>
              </a:solidFill>
            </a:ln>
          </p:spPr>
          <p:txBody>
            <a:bodyPr lIns="91440" tIns="0" rIns="45720" bIns="0" anchor="ctr"/>
            <a:lstStyle/>
            <a:p>
              <a:pPr algn="ctr">
                <a:buNone/>
              </a:pPr>
              <a:r>
                <a:rPr lang="en-US" sz="1400" b="1" dirty="0">
                  <a:solidFill>
                    <a:schemeClr val="bg1"/>
                  </a:solidFill>
                  <a:latin typeface="Arial"/>
                  <a:cs typeface="Arial"/>
                </a:rPr>
                <a:t>3 Accuracy</a:t>
              </a:r>
            </a:p>
          </p:txBody>
        </p:sp>
        <p:sp>
          <p:nvSpPr>
            <p:cNvPr id="5" name="pill91">
              <a:extLst>
                <a:ext uri="{FF2B5EF4-FFF2-40B4-BE49-F238E27FC236}">
                  <a16:creationId xmlns:a16="http://schemas.microsoft.com/office/drawing/2014/main" id="{C9942A9B-4029-B032-783C-35345B335249}"/>
                </a:ext>
              </a:extLst>
            </p:cNvPr>
            <p:cNvSpPr/>
            <p:nvPr/>
          </p:nvSpPr>
          <p:spPr>
            <a:xfrm>
              <a:off x="880000" y="5195331"/>
              <a:ext cx="2350000" cy="560000"/>
            </a:xfrm>
            <a:prstGeom prst="roundRect">
              <a:avLst>
                <a:gd name="adj" fmla="val 30000"/>
              </a:avLst>
            </a:prstGeom>
            <a:solidFill>
              <a:srgbClr val="F0F3F7"/>
            </a:solidFill>
          </p:spPr>
          <p:txBody>
            <a:bodyPr lIns="91440" tIns="0" rIns="45720" bIns="0" anchor="ctr"/>
            <a:lstStyle/>
            <a:p>
              <a:pPr algn="ctr">
                <a:buNone/>
              </a:pPr>
              <a:r>
                <a:rPr lang="en-US" sz="1400" dirty="0">
                  <a:solidFill>
                    <a:schemeClr val="accent4"/>
                  </a:solidFill>
                  <a:latin typeface="Arial"/>
                  <a:cs typeface="Arial"/>
                </a:rPr>
                <a:t>1 Reliability</a:t>
              </a:r>
            </a:p>
          </p:txBody>
        </p:sp>
        <p:sp>
          <p:nvSpPr>
            <p:cNvPr id="6" name="pill92">
              <a:extLst>
                <a:ext uri="{FF2B5EF4-FFF2-40B4-BE49-F238E27FC236}">
                  <a16:creationId xmlns:a16="http://schemas.microsoft.com/office/drawing/2014/main" id="{7BF6F10F-86D1-2180-8FFE-B4070EC7E8CD}"/>
                </a:ext>
              </a:extLst>
            </p:cNvPr>
            <p:cNvSpPr/>
            <p:nvPr/>
          </p:nvSpPr>
          <p:spPr>
            <a:xfrm>
              <a:off x="3229999" y="5195331"/>
              <a:ext cx="2350001"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400" b="0" dirty="0">
                  <a:solidFill>
                    <a:srgbClr val="6B7683"/>
                  </a:solidFill>
                  <a:latin typeface="Arial"/>
                  <a:cs typeface="Arial"/>
                </a:rPr>
                <a:t>2 Power</a:t>
              </a:r>
            </a:p>
          </p:txBody>
        </p:sp>
        <p:sp>
          <p:nvSpPr>
            <p:cNvPr id="7" name="pill93">
              <a:extLst>
                <a:ext uri="{FF2B5EF4-FFF2-40B4-BE49-F238E27FC236}">
                  <a16:creationId xmlns:a16="http://schemas.microsoft.com/office/drawing/2014/main" id="{8974FADE-DD90-9BE7-B5B2-6F24B4C3A781}"/>
                </a:ext>
              </a:extLst>
            </p:cNvPr>
            <p:cNvSpPr/>
            <p:nvPr/>
          </p:nvSpPr>
          <p:spPr>
            <a:xfrm>
              <a:off x="7930001" y="5195331"/>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400" b="0" dirty="0">
                  <a:solidFill>
                    <a:srgbClr val="6B7683"/>
                  </a:solidFill>
                  <a:latin typeface="Arial"/>
                  <a:cs typeface="Arial"/>
                </a:rPr>
                <a:t>4  Runtime</a:t>
              </a:r>
            </a:p>
          </p:txBody>
        </p:sp>
      </p:grpSp>
      <p:sp>
        <p:nvSpPr>
          <p:cNvPr id="9" name="TextBox 8">
            <a:extLst>
              <a:ext uri="{FF2B5EF4-FFF2-40B4-BE49-F238E27FC236}">
                <a16:creationId xmlns:a16="http://schemas.microsoft.com/office/drawing/2014/main" id="{F2E6A60E-8D93-4C5F-EAB2-735829F0B893}"/>
              </a:ext>
            </a:extLst>
          </p:cNvPr>
          <p:cNvSpPr txBox="1"/>
          <p:nvPr/>
        </p:nvSpPr>
        <p:spPr>
          <a:xfrm>
            <a:off x="3112881" y="851987"/>
            <a:ext cx="1814861" cy="368661"/>
          </a:xfrm>
          <a:prstGeom prst="rect">
            <a:avLst/>
          </a:prstGeom>
          <a:noFill/>
        </p:spPr>
        <p:txBody>
          <a:bodyPr wrap="square">
            <a:spAutoFit/>
          </a:bodyPr>
          <a:lstStyle/>
          <a:p>
            <a:r>
              <a:rPr lang="en-US" b="1" dirty="0"/>
              <a:t>Nlmixr2 SCM</a:t>
            </a:r>
            <a:endParaRPr lang="en-US" dirty="0"/>
          </a:p>
        </p:txBody>
      </p:sp>
      <mc:AlternateContent xmlns:mc="http://schemas.openxmlformats.org/markup-compatibility/2006" xmlns:a14="http://schemas.microsoft.com/office/drawing/2010/main">
        <mc:Choice Requires="a14">
          <p:sp>
            <p:nvSpPr>
              <p:cNvPr id="20" name="Content Placeholder 3">
                <a:extLst>
                  <a:ext uri="{FF2B5EF4-FFF2-40B4-BE49-F238E27FC236}">
                    <a16:creationId xmlns:a16="http://schemas.microsoft.com/office/drawing/2014/main" id="{36974E9E-CDA3-3FD1-0C7E-BB942CB9505F}"/>
                  </a:ext>
                </a:extLst>
              </p:cNvPr>
              <p:cNvSpPr txBox="1">
                <a:spLocks/>
              </p:cNvSpPr>
              <p:nvPr/>
            </p:nvSpPr>
            <p:spPr bwMode="gray">
              <a:xfrm>
                <a:off x="3626000" y="5244689"/>
                <a:ext cx="2018011" cy="3112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pPr marL="342900" indent="-342900">
                  <a:lnSpc>
                    <a:spcPct val="105000"/>
                  </a:lnSpc>
                  <a:spcBef>
                    <a:spcPts val="0"/>
                  </a:spcBef>
                  <a:spcAft>
                    <a:spcPts val="500"/>
                  </a:spcAft>
                  <a:buFont typeface="Arial" panose="020B0604020202020204" pitchFamily="34" charset="0"/>
                  <a:buChar char="•"/>
                </a:pPr>
                <a:r>
                  <a:rPr lang="en-US" sz="2000" b="0" dirty="0">
                    <a:solidFill>
                      <a:srgbClr val="4D4D4D">
                        <a:alpha val="100000"/>
                      </a:srgbClr>
                    </a:solidFill>
                    <a:latin typeface="+mn-lt"/>
                    <a:cs typeface="Arial"/>
                    <a:sym typeface="Arial"/>
                  </a:rPr>
                  <a:t>Lincmt </a:t>
                </a:r>
                <a14:m>
                  <m:oMath xmlns:m="http://schemas.openxmlformats.org/officeDocument/2006/math">
                    <m:r>
                      <a:rPr lang="en-US" sz="2000" b="0" i="1" smtClean="0">
                        <a:solidFill>
                          <a:srgbClr val="4D4D4D">
                            <a:alpha val="100000"/>
                          </a:srgbClr>
                        </a:solidFill>
                        <a:latin typeface="Cambria Math" panose="02040503050406030204" pitchFamily="18" charset="0"/>
                        <a:ea typeface="Cambria Math" panose="02040503050406030204" pitchFamily="18" charset="0"/>
                        <a:cs typeface="Arial"/>
                        <a:sym typeface="Arial"/>
                      </a:rPr>
                      <m:t>≈</m:t>
                    </m:r>
                    <m:r>
                      <a:rPr lang="en-US" sz="2000" b="0" i="0" smtClean="0">
                        <a:solidFill>
                          <a:srgbClr val="4D4D4D">
                            <a:alpha val="100000"/>
                          </a:srgbClr>
                        </a:solidFill>
                        <a:latin typeface="Cambria Math" panose="02040503050406030204" pitchFamily="18" charset="0"/>
                        <a:ea typeface="Cambria Math" panose="02040503050406030204" pitchFamily="18" charset="0"/>
                        <a:cs typeface="Arial"/>
                        <a:sym typeface="Arial"/>
                      </a:rPr>
                      <m:t> </m:t>
                    </m:r>
                  </m:oMath>
                </a14:m>
                <a:r>
                  <a:rPr lang="en-US" sz="2000" b="0" dirty="0">
                    <a:solidFill>
                      <a:srgbClr val="4D4D4D">
                        <a:alpha val="100000"/>
                      </a:srgbClr>
                    </a:solidFill>
                    <a:latin typeface="+mn-lt"/>
                    <a:cs typeface="Arial"/>
                    <a:sym typeface="Arial"/>
                  </a:rPr>
                  <a:t>ODE</a:t>
                </a:r>
              </a:p>
            </p:txBody>
          </p:sp>
        </mc:Choice>
        <mc:Fallback xmlns="">
          <p:sp>
            <p:nvSpPr>
              <p:cNvPr id="20" name="Content Placeholder 3">
                <a:extLst>
                  <a:ext uri="{FF2B5EF4-FFF2-40B4-BE49-F238E27FC236}">
                    <a16:creationId xmlns:a16="http://schemas.microsoft.com/office/drawing/2014/main" id="{36974E9E-CDA3-3FD1-0C7E-BB942CB9505F}"/>
                  </a:ext>
                </a:extLst>
              </p:cNvPr>
              <p:cNvSpPr txBox="1">
                <a:spLocks noRot="1" noChangeAspect="1" noMove="1" noResize="1" noEditPoints="1" noAdjustHandles="1" noChangeArrowheads="1" noChangeShapeType="1" noTextEdit="1"/>
              </p:cNvSpPr>
              <p:nvPr/>
            </p:nvSpPr>
            <p:spPr bwMode="gray">
              <a:xfrm>
                <a:off x="3626000" y="5244689"/>
                <a:ext cx="2018011" cy="311297"/>
              </a:xfrm>
              <a:prstGeom prst="rect">
                <a:avLst/>
              </a:prstGeom>
              <a:blipFill>
                <a:blip r:embed="rId4"/>
                <a:stretch>
                  <a:fillRect l="-7251" t="-27451" r="-4532" b="-47059"/>
                </a:stretch>
              </a:blipFill>
            </p:spPr>
            <p:txBody>
              <a:bodyPr/>
              <a:lstStyle/>
              <a:p>
                <a:r>
                  <a:rPr lang="en-US">
                    <a:noFill/>
                  </a:rPr>
                  <a:t> </a:t>
                </a:r>
              </a:p>
            </p:txBody>
          </p:sp>
        </mc:Fallback>
      </mc:AlternateContent>
      <p:sp>
        <p:nvSpPr>
          <p:cNvPr id="21" name="Rectangle: Rounded Corners 20">
            <a:extLst>
              <a:ext uri="{FF2B5EF4-FFF2-40B4-BE49-F238E27FC236}">
                <a16:creationId xmlns:a16="http://schemas.microsoft.com/office/drawing/2014/main" id="{9872FC28-79F4-C04D-4AD6-936A7BE9586D}"/>
              </a:ext>
            </a:extLst>
          </p:cNvPr>
          <p:cNvSpPr/>
          <p:nvPr/>
        </p:nvSpPr>
        <p:spPr>
          <a:xfrm>
            <a:off x="716972" y="2276856"/>
            <a:ext cx="9615748" cy="621792"/>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sp>
        <p:nvSpPr>
          <p:cNvPr id="23" name="Rectangle: Rounded Corners 22">
            <a:extLst>
              <a:ext uri="{FF2B5EF4-FFF2-40B4-BE49-F238E27FC236}">
                <a16:creationId xmlns:a16="http://schemas.microsoft.com/office/drawing/2014/main" id="{29851254-5FC9-BB11-4C61-B9D050CA3053}"/>
              </a:ext>
            </a:extLst>
          </p:cNvPr>
          <p:cNvSpPr/>
          <p:nvPr/>
        </p:nvSpPr>
        <p:spPr>
          <a:xfrm>
            <a:off x="716972" y="3828288"/>
            <a:ext cx="9752908" cy="621792"/>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551C8-667D-A37D-320D-0786BC6D06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383193-804E-E8C5-5BC5-6DEB5D0485B0}"/>
              </a:ext>
            </a:extLst>
          </p:cNvPr>
          <p:cNvSpPr>
            <a:spLocks noGrp="1"/>
          </p:cNvSpPr>
          <p:nvPr>
            <p:ph type="title"/>
          </p:nvPr>
        </p:nvSpPr>
        <p:spPr>
          <a:xfrm>
            <a:off x="69303" y="227847"/>
            <a:ext cx="12122697" cy="775597"/>
          </a:xfrm>
        </p:spPr>
        <p:txBody>
          <a:bodyPr/>
          <a:lstStyle/>
          <a:p>
            <a:pPr algn="l">
              <a:buNone/>
            </a:pPr>
            <a:r>
              <a:rPr lang="en-US" sz="2800" b="1" dirty="0">
                <a:solidFill>
                  <a:srgbClr val="0460A9"/>
                </a:solidFill>
                <a:latin typeface="Arial"/>
                <a:cs typeface="Arial"/>
              </a:rPr>
              <a:t>Estimation accuracy is comparable across nlmixr2, NONMEM, and VAE</a:t>
            </a:r>
          </a:p>
        </p:txBody>
      </p:sp>
      <p:sp>
        <p:nvSpPr>
          <p:cNvPr id="5" name="Slide Number Placeholder 4">
            <a:extLst>
              <a:ext uri="{FF2B5EF4-FFF2-40B4-BE49-F238E27FC236}">
                <a16:creationId xmlns:a16="http://schemas.microsoft.com/office/drawing/2014/main" id="{70AEAA05-B074-0FDC-A5FC-EC827FC78FE1}"/>
              </a:ext>
            </a:extLst>
          </p:cNvPr>
          <p:cNvSpPr>
            <a:spLocks noGrp="1"/>
          </p:cNvSpPr>
          <p:nvPr>
            <p:ph type="sldNum" sz="quarter" idx="12"/>
          </p:nvPr>
        </p:nvSpPr>
        <p:spPr/>
        <p:txBody>
          <a:bodyPr/>
          <a:lstStyle/>
          <a:p>
            <a:fld id="{1EDD9F3E-8BFD-4E3C-98D1-767322780FDD}" type="slidenum">
              <a:rPr lang="en-US" noProof="0" smtClean="0"/>
              <a:t>23</a:t>
            </a:fld>
            <a:endParaRPr lang="en-US" noProof="0"/>
          </a:p>
        </p:txBody>
      </p:sp>
      <mc:AlternateContent xmlns:mc="http://schemas.openxmlformats.org/markup-compatibility/2006" xmlns:a14="http://schemas.microsoft.com/office/drawing/2010/main">
        <mc:Choice Requires="a14">
          <p:sp>
            <p:nvSpPr>
              <p:cNvPr id="19" name="Content Placeholder 3">
                <a:extLst>
                  <a:ext uri="{FF2B5EF4-FFF2-40B4-BE49-F238E27FC236}">
                    <a16:creationId xmlns:a16="http://schemas.microsoft.com/office/drawing/2014/main" id="{0C2365DF-6664-FDBA-73DF-1FD2B6873718}"/>
                  </a:ext>
                </a:extLst>
              </p:cNvPr>
              <p:cNvSpPr txBox="1">
                <a:spLocks/>
              </p:cNvSpPr>
              <p:nvPr/>
            </p:nvSpPr>
            <p:spPr bwMode="gray">
              <a:xfrm>
                <a:off x="2178417" y="5692164"/>
                <a:ext cx="8608521" cy="30078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pPr>
                  <a:lnSpc>
                    <a:spcPct val="105000"/>
                  </a:lnSpc>
                  <a:spcBef>
                    <a:spcPts val="0"/>
                  </a:spcBef>
                  <a:spcAft>
                    <a:spcPts val="500"/>
                  </a:spcAft>
                </a:pPr>
                <a:r>
                  <a:rPr lang="en-US" sz="2000" b="0" dirty="0">
                    <a:solidFill>
                      <a:srgbClr val="4D4D4D">
                        <a:alpha val="100000"/>
                      </a:srgbClr>
                    </a:solidFill>
                    <a:latin typeface="+mn-lt"/>
                    <a:cs typeface="Arial"/>
                    <a:sym typeface="Arial"/>
                  </a:rPr>
                  <a:t>Estimation accuracy: nlmixr2-SCM </a:t>
                </a:r>
                <a14:m>
                  <m:oMath xmlns:m="http://schemas.openxmlformats.org/officeDocument/2006/math">
                    <m:r>
                      <a:rPr lang="en-US" sz="2000" b="0" i="1">
                        <a:solidFill>
                          <a:srgbClr val="4D4D4D">
                            <a:alpha val="100000"/>
                          </a:srgbClr>
                        </a:solidFill>
                        <a:latin typeface="Cambria Math" panose="02040503050406030204" pitchFamily="18" charset="0"/>
                        <a:ea typeface="Cambria Math" panose="02040503050406030204" pitchFamily="18" charset="0"/>
                        <a:cs typeface="Arial"/>
                        <a:sym typeface="Arial"/>
                      </a:rPr>
                      <m:t>≈</m:t>
                    </m:r>
                    <m:r>
                      <m:rPr>
                        <m:nor/>
                      </m:rPr>
                      <a:rPr lang="en-US" sz="2000" b="0" i="0" smtClean="0">
                        <a:solidFill>
                          <a:srgbClr val="4D4D4D">
                            <a:alpha val="100000"/>
                          </a:srgbClr>
                        </a:solidFill>
                        <a:latin typeface="+mn-lt"/>
                        <a:ea typeface="Cambria Math" panose="02040503050406030204" pitchFamily="18" charset="0"/>
                        <a:cs typeface="Arial"/>
                        <a:sym typeface="Arial"/>
                      </a:rPr>
                      <m:t>PsN</m:t>
                    </m:r>
                    <m:r>
                      <m:rPr>
                        <m:nor/>
                      </m:rPr>
                      <a:rPr lang="en-US" sz="2000" b="0" i="0" smtClean="0">
                        <a:solidFill>
                          <a:srgbClr val="4D4D4D">
                            <a:alpha val="100000"/>
                          </a:srgbClr>
                        </a:solidFill>
                        <a:latin typeface="+mn-lt"/>
                        <a:ea typeface="Cambria Math" panose="02040503050406030204" pitchFamily="18" charset="0"/>
                        <a:cs typeface="Arial"/>
                        <a:sym typeface="Arial"/>
                      </a:rPr>
                      <m:t>_</m:t>
                    </m:r>
                    <m:r>
                      <m:rPr>
                        <m:nor/>
                      </m:rPr>
                      <a:rPr lang="en-US" sz="2000" b="0" i="0" dirty="0">
                        <a:solidFill>
                          <a:srgbClr val="4D4D4D">
                            <a:alpha val="100000"/>
                          </a:srgbClr>
                        </a:solidFill>
                        <a:latin typeface="+mn-lt"/>
                        <a:cs typeface="Arial"/>
                        <a:sym typeface="Arial"/>
                      </a:rPr>
                      <m:t>SCM</m:t>
                    </m:r>
                    <m:r>
                      <a:rPr lang="en-US" sz="2000" b="0" i="1">
                        <a:solidFill>
                          <a:srgbClr val="4D4D4D">
                            <a:alpha val="100000"/>
                          </a:srgbClr>
                        </a:solidFill>
                        <a:latin typeface="Cambria Math" panose="02040503050406030204" pitchFamily="18" charset="0"/>
                        <a:ea typeface="Cambria Math" panose="02040503050406030204" pitchFamily="18" charset="0"/>
                        <a:cs typeface="Arial"/>
                        <a:sym typeface="Arial"/>
                      </a:rPr>
                      <m:t>≈</m:t>
                    </m:r>
                    <m:r>
                      <m:rPr>
                        <m:nor/>
                      </m:rPr>
                      <a:rPr lang="en-US" sz="2000" b="0" i="0" dirty="0">
                        <a:solidFill>
                          <a:srgbClr val="4D4D4D">
                            <a:alpha val="100000"/>
                          </a:srgbClr>
                        </a:solidFill>
                        <a:cs typeface="Arial"/>
                        <a:sym typeface="Arial"/>
                      </a:rPr>
                      <m:t>nlmixr</m:t>
                    </m:r>
                    <m:r>
                      <m:rPr>
                        <m:nor/>
                      </m:rPr>
                      <a:rPr lang="en-US" sz="2000" b="0" i="0" dirty="0">
                        <a:solidFill>
                          <a:srgbClr val="4D4D4D">
                            <a:alpha val="100000"/>
                          </a:srgbClr>
                        </a:solidFill>
                        <a:cs typeface="Arial"/>
                        <a:sym typeface="Arial"/>
                      </a:rPr>
                      <m:t>2−</m:t>
                    </m:r>
                    <m:r>
                      <m:rPr>
                        <m:nor/>
                      </m:rPr>
                      <a:rPr lang="en-US" sz="2000" b="0" i="0" dirty="0" smtClean="0">
                        <a:solidFill>
                          <a:srgbClr val="4D4D4D">
                            <a:alpha val="100000"/>
                          </a:srgbClr>
                        </a:solidFill>
                        <a:cs typeface="Arial"/>
                        <a:sym typeface="Arial"/>
                      </a:rPr>
                      <m:t>VAE</m:t>
                    </m:r>
                  </m:oMath>
                </a14:m>
                <a:endParaRPr lang="en-US" sz="2000" b="0" dirty="0">
                  <a:solidFill>
                    <a:srgbClr val="4D4D4D">
                      <a:alpha val="100000"/>
                    </a:srgbClr>
                  </a:solidFill>
                  <a:latin typeface="+mn-lt"/>
                  <a:cs typeface="Arial"/>
                  <a:sym typeface="Arial"/>
                </a:endParaRPr>
              </a:p>
            </p:txBody>
          </p:sp>
        </mc:Choice>
        <mc:Fallback xmlns="">
          <p:sp>
            <p:nvSpPr>
              <p:cNvPr id="19" name="Content Placeholder 3">
                <a:extLst>
                  <a:ext uri="{FF2B5EF4-FFF2-40B4-BE49-F238E27FC236}">
                    <a16:creationId xmlns:a16="http://schemas.microsoft.com/office/drawing/2014/main" id="{0C2365DF-6664-FDBA-73DF-1FD2B6873718}"/>
                  </a:ext>
                </a:extLst>
              </p:cNvPr>
              <p:cNvSpPr txBox="1">
                <a:spLocks noRot="1" noChangeAspect="1" noMove="1" noResize="1" noEditPoints="1" noAdjustHandles="1" noChangeArrowheads="1" noChangeShapeType="1" noTextEdit="1"/>
              </p:cNvSpPr>
              <p:nvPr/>
            </p:nvSpPr>
            <p:spPr bwMode="gray">
              <a:xfrm>
                <a:off x="2178417" y="5692164"/>
                <a:ext cx="8608521" cy="300788"/>
              </a:xfrm>
              <a:prstGeom prst="rect">
                <a:avLst/>
              </a:prstGeom>
              <a:blipFill>
                <a:blip r:embed="rId3"/>
                <a:stretch>
                  <a:fillRect l="-1769" t="-28571" b="-51020"/>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A4F5158C-A8CC-D1AD-8E7B-1D956DB35B86}"/>
              </a:ext>
            </a:extLst>
          </p:cNvPr>
          <p:cNvGrpSpPr/>
          <p:nvPr/>
        </p:nvGrpSpPr>
        <p:grpSpPr>
          <a:xfrm>
            <a:off x="925831" y="810403"/>
            <a:ext cx="9861107" cy="4730409"/>
            <a:chOff x="885191" y="748303"/>
            <a:chExt cx="9861107" cy="4985550"/>
          </a:xfrm>
        </p:grpSpPr>
        <p:sp>
          <p:nvSpPr>
            <p:cNvPr id="4" name="TextBox 3">
              <a:extLst>
                <a:ext uri="{FF2B5EF4-FFF2-40B4-BE49-F238E27FC236}">
                  <a16:creationId xmlns:a16="http://schemas.microsoft.com/office/drawing/2014/main" id="{B1C0F857-E28E-954A-CF3A-F47E0A43994F}"/>
                </a:ext>
              </a:extLst>
            </p:cNvPr>
            <p:cNvSpPr txBox="1"/>
            <p:nvPr/>
          </p:nvSpPr>
          <p:spPr>
            <a:xfrm>
              <a:off x="1152821" y="748303"/>
              <a:ext cx="3463785" cy="400110"/>
            </a:xfrm>
            <a:prstGeom prst="rect">
              <a:avLst/>
            </a:prstGeom>
            <a:noFill/>
          </p:spPr>
          <p:txBody>
            <a:bodyPr wrap="square">
              <a:spAutoFit/>
            </a:bodyPr>
            <a:lstStyle/>
            <a:p>
              <a:r>
                <a:rPr lang="en-US" sz="2000" b="1" dirty="0"/>
                <a:t>Scn16 + N80 + Analytic</a:t>
              </a:r>
            </a:p>
          </p:txBody>
        </p:sp>
        <p:pic>
          <p:nvPicPr>
            <p:cNvPr id="6" name="Picture 5">
              <a:extLst>
                <a:ext uri="{FF2B5EF4-FFF2-40B4-BE49-F238E27FC236}">
                  <a16:creationId xmlns:a16="http://schemas.microsoft.com/office/drawing/2014/main" id="{A90C9494-869C-B64B-BEDF-332FEFB55FED}"/>
                </a:ext>
              </a:extLst>
            </p:cNvPr>
            <p:cNvPicPr>
              <a:picLocks noChangeAspect="1"/>
            </p:cNvPicPr>
            <p:nvPr/>
          </p:nvPicPr>
          <p:blipFill>
            <a:blip r:embed="rId4"/>
            <a:srcRect b="4357"/>
            <a:stretch>
              <a:fillRect/>
            </a:stretch>
          </p:blipFill>
          <p:spPr>
            <a:xfrm>
              <a:off x="6004248" y="1198430"/>
              <a:ext cx="4742050" cy="4535423"/>
            </a:xfrm>
            <a:prstGeom prst="rect">
              <a:avLst/>
            </a:prstGeom>
          </p:spPr>
        </p:pic>
        <p:pic>
          <p:nvPicPr>
            <p:cNvPr id="7" name="Picture 6">
              <a:extLst>
                <a:ext uri="{FF2B5EF4-FFF2-40B4-BE49-F238E27FC236}">
                  <a16:creationId xmlns:a16="http://schemas.microsoft.com/office/drawing/2014/main" id="{A8A1DAC9-6005-4074-1A62-796B9BAE3102}"/>
                </a:ext>
              </a:extLst>
            </p:cNvPr>
            <p:cNvPicPr>
              <a:picLocks noChangeAspect="1"/>
            </p:cNvPicPr>
            <p:nvPr/>
          </p:nvPicPr>
          <p:blipFill>
            <a:blip r:embed="rId5"/>
            <a:srcRect b="4051"/>
            <a:stretch>
              <a:fillRect/>
            </a:stretch>
          </p:blipFill>
          <p:spPr>
            <a:xfrm>
              <a:off x="885191" y="1148413"/>
              <a:ext cx="4555294" cy="4548298"/>
            </a:xfrm>
            <a:prstGeom prst="rect">
              <a:avLst/>
            </a:prstGeom>
          </p:spPr>
        </p:pic>
      </p:grpSp>
      <p:grpSp>
        <p:nvGrpSpPr>
          <p:cNvPr id="8" name="Group 7">
            <a:extLst>
              <a:ext uri="{FF2B5EF4-FFF2-40B4-BE49-F238E27FC236}">
                <a16:creationId xmlns:a16="http://schemas.microsoft.com/office/drawing/2014/main" id="{511A295B-E49B-D0C6-E8B7-67E965735392}"/>
              </a:ext>
            </a:extLst>
          </p:cNvPr>
          <p:cNvGrpSpPr/>
          <p:nvPr/>
        </p:nvGrpSpPr>
        <p:grpSpPr>
          <a:xfrm>
            <a:off x="2500868" y="6122536"/>
            <a:ext cx="8733555" cy="560000"/>
            <a:chOff x="880000" y="5195331"/>
            <a:chExt cx="9400001" cy="560000"/>
          </a:xfrm>
        </p:grpSpPr>
        <p:sp>
          <p:nvSpPr>
            <p:cNvPr id="9" name="pill90">
              <a:extLst>
                <a:ext uri="{FF2B5EF4-FFF2-40B4-BE49-F238E27FC236}">
                  <a16:creationId xmlns:a16="http://schemas.microsoft.com/office/drawing/2014/main" id="{C43E07E8-4341-68FF-F43A-55A35E461997}"/>
                </a:ext>
              </a:extLst>
            </p:cNvPr>
            <p:cNvSpPr/>
            <p:nvPr/>
          </p:nvSpPr>
          <p:spPr>
            <a:xfrm>
              <a:off x="5580000" y="5195331"/>
              <a:ext cx="2350001" cy="560000"/>
            </a:xfrm>
            <a:prstGeom prst="roundRect">
              <a:avLst>
                <a:gd name="adj" fmla="val 30000"/>
              </a:avLst>
            </a:prstGeom>
            <a:solidFill>
              <a:srgbClr val="0460A9"/>
            </a:solidFill>
            <a:ln w="9525">
              <a:solidFill>
                <a:srgbClr val="D6E2F0"/>
              </a:solidFill>
            </a:ln>
          </p:spPr>
          <p:txBody>
            <a:bodyPr lIns="91440" tIns="0" rIns="45720" bIns="0" anchor="ctr"/>
            <a:lstStyle/>
            <a:p>
              <a:pPr algn="ctr">
                <a:buNone/>
              </a:pPr>
              <a:r>
                <a:rPr lang="en-US" sz="1400" b="1" dirty="0">
                  <a:solidFill>
                    <a:schemeClr val="bg1"/>
                  </a:solidFill>
                  <a:latin typeface="Arial"/>
                  <a:cs typeface="Arial"/>
                </a:rPr>
                <a:t>3 Accuracy</a:t>
              </a:r>
            </a:p>
          </p:txBody>
        </p:sp>
        <p:sp>
          <p:nvSpPr>
            <p:cNvPr id="10" name="pill91">
              <a:extLst>
                <a:ext uri="{FF2B5EF4-FFF2-40B4-BE49-F238E27FC236}">
                  <a16:creationId xmlns:a16="http://schemas.microsoft.com/office/drawing/2014/main" id="{38244845-5ED0-3CD8-EAB2-B541276AA3FB}"/>
                </a:ext>
              </a:extLst>
            </p:cNvPr>
            <p:cNvSpPr/>
            <p:nvPr/>
          </p:nvSpPr>
          <p:spPr>
            <a:xfrm>
              <a:off x="880000" y="5195331"/>
              <a:ext cx="2350000" cy="560000"/>
            </a:xfrm>
            <a:prstGeom prst="roundRect">
              <a:avLst>
                <a:gd name="adj" fmla="val 30000"/>
              </a:avLst>
            </a:prstGeom>
            <a:solidFill>
              <a:srgbClr val="F0F3F7"/>
            </a:solidFill>
          </p:spPr>
          <p:txBody>
            <a:bodyPr lIns="91440" tIns="0" rIns="45720" bIns="0" anchor="ctr"/>
            <a:lstStyle/>
            <a:p>
              <a:pPr algn="ctr">
                <a:buNone/>
              </a:pPr>
              <a:r>
                <a:rPr lang="en-US" sz="1400" dirty="0">
                  <a:solidFill>
                    <a:schemeClr val="accent4"/>
                  </a:solidFill>
                  <a:latin typeface="Arial"/>
                  <a:cs typeface="Arial"/>
                </a:rPr>
                <a:t>1 Reliability</a:t>
              </a:r>
            </a:p>
          </p:txBody>
        </p:sp>
        <p:sp>
          <p:nvSpPr>
            <p:cNvPr id="11" name="pill92">
              <a:extLst>
                <a:ext uri="{FF2B5EF4-FFF2-40B4-BE49-F238E27FC236}">
                  <a16:creationId xmlns:a16="http://schemas.microsoft.com/office/drawing/2014/main" id="{AF2EB2C5-05B4-B86D-2A10-D1BAFA679596}"/>
                </a:ext>
              </a:extLst>
            </p:cNvPr>
            <p:cNvSpPr/>
            <p:nvPr/>
          </p:nvSpPr>
          <p:spPr>
            <a:xfrm>
              <a:off x="3229999" y="5195331"/>
              <a:ext cx="2350001"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400" b="0" dirty="0">
                  <a:solidFill>
                    <a:srgbClr val="6B7683"/>
                  </a:solidFill>
                  <a:latin typeface="Arial"/>
                  <a:cs typeface="Arial"/>
                </a:rPr>
                <a:t>2 Power</a:t>
              </a:r>
            </a:p>
          </p:txBody>
        </p:sp>
        <p:sp>
          <p:nvSpPr>
            <p:cNvPr id="12" name="pill93">
              <a:extLst>
                <a:ext uri="{FF2B5EF4-FFF2-40B4-BE49-F238E27FC236}">
                  <a16:creationId xmlns:a16="http://schemas.microsoft.com/office/drawing/2014/main" id="{D394B9F6-065D-76BA-2C9E-9EA15E3FD39E}"/>
                </a:ext>
              </a:extLst>
            </p:cNvPr>
            <p:cNvSpPr/>
            <p:nvPr/>
          </p:nvSpPr>
          <p:spPr>
            <a:xfrm>
              <a:off x="7930001" y="5195331"/>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400" b="0" dirty="0">
                  <a:solidFill>
                    <a:srgbClr val="6B7683"/>
                  </a:solidFill>
                  <a:latin typeface="Arial"/>
                  <a:cs typeface="Arial"/>
                </a:rPr>
                <a:t>4  Runtime</a:t>
              </a:r>
            </a:p>
          </p:txBody>
        </p:sp>
      </p:grpSp>
    </p:spTree>
    <p:extLst>
      <p:ext uri="{BB962C8B-B14F-4D97-AF65-F5344CB8AC3E}">
        <p14:creationId xmlns:p14="http://schemas.microsoft.com/office/powerpoint/2010/main" val="29941380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8D714-2C60-FDF8-C2DB-AB845881167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1DC375-DC03-8213-1FB6-839B590B27AD}"/>
              </a:ext>
            </a:extLst>
          </p:cNvPr>
          <p:cNvSpPr>
            <a:spLocks noGrp="1"/>
          </p:cNvSpPr>
          <p:nvPr>
            <p:ph/>
          </p:nvPr>
        </p:nvSpPr>
        <p:spPr>
          <a:xfrm>
            <a:off x="185759" y="313632"/>
            <a:ext cx="12448864" cy="387798"/>
          </a:xfrm>
        </p:spPr>
        <p:txBody>
          <a:bodyPr/>
          <a:lstStyle/>
          <a:p>
            <a:pPr algn="l">
              <a:buNone/>
            </a:pPr>
            <a:r>
              <a:rPr lang="en-US" sz="2800" b="1" dirty="0">
                <a:solidFill>
                  <a:srgbClr val="0460A9"/>
                </a:solidFill>
                <a:latin typeface="Arial"/>
                <a:cs typeface="Arial"/>
              </a:rPr>
              <a:t>The VAE </a:t>
            </a:r>
            <a:r>
              <a:rPr lang="en-US" sz="2800" dirty="0">
                <a:solidFill>
                  <a:srgbClr val="0460A9"/>
                </a:solidFill>
                <a:latin typeface="Arial"/>
                <a:cs typeface="Arial"/>
              </a:rPr>
              <a:t>can be substantially than </a:t>
            </a:r>
            <a:r>
              <a:rPr lang="en-US" sz="2800" b="1" dirty="0">
                <a:solidFill>
                  <a:srgbClr val="0460A9"/>
                </a:solidFill>
                <a:latin typeface="Arial"/>
                <a:cs typeface="Arial"/>
              </a:rPr>
              <a:t>NONMEM-SCM_ODE</a:t>
            </a:r>
          </a:p>
        </p:txBody>
      </p:sp>
      <p:sp>
        <p:nvSpPr>
          <p:cNvPr id="3" name="Content Placeholder 2">
            <a:extLst>
              <a:ext uri="{FF2B5EF4-FFF2-40B4-BE49-F238E27FC236}">
                <a16:creationId xmlns:a16="http://schemas.microsoft.com/office/drawing/2014/main" id="{FAEED25E-E6CD-8ACE-9C52-38F2A0ADA62D}"/>
              </a:ext>
            </a:extLst>
          </p:cNvPr>
          <p:cNvSpPr>
            <a:spLocks noGrp="1"/>
          </p:cNvSpPr>
          <p:nvPr>
            <p:ph/>
          </p:nvPr>
        </p:nvSpPr>
        <p:spPr>
          <a:xfrm>
            <a:off x="566928" y="1188720"/>
            <a:ext cx="3108960" cy="64008"/>
          </a:xfrm>
        </p:spPr>
        <p:txBody>
          <a:bodyPr/>
          <a:lstStyle/>
          <a:p>
            <a:pPr marL="0" marR="0" algn="l">
              <a:lnSpc>
                <a:spcPct val="100000"/>
              </a:lnSpc>
              <a:spcBef>
                <a:spcPts val="0"/>
              </a:spcBef>
              <a:spcAft>
                <a:spcPts val="0"/>
              </a:spcAft>
              <a:buNone/>
            </a:pPr>
            <a:r>
              <a:rPr sz="200" b="0" i="0" u="none" strike="noStrike" cap="none" dirty="0">
                <a:solidFill>
                  <a:srgbClr val="000000">
                    <a:alpha val="100000"/>
                  </a:srgbClr>
                </a:solidFill>
                <a:latin typeface="Arial"/>
                <a:cs typeface="Arial"/>
                <a:sym typeface="Arial"/>
              </a:rPr>
              <a:t> </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A9BA458-C418-3F07-B19B-67CD32CCB4D1}"/>
                  </a:ext>
                </a:extLst>
              </p:cNvPr>
              <p:cNvSpPr txBox="1"/>
              <p:nvPr/>
            </p:nvSpPr>
            <p:spPr>
              <a:xfrm>
                <a:off x="513556" y="3387200"/>
                <a:ext cx="4345992" cy="923330"/>
              </a:xfrm>
              <a:prstGeom prst="rect">
                <a:avLst/>
              </a:prstGeom>
              <a:noFill/>
            </p:spPr>
            <p:txBody>
              <a:bodyPr wrap="square">
                <a:spAutoFit/>
              </a:bodyPr>
              <a:lstStyle/>
              <a:p>
                <a:r>
                  <a:rPr lang="en-US" b="1" dirty="0">
                    <a:solidFill>
                      <a:srgbClr val="4D4D4D">
                        <a:alpha val="100000"/>
                      </a:srgbClr>
                    </a:solidFill>
                    <a:cs typeface="Arial"/>
                  </a:rPr>
                  <a:t>Analytic:</a:t>
                </a:r>
              </a:p>
              <a:p>
                <a:r>
                  <a:rPr lang="en-US" dirty="0">
                    <a:solidFill>
                      <a:srgbClr val="4D4D4D">
                        <a:alpha val="100000"/>
                      </a:srgbClr>
                    </a:solidFill>
                    <a:cs typeface="Arial"/>
                    <a:sym typeface="Arial"/>
                  </a:rPr>
                  <a:t>VAE   &lt;</a:t>
                </a:r>
                <a:r>
                  <a:rPr lang="en-US" b="1" dirty="0">
                    <a:solidFill>
                      <a:srgbClr val="4D4D4D">
                        <a:alpha val="100000"/>
                      </a:srgbClr>
                    </a:solidFill>
                    <a:cs typeface="Arial"/>
                    <a:sym typeface="Arial"/>
                  </a:rPr>
                  <a:t> </a:t>
                </a:r>
                <a14:m>
                  <m:oMath xmlns:m="http://schemas.openxmlformats.org/officeDocument/2006/math">
                    <m:r>
                      <a:rPr lang="en-US" b="1" i="0" smtClean="0">
                        <a:solidFill>
                          <a:srgbClr val="4D4D4D">
                            <a:alpha val="100000"/>
                          </a:srgbClr>
                        </a:solidFill>
                        <a:latin typeface="Cambria Math" panose="02040503050406030204" pitchFamily="18" charset="0"/>
                        <a:ea typeface="Cambria Math" panose="02040503050406030204" pitchFamily="18" charset="0"/>
                        <a:cs typeface="Arial"/>
                        <a:sym typeface="Arial"/>
                      </a:rPr>
                      <m:t> </m:t>
                    </m:r>
                    <m:r>
                      <m:rPr>
                        <m:nor/>
                      </m:rPr>
                      <a:rPr lang="en-US" i="0">
                        <a:solidFill>
                          <a:srgbClr val="4D4D4D">
                            <a:alpha val="100000"/>
                          </a:srgbClr>
                        </a:solidFill>
                        <a:ea typeface="Cambria Math" panose="02040503050406030204" pitchFamily="18" charset="0"/>
                        <a:cs typeface="Arial"/>
                        <a:sym typeface="Arial"/>
                      </a:rPr>
                      <m:t>PsN</m:t>
                    </m:r>
                    <m:r>
                      <m:rPr>
                        <m:nor/>
                      </m:rPr>
                      <a:rPr lang="en-US" i="0">
                        <a:solidFill>
                          <a:srgbClr val="4D4D4D">
                            <a:alpha val="100000"/>
                          </a:srgbClr>
                        </a:solidFill>
                        <a:ea typeface="Cambria Math" panose="02040503050406030204" pitchFamily="18" charset="0"/>
                        <a:cs typeface="Arial"/>
                        <a:sym typeface="Arial"/>
                      </a:rPr>
                      <m:t>_</m:t>
                    </m:r>
                    <m:r>
                      <m:rPr>
                        <m:nor/>
                      </m:rPr>
                      <a:rPr lang="en-US" i="0" dirty="0">
                        <a:solidFill>
                          <a:srgbClr val="4D4D4D">
                            <a:alpha val="100000"/>
                          </a:srgbClr>
                        </a:solidFill>
                        <a:cs typeface="Arial"/>
                        <a:sym typeface="Arial"/>
                      </a:rPr>
                      <m:t>SCM</m:t>
                    </m:r>
                  </m:oMath>
                </a14:m>
                <a:r>
                  <a:rPr lang="en-US" dirty="0">
                    <a:solidFill>
                      <a:srgbClr val="4D4D4D">
                        <a:alpha val="100000"/>
                      </a:srgbClr>
                    </a:solidFill>
                    <a:cs typeface="Arial"/>
                  </a:rPr>
                  <a:t> ≤ </a:t>
                </a:r>
                <a:r>
                  <a:rPr lang="en-US" dirty="0">
                    <a:solidFill>
                      <a:srgbClr val="4D4D4D">
                        <a:alpha val="100000"/>
                      </a:srgbClr>
                    </a:solidFill>
                    <a:cs typeface="Arial"/>
                    <a:sym typeface="Arial"/>
                  </a:rPr>
                  <a:t>nlmixr2-SCM </a:t>
                </a:r>
                <a:br>
                  <a:rPr lang="en-US" dirty="0">
                    <a:solidFill>
                      <a:srgbClr val="4D4D4D">
                        <a:alpha val="100000"/>
                      </a:srgbClr>
                    </a:solidFill>
                    <a:cs typeface="Arial"/>
                    <a:sym typeface="Arial"/>
                  </a:rPr>
                </a:br>
                <a:r>
                  <a:rPr lang="en-US" dirty="0">
                    <a:solidFill>
                      <a:srgbClr val="4D4D4D">
                        <a:alpha val="100000"/>
                      </a:srgbClr>
                    </a:solidFill>
                    <a:cs typeface="Arial"/>
                  </a:rPr>
                  <a:t>(1min)</a:t>
                </a:r>
                <a:r>
                  <a:rPr lang="en-US" dirty="0">
                    <a:solidFill>
                      <a:srgbClr val="4D4D4D">
                        <a:alpha val="100000"/>
                      </a:srgbClr>
                    </a:solidFill>
                    <a:cs typeface="Arial"/>
                    <a:sym typeface="Arial"/>
                  </a:rPr>
                  <a:t>       </a:t>
                </a:r>
                <a:r>
                  <a:rPr lang="en-US" dirty="0">
                    <a:solidFill>
                      <a:srgbClr val="4D4D4D">
                        <a:alpha val="100000"/>
                      </a:srgbClr>
                    </a:solidFill>
                    <a:cs typeface="Arial"/>
                  </a:rPr>
                  <a:t>(~5min)        </a:t>
                </a:r>
                <a:r>
                  <a:rPr lang="en-US" dirty="0">
                    <a:solidFill>
                      <a:srgbClr val="4D4D4D">
                        <a:alpha val="100000"/>
                      </a:srgbClr>
                    </a:solidFill>
                    <a:cs typeface="Arial"/>
                    <a:sym typeface="Arial"/>
                  </a:rPr>
                  <a:t>(~12min) </a:t>
                </a:r>
              </a:p>
            </p:txBody>
          </p:sp>
        </mc:Choice>
        <mc:Fallback xmlns="">
          <p:sp>
            <p:nvSpPr>
              <p:cNvPr id="12" name="TextBox 11">
                <a:extLst>
                  <a:ext uri="{FF2B5EF4-FFF2-40B4-BE49-F238E27FC236}">
                    <a16:creationId xmlns:a16="http://schemas.microsoft.com/office/drawing/2014/main" id="{2A9BA458-C418-3F07-B19B-67CD32CCB4D1}"/>
                  </a:ext>
                </a:extLst>
              </p:cNvPr>
              <p:cNvSpPr txBox="1">
                <a:spLocks noRot="1" noChangeAspect="1" noMove="1" noResize="1" noEditPoints="1" noAdjustHandles="1" noChangeArrowheads="1" noChangeShapeType="1" noTextEdit="1"/>
              </p:cNvSpPr>
              <p:nvPr/>
            </p:nvSpPr>
            <p:spPr>
              <a:xfrm>
                <a:off x="513556" y="3387200"/>
                <a:ext cx="4345992" cy="923330"/>
              </a:xfrm>
              <a:prstGeom prst="rect">
                <a:avLst/>
              </a:prstGeom>
              <a:blipFill>
                <a:blip r:embed="rId3"/>
                <a:stretch>
                  <a:fillRect l="-1122" t="-3974" b="-99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5B27406-044C-A304-01B2-8C6D8D6EF85F}"/>
                  </a:ext>
                </a:extLst>
              </p:cNvPr>
              <p:cNvSpPr txBox="1"/>
              <p:nvPr/>
            </p:nvSpPr>
            <p:spPr>
              <a:xfrm>
                <a:off x="566928" y="4530634"/>
                <a:ext cx="4239248" cy="923330"/>
              </a:xfrm>
              <a:prstGeom prst="rect">
                <a:avLst/>
              </a:prstGeom>
              <a:noFill/>
            </p:spPr>
            <p:txBody>
              <a:bodyPr wrap="square">
                <a:spAutoFit/>
              </a:bodyPr>
              <a:lstStyle/>
              <a:p>
                <a:r>
                  <a:rPr lang="en-US" b="1" dirty="0">
                    <a:solidFill>
                      <a:srgbClr val="4D4D4D">
                        <a:alpha val="100000"/>
                      </a:srgbClr>
                    </a:solidFill>
                    <a:cs typeface="Arial"/>
                  </a:rPr>
                  <a:t>ODE:</a:t>
                </a:r>
              </a:p>
              <a:p>
                <a:r>
                  <a:rPr lang="en-US" dirty="0">
                    <a:solidFill>
                      <a:srgbClr val="4D4D4D">
                        <a:alpha val="100000"/>
                      </a:srgbClr>
                    </a:solidFill>
                    <a:cs typeface="Arial"/>
                    <a:sym typeface="Arial"/>
                  </a:rPr>
                  <a:t>VAE   &lt;</a:t>
                </a:r>
                <a:r>
                  <a:rPr lang="en-US" b="1" dirty="0">
                    <a:solidFill>
                      <a:srgbClr val="4D4D4D">
                        <a:alpha val="100000"/>
                      </a:srgbClr>
                    </a:solidFill>
                    <a:cs typeface="Arial"/>
                    <a:sym typeface="Arial"/>
                  </a:rPr>
                  <a:t> </a:t>
                </a:r>
                <a:r>
                  <a:rPr lang="en-US" dirty="0">
                    <a:solidFill>
                      <a:srgbClr val="4D4D4D">
                        <a:alpha val="100000"/>
                      </a:srgbClr>
                    </a:solidFill>
                    <a:cs typeface="Arial"/>
                    <a:sym typeface="Arial"/>
                  </a:rPr>
                  <a:t>nlmixr2-SCM&lt; </a:t>
                </a:r>
                <a14:m>
                  <m:oMath xmlns:m="http://schemas.openxmlformats.org/officeDocument/2006/math">
                    <m:r>
                      <m:rPr>
                        <m:nor/>
                      </m:rPr>
                      <a:rPr lang="en-US" i="0">
                        <a:solidFill>
                          <a:srgbClr val="4D4D4D">
                            <a:alpha val="100000"/>
                          </a:srgbClr>
                        </a:solidFill>
                        <a:ea typeface="Cambria Math" panose="02040503050406030204" pitchFamily="18" charset="0"/>
                        <a:cs typeface="Arial"/>
                        <a:sym typeface="Arial"/>
                      </a:rPr>
                      <m:t>PsN</m:t>
                    </m:r>
                    <m:r>
                      <m:rPr>
                        <m:nor/>
                      </m:rPr>
                      <a:rPr lang="en-US" i="0">
                        <a:solidFill>
                          <a:srgbClr val="4D4D4D">
                            <a:alpha val="100000"/>
                          </a:srgbClr>
                        </a:solidFill>
                        <a:ea typeface="Cambria Math" panose="02040503050406030204" pitchFamily="18" charset="0"/>
                        <a:cs typeface="Arial"/>
                        <a:sym typeface="Arial"/>
                      </a:rPr>
                      <m:t>_</m:t>
                    </m:r>
                    <m:r>
                      <m:rPr>
                        <m:nor/>
                      </m:rPr>
                      <a:rPr lang="en-US" i="0" dirty="0">
                        <a:solidFill>
                          <a:srgbClr val="4D4D4D">
                            <a:alpha val="100000"/>
                          </a:srgbClr>
                        </a:solidFill>
                        <a:cs typeface="Arial"/>
                        <a:sym typeface="Arial"/>
                      </a:rPr>
                      <m:t>SCM</m:t>
                    </m:r>
                  </m:oMath>
                </a14:m>
                <a:r>
                  <a:rPr lang="en-US" dirty="0">
                    <a:solidFill>
                      <a:srgbClr val="4D4D4D">
                        <a:alpha val="100000"/>
                      </a:srgbClr>
                    </a:solidFill>
                    <a:cs typeface="Arial"/>
                  </a:rPr>
                  <a:t> </a:t>
                </a:r>
                <a:br>
                  <a:rPr lang="en-US" dirty="0">
                    <a:solidFill>
                      <a:srgbClr val="4D4D4D">
                        <a:alpha val="100000"/>
                      </a:srgbClr>
                    </a:solidFill>
                    <a:cs typeface="Arial"/>
                    <a:sym typeface="Arial"/>
                  </a:rPr>
                </a:br>
                <a:r>
                  <a:rPr lang="en-US" dirty="0">
                    <a:solidFill>
                      <a:srgbClr val="4D4D4D">
                        <a:alpha val="100000"/>
                      </a:srgbClr>
                    </a:solidFill>
                    <a:cs typeface="Arial"/>
                    <a:sym typeface="Arial"/>
                  </a:rPr>
                  <a:t>(1min)      (~20min)       </a:t>
                </a:r>
                <a:r>
                  <a:rPr lang="en-US" dirty="0">
                    <a:solidFill>
                      <a:srgbClr val="4D4D4D">
                        <a:alpha val="100000"/>
                      </a:srgbClr>
                    </a:solidFill>
                    <a:cs typeface="Arial"/>
                  </a:rPr>
                  <a:t>(~120 min)</a:t>
                </a:r>
              </a:p>
            </p:txBody>
          </p:sp>
        </mc:Choice>
        <mc:Fallback xmlns="">
          <p:sp>
            <p:nvSpPr>
              <p:cNvPr id="14" name="TextBox 13">
                <a:extLst>
                  <a:ext uri="{FF2B5EF4-FFF2-40B4-BE49-F238E27FC236}">
                    <a16:creationId xmlns:a16="http://schemas.microsoft.com/office/drawing/2014/main" id="{F5B27406-044C-A304-01B2-8C6D8D6EF85F}"/>
                  </a:ext>
                </a:extLst>
              </p:cNvPr>
              <p:cNvSpPr txBox="1">
                <a:spLocks noRot="1" noChangeAspect="1" noMove="1" noResize="1" noEditPoints="1" noAdjustHandles="1" noChangeArrowheads="1" noChangeShapeType="1" noTextEdit="1"/>
              </p:cNvSpPr>
              <p:nvPr/>
            </p:nvSpPr>
            <p:spPr>
              <a:xfrm>
                <a:off x="566928" y="4530634"/>
                <a:ext cx="4239248" cy="923330"/>
              </a:xfrm>
              <a:prstGeom prst="rect">
                <a:avLst/>
              </a:prstGeom>
              <a:blipFill>
                <a:blip r:embed="rId4"/>
                <a:stretch>
                  <a:fillRect l="-1151" t="-3289" b="-9211"/>
                </a:stretch>
              </a:blipFill>
            </p:spPr>
            <p:txBody>
              <a:bodyPr/>
              <a:lstStyle/>
              <a:p>
                <a:r>
                  <a:rPr lang="en-US">
                    <a:noFill/>
                  </a:rPr>
                  <a:t> </a:t>
                </a:r>
              </a:p>
            </p:txBody>
          </p:sp>
        </mc:Fallback>
      </mc:AlternateContent>
      <p:sp>
        <p:nvSpPr>
          <p:cNvPr id="960" name="slidenum_fn">
            <a:extLst>
              <a:ext uri="{FF2B5EF4-FFF2-40B4-BE49-F238E27FC236}">
                <a16:creationId xmlns:a16="http://schemas.microsoft.com/office/drawing/2014/main" id="{372BAF25-84F7-C12A-1A4F-25BA5432FC02}"/>
              </a:ext>
            </a:extLst>
          </p:cNvPr>
          <p:cNvSpPr txBox="1"/>
          <p:nvPr/>
        </p:nvSpPr>
        <p:spPr>
          <a:xfrm>
            <a:off x="11250000" y="6560000"/>
            <a:ext cx="760000" cy="260000"/>
          </a:xfrm>
          <a:prstGeom prst="rect">
            <a:avLst/>
          </a:prstGeom>
          <a:noFill/>
        </p:spPr>
        <p:txBody>
          <a:bodyPr wrap="none" lIns="0" tIns="0" rIns="0" bIns="0" anchor="ctr"/>
          <a:lstStyle/>
          <a:p>
            <a:pPr algn="r">
              <a:buNone/>
            </a:pPr>
            <a:fld id="{25F68982-B90A-4633-8556-FC757573F748}" type="slidenum">
              <a:rPr lang="en-US" sz="1000">
                <a:solidFill>
                  <a:srgbClr val="8A8A8A"/>
                </a:solidFill>
                <a:latin typeface="Arial"/>
              </a:rPr>
              <a:t>24</a:t>
            </a:fld>
            <a:endParaRPr lang="en-US" sz="1000">
              <a:solidFill>
                <a:srgbClr val="8A8A8A"/>
              </a:solidFill>
              <a:latin typeface="Arial"/>
            </a:endParaRPr>
          </a:p>
        </p:txBody>
      </p:sp>
      <p:pic>
        <p:nvPicPr>
          <p:cNvPr id="6" name="Picture 5">
            <a:extLst>
              <a:ext uri="{FF2B5EF4-FFF2-40B4-BE49-F238E27FC236}">
                <a16:creationId xmlns:a16="http://schemas.microsoft.com/office/drawing/2014/main" id="{7E1CDDF1-5250-6A0E-24DC-2FCF69E07AAE}"/>
              </a:ext>
            </a:extLst>
          </p:cNvPr>
          <p:cNvPicPr>
            <a:picLocks noChangeAspect="1"/>
          </p:cNvPicPr>
          <p:nvPr/>
        </p:nvPicPr>
        <p:blipFill>
          <a:blip r:embed="rId5"/>
          <a:srcRect b="3731"/>
          <a:stretch>
            <a:fillRect/>
          </a:stretch>
        </p:blipFill>
        <p:spPr>
          <a:xfrm>
            <a:off x="4763402" y="831959"/>
            <a:ext cx="6635713" cy="5110482"/>
          </a:xfrm>
          <a:prstGeom prst="rect">
            <a:avLst/>
          </a:prstGeom>
        </p:spPr>
      </p:pic>
      <p:sp>
        <p:nvSpPr>
          <p:cNvPr id="8" name="TextBox 7">
            <a:extLst>
              <a:ext uri="{FF2B5EF4-FFF2-40B4-BE49-F238E27FC236}">
                <a16:creationId xmlns:a16="http://schemas.microsoft.com/office/drawing/2014/main" id="{586DEDEC-2DC3-2B56-788B-17D541F27383}"/>
              </a:ext>
            </a:extLst>
          </p:cNvPr>
          <p:cNvSpPr txBox="1"/>
          <p:nvPr/>
        </p:nvSpPr>
        <p:spPr>
          <a:xfrm>
            <a:off x="809047" y="1100499"/>
            <a:ext cx="1972404" cy="369332"/>
          </a:xfrm>
          <a:prstGeom prst="rect">
            <a:avLst/>
          </a:prstGeom>
          <a:noFill/>
        </p:spPr>
        <p:txBody>
          <a:bodyPr wrap="square">
            <a:spAutoFit/>
          </a:bodyPr>
          <a:lstStyle/>
          <a:p>
            <a:r>
              <a:rPr lang="en-US" sz="1800" dirty="0"/>
              <a:t>4 CPU cores</a:t>
            </a:r>
            <a:endParaRPr lang="en-US" dirty="0"/>
          </a:p>
        </p:txBody>
      </p:sp>
      <p:grpSp>
        <p:nvGrpSpPr>
          <p:cNvPr id="4" name="Group 3">
            <a:extLst>
              <a:ext uri="{FF2B5EF4-FFF2-40B4-BE49-F238E27FC236}">
                <a16:creationId xmlns:a16="http://schemas.microsoft.com/office/drawing/2014/main" id="{FFB91552-2DB1-7041-3142-1896140E26F8}"/>
              </a:ext>
            </a:extLst>
          </p:cNvPr>
          <p:cNvGrpSpPr/>
          <p:nvPr/>
        </p:nvGrpSpPr>
        <p:grpSpPr>
          <a:xfrm>
            <a:off x="2622788" y="6238904"/>
            <a:ext cx="8733555" cy="451095"/>
            <a:chOff x="880000" y="5195331"/>
            <a:chExt cx="9400001" cy="560000"/>
          </a:xfrm>
        </p:grpSpPr>
        <p:sp>
          <p:nvSpPr>
            <p:cNvPr id="7" name="pill90">
              <a:extLst>
                <a:ext uri="{FF2B5EF4-FFF2-40B4-BE49-F238E27FC236}">
                  <a16:creationId xmlns:a16="http://schemas.microsoft.com/office/drawing/2014/main" id="{8F4F6C05-FB1B-0C86-7FF6-5035963D042E}"/>
                </a:ext>
              </a:extLst>
            </p:cNvPr>
            <p:cNvSpPr/>
            <p:nvPr/>
          </p:nvSpPr>
          <p:spPr>
            <a:xfrm>
              <a:off x="7930000" y="5195331"/>
              <a:ext cx="2350001" cy="560000"/>
            </a:xfrm>
            <a:prstGeom prst="roundRect">
              <a:avLst>
                <a:gd name="adj" fmla="val 30000"/>
              </a:avLst>
            </a:prstGeom>
            <a:solidFill>
              <a:srgbClr val="0460A9"/>
            </a:solidFill>
            <a:ln w="9525">
              <a:solidFill>
                <a:srgbClr val="D6E2F0"/>
              </a:solidFill>
            </a:ln>
          </p:spPr>
          <p:txBody>
            <a:bodyPr lIns="91440" tIns="0" rIns="45720" bIns="0" anchor="ctr"/>
            <a:lstStyle/>
            <a:p>
              <a:pPr algn="ctr">
                <a:buNone/>
              </a:pPr>
              <a:r>
                <a:rPr lang="en-US" sz="1400" b="1" dirty="0">
                  <a:solidFill>
                    <a:schemeClr val="bg1"/>
                  </a:solidFill>
                  <a:latin typeface="Arial"/>
                  <a:cs typeface="Arial"/>
                </a:rPr>
                <a:t>4 Runtime</a:t>
              </a:r>
            </a:p>
          </p:txBody>
        </p:sp>
        <p:sp>
          <p:nvSpPr>
            <p:cNvPr id="9" name="pill91">
              <a:extLst>
                <a:ext uri="{FF2B5EF4-FFF2-40B4-BE49-F238E27FC236}">
                  <a16:creationId xmlns:a16="http://schemas.microsoft.com/office/drawing/2014/main" id="{1B0BDD10-D28C-EB4E-A7DE-0B486F97899F}"/>
                </a:ext>
              </a:extLst>
            </p:cNvPr>
            <p:cNvSpPr/>
            <p:nvPr/>
          </p:nvSpPr>
          <p:spPr>
            <a:xfrm>
              <a:off x="880000" y="5195331"/>
              <a:ext cx="2350000" cy="560000"/>
            </a:xfrm>
            <a:prstGeom prst="roundRect">
              <a:avLst>
                <a:gd name="adj" fmla="val 30000"/>
              </a:avLst>
            </a:prstGeom>
            <a:solidFill>
              <a:srgbClr val="F0F3F7"/>
            </a:solidFill>
          </p:spPr>
          <p:txBody>
            <a:bodyPr lIns="91440" tIns="0" rIns="45720" bIns="0" anchor="ctr"/>
            <a:lstStyle/>
            <a:p>
              <a:pPr algn="ctr">
                <a:buNone/>
              </a:pPr>
              <a:r>
                <a:rPr lang="en-US" sz="1400" dirty="0">
                  <a:solidFill>
                    <a:schemeClr val="accent4"/>
                  </a:solidFill>
                  <a:latin typeface="Arial"/>
                  <a:cs typeface="Arial"/>
                </a:rPr>
                <a:t>1 Reliability</a:t>
              </a:r>
            </a:p>
          </p:txBody>
        </p:sp>
        <p:sp>
          <p:nvSpPr>
            <p:cNvPr id="10" name="pill92">
              <a:extLst>
                <a:ext uri="{FF2B5EF4-FFF2-40B4-BE49-F238E27FC236}">
                  <a16:creationId xmlns:a16="http://schemas.microsoft.com/office/drawing/2014/main" id="{77D8F1FA-6EE1-6F9C-9F55-0367105AFEBD}"/>
                </a:ext>
              </a:extLst>
            </p:cNvPr>
            <p:cNvSpPr/>
            <p:nvPr/>
          </p:nvSpPr>
          <p:spPr>
            <a:xfrm>
              <a:off x="3229999" y="5195331"/>
              <a:ext cx="2350001"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400" b="0" dirty="0">
                  <a:solidFill>
                    <a:srgbClr val="6B7683"/>
                  </a:solidFill>
                  <a:latin typeface="Arial"/>
                  <a:cs typeface="Arial"/>
                </a:rPr>
                <a:t>2 Power</a:t>
              </a:r>
            </a:p>
          </p:txBody>
        </p:sp>
        <p:sp>
          <p:nvSpPr>
            <p:cNvPr id="11" name="pill93">
              <a:extLst>
                <a:ext uri="{FF2B5EF4-FFF2-40B4-BE49-F238E27FC236}">
                  <a16:creationId xmlns:a16="http://schemas.microsoft.com/office/drawing/2014/main" id="{433DA86E-9D29-3638-F6EB-71A1AE67A5B5}"/>
                </a:ext>
              </a:extLst>
            </p:cNvPr>
            <p:cNvSpPr/>
            <p:nvPr/>
          </p:nvSpPr>
          <p:spPr>
            <a:xfrm>
              <a:off x="5580000" y="5195331"/>
              <a:ext cx="2349999"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400" b="0" dirty="0">
                  <a:solidFill>
                    <a:srgbClr val="6B7683"/>
                  </a:solidFill>
                  <a:latin typeface="Arial"/>
                  <a:cs typeface="Arial"/>
                </a:rPr>
                <a:t>3 Accuracy</a:t>
              </a:r>
            </a:p>
          </p:txBody>
        </p:sp>
      </p:grpSp>
      <p:sp>
        <p:nvSpPr>
          <p:cNvPr id="15" name="TextBox 14">
            <a:extLst>
              <a:ext uri="{FF2B5EF4-FFF2-40B4-BE49-F238E27FC236}">
                <a16:creationId xmlns:a16="http://schemas.microsoft.com/office/drawing/2014/main" id="{7F201BCF-FEEA-12EC-F088-A93BFC966709}"/>
              </a:ext>
            </a:extLst>
          </p:cNvPr>
          <p:cNvSpPr txBox="1"/>
          <p:nvPr/>
        </p:nvSpPr>
        <p:spPr>
          <a:xfrm>
            <a:off x="4320778" y="1673633"/>
            <a:ext cx="1269036" cy="646331"/>
          </a:xfrm>
          <a:prstGeom prst="rect">
            <a:avLst/>
          </a:prstGeom>
          <a:noFill/>
        </p:spPr>
        <p:txBody>
          <a:bodyPr wrap="square">
            <a:spAutoFit/>
          </a:bodyPr>
          <a:lstStyle/>
          <a:p>
            <a:r>
              <a:rPr lang="en-US" sz="1800" b="1" dirty="0">
                <a:solidFill>
                  <a:srgbClr val="4D4D4D">
                    <a:alpha val="100000"/>
                  </a:srgbClr>
                </a:solidFill>
                <a:cs typeface="Arial"/>
                <a:sym typeface="Arial"/>
              </a:rPr>
              <a:t> Log Scale</a:t>
            </a:r>
            <a:endParaRPr lang="en-US" sz="1800" b="1" dirty="0">
              <a:solidFill>
                <a:srgbClr val="4D4D4D">
                  <a:alpha val="100000"/>
                </a:srgbClr>
              </a:solidFill>
              <a:cs typeface="Arial"/>
            </a:endParaRPr>
          </a:p>
        </p:txBody>
      </p:sp>
      <p:sp>
        <p:nvSpPr>
          <p:cNvPr id="13" name="TextBox 12">
            <a:extLst>
              <a:ext uri="{FF2B5EF4-FFF2-40B4-BE49-F238E27FC236}">
                <a16:creationId xmlns:a16="http://schemas.microsoft.com/office/drawing/2014/main" id="{3E77879C-2CF3-6CAA-4B22-C6CD8F4C2B48}"/>
              </a:ext>
            </a:extLst>
          </p:cNvPr>
          <p:cNvSpPr txBox="1"/>
          <p:nvPr/>
        </p:nvSpPr>
        <p:spPr>
          <a:xfrm>
            <a:off x="566928" y="1920684"/>
            <a:ext cx="4719511" cy="1323439"/>
          </a:xfrm>
          <a:prstGeom prst="rect">
            <a:avLst/>
          </a:prstGeom>
          <a:noFill/>
        </p:spPr>
        <p:txBody>
          <a:bodyPr wrap="square">
            <a:spAutoFit/>
          </a:bodyPr>
          <a:lstStyle/>
          <a:p>
            <a:r>
              <a:rPr lang="en-US" sz="2000" dirty="0">
                <a:solidFill>
                  <a:srgbClr val="4D4D4D">
                    <a:alpha val="100000"/>
                  </a:srgbClr>
                </a:solidFill>
                <a:cs typeface="Arial"/>
              </a:rPr>
              <a:t>Run time:</a:t>
            </a:r>
          </a:p>
          <a:p>
            <a:pPr marL="342900" indent="-342900">
              <a:buFont typeface="Arial" panose="020B0604020202020204" pitchFamily="34" charset="0"/>
              <a:buChar char="•"/>
            </a:pPr>
            <a:r>
              <a:rPr lang="en-US" sz="2000" dirty="0">
                <a:solidFill>
                  <a:srgbClr val="4D4D4D">
                    <a:alpha val="100000"/>
                  </a:srgbClr>
                </a:solidFill>
                <a:cs typeface="Arial"/>
              </a:rPr>
              <a:t>VAE &lt;&lt; nlmixr2 &lt; NONMEM</a:t>
            </a:r>
          </a:p>
          <a:p>
            <a:pPr marL="342900" indent="-342900">
              <a:buFont typeface="Arial" panose="020B0604020202020204" pitchFamily="34" charset="0"/>
              <a:buChar char="•"/>
            </a:pPr>
            <a:r>
              <a:rPr lang="en-US" sz="2000" dirty="0">
                <a:solidFill>
                  <a:srgbClr val="4D4D4D">
                    <a:alpha val="100000"/>
                  </a:srgbClr>
                </a:solidFill>
                <a:cs typeface="Arial"/>
              </a:rPr>
              <a:t>Analytic &lt;&lt; ODE</a:t>
            </a:r>
          </a:p>
          <a:p>
            <a:pPr marL="285750" indent="-285750">
              <a:buFont typeface="Arial" panose="020B0604020202020204" pitchFamily="34" charset="0"/>
              <a:buChar char="•"/>
            </a:pPr>
            <a:r>
              <a:rPr lang="en-US" sz="2000" dirty="0">
                <a:solidFill>
                  <a:srgbClr val="4D4D4D">
                    <a:alpha val="100000"/>
                  </a:srgbClr>
                </a:solidFill>
                <a:cs typeface="Arial"/>
              </a:rPr>
              <a:t>sample size</a:t>
            </a:r>
            <a:r>
              <a:rPr lang="en-US" sz="2000" dirty="0">
                <a:solidFill>
                  <a:srgbClr val="4D4D4D">
                    <a:alpha val="100000"/>
                  </a:srgbClr>
                </a:solidFill>
                <a:cs typeface="Arial"/>
                <a:sym typeface="Arial"/>
              </a:rPr>
              <a:t> ↓, runtime ↓</a:t>
            </a:r>
            <a:endParaRPr lang="en-US" sz="2000" dirty="0">
              <a:solidFill>
                <a:srgbClr val="4D4D4D">
                  <a:alpha val="100000"/>
                </a:srgbClr>
              </a:solidFill>
              <a:cs typeface="Arial"/>
            </a:endParaRPr>
          </a:p>
        </p:txBody>
      </p:sp>
    </p:spTree>
    <p:extLst>
      <p:ext uri="{BB962C8B-B14F-4D97-AF65-F5344CB8AC3E}">
        <p14:creationId xmlns:p14="http://schemas.microsoft.com/office/powerpoint/2010/main" val="1612243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5610DED-2B5C-A074-D18E-AC8CC0067228}"/>
              </a:ext>
            </a:extLst>
          </p:cNvPr>
          <p:cNvSpPr>
            <a:spLocks noGrp="1"/>
          </p:cNvSpPr>
          <p:nvPr>
            <p:ph type="sldNum" sz="quarter" idx="12"/>
          </p:nvPr>
        </p:nvSpPr>
        <p:spPr/>
        <p:txBody>
          <a:bodyPr/>
          <a:lstStyle/>
          <a:p>
            <a:fld id="{1EDD9F3E-8BFD-4E3C-98D1-767322780FDD}" type="slidenum">
              <a:rPr lang="en-US" noProof="0" smtClean="0"/>
              <a:t>25</a:t>
            </a:fld>
            <a:endParaRPr lang="en-US" noProof="0"/>
          </a:p>
        </p:txBody>
      </p:sp>
      <p:sp>
        <p:nvSpPr>
          <p:cNvPr id="6" name="Content Placeholder 1">
            <a:extLst>
              <a:ext uri="{FF2B5EF4-FFF2-40B4-BE49-F238E27FC236}">
                <a16:creationId xmlns:a16="http://schemas.microsoft.com/office/drawing/2014/main" id="{5A31664D-4F13-186B-E796-67FD64E6006E}"/>
              </a:ext>
            </a:extLst>
          </p:cNvPr>
          <p:cNvSpPr txBox="1">
            <a:spLocks/>
          </p:cNvSpPr>
          <p:nvPr/>
        </p:nvSpPr>
        <p:spPr bwMode="gray">
          <a:xfrm>
            <a:off x="132419" y="359504"/>
            <a:ext cx="11927161" cy="369332"/>
          </a:xfrm>
          <a:prstGeom prst="rect">
            <a:avLst/>
          </a:prstGeom>
        </p:spPr>
        <p:txBody>
          <a:bodyPr vert="horz" wrap="square" lIns="0" tIns="0" rIns="0" bIns="0" rtlCol="0" anchor="t">
            <a:spAutoFit/>
          </a:bodyPr>
          <a:lstStyle/>
          <a:p>
            <a:pPr algn="l">
              <a:buNone/>
            </a:pPr>
            <a:r>
              <a:rPr lang="en-US" sz="2400" b="1" dirty="0">
                <a:solidFill>
                  <a:srgbClr val="0460A9"/>
                </a:solidFill>
                <a:latin typeface="Arial"/>
                <a:cs typeface="Arial"/>
              </a:rPr>
              <a:t>Scorecard: nlmixr2 –SCM matching NONMEM, with VAE being substantially faster</a:t>
            </a:r>
          </a:p>
        </p:txBody>
      </p:sp>
      <p:sp>
        <p:nvSpPr>
          <p:cNvPr id="20" name="TextBox 19">
            <a:extLst>
              <a:ext uri="{FF2B5EF4-FFF2-40B4-BE49-F238E27FC236}">
                <a16:creationId xmlns:a16="http://schemas.microsoft.com/office/drawing/2014/main" id="{F4EDBBD7-18EA-68B8-87C0-82AB38B80357}"/>
              </a:ext>
            </a:extLst>
          </p:cNvPr>
          <p:cNvSpPr txBox="1"/>
          <p:nvPr/>
        </p:nvSpPr>
        <p:spPr>
          <a:xfrm>
            <a:off x="1193753" y="5512327"/>
            <a:ext cx="11548595" cy="246221"/>
          </a:xfrm>
          <a:prstGeom prst="rect">
            <a:avLst/>
          </a:prstGeom>
          <a:noFill/>
        </p:spPr>
        <p:txBody>
          <a:bodyPr wrap="square" lIns="0" tIns="0" rIns="0" bIns="0" rtlCol="0">
            <a:spAutoFit/>
          </a:bodyPr>
          <a:lstStyle/>
          <a:p>
            <a:pPr>
              <a:spcBef>
                <a:spcPts val="800"/>
              </a:spcBef>
            </a:pPr>
            <a:r>
              <a:rPr lang="en-US" sz="1600" dirty="0">
                <a:solidFill>
                  <a:schemeClr val="bg2">
                    <a:lumMod val="50000"/>
                  </a:schemeClr>
                </a:solidFill>
              </a:rPr>
              <a:t>Number is median over 16 scenarios (natural units), Colored by relative change vs </a:t>
            </a:r>
            <a:r>
              <a:rPr lang="en-US" sz="1600" dirty="0" err="1">
                <a:solidFill>
                  <a:schemeClr val="bg2">
                    <a:lumMod val="50000"/>
                  </a:schemeClr>
                </a:solidFill>
              </a:rPr>
              <a:t>PsN</a:t>
            </a:r>
            <a:r>
              <a:rPr lang="en-US" sz="1600" dirty="0">
                <a:solidFill>
                  <a:schemeClr val="bg2">
                    <a:lumMod val="50000"/>
                  </a:schemeClr>
                </a:solidFill>
              </a:rPr>
              <a:t>-SCM (method-</a:t>
            </a:r>
            <a:r>
              <a:rPr lang="en-US" sz="1600" dirty="0" err="1">
                <a:solidFill>
                  <a:schemeClr val="bg2">
                    <a:lumMod val="50000"/>
                  </a:schemeClr>
                </a:solidFill>
              </a:rPr>
              <a:t>PsN</a:t>
            </a:r>
            <a:r>
              <a:rPr lang="en-US" sz="1600" dirty="0">
                <a:solidFill>
                  <a:schemeClr val="bg2">
                    <a:lumMod val="50000"/>
                  </a:schemeClr>
                </a:solidFill>
              </a:rPr>
              <a:t>)/</a:t>
            </a:r>
            <a:r>
              <a:rPr lang="en-US" sz="1600" dirty="0" err="1">
                <a:solidFill>
                  <a:schemeClr val="bg2">
                    <a:lumMod val="50000"/>
                  </a:schemeClr>
                </a:solidFill>
              </a:rPr>
              <a:t>PsN</a:t>
            </a:r>
            <a:r>
              <a:rPr lang="en-US" sz="1600" dirty="0">
                <a:solidFill>
                  <a:schemeClr val="bg2">
                    <a:lumMod val="50000"/>
                  </a:schemeClr>
                </a:solidFill>
              </a:rPr>
              <a:t> </a:t>
            </a:r>
          </a:p>
        </p:txBody>
      </p:sp>
      <p:sp>
        <p:nvSpPr>
          <p:cNvPr id="24" name="TextBox 23">
            <a:extLst>
              <a:ext uri="{FF2B5EF4-FFF2-40B4-BE49-F238E27FC236}">
                <a16:creationId xmlns:a16="http://schemas.microsoft.com/office/drawing/2014/main" id="{166159B5-01D7-486F-041B-066B45C3D575}"/>
              </a:ext>
            </a:extLst>
          </p:cNvPr>
          <p:cNvSpPr txBox="1"/>
          <p:nvPr/>
        </p:nvSpPr>
        <p:spPr>
          <a:xfrm>
            <a:off x="264839" y="5816798"/>
            <a:ext cx="12263958" cy="246221"/>
          </a:xfrm>
          <a:prstGeom prst="rect">
            <a:avLst/>
          </a:prstGeom>
          <a:noFill/>
        </p:spPr>
        <p:txBody>
          <a:bodyPr wrap="square" lIns="0" tIns="0" rIns="0" bIns="0" rtlCol="0">
            <a:spAutoFit/>
          </a:bodyPr>
          <a:lstStyle/>
          <a:p>
            <a:pPr>
              <a:spcBef>
                <a:spcPts val="800"/>
              </a:spcBef>
            </a:pPr>
            <a:r>
              <a:rPr lang="en-US" sz="1600" dirty="0">
                <a:solidFill>
                  <a:schemeClr val="bg2">
                    <a:lumMod val="50000"/>
                  </a:schemeClr>
                </a:solidFill>
              </a:rPr>
              <a:t>***statistically significant </a:t>
            </a:r>
            <a:r>
              <a:rPr lang="en-US" sz="1600" dirty="0" err="1">
                <a:solidFill>
                  <a:schemeClr val="bg2">
                    <a:lumMod val="50000"/>
                  </a:schemeClr>
                </a:solidFill>
              </a:rPr>
              <a:t>Beta_method</a:t>
            </a:r>
            <a:r>
              <a:rPr lang="en-US" sz="1600" dirty="0">
                <a:solidFill>
                  <a:schemeClr val="bg2">
                    <a:lumMod val="50000"/>
                  </a:schemeClr>
                </a:solidFill>
              </a:rPr>
              <a:t> ≠ 0 &amp; meaningfully different;  ≈, statistically significant but not meaningfully different (&lt;±10%)</a:t>
            </a:r>
          </a:p>
        </p:txBody>
      </p:sp>
      <p:grpSp>
        <p:nvGrpSpPr>
          <p:cNvPr id="7" name="Group 6">
            <a:extLst>
              <a:ext uri="{FF2B5EF4-FFF2-40B4-BE49-F238E27FC236}">
                <a16:creationId xmlns:a16="http://schemas.microsoft.com/office/drawing/2014/main" id="{B7B3F9C1-CA1D-51DB-B350-1205F89C640A}"/>
              </a:ext>
            </a:extLst>
          </p:cNvPr>
          <p:cNvGrpSpPr/>
          <p:nvPr/>
        </p:nvGrpSpPr>
        <p:grpSpPr>
          <a:xfrm>
            <a:off x="1585640" y="1027785"/>
            <a:ext cx="8462276" cy="4185593"/>
            <a:chOff x="1095782" y="1060857"/>
            <a:chExt cx="8462276" cy="4185593"/>
          </a:xfrm>
        </p:grpSpPr>
        <p:pic>
          <p:nvPicPr>
            <p:cNvPr id="3" name="Picture 2">
              <a:extLst>
                <a:ext uri="{FF2B5EF4-FFF2-40B4-BE49-F238E27FC236}">
                  <a16:creationId xmlns:a16="http://schemas.microsoft.com/office/drawing/2014/main" id="{9AB31B41-40C3-448D-31E2-DD6E2A746B42}"/>
                </a:ext>
              </a:extLst>
            </p:cNvPr>
            <p:cNvPicPr>
              <a:picLocks noChangeAspect="1"/>
            </p:cNvPicPr>
            <p:nvPr/>
          </p:nvPicPr>
          <p:blipFill>
            <a:blip r:embed="rId3"/>
            <a:srcRect l="58167" b="6337"/>
            <a:stretch>
              <a:fillRect/>
            </a:stretch>
          </p:blipFill>
          <p:spPr>
            <a:xfrm>
              <a:off x="5660572" y="1060857"/>
              <a:ext cx="3897486" cy="4185593"/>
            </a:xfrm>
            <a:prstGeom prst="rect">
              <a:avLst/>
            </a:prstGeom>
          </p:spPr>
        </p:pic>
        <p:pic>
          <p:nvPicPr>
            <p:cNvPr id="4" name="Picture 3">
              <a:extLst>
                <a:ext uri="{FF2B5EF4-FFF2-40B4-BE49-F238E27FC236}">
                  <a16:creationId xmlns:a16="http://schemas.microsoft.com/office/drawing/2014/main" id="{4CD5CD95-031E-AABC-B9C8-CA0052863A4B}"/>
                </a:ext>
              </a:extLst>
            </p:cNvPr>
            <p:cNvPicPr>
              <a:picLocks noChangeAspect="1"/>
            </p:cNvPicPr>
            <p:nvPr/>
          </p:nvPicPr>
          <p:blipFill>
            <a:blip r:embed="rId3"/>
            <a:srcRect l="1" r="50946" b="6337"/>
            <a:stretch>
              <a:fillRect/>
            </a:stretch>
          </p:blipFill>
          <p:spPr>
            <a:xfrm>
              <a:off x="1095782" y="1060857"/>
              <a:ext cx="4570233" cy="4185593"/>
            </a:xfrm>
            <a:prstGeom prst="rect">
              <a:avLst/>
            </a:prstGeom>
          </p:spPr>
        </p:pic>
      </p:grpSp>
    </p:spTree>
    <p:extLst>
      <p:ext uri="{BB962C8B-B14F-4D97-AF65-F5344CB8AC3E}">
        <p14:creationId xmlns:p14="http://schemas.microsoft.com/office/powerpoint/2010/main" val="31398037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84"/>
          <p:cNvSpPr txBox="1"/>
          <p:nvPr/>
        </p:nvSpPr>
        <p:spPr>
          <a:xfrm>
            <a:off x="710000" y="4180000"/>
            <a:ext cx="8600000" cy="520000"/>
          </a:xfrm>
          <a:prstGeom prst="rect">
            <a:avLst/>
          </a:prstGeom>
          <a:noFill/>
        </p:spPr>
        <p:txBody>
          <a:bodyPr wrap="square" lIns="0" tIns="0" rIns="0" bIns="0" anchor="t"/>
          <a:lstStyle/>
          <a:p>
            <a:pPr algn="l">
              <a:buNone/>
            </a:pPr>
            <a:endParaRPr lang="en-US" sz="1650" b="0" dirty="0">
              <a:solidFill>
                <a:srgbClr val="6B7683"/>
              </a:solidFill>
              <a:latin typeface="Arial"/>
              <a:cs typeface="Arial"/>
            </a:endParaRPr>
          </a:p>
        </p:txBody>
      </p:sp>
      <p:grpSp>
        <p:nvGrpSpPr>
          <p:cNvPr id="7" name="Group 6">
            <a:extLst>
              <a:ext uri="{FF2B5EF4-FFF2-40B4-BE49-F238E27FC236}">
                <a16:creationId xmlns:a16="http://schemas.microsoft.com/office/drawing/2014/main" id="{F0CDB2F0-804D-6F43-00EE-2AB318EE981E}"/>
              </a:ext>
            </a:extLst>
          </p:cNvPr>
          <p:cNvGrpSpPr/>
          <p:nvPr/>
        </p:nvGrpSpPr>
        <p:grpSpPr>
          <a:xfrm>
            <a:off x="2496916" y="6130000"/>
            <a:ext cx="8600000" cy="560000"/>
            <a:chOff x="700000" y="5150000"/>
            <a:chExt cx="9400000" cy="560000"/>
          </a:xfrm>
        </p:grpSpPr>
        <p:sp>
          <p:nvSpPr>
            <p:cNvPr id="90" name="pill90"/>
            <p:cNvSpPr/>
            <p:nvPr/>
          </p:nvSpPr>
          <p:spPr>
            <a:xfrm>
              <a:off x="700000" y="5150000"/>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250" b="0" dirty="0">
                  <a:solidFill>
                    <a:srgbClr val="6B7683"/>
                  </a:solidFill>
                  <a:latin typeface="Arial"/>
                  <a:cs typeface="Arial"/>
                </a:rPr>
                <a:t>1  Background</a:t>
              </a:r>
            </a:p>
          </p:txBody>
        </p:sp>
        <p:sp>
          <p:nvSpPr>
            <p:cNvPr id="91" name="pill91"/>
            <p:cNvSpPr/>
            <p:nvPr/>
          </p:nvSpPr>
          <p:spPr>
            <a:xfrm>
              <a:off x="3050000" y="5150000"/>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250" b="0" dirty="0">
                  <a:solidFill>
                    <a:srgbClr val="6B7683"/>
                  </a:solidFill>
                  <a:latin typeface="Arial"/>
                  <a:cs typeface="Arial"/>
                </a:rPr>
                <a:t>2  Methods</a:t>
              </a:r>
            </a:p>
          </p:txBody>
        </p:sp>
        <p:sp>
          <p:nvSpPr>
            <p:cNvPr id="92" name="pill92"/>
            <p:cNvSpPr/>
            <p:nvPr/>
          </p:nvSpPr>
          <p:spPr>
            <a:xfrm>
              <a:off x="5400000" y="5150000"/>
              <a:ext cx="2350000" cy="560000"/>
            </a:xfrm>
            <a:prstGeom prst="roundRect">
              <a:avLst>
                <a:gd name="adj" fmla="val 30000"/>
              </a:avLst>
            </a:prstGeom>
            <a:solidFill>
              <a:srgbClr val="F0F3F7"/>
            </a:solidFill>
            <a:ln w="9525">
              <a:solidFill>
                <a:srgbClr val="D6E2F0"/>
              </a:solidFill>
            </a:ln>
          </p:spPr>
          <p:txBody>
            <a:bodyPr lIns="91440" tIns="0" rIns="45720" bIns="0" anchor="ctr"/>
            <a:lstStyle/>
            <a:p>
              <a:pPr algn="ctr">
                <a:buNone/>
              </a:pPr>
              <a:r>
                <a:rPr lang="en-US" sz="1250" b="0" dirty="0">
                  <a:solidFill>
                    <a:srgbClr val="6B7683"/>
                  </a:solidFill>
                  <a:latin typeface="Arial"/>
                  <a:cs typeface="Arial"/>
                </a:rPr>
                <a:t>3  Results</a:t>
              </a:r>
            </a:p>
          </p:txBody>
        </p:sp>
        <p:sp>
          <p:nvSpPr>
            <p:cNvPr id="93" name="pill93"/>
            <p:cNvSpPr/>
            <p:nvPr/>
          </p:nvSpPr>
          <p:spPr>
            <a:xfrm>
              <a:off x="7750000" y="5150000"/>
              <a:ext cx="2350000" cy="560000"/>
            </a:xfrm>
            <a:prstGeom prst="roundRect">
              <a:avLst>
                <a:gd name="adj" fmla="val 30000"/>
              </a:avLst>
            </a:prstGeom>
            <a:solidFill>
              <a:srgbClr val="0460A9"/>
            </a:solidFill>
          </p:spPr>
          <p:txBody>
            <a:bodyPr lIns="91440" tIns="0" rIns="45720" bIns="0" anchor="ctr"/>
            <a:lstStyle/>
            <a:p>
              <a:pPr algn="ctr">
                <a:buNone/>
              </a:pPr>
              <a:r>
                <a:rPr lang="en-US" sz="1250" b="1" dirty="0">
                  <a:solidFill>
                    <a:srgbClr val="FFFFFF"/>
                  </a:solidFill>
                  <a:latin typeface="Arial"/>
                  <a:cs typeface="Arial"/>
                </a:rPr>
                <a:t>4  Discussion</a:t>
              </a:r>
            </a:p>
          </p:txBody>
        </p:sp>
      </p:gr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38AE6FE7-CBD0-4E77-961F-30680C7C68F4}" type="slidenum">
              <a:rPr lang="en-US" sz="1000">
                <a:solidFill>
                  <a:srgbClr val="8A8A8A"/>
                </a:solidFill>
                <a:latin typeface="Arial"/>
              </a:rPr>
              <a:t>26</a:t>
            </a:fld>
            <a:endParaRPr lang="en-US" sz="1000">
              <a:solidFill>
                <a:srgbClr val="8A8A8A"/>
              </a:solidFill>
              <a:latin typeface="Arial"/>
            </a:endParaRPr>
          </a:p>
        </p:txBody>
      </p:sp>
      <p:pic>
        <p:nvPicPr>
          <p:cNvPr id="6" name="Picture 5">
            <a:extLst>
              <a:ext uri="{FF2B5EF4-FFF2-40B4-BE49-F238E27FC236}">
                <a16:creationId xmlns:a16="http://schemas.microsoft.com/office/drawing/2014/main" id="{278302E2-BFBD-6A1B-9983-DF13787EB25E}"/>
              </a:ext>
            </a:extLst>
          </p:cNvPr>
          <p:cNvPicPr>
            <a:picLocks noChangeAspect="1"/>
          </p:cNvPicPr>
          <p:nvPr/>
        </p:nvPicPr>
        <p:blipFill>
          <a:blip r:embed="rId3"/>
          <a:srcRect l="4513" t="8270" r="5002" b="17996"/>
          <a:stretch>
            <a:fillRect/>
          </a:stretch>
        </p:blipFill>
        <p:spPr>
          <a:xfrm>
            <a:off x="912869" y="503836"/>
            <a:ext cx="9889318" cy="5117576"/>
          </a:xfrm>
          <a:prstGeom prst="rect">
            <a:avLst/>
          </a:prstGeom>
        </p:spPr>
      </p:pic>
    </p:spTree>
    <p:extLst>
      <p:ext uri="{BB962C8B-B14F-4D97-AF65-F5344CB8AC3E}">
        <p14:creationId xmlns:p14="http://schemas.microsoft.com/office/powerpoint/2010/main" val="33174605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260520" y="307892"/>
            <a:ext cx="11670960" cy="443198"/>
          </a:xfrm>
        </p:spPr>
        <p:txBody>
          <a:bodyPr/>
          <a:lstStyle/>
          <a:p>
            <a:r>
              <a:rPr lang="en-US" sz="3200" dirty="0">
                <a:solidFill>
                  <a:srgbClr val="0460A9"/>
                </a:solidFill>
                <a:cs typeface="Arial"/>
              </a:rPr>
              <a:t>Collinearity and Small samples </a:t>
            </a:r>
            <a:r>
              <a:rPr lang="en-US" sz="3200" b="1" dirty="0">
                <a:solidFill>
                  <a:srgbClr val="0460A9"/>
                </a:solidFill>
                <a:latin typeface="Arial"/>
                <a:cs typeface="Arial"/>
              </a:rPr>
              <a:t>remain the main challenges</a:t>
            </a:r>
          </a:p>
        </p:txBody>
      </p:sp>
      <p:sp>
        <p:nvSpPr>
          <p:cNvPr id="3" name="Content Placeholder 2"/>
          <p:cNvSpPr>
            <a:spLocks noGrp="1"/>
          </p:cNvSpPr>
          <p:nvPr>
            <p:ph/>
          </p:nvPr>
        </p:nvSpPr>
        <p:spPr>
          <a:xfrm>
            <a:off x="871637" y="1216315"/>
            <a:ext cx="3108960" cy="64008"/>
          </a:xfrm>
        </p:spPr>
        <p:txBody>
          <a:bodyPr/>
          <a:lstStyle/>
          <a:p>
            <a:pPr marL="0" marR="0" algn="l">
              <a:lnSpc>
                <a:spcPct val="100000"/>
              </a:lnSpc>
              <a:spcBef>
                <a:spcPts val="0"/>
              </a:spcBef>
              <a:spcAft>
                <a:spcPts val="0"/>
              </a:spcAft>
              <a:buNone/>
            </a:pPr>
            <a:r>
              <a:rPr sz="200" b="0" i="0" u="none" strike="noStrike" cap="none">
                <a:solidFill>
                  <a:srgbClr val="000000">
                    <a:alpha val="100000"/>
                  </a:srgbClr>
                </a:solidFill>
                <a:latin typeface="Arial"/>
                <a:cs typeface="Arial"/>
                <a:sym typeface="Arial"/>
              </a:rPr>
              <a:t> </a:t>
            </a:r>
          </a:p>
        </p:txBody>
      </p:sp>
      <p:sp>
        <p:nvSpPr>
          <p:cNvPr id="5" name="Content Placeholder 3">
            <a:extLst>
              <a:ext uri="{FF2B5EF4-FFF2-40B4-BE49-F238E27FC236}">
                <a16:creationId xmlns:a16="http://schemas.microsoft.com/office/drawing/2014/main" id="{94717F29-6E15-2B93-0869-6EBAB6E32BDD}"/>
              </a:ext>
            </a:extLst>
          </p:cNvPr>
          <p:cNvSpPr txBox="1">
            <a:spLocks/>
          </p:cNvSpPr>
          <p:nvPr/>
        </p:nvSpPr>
        <p:spPr bwMode="gray">
          <a:xfrm>
            <a:off x="1463520" y="1372488"/>
            <a:ext cx="8030286" cy="688073"/>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pPr marL="342900" indent="-342900">
              <a:lnSpc>
                <a:spcPct val="105000"/>
              </a:lnSpc>
              <a:spcBef>
                <a:spcPts val="0"/>
              </a:spcBef>
              <a:spcAft>
                <a:spcPts val="500"/>
              </a:spcAft>
              <a:buFont typeface="Wingdings" panose="05000000000000000000" pitchFamily="2" charset="2"/>
              <a:buChar char="v"/>
            </a:pPr>
            <a:r>
              <a:rPr lang="en-US" sz="2000" b="0" dirty="0">
                <a:solidFill>
                  <a:srgbClr val="4D4D4D">
                    <a:alpha val="100000"/>
                  </a:srgbClr>
                </a:solidFill>
                <a:latin typeface="Arial"/>
                <a:cs typeface="Arial"/>
                <a:sym typeface="Arial"/>
              </a:rPr>
              <a:t>Competing shapes + Collinearity confound selection  </a:t>
            </a:r>
          </a:p>
          <a:p>
            <a:pPr>
              <a:lnSpc>
                <a:spcPct val="105000"/>
              </a:lnSpc>
              <a:spcBef>
                <a:spcPts val="0"/>
              </a:spcBef>
              <a:spcAft>
                <a:spcPts val="500"/>
              </a:spcAft>
            </a:pPr>
            <a:r>
              <a:rPr lang="zh-CN" altLang="en-US" sz="2000" b="0" dirty="0">
                <a:solidFill>
                  <a:srgbClr val="4D4D4D">
                    <a:alpha val="100000"/>
                  </a:srgbClr>
                </a:solidFill>
                <a:latin typeface="Arial"/>
                <a:cs typeface="Arial"/>
                <a:sym typeface="Arial"/>
              </a:rPr>
              <a:t>→ </a:t>
            </a:r>
            <a:r>
              <a:rPr lang="en-US" altLang="zh-CN" sz="2000" b="0" dirty="0">
                <a:solidFill>
                  <a:srgbClr val="4D4D4D">
                    <a:alpha val="100000"/>
                  </a:srgbClr>
                </a:solidFill>
                <a:latin typeface="Arial"/>
                <a:cs typeface="Arial"/>
                <a:sym typeface="Arial"/>
              </a:rPr>
              <a:t>Domian knowledge/clinical significance/biological plausibility </a:t>
            </a:r>
            <a:endParaRPr lang="en-US" sz="2000" b="0" dirty="0">
              <a:solidFill>
                <a:srgbClr val="4D4D4D">
                  <a:alpha val="100000"/>
                </a:srgbClr>
              </a:solidFill>
              <a:latin typeface="Arial"/>
              <a:cs typeface="Arial"/>
              <a:sym typeface="Arial"/>
            </a:endParaRPr>
          </a:p>
        </p:txBody>
      </p:sp>
      <p:sp>
        <p:nvSpPr>
          <p:cNvPr id="8" name="Content Placeholder 3">
            <a:extLst>
              <a:ext uri="{FF2B5EF4-FFF2-40B4-BE49-F238E27FC236}">
                <a16:creationId xmlns:a16="http://schemas.microsoft.com/office/drawing/2014/main" id="{EB3C26FD-885A-49D8-91E6-C62021260CFD}"/>
              </a:ext>
            </a:extLst>
          </p:cNvPr>
          <p:cNvSpPr txBox="1">
            <a:spLocks/>
          </p:cNvSpPr>
          <p:nvPr/>
        </p:nvSpPr>
        <p:spPr bwMode="gray">
          <a:xfrm>
            <a:off x="1463520" y="2406588"/>
            <a:ext cx="9128791" cy="688073"/>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pPr marL="342900" indent="-342900">
              <a:lnSpc>
                <a:spcPct val="105000"/>
              </a:lnSpc>
              <a:spcBef>
                <a:spcPts val="0"/>
              </a:spcBef>
              <a:spcAft>
                <a:spcPts val="500"/>
              </a:spcAft>
              <a:buFont typeface="Wingdings" panose="05000000000000000000" pitchFamily="2" charset="2"/>
              <a:buChar char="v"/>
            </a:pPr>
            <a:r>
              <a:rPr lang="en-US" sz="2000" b="0" dirty="0">
                <a:solidFill>
                  <a:srgbClr val="4D4D4D">
                    <a:alpha val="100000"/>
                  </a:srgbClr>
                </a:solidFill>
                <a:latin typeface="Arial"/>
                <a:cs typeface="Arial"/>
                <a:sym typeface="Arial"/>
              </a:rPr>
              <a:t>Small N sharply reduces power </a:t>
            </a:r>
          </a:p>
          <a:p>
            <a:pPr>
              <a:lnSpc>
                <a:spcPct val="105000"/>
              </a:lnSpc>
              <a:spcBef>
                <a:spcPts val="0"/>
              </a:spcBef>
              <a:spcAft>
                <a:spcPts val="500"/>
              </a:spcAft>
            </a:pPr>
            <a:r>
              <a:rPr lang="zh-CN" altLang="en-US" sz="2000" b="0" dirty="0">
                <a:solidFill>
                  <a:srgbClr val="4D4D4D">
                    <a:alpha val="100000"/>
                  </a:srgbClr>
                </a:solidFill>
                <a:cs typeface="Arial"/>
                <a:sym typeface="Arial"/>
              </a:rPr>
              <a:t>→  </a:t>
            </a:r>
            <a:r>
              <a:rPr lang="en-US" sz="2000" b="0" dirty="0">
                <a:solidFill>
                  <a:srgbClr val="4D4D4D">
                    <a:alpha val="100000"/>
                  </a:srgbClr>
                </a:solidFill>
                <a:latin typeface="Arial"/>
                <a:cs typeface="Arial"/>
                <a:sym typeface="Arial"/>
              </a:rPr>
              <a:t>Interpret covariate models cautiously </a:t>
            </a:r>
            <a:r>
              <a:rPr lang="en-US" altLang="zh-CN" sz="2000" b="0" dirty="0">
                <a:solidFill>
                  <a:srgbClr val="4D4D4D">
                    <a:alpha val="100000"/>
                  </a:srgbClr>
                </a:solidFill>
                <a:latin typeface="Arial"/>
                <a:cs typeface="Arial"/>
                <a:sym typeface="Arial"/>
              </a:rPr>
              <a:t>for early phase clinical trials </a:t>
            </a:r>
            <a:endParaRPr lang="en-US" sz="2000" b="0" dirty="0">
              <a:solidFill>
                <a:srgbClr val="4D4D4D">
                  <a:alpha val="100000"/>
                </a:srgbClr>
              </a:solidFill>
              <a:latin typeface="Arial"/>
              <a:cs typeface="Arial"/>
              <a:sym typeface="Arial"/>
            </a:endParaRPr>
          </a:p>
        </p:txBody>
      </p:sp>
      <p:sp>
        <p:nvSpPr>
          <p:cNvPr id="12" name="Content Placeholder 3">
            <a:extLst>
              <a:ext uri="{FF2B5EF4-FFF2-40B4-BE49-F238E27FC236}">
                <a16:creationId xmlns:a16="http://schemas.microsoft.com/office/drawing/2014/main" id="{06D1C9F3-3DA5-3E03-D8A6-AB2EF11D88F8}"/>
              </a:ext>
            </a:extLst>
          </p:cNvPr>
          <p:cNvSpPr txBox="1">
            <a:spLocks/>
          </p:cNvSpPr>
          <p:nvPr/>
        </p:nvSpPr>
        <p:spPr bwMode="gray">
          <a:xfrm>
            <a:off x="1463520" y="3612946"/>
            <a:ext cx="3527819" cy="30078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pPr marL="342900" indent="-342900">
              <a:lnSpc>
                <a:spcPct val="105000"/>
              </a:lnSpc>
              <a:spcBef>
                <a:spcPts val="0"/>
              </a:spcBef>
              <a:spcAft>
                <a:spcPts val="500"/>
              </a:spcAft>
              <a:buFont typeface="Wingdings" panose="05000000000000000000" pitchFamily="2" charset="2"/>
              <a:buChar char="v"/>
            </a:pPr>
            <a:r>
              <a:rPr lang="en-US" sz="2000" b="0" dirty="0">
                <a:solidFill>
                  <a:srgbClr val="4D4D4D">
                    <a:alpha val="100000"/>
                  </a:srgbClr>
                </a:solidFill>
                <a:latin typeface="Arial"/>
                <a:cs typeface="Arial"/>
                <a:sym typeface="Arial"/>
              </a:rPr>
              <a:t>Analytic solution &gt; ODE</a:t>
            </a:r>
          </a:p>
        </p:txBody>
      </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22ED8D28-CF8F-4D8E-BB8C-F9E10229BC27}" type="slidenum">
              <a:rPr lang="en-US" sz="1000">
                <a:solidFill>
                  <a:srgbClr val="8A8A8A"/>
                </a:solidFill>
                <a:latin typeface="Arial"/>
              </a:rPr>
              <a:t>27</a:t>
            </a:fld>
            <a:endParaRPr lang="en-US" sz="1000">
              <a:solidFill>
                <a:srgbClr val="8A8A8A"/>
              </a:solidFill>
              <a:latin typeface="Arial"/>
            </a:endParaRPr>
          </a:p>
        </p:txBody>
      </p:sp>
      <p:sp>
        <p:nvSpPr>
          <p:cNvPr id="15" name="Content Placeholder 3">
            <a:extLst>
              <a:ext uri="{FF2B5EF4-FFF2-40B4-BE49-F238E27FC236}">
                <a16:creationId xmlns:a16="http://schemas.microsoft.com/office/drawing/2014/main" id="{760EA3EC-02F4-65E2-45A0-1CAB1F436FDD}"/>
              </a:ext>
            </a:extLst>
          </p:cNvPr>
          <p:cNvSpPr txBox="1">
            <a:spLocks/>
          </p:cNvSpPr>
          <p:nvPr/>
        </p:nvSpPr>
        <p:spPr bwMode="gray">
          <a:xfrm>
            <a:off x="1463520" y="4378836"/>
            <a:ext cx="7968916" cy="30078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pPr marL="342900" indent="-342900">
              <a:lnSpc>
                <a:spcPct val="105000"/>
              </a:lnSpc>
              <a:spcBef>
                <a:spcPts val="0"/>
              </a:spcBef>
              <a:spcAft>
                <a:spcPts val="500"/>
              </a:spcAft>
              <a:buFont typeface="Wingdings" panose="05000000000000000000" pitchFamily="2" charset="2"/>
              <a:buChar char="v"/>
            </a:pPr>
            <a:r>
              <a:rPr lang="en-US" sz="2000" b="0" dirty="0">
                <a:solidFill>
                  <a:srgbClr val="4D4D4D">
                    <a:alpha val="100000"/>
                  </a:srgbClr>
                </a:solidFill>
                <a:latin typeface="Arial"/>
                <a:cs typeface="Arial"/>
                <a:sym typeface="Arial"/>
              </a:rPr>
              <a:t>Turn on 1D profile-based warm up for complex ODE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151075" y="268272"/>
            <a:ext cx="12173446" cy="443198"/>
          </a:xfrm>
        </p:spPr>
        <p:txBody>
          <a:bodyPr/>
          <a:lstStyle/>
          <a:p>
            <a:pPr algn="l">
              <a:buNone/>
            </a:pPr>
            <a:r>
              <a:rPr lang="en-US" sz="3200" b="1" dirty="0">
                <a:solidFill>
                  <a:srgbClr val="0460A9"/>
                </a:solidFill>
                <a:latin typeface="Arial"/>
                <a:cs typeface="Arial"/>
              </a:rPr>
              <a:t>Open-source nlmixr2 SCM matches/outperforms NONMEM</a:t>
            </a:r>
          </a:p>
        </p:txBody>
      </p:sp>
      <p:sp>
        <p:nvSpPr>
          <p:cNvPr id="3" name="Content Placeholder 2"/>
          <p:cNvSpPr>
            <a:spLocks noGrp="1"/>
          </p:cNvSpPr>
          <p:nvPr>
            <p:ph/>
          </p:nvPr>
        </p:nvSpPr>
        <p:spPr>
          <a:xfrm>
            <a:off x="566928" y="1188720"/>
            <a:ext cx="3108960" cy="64008"/>
          </a:xfrm>
        </p:spPr>
        <p:txBody>
          <a:bodyPr/>
          <a:lstStyle/>
          <a:p>
            <a:pPr marL="0" marR="0" algn="l">
              <a:lnSpc>
                <a:spcPct val="100000"/>
              </a:lnSpc>
              <a:spcBef>
                <a:spcPts val="0"/>
              </a:spcBef>
              <a:spcAft>
                <a:spcPts val="0"/>
              </a:spcAft>
              <a:buNone/>
            </a:pPr>
            <a:r>
              <a:rPr sz="200" b="0" i="0" u="none" strike="noStrike" cap="none">
                <a:solidFill>
                  <a:srgbClr val="000000">
                    <a:alpha val="100000"/>
                  </a:srgbClr>
                </a:solidFill>
                <a:latin typeface="Arial"/>
                <a:cs typeface="Arial"/>
                <a:sym typeface="Arial"/>
              </a:rPr>
              <a:t> </a:t>
            </a:r>
          </a:p>
        </p:txBody>
      </p:sp>
      <p:pic>
        <p:nvPicPr>
          <p:cNvPr id="6" name="Picture 5">
            <a:extLst>
              <a:ext uri="{FF2B5EF4-FFF2-40B4-BE49-F238E27FC236}">
                <a16:creationId xmlns:a16="http://schemas.microsoft.com/office/drawing/2014/main" id="{C65DE3C8-BA6F-6A50-B2A6-73F65B477159}"/>
              </a:ext>
            </a:extLst>
          </p:cNvPr>
          <p:cNvPicPr>
            <a:picLocks noChangeAspect="1"/>
          </p:cNvPicPr>
          <p:nvPr/>
        </p:nvPicPr>
        <p:blipFill>
          <a:blip r:embed="rId3"/>
          <a:stretch>
            <a:fillRect/>
          </a:stretch>
        </p:blipFill>
        <p:spPr>
          <a:xfrm>
            <a:off x="548640" y="2165094"/>
            <a:ext cx="2142579" cy="2142579"/>
          </a:xfrm>
          <a:prstGeom prst="rect">
            <a:avLst/>
          </a:prstGeom>
        </p:spPr>
      </p:pic>
      <p:sp>
        <p:nvSpPr>
          <p:cNvPr id="21" name="TextBox 20">
            <a:extLst>
              <a:ext uri="{FF2B5EF4-FFF2-40B4-BE49-F238E27FC236}">
                <a16:creationId xmlns:a16="http://schemas.microsoft.com/office/drawing/2014/main" id="{D4BA2F97-81B5-694B-9F6E-B1E8971D2A7E}"/>
              </a:ext>
            </a:extLst>
          </p:cNvPr>
          <p:cNvSpPr txBox="1"/>
          <p:nvPr/>
        </p:nvSpPr>
        <p:spPr>
          <a:xfrm>
            <a:off x="2913077" y="1737600"/>
            <a:ext cx="4736435" cy="1128514"/>
          </a:xfrm>
          <a:prstGeom prst="rect">
            <a:avLst/>
          </a:prstGeom>
          <a:noFill/>
        </p:spPr>
        <p:txBody>
          <a:bodyPr wrap="square" lIns="0" tIns="0" rIns="0" bIns="0" rtlCol="0">
            <a:spAutoFit/>
          </a:bodyPr>
          <a:lstStyle/>
          <a:p>
            <a:pPr algn="l">
              <a:spcBef>
                <a:spcPts val="800"/>
              </a:spcBef>
            </a:pPr>
            <a:r>
              <a:rPr lang="en-US" sz="2000" b="1" dirty="0"/>
              <a:t>SCM: </a:t>
            </a:r>
          </a:p>
          <a:p>
            <a:pPr marL="285750" indent="-285750" algn="l">
              <a:spcBef>
                <a:spcPts val="800"/>
              </a:spcBef>
              <a:buFont typeface="Arial" panose="020B0604020202020204" pitchFamily="34" charset="0"/>
              <a:buChar char="•"/>
            </a:pPr>
            <a:r>
              <a:rPr lang="en-US" sz="2000" dirty="0"/>
              <a:t>Comparable power &amp; accuracy</a:t>
            </a:r>
          </a:p>
          <a:p>
            <a:pPr marL="285750" indent="-285750" algn="l">
              <a:spcBef>
                <a:spcPts val="800"/>
              </a:spcBef>
              <a:buFont typeface="Wingdings" panose="05000000000000000000" pitchFamily="2" charset="2"/>
              <a:buChar char="ü"/>
            </a:pPr>
            <a:r>
              <a:rPr lang="en-US" sz="2000" dirty="0"/>
              <a:t>Faster; Better Reliability; Open source</a:t>
            </a:r>
          </a:p>
        </p:txBody>
      </p:sp>
      <p:grpSp>
        <p:nvGrpSpPr>
          <p:cNvPr id="9" name="Group 8">
            <a:extLst>
              <a:ext uri="{FF2B5EF4-FFF2-40B4-BE49-F238E27FC236}">
                <a16:creationId xmlns:a16="http://schemas.microsoft.com/office/drawing/2014/main" id="{5CEE41FE-4C71-D17C-0AEC-13A368DF4CA1}"/>
              </a:ext>
            </a:extLst>
          </p:cNvPr>
          <p:cNvGrpSpPr/>
          <p:nvPr/>
        </p:nvGrpSpPr>
        <p:grpSpPr>
          <a:xfrm>
            <a:off x="3076740" y="3409901"/>
            <a:ext cx="6920394" cy="1494408"/>
            <a:chOff x="3076740" y="3406297"/>
            <a:chExt cx="6920394" cy="1494408"/>
          </a:xfrm>
        </p:grpSpPr>
        <p:sp>
          <p:nvSpPr>
            <p:cNvPr id="24" name="TextBox 23">
              <a:extLst>
                <a:ext uri="{FF2B5EF4-FFF2-40B4-BE49-F238E27FC236}">
                  <a16:creationId xmlns:a16="http://schemas.microsoft.com/office/drawing/2014/main" id="{C772015B-7F9D-1072-7239-9CA8D17DB509}"/>
                </a:ext>
              </a:extLst>
            </p:cNvPr>
            <p:cNvSpPr txBox="1"/>
            <p:nvPr/>
          </p:nvSpPr>
          <p:spPr>
            <a:xfrm>
              <a:off x="3129439" y="3406297"/>
              <a:ext cx="680959" cy="307777"/>
            </a:xfrm>
            <a:prstGeom prst="rect">
              <a:avLst/>
            </a:prstGeom>
            <a:noFill/>
          </p:spPr>
          <p:txBody>
            <a:bodyPr wrap="square" lIns="0" tIns="0" rIns="0" bIns="0" rtlCol="0">
              <a:spAutoFit/>
            </a:bodyPr>
            <a:lstStyle/>
            <a:p>
              <a:pPr algn="l">
                <a:spcBef>
                  <a:spcPts val="800"/>
                </a:spcBef>
              </a:pPr>
              <a:r>
                <a:rPr lang="en-US" sz="2000" b="1" dirty="0"/>
                <a:t>VAE</a:t>
              </a:r>
              <a:r>
                <a:rPr lang="zh-CN" altLang="en-US" sz="2000" b="1" dirty="0"/>
                <a:t>：</a:t>
              </a:r>
              <a:endParaRPr lang="en-US" sz="2000" b="1" dirty="0"/>
            </a:p>
          </p:txBody>
        </p:sp>
        <p:sp>
          <p:nvSpPr>
            <p:cNvPr id="40" name="TextBox 39">
              <a:extLst>
                <a:ext uri="{FF2B5EF4-FFF2-40B4-BE49-F238E27FC236}">
                  <a16:creationId xmlns:a16="http://schemas.microsoft.com/office/drawing/2014/main" id="{A9A36596-6282-1405-5833-A500275AFB0C}"/>
                </a:ext>
              </a:extLst>
            </p:cNvPr>
            <p:cNvSpPr txBox="1"/>
            <p:nvPr/>
          </p:nvSpPr>
          <p:spPr>
            <a:xfrm>
              <a:off x="3076740" y="3772191"/>
              <a:ext cx="6920394" cy="1128514"/>
            </a:xfrm>
            <a:prstGeom prst="rect">
              <a:avLst/>
            </a:prstGeom>
            <a:noFill/>
          </p:spPr>
          <p:txBody>
            <a:bodyPr wrap="square" lIns="0" tIns="0" rIns="0" bIns="0" rtlCol="0">
              <a:spAutoFit/>
            </a:bodyPr>
            <a:lstStyle/>
            <a:p>
              <a:pPr marL="285750" indent="-285750" algn="l">
                <a:spcBef>
                  <a:spcPts val="800"/>
                </a:spcBef>
                <a:buFont typeface="Arial" panose="020B0604020202020204" pitchFamily="34" charset="0"/>
                <a:buChar char="•"/>
              </a:pPr>
              <a:r>
                <a:rPr lang="en-US" sz="2000" dirty="0"/>
                <a:t>Production Estimation</a:t>
              </a:r>
            </a:p>
            <a:p>
              <a:pPr marL="285750" indent="-285750" algn="l">
                <a:spcBef>
                  <a:spcPts val="800"/>
                </a:spcBef>
                <a:buFont typeface="Wingdings" panose="05000000000000000000" pitchFamily="2" charset="2"/>
                <a:buChar char="ü"/>
              </a:pPr>
              <a:r>
                <a:rPr lang="en-US" sz="2000" dirty="0"/>
                <a:t>Extremely Faster; Open source</a:t>
              </a:r>
            </a:p>
            <a:p>
              <a:pPr marL="285750" indent="-285750">
                <a:spcBef>
                  <a:spcPts val="800"/>
                </a:spcBef>
                <a:buFont typeface="Arial" panose="020B0604020202020204" pitchFamily="34" charset="0"/>
                <a:buChar char="•"/>
              </a:pPr>
              <a:r>
                <a:rPr lang="en-US" sz="2000" dirty="0"/>
                <a:t>Comparable power &amp; accuracy for easy covariate space</a:t>
              </a:r>
            </a:p>
          </p:txBody>
        </p:sp>
      </p:gr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155F01BC-7D03-4A13-AD47-AB0D4683490D}" type="slidenum">
              <a:rPr lang="en-US" sz="1000">
                <a:solidFill>
                  <a:srgbClr val="8A8A8A"/>
                </a:solidFill>
                <a:latin typeface="Arial"/>
              </a:rPr>
              <a:t>28</a:t>
            </a:fld>
            <a:endParaRPr lang="en-US" sz="1000">
              <a:solidFill>
                <a:srgbClr val="8A8A8A"/>
              </a:solidFill>
              <a:latin typeface="Arial"/>
            </a:endParaRPr>
          </a:p>
        </p:txBody>
      </p:sp>
      <p:grpSp>
        <p:nvGrpSpPr>
          <p:cNvPr id="7" name="Group 6">
            <a:extLst>
              <a:ext uri="{FF2B5EF4-FFF2-40B4-BE49-F238E27FC236}">
                <a16:creationId xmlns:a16="http://schemas.microsoft.com/office/drawing/2014/main" id="{BE3097AE-A7CE-CD97-0F78-E403891338AB}"/>
              </a:ext>
            </a:extLst>
          </p:cNvPr>
          <p:cNvGrpSpPr/>
          <p:nvPr/>
        </p:nvGrpSpPr>
        <p:grpSpPr>
          <a:xfrm>
            <a:off x="7896014" y="2337744"/>
            <a:ext cx="3747346" cy="1438051"/>
            <a:chOff x="8009334" y="2189289"/>
            <a:chExt cx="3747346" cy="1438051"/>
          </a:xfrm>
        </p:grpSpPr>
        <p:grpSp>
          <p:nvGrpSpPr>
            <p:cNvPr id="35" name="Group 34">
              <a:extLst>
                <a:ext uri="{FF2B5EF4-FFF2-40B4-BE49-F238E27FC236}">
                  <a16:creationId xmlns:a16="http://schemas.microsoft.com/office/drawing/2014/main" id="{1694187F-F2FD-2134-7DD0-05CF50B173D3}"/>
                </a:ext>
              </a:extLst>
            </p:cNvPr>
            <p:cNvGrpSpPr/>
            <p:nvPr/>
          </p:nvGrpSpPr>
          <p:grpSpPr>
            <a:xfrm>
              <a:off x="8009334" y="2512457"/>
              <a:ext cx="3747346" cy="1114883"/>
              <a:chOff x="7812611" y="2315493"/>
              <a:chExt cx="3747346" cy="1114883"/>
            </a:xfrm>
          </p:grpSpPr>
          <p:pic>
            <p:nvPicPr>
              <p:cNvPr id="8" name="Picture 7">
                <a:extLst>
                  <a:ext uri="{FF2B5EF4-FFF2-40B4-BE49-F238E27FC236}">
                    <a16:creationId xmlns:a16="http://schemas.microsoft.com/office/drawing/2014/main" id="{CB618D1B-9951-D07E-3170-9A4330E33AD1}"/>
                  </a:ext>
                </a:extLst>
              </p:cNvPr>
              <p:cNvPicPr>
                <a:picLocks noChangeAspect="1"/>
              </p:cNvPicPr>
              <p:nvPr/>
            </p:nvPicPr>
            <p:blipFill>
              <a:blip r:embed="rId4"/>
              <a:stretch>
                <a:fillRect/>
              </a:stretch>
            </p:blipFill>
            <p:spPr>
              <a:xfrm>
                <a:off x="8689728" y="2315493"/>
                <a:ext cx="2870229" cy="1114883"/>
              </a:xfrm>
              <a:prstGeom prst="rect">
                <a:avLst/>
              </a:prstGeom>
            </p:spPr>
          </p:pic>
          <p:sp>
            <p:nvSpPr>
              <p:cNvPr id="28" name="TextBox 27">
                <a:extLst>
                  <a:ext uri="{FF2B5EF4-FFF2-40B4-BE49-F238E27FC236}">
                    <a16:creationId xmlns:a16="http://schemas.microsoft.com/office/drawing/2014/main" id="{6382830D-F16E-58F8-8519-FA9B71959A95}"/>
                  </a:ext>
                </a:extLst>
              </p:cNvPr>
              <p:cNvSpPr txBox="1"/>
              <p:nvPr/>
            </p:nvSpPr>
            <p:spPr>
              <a:xfrm>
                <a:off x="7812611" y="2680746"/>
                <a:ext cx="680959" cy="276999"/>
              </a:xfrm>
              <a:prstGeom prst="rect">
                <a:avLst/>
              </a:prstGeom>
              <a:noFill/>
            </p:spPr>
            <p:txBody>
              <a:bodyPr wrap="square" lIns="0" tIns="0" rIns="0" bIns="0" rtlCol="0">
                <a:spAutoFit/>
              </a:bodyPr>
              <a:lstStyle/>
              <a:p>
                <a:pPr algn="l">
                  <a:spcBef>
                    <a:spcPts val="800"/>
                  </a:spcBef>
                </a:pPr>
                <a:r>
                  <a:rPr lang="en-US" b="1" dirty="0"/>
                  <a:t>SCM</a:t>
                </a:r>
              </a:p>
            </p:txBody>
          </p:sp>
          <p:cxnSp>
            <p:nvCxnSpPr>
              <p:cNvPr id="33" name="Straight Arrow Connector 32">
                <a:extLst>
                  <a:ext uri="{FF2B5EF4-FFF2-40B4-BE49-F238E27FC236}">
                    <a16:creationId xmlns:a16="http://schemas.microsoft.com/office/drawing/2014/main" id="{AAF1321E-6122-97E4-BD37-770C36B611F0}"/>
                  </a:ext>
                </a:extLst>
              </p:cNvPr>
              <p:cNvCxnSpPr>
                <a:cxnSpLocks/>
              </p:cNvCxnSpPr>
              <p:nvPr/>
            </p:nvCxnSpPr>
            <p:spPr>
              <a:xfrm flipH="1">
                <a:off x="8355607" y="2767987"/>
                <a:ext cx="275926" cy="1095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pic>
          <p:nvPicPr>
            <p:cNvPr id="5" name="Picture 4">
              <a:extLst>
                <a:ext uri="{FF2B5EF4-FFF2-40B4-BE49-F238E27FC236}">
                  <a16:creationId xmlns:a16="http://schemas.microsoft.com/office/drawing/2014/main" id="{0585D550-4BAB-1161-FEBB-0C7D490E4478}"/>
                </a:ext>
              </a:extLst>
            </p:cNvPr>
            <p:cNvPicPr>
              <a:picLocks noChangeAspect="1"/>
            </p:cNvPicPr>
            <p:nvPr/>
          </p:nvPicPr>
          <p:blipFill>
            <a:blip r:embed="rId5"/>
            <a:stretch>
              <a:fillRect/>
            </a:stretch>
          </p:blipFill>
          <p:spPr>
            <a:xfrm>
              <a:off x="9167349" y="2189289"/>
              <a:ext cx="2308431" cy="501486"/>
            </a:xfrm>
            <a:prstGeom prst="rect">
              <a:avLst/>
            </a:prstGeom>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0460A9"/>
                </a:solidFill>
              </a:rPr>
              <a:t>References</a:t>
            </a:r>
          </a:p>
        </p:txBody>
      </p:sp>
      <p:sp>
        <p:nvSpPr>
          <p:cNvPr id="3" name="Text Placeholder 2">
            <a:extLst>
              <a:ext uri="{FF2B5EF4-FFF2-40B4-BE49-F238E27FC236}">
                <a16:creationId xmlns:a16="http://schemas.microsoft.com/office/drawing/2014/main" id="{B52A3527-7FF4-C76E-B720-F7544F72214C}"/>
              </a:ext>
            </a:extLst>
          </p:cNvPr>
          <p:cNvSpPr>
            <a:spLocks noGrp="1"/>
          </p:cNvSpPr>
          <p:nvPr>
            <p:ph type="body" sz="quarter" idx="13"/>
          </p:nvPr>
        </p:nvSpPr>
        <p:spPr>
          <a:xfrm>
            <a:off x="551384" y="975360"/>
            <a:ext cx="11088000" cy="4578544"/>
          </a:xfrm>
        </p:spPr>
        <p:txBody>
          <a:bodyPr/>
          <a:lstStyle/>
          <a:p>
            <a:r>
              <a:rPr lang="en-US" sz="1400" b="0" dirty="0"/>
              <a:t>1.Lane S, Al-</a:t>
            </a:r>
            <a:r>
              <a:rPr lang="en-US" sz="1400" b="0" dirty="0" err="1"/>
              <a:t>Zubiedi</a:t>
            </a:r>
            <a:r>
              <a:rPr lang="en-US" sz="1400" b="0" dirty="0"/>
              <a:t> S, Hatch E, et al. The population pharmacokinetics of R- and S-warfarin: effect of genetic and clinical factors. </a:t>
            </a:r>
            <a:r>
              <a:rPr lang="en-US" sz="1400" b="0" i="1" dirty="0"/>
              <a:t>Br J Clin </a:t>
            </a:r>
            <a:r>
              <a:rPr lang="en-US" sz="1400" b="0" i="1" dirty="0" err="1"/>
              <a:t>Pharmacol</a:t>
            </a:r>
            <a:r>
              <a:rPr lang="en-US" sz="1400" b="0" dirty="0"/>
              <a:t>. 2012;73(1):66-76. doi:10.1111/j.1365-2125.2011.04051.x</a:t>
            </a:r>
          </a:p>
          <a:p>
            <a:r>
              <a:rPr lang="en-US" sz="1400" b="0" dirty="0"/>
              <a:t>2. Ribbing J, Nyberg J, Caster O, Jonsson EN. The lasso--a novel method for predictive covariate model building in nonlinear mixed effects models. </a:t>
            </a:r>
            <a:r>
              <a:rPr lang="en-US" sz="1400" b="0" i="1" dirty="0"/>
              <a:t>J </a:t>
            </a:r>
            <a:r>
              <a:rPr lang="en-US" sz="1400" b="0" i="1" dirty="0" err="1"/>
              <a:t>Pharmacokinet</a:t>
            </a:r>
            <a:r>
              <a:rPr lang="en-US" sz="1400" b="0" i="1" dirty="0"/>
              <a:t> </a:t>
            </a:r>
            <a:r>
              <a:rPr lang="en-US" sz="1400" b="0" i="1" dirty="0" err="1"/>
              <a:t>Pharmacodyn</a:t>
            </a:r>
            <a:r>
              <a:rPr lang="en-US" sz="1400" b="0" dirty="0"/>
              <a:t>. 2007;34(4):485-517. doi:10.1007/s10928-007-9057-1</a:t>
            </a:r>
          </a:p>
          <a:p>
            <a:r>
              <a:rPr lang="en-US" sz="1400" b="0" dirty="0"/>
              <a:t>3. Karlsen M, Khier S, Fabre D, et al. Covariate Model Selection Approaches for Population Pharmacokinetics: A Systematic Review of Existing Methods, From SCM to AI. </a:t>
            </a:r>
            <a:r>
              <a:rPr lang="en-US" sz="1400" b="0" i="1" dirty="0"/>
              <a:t>CPT Pharmacometrics Syst </a:t>
            </a:r>
            <a:r>
              <a:rPr lang="en-US" sz="1400" b="0" i="1" dirty="0" err="1"/>
              <a:t>Pharmacol</a:t>
            </a:r>
            <a:r>
              <a:rPr lang="en-US" sz="1400" b="0" dirty="0"/>
              <a:t>. 2025;14(4):621-639. doi:10.1002/psp4.13306</a:t>
            </a:r>
          </a:p>
          <a:p>
            <a:r>
              <a:rPr lang="en-US" sz="1400" b="0" dirty="0"/>
              <a:t>4. Jonsson EN, Karlsson MO. Automated covariate model building within NONMEM. Pharm Res. 1998;15(9):1463-1468. doi:10.1023/a:1011970125687</a:t>
            </a:r>
          </a:p>
          <a:p>
            <a:r>
              <a:rPr lang="en-US" sz="1400" b="0" dirty="0"/>
              <a:t>5. </a:t>
            </a:r>
            <a:r>
              <a:rPr lang="en-US" sz="1400" b="0" dirty="0" err="1"/>
              <a:t>Rohleff</a:t>
            </a:r>
            <a:r>
              <a:rPr lang="en-US" sz="1400" b="0" dirty="0"/>
              <a:t> J, Bachmann F, Nahum U, et al. Redefining Parameter Estimation and Covariate Selection via Variational Autoencoders: One Run Is All You Need. CPT Pharmacometrics Syst </a:t>
            </a:r>
            <a:r>
              <a:rPr lang="en-US" sz="1400" b="0" dirty="0" err="1"/>
              <a:t>Pharmacol</a:t>
            </a:r>
            <a:r>
              <a:rPr lang="en-US" sz="1400" b="0" dirty="0"/>
              <a:t>. 2025;14(12):2232-2243. doi:10.1002/psp4.70129</a:t>
            </a:r>
          </a:p>
          <a:p>
            <a:r>
              <a:rPr lang="en-US" sz="1400" b="0" dirty="0"/>
              <a:t>6. </a:t>
            </a:r>
            <a:r>
              <a:rPr lang="en-US" sz="1400" b="0" dirty="0" err="1"/>
              <a:t>Ahamadi</a:t>
            </a:r>
            <a:r>
              <a:rPr lang="en-US" sz="1400" b="0" dirty="0"/>
              <a:t> M, </a:t>
            </a:r>
            <a:r>
              <a:rPr lang="en-US" sz="1400" b="0" dirty="0" err="1"/>
              <a:t>Largajolli</a:t>
            </a:r>
            <a:r>
              <a:rPr lang="en-US" sz="1400" b="0" dirty="0"/>
              <a:t> A, Diderichsen PM, et al. Operating characteristics of stepwise covariate selection in </a:t>
            </a:r>
            <a:r>
              <a:rPr lang="en-US" sz="1400" b="0" dirty="0" err="1"/>
              <a:t>pharmacometric</a:t>
            </a:r>
            <a:r>
              <a:rPr lang="en-US" sz="1400" b="0" dirty="0"/>
              <a:t> modeling. J </a:t>
            </a:r>
            <a:r>
              <a:rPr lang="en-US" sz="1400" b="0" dirty="0" err="1"/>
              <a:t>Pharmacokinet</a:t>
            </a:r>
            <a:r>
              <a:rPr lang="en-US" sz="1400" b="0" dirty="0"/>
              <a:t> </a:t>
            </a:r>
            <a:r>
              <a:rPr lang="en-US" sz="1400" b="0" dirty="0" err="1"/>
              <a:t>Pharmacodyn</a:t>
            </a:r>
            <a:r>
              <a:rPr lang="en-US" sz="1400" b="0" dirty="0"/>
              <a:t>. 2019;46(3):273-285. doi:10.1007/s10928-019-09635-6</a:t>
            </a:r>
          </a:p>
          <a:p>
            <a:r>
              <a:rPr lang="en-US" sz="1400" b="0" dirty="0"/>
              <a:t>7. https://github.com/nlmixr2/nlmixr2/blob/main/vignettes/articles/vaeNeonatal.Rmd</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625F3-DB06-577B-3ED0-AA9E5AC3D44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8A6531-0A95-DAB8-FFBE-B912968F143C}"/>
              </a:ext>
            </a:extLst>
          </p:cNvPr>
          <p:cNvSpPr>
            <a:spLocks noGrp="1"/>
          </p:cNvSpPr>
          <p:nvPr>
            <p:ph/>
          </p:nvPr>
        </p:nvSpPr>
        <p:spPr>
          <a:xfrm>
            <a:off x="182880" y="385785"/>
            <a:ext cx="3825240" cy="461665"/>
          </a:xfrm>
        </p:spPr>
        <p:txBody>
          <a:bodyPr/>
          <a:lstStyle/>
          <a:p>
            <a:pPr marL="0" marR="0" algn="ctr">
              <a:lnSpc>
                <a:spcPct val="100000"/>
              </a:lnSpc>
              <a:spcBef>
                <a:spcPts val="0"/>
              </a:spcBef>
              <a:spcAft>
                <a:spcPts val="0"/>
              </a:spcAft>
              <a:buNone/>
            </a:pPr>
            <a:r>
              <a:rPr lang="en-US" sz="3000" dirty="0">
                <a:solidFill>
                  <a:srgbClr val="0460A9"/>
                </a:solidFill>
                <a:sym typeface="Arial"/>
              </a:rPr>
              <a:t>Acknowledgement</a:t>
            </a:r>
            <a:r>
              <a:rPr lang="en-US" sz="2800" dirty="0">
                <a:latin typeface="Arial"/>
                <a:cs typeface="Arial"/>
                <a:sym typeface="Arial"/>
              </a:rPr>
              <a:t> </a:t>
            </a:r>
            <a:endParaRPr sz="2800" b="1" i="0" u="none" strike="noStrike" cap="none" dirty="0">
              <a:latin typeface="Arial"/>
              <a:cs typeface="Arial"/>
              <a:sym typeface="Arial"/>
            </a:endParaRPr>
          </a:p>
        </p:txBody>
      </p:sp>
      <p:sp>
        <p:nvSpPr>
          <p:cNvPr id="2" name="TextBox 1">
            <a:extLst>
              <a:ext uri="{FF2B5EF4-FFF2-40B4-BE49-F238E27FC236}">
                <a16:creationId xmlns:a16="http://schemas.microsoft.com/office/drawing/2014/main" id="{1784EC8A-06A2-1CF6-1021-FDA732BCD4CB}"/>
              </a:ext>
            </a:extLst>
          </p:cNvPr>
          <p:cNvSpPr txBox="1"/>
          <p:nvPr/>
        </p:nvSpPr>
        <p:spPr>
          <a:xfrm>
            <a:off x="1066801" y="1262742"/>
            <a:ext cx="8001000" cy="1949252"/>
          </a:xfrm>
          <a:prstGeom prst="rect">
            <a:avLst/>
          </a:prstGeom>
          <a:noFill/>
        </p:spPr>
        <p:txBody>
          <a:bodyPr wrap="square" lIns="0" tIns="0" rIns="0" bIns="0" rtlCol="0">
            <a:spAutoFit/>
          </a:bodyPr>
          <a:lstStyle/>
          <a:p>
            <a:pPr marL="180000" indent="-180000" algn="l">
              <a:spcBef>
                <a:spcPts val="800"/>
              </a:spcBef>
              <a:buFont typeface="Arial" panose="020B0604020202020204" pitchFamily="34" charset="0"/>
              <a:buChar char="•"/>
            </a:pPr>
            <a:r>
              <a:rPr lang="en-US" sz="2000" dirty="0"/>
              <a:t>Matt Fidler</a:t>
            </a:r>
          </a:p>
          <a:p>
            <a:pPr marL="180000" indent="-180000" algn="l">
              <a:spcBef>
                <a:spcPts val="800"/>
              </a:spcBef>
              <a:buFont typeface="Arial" panose="020B0604020202020204" pitchFamily="34" charset="0"/>
              <a:buChar char="•"/>
            </a:pPr>
            <a:r>
              <a:rPr lang="en-US" sz="2000" dirty="0"/>
              <a:t>Justin Wilkins and the rest nlmixr2 development team</a:t>
            </a:r>
          </a:p>
          <a:p>
            <a:pPr marL="180000" indent="-180000">
              <a:spcBef>
                <a:spcPts val="800"/>
              </a:spcBef>
              <a:buFont typeface="Arial" panose="020B0604020202020204" pitchFamily="34" charset="0"/>
              <a:buChar char="•"/>
            </a:pPr>
            <a:r>
              <a:rPr lang="en-US" sz="2000" dirty="0"/>
              <a:t>PMX, PKS, AQS team</a:t>
            </a:r>
          </a:p>
          <a:p>
            <a:pPr marL="180000" indent="-180000">
              <a:spcBef>
                <a:spcPts val="800"/>
              </a:spcBef>
              <a:buFont typeface="Arial" panose="020B0604020202020204" pitchFamily="34" charset="0"/>
              <a:buChar char="•"/>
            </a:pPr>
            <a:r>
              <a:rPr lang="en-US" sz="2000" dirty="0"/>
              <a:t>Talent acquisition team</a:t>
            </a:r>
          </a:p>
          <a:p>
            <a:pPr marL="180000" indent="-180000" algn="l">
              <a:spcBef>
                <a:spcPts val="800"/>
              </a:spcBef>
              <a:buFont typeface="Arial" panose="020B0604020202020204" pitchFamily="34" charset="0"/>
              <a:buChar char="•"/>
            </a:pPr>
            <a:r>
              <a:rPr lang="en-US" sz="2000" dirty="0"/>
              <a:t>Fellow interns</a:t>
            </a:r>
          </a:p>
        </p:txBody>
      </p:sp>
    </p:spTree>
    <p:extLst>
      <p:ext uri="{BB962C8B-B14F-4D97-AF65-F5344CB8AC3E}">
        <p14:creationId xmlns:p14="http://schemas.microsoft.com/office/powerpoint/2010/main" val="14742449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1BB39-BF47-4F1E-0D61-3A0CFD421864}"/>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2B1DAB3E-1780-9C0E-F9B5-E5DB6F5E78A0}"/>
              </a:ext>
            </a:extLst>
          </p:cNvPr>
          <p:cNvSpPr txBox="1">
            <a:spLocks/>
          </p:cNvSpPr>
          <p:nvPr/>
        </p:nvSpPr>
        <p:spPr bwMode="gray">
          <a:xfrm>
            <a:off x="1689462" y="2161868"/>
            <a:ext cx="8813075" cy="1354217"/>
          </a:xfrm>
          <a:prstGeom prst="rect">
            <a:avLst/>
          </a:prstGeom>
        </p:spPr>
        <p:txBody>
          <a:bodyPr vert="horz" wrap="square" lIns="0" tIns="0" rIns="0" bIns="0" rtlCol="0" anchor="t">
            <a:spAutoFit/>
          </a:bodyPr>
          <a:lstStyle>
            <a:lvl1pPr algn="l" defTabSz="914400" rtl="0" eaLnBrk="1" latinLnBrk="0" hangingPunct="1">
              <a:lnSpc>
                <a:spcPct val="83000"/>
              </a:lnSpc>
              <a:spcBef>
                <a:spcPct val="0"/>
              </a:spcBef>
              <a:buNone/>
              <a:defRPr sz="9600" b="1" kern="1200" spc="0" baseline="0">
                <a:solidFill>
                  <a:schemeClr val="tx1"/>
                </a:solidFill>
                <a:latin typeface="+mj-lt"/>
                <a:ea typeface="+mj-ea"/>
                <a:cs typeface="+mj-cs"/>
              </a:defRPr>
            </a:lvl1pPr>
          </a:lstStyle>
          <a:p>
            <a:pPr algn="ctr">
              <a:lnSpc>
                <a:spcPct val="100000"/>
              </a:lnSpc>
              <a:spcBef>
                <a:spcPts val="0"/>
              </a:spcBef>
            </a:pPr>
            <a:r>
              <a:rPr lang="en-US" sz="4400" dirty="0">
                <a:sym typeface="Arial"/>
              </a:rPr>
              <a:t>Thank you for your attention! </a:t>
            </a:r>
            <a:br>
              <a:rPr lang="en-US" sz="4400" dirty="0">
                <a:sym typeface="Arial"/>
              </a:rPr>
            </a:br>
            <a:r>
              <a:rPr lang="en-US" sz="4400" dirty="0">
                <a:sym typeface="Arial"/>
              </a:rPr>
              <a:t>Any questions?</a:t>
            </a:r>
            <a:endParaRPr lang="en-US" sz="4400" dirty="0">
              <a:latin typeface="Arial"/>
              <a:cs typeface="Arial"/>
              <a:sym typeface="Arial"/>
            </a:endParaRPr>
          </a:p>
        </p:txBody>
      </p:sp>
    </p:spTree>
    <p:extLst>
      <p:ext uri="{BB962C8B-B14F-4D97-AF65-F5344CB8AC3E}">
        <p14:creationId xmlns:p14="http://schemas.microsoft.com/office/powerpoint/2010/main" val="34429453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le"/>
          <p:cNvSpPr txBox="1"/>
          <p:nvPr/>
        </p:nvSpPr>
        <p:spPr>
          <a:xfrm>
            <a:off x="340876" y="386073"/>
            <a:ext cx="11094720" cy="680000"/>
          </a:xfrm>
          <a:prstGeom prst="rect">
            <a:avLst/>
          </a:prstGeom>
          <a:noFill/>
        </p:spPr>
        <p:txBody>
          <a:bodyPr wrap="square" lIns="0" tIns="0" rIns="0" bIns="0" anchor="t"/>
          <a:lstStyle/>
          <a:p>
            <a:pPr algn="l">
              <a:buNone/>
            </a:pPr>
            <a:r>
              <a:rPr lang="en-US" sz="2400" b="1" dirty="0">
                <a:solidFill>
                  <a:srgbClr val="0460A9"/>
                </a:solidFill>
                <a:latin typeface="Arial"/>
                <a:cs typeface="Arial"/>
              </a:rPr>
              <a:t>Population PK explains why exposure differs between patients</a:t>
            </a:r>
          </a:p>
        </p:txBody>
      </p:sp>
      <p:sp>
        <p:nvSpPr>
          <p:cNvPr id="64" name="TextBox 63">
            <a:extLst>
              <a:ext uri="{FF2B5EF4-FFF2-40B4-BE49-F238E27FC236}">
                <a16:creationId xmlns:a16="http://schemas.microsoft.com/office/drawing/2014/main" id="{46344A9F-4742-AF40-BD8D-5738FA98749D}"/>
              </a:ext>
            </a:extLst>
          </p:cNvPr>
          <p:cNvSpPr txBox="1"/>
          <p:nvPr/>
        </p:nvSpPr>
        <p:spPr>
          <a:xfrm>
            <a:off x="5695791" y="6051985"/>
            <a:ext cx="6097280" cy="246221"/>
          </a:xfrm>
          <a:prstGeom prst="rect">
            <a:avLst/>
          </a:prstGeom>
          <a:noFill/>
        </p:spPr>
        <p:txBody>
          <a:bodyPr wrap="square">
            <a:spAutoFit/>
          </a:bodyPr>
          <a:lstStyle/>
          <a:p>
            <a:r>
              <a:rPr lang="en-US" sz="1000" dirty="0">
                <a:solidFill>
                  <a:schemeClr val="bg1">
                    <a:lumMod val="50000"/>
                  </a:schemeClr>
                </a:solidFill>
              </a:rPr>
              <a:t>https://pub.towardsai.net/from-probability-to-loss-how-mle-builds-machine-learning-part-1-52fe0efa43a9</a:t>
            </a:r>
          </a:p>
        </p:txBody>
      </p:sp>
      <p:grpSp>
        <p:nvGrpSpPr>
          <p:cNvPr id="2" name="Group 1">
            <a:extLst>
              <a:ext uri="{FF2B5EF4-FFF2-40B4-BE49-F238E27FC236}">
                <a16:creationId xmlns:a16="http://schemas.microsoft.com/office/drawing/2014/main" id="{E81390A3-B0BF-3586-59EC-15C61FD8AC56}"/>
              </a:ext>
            </a:extLst>
          </p:cNvPr>
          <p:cNvGrpSpPr/>
          <p:nvPr/>
        </p:nvGrpSpPr>
        <p:grpSpPr>
          <a:xfrm>
            <a:off x="527159" y="1331259"/>
            <a:ext cx="5691942" cy="4195482"/>
            <a:chOff x="527159" y="1331259"/>
            <a:chExt cx="5691942" cy="4195482"/>
          </a:xfrm>
        </p:grpSpPr>
        <p:sp>
          <p:nvSpPr>
            <p:cNvPr id="49" name="Rectangle: Rounded Corners 48">
              <a:extLst>
                <a:ext uri="{FF2B5EF4-FFF2-40B4-BE49-F238E27FC236}">
                  <a16:creationId xmlns:a16="http://schemas.microsoft.com/office/drawing/2014/main" id="{89286463-FEE3-7594-D849-AB2F62CA58AC}"/>
                </a:ext>
              </a:extLst>
            </p:cNvPr>
            <p:cNvSpPr/>
            <p:nvPr/>
          </p:nvSpPr>
          <p:spPr>
            <a:xfrm>
              <a:off x="633700" y="2425738"/>
              <a:ext cx="2237711" cy="618080"/>
            </a:xfrm>
            <a:prstGeom prst="roundRect">
              <a:avLst/>
            </a:prstGeom>
            <a:solidFill>
              <a:srgbClr val="C9D9F9">
                <a:alpha val="50000"/>
              </a:srgb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sz="1600" dirty="0" err="1"/>
            </a:p>
          </p:txBody>
        </p:sp>
        <p:sp>
          <p:nvSpPr>
            <p:cNvPr id="5" name="TextBox 4">
              <a:extLst>
                <a:ext uri="{FF2B5EF4-FFF2-40B4-BE49-F238E27FC236}">
                  <a16:creationId xmlns:a16="http://schemas.microsoft.com/office/drawing/2014/main" id="{EE0E06A8-4C90-F6AF-65B6-13644615BDA8}"/>
                </a:ext>
              </a:extLst>
            </p:cNvPr>
            <p:cNvSpPr txBox="1"/>
            <p:nvPr/>
          </p:nvSpPr>
          <p:spPr>
            <a:xfrm>
              <a:off x="1170190" y="2537063"/>
              <a:ext cx="1567967" cy="365165"/>
            </a:xfrm>
            <a:prstGeom prst="rect">
              <a:avLst/>
            </a:prstGeom>
            <a:noFill/>
          </p:spPr>
          <p:txBody>
            <a:bodyPr wrap="square">
              <a:spAutoFit/>
            </a:bodyPr>
            <a:lstStyle/>
            <a:p>
              <a:pPr>
                <a:lnSpc>
                  <a:spcPct val="106000"/>
                </a:lnSpc>
              </a:pPr>
              <a:r>
                <a:rPr lang="en-US" dirty="0">
                  <a:solidFill>
                    <a:srgbClr val="3C3C3C"/>
                  </a:solidFill>
                  <a:latin typeface="Arial"/>
                  <a:cs typeface="Arial"/>
                </a:rPr>
                <a:t>F</a:t>
              </a:r>
              <a:r>
                <a:rPr lang="en-US" altLang="zh-CN" dirty="0">
                  <a:solidFill>
                    <a:srgbClr val="3C3C3C"/>
                  </a:solidFill>
                  <a:latin typeface="Arial"/>
                  <a:cs typeface="Arial"/>
                </a:rPr>
                <a:t>ixed effect </a:t>
              </a:r>
              <a:endParaRPr lang="en-US" b="0" i="0" dirty="0">
                <a:solidFill>
                  <a:srgbClr val="3C3C3C"/>
                </a:solidFill>
                <a:latin typeface="Arial"/>
                <a:cs typeface="Arial"/>
              </a:endParaRPr>
            </a:p>
          </p:txBody>
        </p:sp>
        <p:grpSp>
          <p:nvGrpSpPr>
            <p:cNvPr id="53" name="Group 52">
              <a:extLst>
                <a:ext uri="{FF2B5EF4-FFF2-40B4-BE49-F238E27FC236}">
                  <a16:creationId xmlns:a16="http://schemas.microsoft.com/office/drawing/2014/main" id="{6C68F677-84DF-5FD1-0309-4987FE2FA2DB}"/>
                </a:ext>
              </a:extLst>
            </p:cNvPr>
            <p:cNvGrpSpPr/>
            <p:nvPr/>
          </p:nvGrpSpPr>
          <p:grpSpPr>
            <a:xfrm>
              <a:off x="635922" y="3476786"/>
              <a:ext cx="2403344" cy="618080"/>
              <a:chOff x="1215208" y="3240932"/>
              <a:chExt cx="2694994" cy="618080"/>
            </a:xfrm>
          </p:grpSpPr>
          <p:sp>
            <p:nvSpPr>
              <p:cNvPr id="37" name="Rectangle: Rounded Corners 36">
                <a:extLst>
                  <a:ext uri="{FF2B5EF4-FFF2-40B4-BE49-F238E27FC236}">
                    <a16:creationId xmlns:a16="http://schemas.microsoft.com/office/drawing/2014/main" id="{0240D1D5-8BD0-A671-293F-04D5C3F0BC4F}"/>
                  </a:ext>
                </a:extLst>
              </p:cNvPr>
              <p:cNvSpPr/>
              <p:nvPr/>
            </p:nvSpPr>
            <p:spPr>
              <a:xfrm>
                <a:off x="1249847" y="3240932"/>
                <a:ext cx="2605116" cy="618080"/>
              </a:xfrm>
              <a:prstGeom prst="roundRect">
                <a:avLst/>
              </a:prstGeom>
              <a:solidFill>
                <a:schemeClr val="accent1">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sz="1600" dirty="0" err="1"/>
              </a:p>
            </p:txBody>
          </p:sp>
          <p:sp>
            <p:nvSpPr>
              <p:cNvPr id="7" name="TextBox 6">
                <a:extLst>
                  <a:ext uri="{FF2B5EF4-FFF2-40B4-BE49-F238E27FC236}">
                    <a16:creationId xmlns:a16="http://schemas.microsoft.com/office/drawing/2014/main" id="{3ABD8ACB-9EAA-CE0F-9CAB-4695C377A5D4}"/>
                  </a:ext>
                </a:extLst>
              </p:cNvPr>
              <p:cNvSpPr txBox="1"/>
              <p:nvPr/>
            </p:nvSpPr>
            <p:spPr>
              <a:xfrm>
                <a:off x="1215208" y="3357586"/>
                <a:ext cx="2694994" cy="369332"/>
              </a:xfrm>
              <a:prstGeom prst="rect">
                <a:avLst/>
              </a:prstGeom>
              <a:noFill/>
            </p:spPr>
            <p:txBody>
              <a:bodyPr wrap="square">
                <a:spAutoFit/>
              </a:bodyPr>
              <a:lstStyle/>
              <a:p>
                <a:r>
                  <a:rPr lang="en-US" dirty="0">
                    <a:solidFill>
                      <a:srgbClr val="3C3C3C"/>
                    </a:solidFill>
                    <a:latin typeface="Arial"/>
                    <a:cs typeface="Arial"/>
                  </a:rPr>
                  <a:t>Intersubject variability </a:t>
                </a:r>
                <a:endParaRPr lang="en-US" sz="1600" dirty="0"/>
              </a:p>
            </p:txBody>
          </p:sp>
        </p:grpSp>
        <p:grpSp>
          <p:nvGrpSpPr>
            <p:cNvPr id="52" name="Group 51">
              <a:extLst>
                <a:ext uri="{FF2B5EF4-FFF2-40B4-BE49-F238E27FC236}">
                  <a16:creationId xmlns:a16="http://schemas.microsoft.com/office/drawing/2014/main" id="{56B199BE-28B7-F35A-D819-BCC7B0E68AAE}"/>
                </a:ext>
              </a:extLst>
            </p:cNvPr>
            <p:cNvGrpSpPr/>
            <p:nvPr/>
          </p:nvGrpSpPr>
          <p:grpSpPr>
            <a:xfrm>
              <a:off x="670561" y="4456679"/>
              <a:ext cx="2403344" cy="618080"/>
              <a:chOff x="784303" y="3683625"/>
              <a:chExt cx="2782690" cy="618080"/>
            </a:xfrm>
          </p:grpSpPr>
          <p:sp>
            <p:nvSpPr>
              <p:cNvPr id="47" name="Rectangle: Rounded Corners 46">
                <a:extLst>
                  <a:ext uri="{FF2B5EF4-FFF2-40B4-BE49-F238E27FC236}">
                    <a16:creationId xmlns:a16="http://schemas.microsoft.com/office/drawing/2014/main" id="{D5DBFEDA-ED2E-C338-B335-282E9469789F}"/>
                  </a:ext>
                </a:extLst>
              </p:cNvPr>
              <p:cNvSpPr/>
              <p:nvPr/>
            </p:nvSpPr>
            <p:spPr>
              <a:xfrm>
                <a:off x="784303" y="3683625"/>
                <a:ext cx="2689887" cy="618080"/>
              </a:xfrm>
              <a:prstGeom prst="roundRect">
                <a:avLst/>
              </a:prstGeom>
              <a:solidFill>
                <a:schemeClr val="accent1">
                  <a:lumMod val="20000"/>
                  <a:lumOff val="80000"/>
                  <a:alpha val="50000"/>
                </a:scheme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sz="1600" dirty="0" err="1"/>
              </a:p>
            </p:txBody>
          </p:sp>
          <p:sp>
            <p:nvSpPr>
              <p:cNvPr id="30" name="TextBox 29">
                <a:extLst>
                  <a:ext uri="{FF2B5EF4-FFF2-40B4-BE49-F238E27FC236}">
                    <a16:creationId xmlns:a16="http://schemas.microsoft.com/office/drawing/2014/main" id="{0FDD1AD2-48FB-76D1-A6E5-A4EF2E5F89BA}"/>
                  </a:ext>
                </a:extLst>
              </p:cNvPr>
              <p:cNvSpPr txBox="1"/>
              <p:nvPr/>
            </p:nvSpPr>
            <p:spPr>
              <a:xfrm>
                <a:off x="871999" y="3820694"/>
                <a:ext cx="2694994" cy="369332"/>
              </a:xfrm>
              <a:prstGeom prst="rect">
                <a:avLst/>
              </a:prstGeom>
              <a:noFill/>
            </p:spPr>
            <p:txBody>
              <a:bodyPr wrap="square">
                <a:spAutoFit/>
              </a:bodyPr>
              <a:lstStyle/>
              <a:p>
                <a:r>
                  <a:rPr lang="en-US" dirty="0">
                    <a:solidFill>
                      <a:srgbClr val="3C3C3C"/>
                    </a:solidFill>
                    <a:latin typeface="Arial"/>
                    <a:cs typeface="Arial"/>
                  </a:rPr>
                  <a:t>Residual variability </a:t>
                </a:r>
                <a:endParaRPr lang="en-US" sz="1600" dirty="0"/>
              </a:p>
            </p:txBody>
          </p:sp>
        </p:grpSp>
        <p:grpSp>
          <p:nvGrpSpPr>
            <p:cNvPr id="51" name="Group 50">
              <a:extLst>
                <a:ext uri="{FF2B5EF4-FFF2-40B4-BE49-F238E27FC236}">
                  <a16:creationId xmlns:a16="http://schemas.microsoft.com/office/drawing/2014/main" id="{2484C7CC-21F8-8C6D-2592-4A37B1C17C0A}"/>
                </a:ext>
              </a:extLst>
            </p:cNvPr>
            <p:cNvGrpSpPr/>
            <p:nvPr/>
          </p:nvGrpSpPr>
          <p:grpSpPr>
            <a:xfrm>
              <a:off x="2912380" y="2451267"/>
              <a:ext cx="3306721" cy="2719789"/>
              <a:chOff x="875980" y="2129728"/>
              <a:chExt cx="3707998" cy="2719789"/>
            </a:xfrm>
          </p:grpSpPr>
          <p:sp>
            <p:nvSpPr>
              <p:cNvPr id="33" name="Rectangle: Rounded Corners 32">
                <a:extLst>
                  <a:ext uri="{FF2B5EF4-FFF2-40B4-BE49-F238E27FC236}">
                    <a16:creationId xmlns:a16="http://schemas.microsoft.com/office/drawing/2014/main" id="{1F74398D-7D1E-42E6-7D31-3F084D1CB2A1}"/>
                  </a:ext>
                </a:extLst>
              </p:cNvPr>
              <p:cNvSpPr/>
              <p:nvPr/>
            </p:nvSpPr>
            <p:spPr>
              <a:xfrm>
                <a:off x="1636650" y="3579018"/>
                <a:ext cx="622406" cy="400110"/>
              </a:xfrm>
              <a:prstGeom prst="roundRect">
                <a:avLst/>
              </a:prstGeom>
              <a:solidFill>
                <a:srgbClr val="C9D9F9">
                  <a:alpha val="50000"/>
                </a:srgb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sz="1600" dirty="0" err="1"/>
              </a:p>
            </p:txBody>
          </p:sp>
          <p:sp>
            <p:nvSpPr>
              <p:cNvPr id="31" name="Rectangle: Rounded Corners 30">
                <a:extLst>
                  <a:ext uri="{FF2B5EF4-FFF2-40B4-BE49-F238E27FC236}">
                    <a16:creationId xmlns:a16="http://schemas.microsoft.com/office/drawing/2014/main" id="{79D119BE-E08A-067B-DDD5-634B2AD79CD6}"/>
                  </a:ext>
                </a:extLst>
              </p:cNvPr>
              <p:cNvSpPr/>
              <p:nvPr/>
            </p:nvSpPr>
            <p:spPr>
              <a:xfrm>
                <a:off x="1728908" y="2902921"/>
                <a:ext cx="622406" cy="400110"/>
              </a:xfrm>
              <a:prstGeom prst="roundRect">
                <a:avLst/>
              </a:prstGeom>
              <a:solidFill>
                <a:srgbClr val="C9D9F9">
                  <a:alpha val="50000"/>
                </a:srgb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sz="1600" dirty="0" err="1"/>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5B63633-AB5B-E97D-39A3-EE22981C8248}"/>
                      </a:ext>
                    </a:extLst>
                  </p:cNvPr>
                  <p:cNvSpPr txBox="1"/>
                  <p:nvPr/>
                </p:nvSpPr>
                <p:spPr>
                  <a:xfrm>
                    <a:off x="985018" y="2129728"/>
                    <a:ext cx="2750689" cy="521874"/>
                  </a:xfrm>
                  <a:prstGeom prst="rect">
                    <a:avLst/>
                  </a:prstGeom>
                  <a:noFill/>
                </p:spPr>
                <p:txBody>
                  <a:bodyPr wrap="none">
                    <a:spAutoFit/>
                  </a:bodyPr>
                  <a:lstStyle/>
                  <a:p>
                    <a14:m>
                      <m:oMath xmlns:m="http://schemas.openxmlformats.org/officeDocument/2006/math">
                        <m:r>
                          <a:rPr lang="en-US" b="0" i="1" smtClean="0">
                            <a:latin typeface="Cambria Math" panose="02040503050406030204" pitchFamily="18" charset="0"/>
                          </a:rPr>
                          <m:t>𝐶</m:t>
                        </m:r>
                        <m:d>
                          <m:dPr>
                            <m:ctrlPr>
                              <a:rPr lang="ar-AE" i="1" smtClean="0">
                                <a:latin typeface="Cambria Math" panose="02040503050406030204" pitchFamily="18" charset="0"/>
                                <a:ea typeface="Cambria Math" panose="02040503050406030204" pitchFamily="18" charset="0"/>
                              </a:rPr>
                            </m:ctrlPr>
                          </m:dPr>
                          <m:e>
                            <m:sSub>
                              <m:sSubPr>
                                <m:ctrlPr>
                                  <a:rPr lang="ar-AE" i="1" smtClean="0">
                                    <a:latin typeface="Cambria Math" panose="02040503050406030204" pitchFamily="18" charset="0"/>
                                    <a:ea typeface="Cambria Math" panose="02040503050406030204" pitchFamily="18" charset="0"/>
                                  </a:rPr>
                                </m:ctrlPr>
                              </m:sSubPr>
                              <m:e>
                                <m:r>
                                  <a:rPr lang="ar-AE" i="1" smtClean="0">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d>
                        <m:r>
                          <a:rPr lang="ar-AE">
                            <a:latin typeface="Cambria Math" panose="02040503050406030204" pitchFamily="18" charset="0"/>
                          </a:rPr>
                          <m:t>=</m:t>
                        </m:r>
                      </m:oMath>
                    </a14:m>
                    <a:r>
                      <a:rPr lang="en-US"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𝐷𝑜𝑠𝑒</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𝑖</m:t>
                                </m:r>
                              </m:sub>
                            </m:sSub>
                          </m:den>
                        </m:f>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𝑒</m:t>
                            </m:r>
                          </m:e>
                          <m:sup>
                            <m:d>
                              <m:dPr>
                                <m:ctrlPr>
                                  <a:rPr lang="en-US" b="0" i="1" smtClean="0">
                                    <a:latin typeface="Cambria Math" panose="02040503050406030204" pitchFamily="18" charset="0"/>
                                  </a:rPr>
                                </m:ctrlPr>
                              </m:dPr>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sub>
                                </m:sSub>
                                <m:r>
                                  <a:rPr lang="ar-AE">
                                    <a:latin typeface="Cambria Math" panose="02040503050406030204" pitchFamily="18" charset="0"/>
                                  </a:rPr>
                                  <m:t>·</m:t>
                                </m:r>
                                <m:r>
                                  <m:rPr>
                                    <m:sty m:val="p"/>
                                  </m:rPr>
                                  <a:rPr lang="en-US" b="0" i="0" smtClean="0">
                                    <a:latin typeface="Cambria Math" panose="02040503050406030204" pitchFamily="18" charset="0"/>
                                  </a:rPr>
                                  <m:t>t</m:t>
                                </m:r>
                              </m:e>
                            </m:d>
                          </m:sup>
                        </m:sSup>
                        <m:r>
                          <a:rPr lang="ar-AE">
                            <a:latin typeface="Cambria Math" panose="02040503050406030204" pitchFamily="18" charset="0"/>
                          </a:rPr>
                          <m:t> </m:t>
                        </m:r>
                      </m:oMath>
                    </a14:m>
                    <a:endParaRPr dirty="0"/>
                  </a:p>
                </p:txBody>
              </p:sp>
            </mc:Choice>
            <mc:Fallback xmlns="">
              <p:sp>
                <p:nvSpPr>
                  <p:cNvPr id="14" name="TextBox 13">
                    <a:extLst>
                      <a:ext uri="{FF2B5EF4-FFF2-40B4-BE49-F238E27FC236}">
                        <a16:creationId xmlns:a16="http://schemas.microsoft.com/office/drawing/2014/main" id="{C5B63633-AB5B-E97D-39A3-EE22981C8248}"/>
                      </a:ext>
                    </a:extLst>
                  </p:cNvPr>
                  <p:cNvSpPr txBox="1">
                    <a:spLocks noRot="1" noChangeAspect="1" noMove="1" noResize="1" noEditPoints="1" noAdjustHandles="1" noChangeArrowheads="1" noChangeShapeType="1" noTextEdit="1"/>
                  </p:cNvSpPr>
                  <p:nvPr/>
                </p:nvSpPr>
                <p:spPr>
                  <a:xfrm>
                    <a:off x="985018" y="2129728"/>
                    <a:ext cx="2750689" cy="521874"/>
                  </a:xfrm>
                  <a:prstGeom prst="rect">
                    <a:avLst/>
                  </a:prstGeom>
                  <a:blipFill>
                    <a:blip r:embed="rId4"/>
                    <a:stretch>
                      <a:fillRect r="-7711" b="-1163"/>
                    </a:stretch>
                  </a:blipFill>
                </p:spPr>
                <p:txBody>
                  <a:bodyPr/>
                  <a:lstStyle/>
                  <a:p>
                    <a:r>
                      <a:rPr lang="en-US">
                        <a:noFill/>
                      </a:rPr>
                      <a:t> </a:t>
                    </a:r>
                  </a:p>
                </p:txBody>
              </p:sp>
            </mc:Fallback>
          </mc:AlternateContent>
          <p:sp>
            <p:nvSpPr>
              <p:cNvPr id="35" name="Rectangle: Rounded Corners 34">
                <a:extLst>
                  <a:ext uri="{FF2B5EF4-FFF2-40B4-BE49-F238E27FC236}">
                    <a16:creationId xmlns:a16="http://schemas.microsoft.com/office/drawing/2014/main" id="{44F88CFD-DDC9-73F2-B2A2-3668EE29181C}"/>
                  </a:ext>
                </a:extLst>
              </p:cNvPr>
              <p:cNvSpPr/>
              <p:nvPr/>
            </p:nvSpPr>
            <p:spPr>
              <a:xfrm>
                <a:off x="2328212" y="3429000"/>
                <a:ext cx="1283284" cy="728542"/>
              </a:xfrm>
              <a:prstGeom prst="roundRect">
                <a:avLst/>
              </a:prstGeom>
              <a:solidFill>
                <a:srgbClr val="C9D9F9">
                  <a:alpha val="50000"/>
                </a:srgb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sz="1600" dirty="0" err="1"/>
              </a:p>
            </p:txBody>
          </p:sp>
          <p:sp>
            <p:nvSpPr>
              <p:cNvPr id="39" name="Rectangle: Rounded Corners 38">
                <a:extLst>
                  <a:ext uri="{FF2B5EF4-FFF2-40B4-BE49-F238E27FC236}">
                    <a16:creationId xmlns:a16="http://schemas.microsoft.com/office/drawing/2014/main" id="{A2A3B124-1296-E2B9-A33C-EA533A1A2CF5}"/>
                  </a:ext>
                </a:extLst>
              </p:cNvPr>
              <p:cNvSpPr/>
              <p:nvPr/>
            </p:nvSpPr>
            <p:spPr>
              <a:xfrm>
                <a:off x="2503847" y="2884953"/>
                <a:ext cx="453235" cy="359099"/>
              </a:xfrm>
              <a:prstGeom prst="roundRect">
                <a:avLst/>
              </a:prstGeom>
              <a:solidFill>
                <a:schemeClr val="accent1">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sz="1600" dirty="0" err="1"/>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896B281-B657-07E1-B06A-E78AB9209A54}"/>
                      </a:ext>
                    </a:extLst>
                  </p:cNvPr>
                  <p:cNvSpPr txBox="1"/>
                  <p:nvPr/>
                </p:nvSpPr>
                <p:spPr>
                  <a:xfrm>
                    <a:off x="957597" y="2906162"/>
                    <a:ext cx="1930465" cy="369332"/>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ar-AE">
                                  <a:latin typeface="Cambria Math" panose="02040503050406030204" pitchFamily="18" charset="0"/>
                                </a:rPr>
                                <m:t>𝑖</m:t>
                              </m:r>
                            </m:sub>
                          </m:sSub>
                          <m:r>
                            <a:rPr lang="ar-AE">
                              <a:latin typeface="Cambria Math" panose="02040503050406030204" pitchFamily="18" charset="0"/>
                            </a:rPr>
                            <m:t> = </m:t>
                          </m:r>
                          <m:r>
                            <a:rPr lang="ar-AE">
                              <a:latin typeface="Cambria Math" panose="02040503050406030204" pitchFamily="18" charset="0"/>
                            </a:rPr>
                            <m:t>𝑇𝑉</m:t>
                          </m:r>
                          <m:r>
                            <m:rPr>
                              <m:sty m:val="p"/>
                            </m:rPr>
                            <a:rPr lang="en-US" b="0" i="0" smtClean="0">
                              <a:latin typeface="Cambria Math" panose="02040503050406030204" pitchFamily="18" charset="0"/>
                            </a:rPr>
                            <m:t>K</m:t>
                          </m:r>
                          <m:r>
                            <a:rPr lang="ar-AE">
                              <a:latin typeface="Cambria Math" panose="02040503050406030204" pitchFamily="18" charset="0"/>
                            </a:rPr>
                            <m:t>· </m:t>
                          </m:r>
                          <m:sSup>
                            <m:sSupPr>
                              <m:ctrlPr>
                                <a:rPr lang="ar-AE" i="1">
                                  <a:latin typeface="Cambria Math" panose="02040503050406030204" pitchFamily="18" charset="0"/>
                                </a:rPr>
                              </m:ctrlPr>
                            </m:sSupPr>
                            <m:e>
                              <m:r>
                                <a:rPr lang="ar-AE">
                                  <a:latin typeface="Cambria Math" panose="02040503050406030204" pitchFamily="18" charset="0"/>
                                </a:rPr>
                                <m:t>𝑒</m:t>
                              </m:r>
                            </m:e>
                            <m:sup>
                              <m:sSub>
                                <m:sSubPr>
                                  <m:ctrlPr>
                                    <a:rPr lang="ar-AE" i="1">
                                      <a:latin typeface="Cambria Math" panose="02040503050406030204" pitchFamily="18" charset="0"/>
                                    </a:rPr>
                                  </m:ctrlPr>
                                </m:sSubPr>
                                <m:e>
                                  <m:r>
                                    <a:rPr lang="ar-AE">
                                      <a:latin typeface="Cambria Math" panose="02040503050406030204" pitchFamily="18" charset="0"/>
                                    </a:rPr>
                                    <m:t>𝜂</m:t>
                                  </m:r>
                                </m:e>
                                <m:sub>
                                  <m:r>
                                    <m:rPr>
                                      <m:sty m:val="p"/>
                                    </m:rPr>
                                    <a:rPr lang="en-US" b="0" i="0" smtClean="0">
                                      <a:latin typeface="Cambria Math" panose="02040503050406030204" pitchFamily="18" charset="0"/>
                                    </a:rPr>
                                    <m:t>k</m:t>
                                  </m:r>
                                  <m:r>
                                    <a:rPr lang="ar-AE">
                                      <a:latin typeface="Cambria Math" panose="02040503050406030204" pitchFamily="18" charset="0"/>
                                    </a:rPr>
                                    <m:t>,</m:t>
                                  </m:r>
                                  <m:r>
                                    <a:rPr lang="ar-AE">
                                      <a:latin typeface="Cambria Math" panose="02040503050406030204" pitchFamily="18" charset="0"/>
                                    </a:rPr>
                                    <m:t>𝑖</m:t>
                                  </m:r>
                                </m:sub>
                              </m:sSub>
                            </m:sup>
                          </m:sSup>
                        </m:oMath>
                      </m:oMathPara>
                    </a14:m>
                    <a:endParaRPr dirty="0"/>
                  </a:p>
                </p:txBody>
              </p:sp>
            </mc:Choice>
            <mc:Fallback xmlns="">
              <p:sp>
                <p:nvSpPr>
                  <p:cNvPr id="18" name="TextBox 17">
                    <a:extLst>
                      <a:ext uri="{FF2B5EF4-FFF2-40B4-BE49-F238E27FC236}">
                        <a16:creationId xmlns:a16="http://schemas.microsoft.com/office/drawing/2014/main" id="{6896B281-B657-07E1-B06A-E78AB9209A54}"/>
                      </a:ext>
                    </a:extLst>
                  </p:cNvPr>
                  <p:cNvSpPr txBox="1">
                    <a:spLocks noRot="1" noChangeAspect="1" noMove="1" noResize="1" noEditPoints="1" noAdjustHandles="1" noChangeArrowheads="1" noChangeShapeType="1" noTextEdit="1"/>
                  </p:cNvSpPr>
                  <p:nvPr/>
                </p:nvSpPr>
                <p:spPr>
                  <a:xfrm>
                    <a:off x="957597" y="2906162"/>
                    <a:ext cx="1930465" cy="369332"/>
                  </a:xfrm>
                  <a:prstGeom prst="rect">
                    <a:avLst/>
                  </a:prstGeom>
                  <a:blipFill>
                    <a:blip r:embed="rId5"/>
                    <a:stretch>
                      <a:fillRect r="-4965"/>
                    </a:stretch>
                  </a:blipFill>
                </p:spPr>
                <p:txBody>
                  <a:bodyPr/>
                  <a:lstStyle/>
                  <a:p>
                    <a:r>
                      <a:rPr lang="en-US">
                        <a:noFill/>
                      </a:rPr>
                      <a:t> </a:t>
                    </a:r>
                  </a:p>
                </p:txBody>
              </p:sp>
            </mc:Fallback>
          </mc:AlternateContent>
          <p:sp>
            <p:nvSpPr>
              <p:cNvPr id="43" name="Rectangle: Rounded Corners 42">
                <a:extLst>
                  <a:ext uri="{FF2B5EF4-FFF2-40B4-BE49-F238E27FC236}">
                    <a16:creationId xmlns:a16="http://schemas.microsoft.com/office/drawing/2014/main" id="{53EAE527-B56F-6E7C-D352-DC3D611CEEAB}"/>
                  </a:ext>
                </a:extLst>
              </p:cNvPr>
              <p:cNvSpPr/>
              <p:nvPr/>
            </p:nvSpPr>
            <p:spPr>
              <a:xfrm>
                <a:off x="3976243" y="3576898"/>
                <a:ext cx="453235" cy="359099"/>
              </a:xfrm>
              <a:prstGeom prst="roundRect">
                <a:avLst/>
              </a:prstGeom>
              <a:solidFill>
                <a:schemeClr val="accent1">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sz="1600" dirty="0" err="1"/>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C569C95-6217-221A-72E5-F614BD23BC72}"/>
                      </a:ext>
                    </a:extLst>
                  </p:cNvPr>
                  <p:cNvSpPr txBox="1"/>
                  <p:nvPr/>
                </p:nvSpPr>
                <p:spPr>
                  <a:xfrm>
                    <a:off x="1052902" y="3412563"/>
                    <a:ext cx="3531076" cy="7057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600" i="1">
                                  <a:latin typeface="Cambria Math" panose="02040503050406030204" pitchFamily="18" charset="0"/>
                                </a:rPr>
                              </m:ctrlPr>
                            </m:sSubPr>
                            <m:e>
                              <m:r>
                                <a:rPr lang="ar-AE" sz="1600">
                                  <a:latin typeface="Cambria Math" panose="02040503050406030204" pitchFamily="18" charset="0"/>
                                </a:rPr>
                                <m:t>𝑉</m:t>
                              </m:r>
                            </m:e>
                            <m:sub>
                              <m:r>
                                <a:rPr lang="ar-AE" sz="1600">
                                  <a:latin typeface="Cambria Math" panose="02040503050406030204" pitchFamily="18" charset="0"/>
                                </a:rPr>
                                <m:t>𝑖</m:t>
                              </m:r>
                            </m:sub>
                          </m:sSub>
                          <m:r>
                            <a:rPr lang="ar-AE" sz="1600">
                              <a:latin typeface="Cambria Math" panose="02040503050406030204" pitchFamily="18" charset="0"/>
                            </a:rPr>
                            <m:t> = </m:t>
                          </m:r>
                          <m:r>
                            <a:rPr lang="ar-AE" sz="1600">
                              <a:latin typeface="Cambria Math" panose="02040503050406030204" pitchFamily="18" charset="0"/>
                            </a:rPr>
                            <m:t>𝑇𝑉𝑉</m:t>
                          </m:r>
                          <m:r>
                            <a:rPr lang="ar-AE" sz="1600">
                              <a:latin typeface="Cambria Math" panose="02040503050406030204" pitchFamily="18" charset="0"/>
                            </a:rPr>
                            <m:t>· </m:t>
                          </m:r>
                          <m:sSup>
                            <m:sSupPr>
                              <m:ctrlPr>
                                <a:rPr lang="ar-AE" sz="1600" i="1">
                                  <a:latin typeface="Cambria Math" panose="02040503050406030204" pitchFamily="18" charset="0"/>
                                </a:rPr>
                              </m:ctrlPr>
                            </m:sSupPr>
                            <m:e>
                              <m:d>
                                <m:dPr>
                                  <m:ctrlPr>
                                    <a:rPr lang="ar-AE" sz="1600" i="1">
                                      <a:latin typeface="Cambria Math" panose="02040503050406030204" pitchFamily="18" charset="0"/>
                                    </a:rPr>
                                  </m:ctrlPr>
                                </m:dPr>
                                <m:e>
                                  <m:f>
                                    <m:fPr>
                                      <m:ctrlPr>
                                        <a:rPr lang="ar-AE" sz="1600" i="1">
                                          <a:latin typeface="Cambria Math" panose="02040503050406030204" pitchFamily="18" charset="0"/>
                                        </a:rPr>
                                      </m:ctrlPr>
                                    </m:fPr>
                                    <m:num>
                                      <m:r>
                                        <a:rPr lang="ar-AE" sz="1600">
                                          <a:latin typeface="Cambria Math" panose="02040503050406030204" pitchFamily="18" charset="0"/>
                                        </a:rPr>
                                        <m:t>𝐵𝑊</m:t>
                                      </m:r>
                                    </m:num>
                                    <m:den>
                                      <m:r>
                                        <a:rPr lang="ar-AE" sz="1600">
                                          <a:latin typeface="Cambria Math" panose="02040503050406030204" pitchFamily="18" charset="0"/>
                                        </a:rPr>
                                        <m:t>𝑅𝑒𝑓𝐵𝑊</m:t>
                                      </m:r>
                                    </m:den>
                                  </m:f>
                                </m:e>
                              </m:d>
                            </m:e>
                            <m:sup>
                              <m:r>
                                <a:rPr lang="ar-AE" sz="1600">
                                  <a:latin typeface="Cambria Math" panose="02040503050406030204" pitchFamily="18" charset="0"/>
                                </a:rPr>
                                <m:t>𝜃</m:t>
                              </m:r>
                              <m:r>
                                <a:rPr lang="en-US" sz="1600" b="0" i="1" smtClean="0">
                                  <a:latin typeface="Cambria Math" panose="02040503050406030204" pitchFamily="18" charset="0"/>
                                </a:rPr>
                                <m:t>1</m:t>
                              </m:r>
                            </m:sup>
                          </m:sSup>
                          <m:r>
                            <a:rPr lang="ar-AE" sz="1600" smtClean="0">
                              <a:latin typeface="Cambria Math" panose="02040503050406030204" pitchFamily="18" charset="0"/>
                            </a:rPr>
                            <m:t> </m:t>
                          </m:r>
                          <m:r>
                            <a:rPr lang="ar-AE" sz="1600">
                              <a:latin typeface="Cambria Math" panose="02040503050406030204" pitchFamily="18" charset="0"/>
                            </a:rPr>
                            <m:t>· </m:t>
                          </m:r>
                          <m:sSup>
                            <m:sSupPr>
                              <m:ctrlPr>
                                <a:rPr lang="ar-AE" sz="1600" i="1">
                                  <a:latin typeface="Cambria Math" panose="02040503050406030204" pitchFamily="18" charset="0"/>
                                </a:rPr>
                              </m:ctrlPr>
                            </m:sSupPr>
                            <m:e>
                              <m:r>
                                <a:rPr lang="ar-AE" sz="1600">
                                  <a:latin typeface="Cambria Math" panose="02040503050406030204" pitchFamily="18" charset="0"/>
                                </a:rPr>
                                <m:t>𝑒</m:t>
                              </m:r>
                            </m:e>
                            <m:sup>
                              <m:sSub>
                                <m:sSubPr>
                                  <m:ctrlPr>
                                    <a:rPr lang="ar-AE" sz="1600" i="1">
                                      <a:latin typeface="Cambria Math" panose="02040503050406030204" pitchFamily="18" charset="0"/>
                                    </a:rPr>
                                  </m:ctrlPr>
                                </m:sSubPr>
                                <m:e>
                                  <m:r>
                                    <a:rPr lang="ar-AE" sz="1600">
                                      <a:latin typeface="Cambria Math" panose="02040503050406030204" pitchFamily="18" charset="0"/>
                                    </a:rPr>
                                    <m:t>𝜂</m:t>
                                  </m:r>
                                </m:e>
                                <m:sub>
                                  <m:r>
                                    <a:rPr lang="ar-AE" sz="1600">
                                      <a:latin typeface="Cambria Math" panose="02040503050406030204" pitchFamily="18" charset="0"/>
                                    </a:rPr>
                                    <m:t>𝑉𝑐</m:t>
                                  </m:r>
                                  <m:r>
                                    <a:rPr lang="ar-AE" sz="1600">
                                      <a:latin typeface="Cambria Math" panose="02040503050406030204" pitchFamily="18" charset="0"/>
                                    </a:rPr>
                                    <m:t>,</m:t>
                                  </m:r>
                                  <m:r>
                                    <a:rPr lang="ar-AE" sz="1600">
                                      <a:latin typeface="Cambria Math" panose="02040503050406030204" pitchFamily="18" charset="0"/>
                                    </a:rPr>
                                    <m:t>𝑖</m:t>
                                  </m:r>
                                </m:sub>
                              </m:sSub>
                            </m:sup>
                          </m:sSup>
                        </m:oMath>
                      </m:oMathPara>
                    </a14:m>
                    <a:endParaRPr sz="1600" dirty="0"/>
                  </a:p>
                </p:txBody>
              </p:sp>
            </mc:Choice>
            <mc:Fallback xmlns="">
              <p:sp>
                <p:nvSpPr>
                  <p:cNvPr id="16" name="TextBox 15">
                    <a:extLst>
                      <a:ext uri="{FF2B5EF4-FFF2-40B4-BE49-F238E27FC236}">
                        <a16:creationId xmlns:a16="http://schemas.microsoft.com/office/drawing/2014/main" id="{9C569C95-6217-221A-72E5-F614BD23BC72}"/>
                      </a:ext>
                    </a:extLst>
                  </p:cNvPr>
                  <p:cNvSpPr txBox="1">
                    <a:spLocks noRot="1" noChangeAspect="1" noMove="1" noResize="1" noEditPoints="1" noAdjustHandles="1" noChangeArrowheads="1" noChangeShapeType="1" noTextEdit="1"/>
                  </p:cNvSpPr>
                  <p:nvPr/>
                </p:nvSpPr>
                <p:spPr>
                  <a:xfrm>
                    <a:off x="1052902" y="3412563"/>
                    <a:ext cx="3531076" cy="705706"/>
                  </a:xfrm>
                  <a:prstGeom prst="rect">
                    <a:avLst/>
                  </a:prstGeom>
                  <a:blipFill>
                    <a:blip r:embed="rId6"/>
                    <a:stretch>
                      <a:fillRect/>
                    </a:stretch>
                  </a:blipFill>
                </p:spPr>
                <p:txBody>
                  <a:bodyPr/>
                  <a:lstStyle/>
                  <a:p>
                    <a:r>
                      <a:rPr lang="en-US">
                        <a:noFill/>
                      </a:rPr>
                      <a:t> </a:t>
                    </a:r>
                  </a:p>
                </p:txBody>
              </p:sp>
            </mc:Fallback>
          </mc:AlternateContent>
          <p:sp>
            <p:nvSpPr>
              <p:cNvPr id="45" name="Rectangle: Rounded Corners 44">
                <a:extLst>
                  <a:ext uri="{FF2B5EF4-FFF2-40B4-BE49-F238E27FC236}">
                    <a16:creationId xmlns:a16="http://schemas.microsoft.com/office/drawing/2014/main" id="{D3A517C4-56ED-39DE-591F-579F37F8181A}"/>
                  </a:ext>
                </a:extLst>
              </p:cNvPr>
              <p:cNvSpPr/>
              <p:nvPr/>
            </p:nvSpPr>
            <p:spPr>
              <a:xfrm>
                <a:off x="3686953" y="4334411"/>
                <a:ext cx="426678" cy="515106"/>
              </a:xfrm>
              <a:prstGeom prst="roundRect">
                <a:avLst/>
              </a:prstGeom>
              <a:solidFill>
                <a:schemeClr val="accent1">
                  <a:lumMod val="20000"/>
                  <a:lumOff val="80000"/>
                  <a:alpha val="50000"/>
                </a:schemeClr>
              </a:solidFill>
              <a:ln>
                <a:noFill/>
              </a:ln>
            </p:spPr>
            <p:style>
              <a:lnRef idx="0">
                <a:scrgbClr r="0" g="0" b="0"/>
              </a:lnRef>
              <a:fillRef idx="0">
                <a:scrgbClr r="0" g="0" b="0"/>
              </a:fillRef>
              <a:effectRef idx="0">
                <a:scrgbClr r="0" g="0" b="0"/>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sz="1600" dirty="0" err="1"/>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16DEC18-8A3C-1EC0-18C4-0C5A61C43D3E}"/>
                      </a:ext>
                    </a:extLst>
                  </p:cNvPr>
                  <p:cNvSpPr txBox="1"/>
                  <p:nvPr/>
                </p:nvSpPr>
                <p:spPr>
                  <a:xfrm>
                    <a:off x="875980" y="4334411"/>
                    <a:ext cx="3467586" cy="4113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𝐶</m:t>
                          </m:r>
                          <m:d>
                            <m:dPr>
                              <m:ctrlPr>
                                <a:rPr lang="ar-AE" i="1" smtClean="0">
                                  <a:latin typeface="Cambria Math" panose="02040503050406030204" pitchFamily="18" charset="0"/>
                                  <a:ea typeface="Cambria Math" panose="02040503050406030204" pitchFamily="18" charset="0"/>
                                </a:rPr>
                              </m:ctrlPr>
                            </m:dPr>
                            <m:e>
                              <m:sSub>
                                <m:sSubPr>
                                  <m:ctrlPr>
                                    <a:rPr lang="ar-AE" i="1" smtClean="0">
                                      <a:latin typeface="Cambria Math" panose="02040503050406030204" pitchFamily="18" charset="0"/>
                                      <a:ea typeface="Cambria Math" panose="02040503050406030204" pitchFamily="18" charset="0"/>
                                    </a:rPr>
                                  </m:ctrlPr>
                                </m:sSubPr>
                                <m:e>
                                  <m:r>
                                    <a:rPr lang="ar-AE" i="1" smtClean="0">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d>
                          <m:r>
                            <a:rPr lang="en-US" b="0" i="0" smtClean="0">
                              <a:latin typeface="Cambria Math" panose="02040503050406030204" pitchFamily="18" charset="0"/>
                            </a:rPr>
                            <m:t> (</m:t>
                          </m:r>
                          <m:r>
                            <a:rPr lang="en-US" b="0" i="0" smtClean="0">
                              <a:latin typeface="Cambria Math" panose="02040503050406030204" pitchFamily="18" charset="0"/>
                            </a:rPr>
                            <m:t>1</m:t>
                          </m:r>
                          <m:r>
                            <a:rPr lang="en-US" b="0" i="0" smtClean="0">
                              <a:latin typeface="Cambria Math" panose="02040503050406030204" pitchFamily="18" charset="0"/>
                            </a:rPr>
                            <m:t>+</m:t>
                          </m:r>
                          <m:r>
                            <m:rPr>
                              <m:sty m:val="p"/>
                            </m:rPr>
                            <a:rPr lang="en-US" b="0" i="0" smtClean="0">
                              <a:latin typeface="Cambria Math" panose="02040503050406030204" pitchFamily="18" charset="0"/>
                            </a:rPr>
                            <m:t>a</m:t>
                          </m:r>
                          <m:r>
                            <a:rPr lang="ar-AE">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m:rPr>
                                  <m:sty m:val="p"/>
                                </m:rPr>
                                <a:rPr lang="en-US" i="1">
                                  <a:latin typeface="Cambria Math" panose="02040503050406030204" pitchFamily="18" charset="0"/>
                                  <a:ea typeface="Cambria Math" panose="02040503050406030204" pitchFamily="18" charset="0"/>
                                </a:rPr>
                                <m:t>ε</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0" smtClean="0">
                              <a:latin typeface="Cambria Math" panose="02040503050406030204" pitchFamily="18" charset="0"/>
                            </a:rPr>
                            <m:t>)</m:t>
                          </m:r>
                        </m:oMath>
                      </m:oMathPara>
                    </a14:m>
                    <a:endParaRPr dirty="0"/>
                  </a:p>
                </p:txBody>
              </p:sp>
            </mc:Choice>
            <mc:Fallback xmlns="">
              <p:sp>
                <p:nvSpPr>
                  <p:cNvPr id="28" name="TextBox 27">
                    <a:extLst>
                      <a:ext uri="{FF2B5EF4-FFF2-40B4-BE49-F238E27FC236}">
                        <a16:creationId xmlns:a16="http://schemas.microsoft.com/office/drawing/2014/main" id="{516DEC18-8A3C-1EC0-18C4-0C5A61C43D3E}"/>
                      </a:ext>
                    </a:extLst>
                  </p:cNvPr>
                  <p:cNvSpPr txBox="1">
                    <a:spLocks noRot="1" noChangeAspect="1" noMove="1" noResize="1" noEditPoints="1" noAdjustHandles="1" noChangeArrowheads="1" noChangeShapeType="1" noTextEdit="1"/>
                  </p:cNvSpPr>
                  <p:nvPr/>
                </p:nvSpPr>
                <p:spPr>
                  <a:xfrm>
                    <a:off x="875980" y="4334411"/>
                    <a:ext cx="3467586" cy="411395"/>
                  </a:xfrm>
                  <a:prstGeom prst="rect">
                    <a:avLst/>
                  </a:prstGeom>
                  <a:blipFill>
                    <a:blip r:embed="rId7"/>
                    <a:stretch>
                      <a:fillRect b="-7463"/>
                    </a:stretch>
                  </a:blipFill>
                </p:spPr>
                <p:txBody>
                  <a:bodyPr/>
                  <a:lstStyle/>
                  <a:p>
                    <a:r>
                      <a:rPr lang="en-US">
                        <a:noFill/>
                      </a:rPr>
                      <a:t> </a:t>
                    </a:r>
                  </a:p>
                </p:txBody>
              </p:sp>
            </mc:Fallback>
          </mc:AlternateContent>
        </p:grpSp>
        <p:grpSp>
          <p:nvGrpSpPr>
            <p:cNvPr id="69" name="Group 68">
              <a:extLst>
                <a:ext uri="{FF2B5EF4-FFF2-40B4-BE49-F238E27FC236}">
                  <a16:creationId xmlns:a16="http://schemas.microsoft.com/office/drawing/2014/main" id="{C5D11865-2A02-C596-CDB2-FD88FA28FE20}"/>
                </a:ext>
              </a:extLst>
            </p:cNvPr>
            <p:cNvGrpSpPr/>
            <p:nvPr/>
          </p:nvGrpSpPr>
          <p:grpSpPr>
            <a:xfrm>
              <a:off x="527159" y="1331259"/>
              <a:ext cx="5568841" cy="4195482"/>
              <a:chOff x="534805" y="1141201"/>
              <a:chExt cx="5251071" cy="4283037"/>
            </a:xfrm>
          </p:grpSpPr>
          <p:sp>
            <p:nvSpPr>
              <p:cNvPr id="10" name="lead"/>
              <p:cNvSpPr txBox="1"/>
              <p:nvPr/>
            </p:nvSpPr>
            <p:spPr>
              <a:xfrm>
                <a:off x="1593338" y="1407175"/>
                <a:ext cx="3470792" cy="395430"/>
              </a:xfrm>
              <a:prstGeom prst="rect">
                <a:avLst/>
              </a:prstGeom>
              <a:noFill/>
            </p:spPr>
            <p:txBody>
              <a:bodyPr wrap="square" lIns="0" tIns="0" rIns="0" bIns="0" anchor="t"/>
              <a:lstStyle/>
              <a:p>
                <a:pPr>
                  <a:lnSpc>
                    <a:spcPct val="106000"/>
                  </a:lnSpc>
                </a:pPr>
                <a:r>
                  <a:rPr lang="en-US" sz="2000" b="0" i="0" dirty="0">
                    <a:solidFill>
                      <a:srgbClr val="3C3C3C"/>
                    </a:solidFill>
                    <a:latin typeface="Arial"/>
                    <a:cs typeface="Arial"/>
                  </a:rPr>
                  <a:t>N</a:t>
                </a:r>
                <a:r>
                  <a:rPr lang="en-US" altLang="zh-CN" sz="2000" b="0" i="0" dirty="0">
                    <a:solidFill>
                      <a:srgbClr val="3C3C3C"/>
                    </a:solidFill>
                    <a:latin typeface="Arial"/>
                    <a:cs typeface="Arial"/>
                  </a:rPr>
                  <a:t>onlinear Mixed effect Models</a:t>
                </a:r>
                <a:endParaRPr lang="en-US" sz="2000" dirty="0">
                  <a:solidFill>
                    <a:srgbClr val="3C3C3C"/>
                  </a:solidFill>
                  <a:latin typeface="Arial"/>
                  <a:cs typeface="Arial"/>
                </a:endParaRPr>
              </a:p>
            </p:txBody>
          </p:sp>
          <p:sp>
            <p:nvSpPr>
              <p:cNvPr id="65" name="Rectangle: Rounded Corners 64">
                <a:extLst>
                  <a:ext uri="{FF2B5EF4-FFF2-40B4-BE49-F238E27FC236}">
                    <a16:creationId xmlns:a16="http://schemas.microsoft.com/office/drawing/2014/main" id="{0EF49349-A042-9927-E48A-7A398B107157}"/>
                  </a:ext>
                </a:extLst>
              </p:cNvPr>
              <p:cNvSpPr/>
              <p:nvPr/>
            </p:nvSpPr>
            <p:spPr>
              <a:xfrm>
                <a:off x="534805" y="1141201"/>
                <a:ext cx="5251071" cy="4283037"/>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sz="1600" dirty="0" err="1"/>
              </a:p>
            </p:txBody>
          </p:sp>
        </p:grpSp>
      </p:grpSp>
      <p:grpSp>
        <p:nvGrpSpPr>
          <p:cNvPr id="4" name="Group 3">
            <a:extLst>
              <a:ext uri="{FF2B5EF4-FFF2-40B4-BE49-F238E27FC236}">
                <a16:creationId xmlns:a16="http://schemas.microsoft.com/office/drawing/2014/main" id="{7FAC614F-F816-52E3-504D-545592332462}"/>
              </a:ext>
            </a:extLst>
          </p:cNvPr>
          <p:cNvGrpSpPr/>
          <p:nvPr/>
        </p:nvGrpSpPr>
        <p:grpSpPr>
          <a:xfrm>
            <a:off x="6234207" y="1326774"/>
            <a:ext cx="5241761" cy="4195482"/>
            <a:chOff x="6234207" y="1326774"/>
            <a:chExt cx="5241761" cy="4195482"/>
          </a:xfrm>
        </p:grpSpPr>
        <p:pic>
          <p:nvPicPr>
            <p:cNvPr id="3" name="Picture 2">
              <a:extLst>
                <a:ext uri="{FF2B5EF4-FFF2-40B4-BE49-F238E27FC236}">
                  <a16:creationId xmlns:a16="http://schemas.microsoft.com/office/drawing/2014/main" id="{205ED1BE-5910-C4C6-B4B7-E7800228A800}"/>
                </a:ext>
              </a:extLst>
            </p:cNvPr>
            <p:cNvPicPr>
              <a:picLocks noChangeAspect="1"/>
            </p:cNvPicPr>
            <p:nvPr/>
          </p:nvPicPr>
          <p:blipFill>
            <a:blip r:embed="rId8"/>
            <a:stretch>
              <a:fillRect/>
            </a:stretch>
          </p:blipFill>
          <p:spPr>
            <a:xfrm>
              <a:off x="6771107" y="2058318"/>
              <a:ext cx="4244185" cy="3289243"/>
            </a:xfrm>
            <a:prstGeom prst="rect">
              <a:avLst/>
            </a:prstGeom>
          </p:spPr>
        </p:pic>
        <p:grpSp>
          <p:nvGrpSpPr>
            <p:cNvPr id="70" name="Group 69">
              <a:extLst>
                <a:ext uri="{FF2B5EF4-FFF2-40B4-BE49-F238E27FC236}">
                  <a16:creationId xmlns:a16="http://schemas.microsoft.com/office/drawing/2014/main" id="{F33EA9C8-9D49-F20E-27BE-7084C1637244}"/>
                </a:ext>
              </a:extLst>
            </p:cNvPr>
            <p:cNvGrpSpPr/>
            <p:nvPr/>
          </p:nvGrpSpPr>
          <p:grpSpPr>
            <a:xfrm>
              <a:off x="6234207" y="1326774"/>
              <a:ext cx="5241761" cy="4195482"/>
              <a:chOff x="6241242" y="1194125"/>
              <a:chExt cx="5054288" cy="657017"/>
            </a:xfrm>
          </p:grpSpPr>
          <p:grpSp>
            <p:nvGrpSpPr>
              <p:cNvPr id="62" name="Group 61">
                <a:extLst>
                  <a:ext uri="{FF2B5EF4-FFF2-40B4-BE49-F238E27FC236}">
                    <a16:creationId xmlns:a16="http://schemas.microsoft.com/office/drawing/2014/main" id="{2AD78F2B-FEC2-7593-6420-554670178193}"/>
                  </a:ext>
                </a:extLst>
              </p:cNvPr>
              <p:cNvGrpSpPr/>
              <p:nvPr/>
            </p:nvGrpSpPr>
            <p:grpSpPr>
              <a:xfrm>
                <a:off x="6542680" y="1242754"/>
                <a:ext cx="4661352" cy="395430"/>
                <a:chOff x="6393201" y="1054963"/>
                <a:chExt cx="5402454" cy="395430"/>
              </a:xfrm>
            </p:grpSpPr>
            <p:sp>
              <p:nvSpPr>
                <p:cNvPr id="59" name="lead">
                  <a:extLst>
                    <a:ext uri="{FF2B5EF4-FFF2-40B4-BE49-F238E27FC236}">
                      <a16:creationId xmlns:a16="http://schemas.microsoft.com/office/drawing/2014/main" id="{B21C7372-00DD-BD82-CAFE-5FC8CCAE9027}"/>
                    </a:ext>
                  </a:extLst>
                </p:cNvPr>
                <p:cNvSpPr txBox="1"/>
                <p:nvPr/>
              </p:nvSpPr>
              <p:spPr>
                <a:xfrm>
                  <a:off x="6393201" y="1054963"/>
                  <a:ext cx="5402454" cy="395430"/>
                </a:xfrm>
                <a:prstGeom prst="rect">
                  <a:avLst/>
                </a:prstGeom>
                <a:noFill/>
              </p:spPr>
              <p:txBody>
                <a:bodyPr wrap="square" lIns="0" tIns="0" rIns="0" bIns="0" anchor="t"/>
                <a:lstStyle/>
                <a:p>
                  <a:pPr>
                    <a:lnSpc>
                      <a:spcPct val="106000"/>
                    </a:lnSpc>
                  </a:pPr>
                  <a:r>
                    <a:rPr lang="en-US" sz="2000" b="0" i="0" dirty="0">
                      <a:solidFill>
                        <a:srgbClr val="3C3C3C"/>
                      </a:solidFill>
                      <a:latin typeface="Arial"/>
                      <a:cs typeface="Arial"/>
                    </a:rPr>
                    <a:t>Max(likelihood)        Min(objective function)</a:t>
                  </a:r>
                  <a:endParaRPr lang="en-US" sz="2000" dirty="0">
                    <a:solidFill>
                      <a:srgbClr val="3C3C3C"/>
                    </a:solidFill>
                    <a:latin typeface="Arial"/>
                    <a:cs typeface="Arial"/>
                  </a:endParaRPr>
                </a:p>
              </p:txBody>
            </p:sp>
            <p:cxnSp>
              <p:nvCxnSpPr>
                <p:cNvPr id="61" name="Straight Arrow Connector 60">
                  <a:extLst>
                    <a:ext uri="{FF2B5EF4-FFF2-40B4-BE49-F238E27FC236}">
                      <a16:creationId xmlns:a16="http://schemas.microsoft.com/office/drawing/2014/main" id="{076FDEAC-65E3-3FFD-3B18-999D43AEB92D}"/>
                    </a:ext>
                  </a:extLst>
                </p:cNvPr>
                <p:cNvCxnSpPr>
                  <a:cxnSpLocks/>
                </p:cNvCxnSpPr>
                <p:nvPr/>
              </p:nvCxnSpPr>
              <p:spPr>
                <a:xfrm>
                  <a:off x="8458033" y="1082545"/>
                  <a:ext cx="360662" cy="0"/>
                </a:xfrm>
                <a:prstGeom prst="straightConnector1">
                  <a:avLst/>
                </a:prstGeom>
                <a:ln w="127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67" name="Rectangle: Rounded Corners 66">
                <a:extLst>
                  <a:ext uri="{FF2B5EF4-FFF2-40B4-BE49-F238E27FC236}">
                    <a16:creationId xmlns:a16="http://schemas.microsoft.com/office/drawing/2014/main" id="{15112060-F3A6-A507-9EDB-34A31B1112E6}"/>
                  </a:ext>
                </a:extLst>
              </p:cNvPr>
              <p:cNvSpPr/>
              <p:nvPr/>
            </p:nvSpPr>
            <p:spPr>
              <a:xfrm>
                <a:off x="6241242" y="1194125"/>
                <a:ext cx="5054288" cy="657017"/>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grpSp>
      </p:gr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79787F28-600E-4634-B20F-1F527FB9D626}" type="slidenum">
              <a:rPr lang="en-US" sz="1000">
                <a:solidFill>
                  <a:srgbClr val="8A8A8A"/>
                </a:solidFill>
                <a:latin typeface="Arial"/>
              </a:rPr>
              <a:t>32</a:t>
            </a:fld>
            <a:endParaRPr lang="en-US" sz="1000">
              <a:solidFill>
                <a:srgbClr val="8A8A8A"/>
              </a:solidFill>
              <a:latin typeface="Arial"/>
            </a:endParaRPr>
          </a:p>
        </p:txBody>
      </p:sp>
    </p:spTree>
    <p:extLst>
      <p:ext uri="{BB962C8B-B14F-4D97-AF65-F5344CB8AC3E}">
        <p14:creationId xmlns:p14="http://schemas.microsoft.com/office/powerpoint/2010/main" val="4129260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Group 46">
            <a:extLst>
              <a:ext uri="{FF2B5EF4-FFF2-40B4-BE49-F238E27FC236}">
                <a16:creationId xmlns:a16="http://schemas.microsoft.com/office/drawing/2014/main" id="{71139874-DAA4-19DB-93B8-23B0A04517FC}"/>
              </a:ext>
            </a:extLst>
          </p:cNvPr>
          <p:cNvGrpSpPr/>
          <p:nvPr/>
        </p:nvGrpSpPr>
        <p:grpSpPr>
          <a:xfrm>
            <a:off x="4627036" y="6253128"/>
            <a:ext cx="7151179" cy="440989"/>
            <a:chOff x="4042035" y="6417011"/>
            <a:chExt cx="7151179" cy="440989"/>
          </a:xfrm>
        </p:grpSpPr>
        <p:sp>
          <p:nvSpPr>
            <p:cNvPr id="8" name="TextBox 7">
              <a:extLst>
                <a:ext uri="{FF2B5EF4-FFF2-40B4-BE49-F238E27FC236}">
                  <a16:creationId xmlns:a16="http://schemas.microsoft.com/office/drawing/2014/main" id="{5918055B-6E9E-B8D3-E583-082E0B88F65C}"/>
                </a:ext>
              </a:extLst>
            </p:cNvPr>
            <p:cNvSpPr txBox="1"/>
            <p:nvPr/>
          </p:nvSpPr>
          <p:spPr>
            <a:xfrm>
              <a:off x="6617307" y="6417011"/>
              <a:ext cx="4362218" cy="246221"/>
            </a:xfrm>
            <a:prstGeom prst="rect">
              <a:avLst/>
            </a:prstGeom>
            <a:noFill/>
          </p:spPr>
          <p:txBody>
            <a:bodyPr wrap="square">
              <a:spAutoFit/>
            </a:bodyPr>
            <a:lstStyle/>
            <a:p>
              <a:r>
                <a:rPr lang="en-US" sz="1000" dirty="0"/>
                <a:t>Journal of Pharmacokinetics and Pharmacodynamics 34 (2007): 485–517.</a:t>
              </a:r>
            </a:p>
          </p:txBody>
        </p:sp>
        <p:sp>
          <p:nvSpPr>
            <p:cNvPr id="12" name="TextBox 11">
              <a:extLst>
                <a:ext uri="{FF2B5EF4-FFF2-40B4-BE49-F238E27FC236}">
                  <a16:creationId xmlns:a16="http://schemas.microsoft.com/office/drawing/2014/main" id="{CC07C47C-129B-E14C-0275-78E6EE457E01}"/>
                </a:ext>
              </a:extLst>
            </p:cNvPr>
            <p:cNvSpPr txBox="1"/>
            <p:nvPr/>
          </p:nvSpPr>
          <p:spPr>
            <a:xfrm>
              <a:off x="4042035" y="6586178"/>
              <a:ext cx="3117404" cy="246221"/>
            </a:xfrm>
            <a:prstGeom prst="rect">
              <a:avLst/>
            </a:prstGeom>
            <a:noFill/>
          </p:spPr>
          <p:txBody>
            <a:bodyPr wrap="square">
              <a:spAutoFit/>
            </a:bodyPr>
            <a:lstStyle/>
            <a:p>
              <a:r>
                <a:rPr lang="en-US" sz="1000" dirty="0"/>
                <a:t>Pharmaceutical Research 15 (1998): 1463–1468.</a:t>
              </a:r>
            </a:p>
          </p:txBody>
        </p:sp>
        <p:sp>
          <p:nvSpPr>
            <p:cNvPr id="16" name="TextBox 15">
              <a:extLst>
                <a:ext uri="{FF2B5EF4-FFF2-40B4-BE49-F238E27FC236}">
                  <a16:creationId xmlns:a16="http://schemas.microsoft.com/office/drawing/2014/main" id="{6E1DBE1E-3710-7727-E2A8-01508A15CDDD}"/>
                </a:ext>
              </a:extLst>
            </p:cNvPr>
            <p:cNvSpPr txBox="1"/>
            <p:nvPr/>
          </p:nvSpPr>
          <p:spPr>
            <a:xfrm>
              <a:off x="6913599" y="6611779"/>
              <a:ext cx="4279615" cy="246221"/>
            </a:xfrm>
            <a:prstGeom prst="rect">
              <a:avLst/>
            </a:prstGeom>
            <a:noFill/>
          </p:spPr>
          <p:txBody>
            <a:bodyPr wrap="square">
              <a:spAutoFit/>
            </a:bodyPr>
            <a:lstStyle/>
            <a:p>
              <a:r>
                <a:rPr lang="en-US" sz="1000" dirty="0"/>
                <a:t>CPT: Pharmacometrics &amp; Systems Pharmacology, 2025; 14:621–639</a:t>
              </a:r>
            </a:p>
          </p:txBody>
        </p:sp>
      </p:grpSp>
      <p:grpSp>
        <p:nvGrpSpPr>
          <p:cNvPr id="50" name="Group 49">
            <a:extLst>
              <a:ext uri="{FF2B5EF4-FFF2-40B4-BE49-F238E27FC236}">
                <a16:creationId xmlns:a16="http://schemas.microsoft.com/office/drawing/2014/main" id="{D35C772D-928B-F8D4-8880-83777B75E60C}"/>
              </a:ext>
            </a:extLst>
          </p:cNvPr>
          <p:cNvGrpSpPr/>
          <p:nvPr/>
        </p:nvGrpSpPr>
        <p:grpSpPr>
          <a:xfrm>
            <a:off x="606652" y="1108290"/>
            <a:ext cx="10746250" cy="4458428"/>
            <a:chOff x="654678" y="1490146"/>
            <a:chExt cx="10698224" cy="4453361"/>
          </a:xfrm>
        </p:grpSpPr>
        <p:grpSp>
          <p:nvGrpSpPr>
            <p:cNvPr id="4" name="Group 3">
              <a:extLst>
                <a:ext uri="{FF2B5EF4-FFF2-40B4-BE49-F238E27FC236}">
                  <a16:creationId xmlns:a16="http://schemas.microsoft.com/office/drawing/2014/main" id="{7D0F3CBF-C79E-ADEF-EAE6-01842B04A40D}"/>
                </a:ext>
              </a:extLst>
            </p:cNvPr>
            <p:cNvGrpSpPr/>
            <p:nvPr/>
          </p:nvGrpSpPr>
          <p:grpSpPr>
            <a:xfrm>
              <a:off x="654678" y="1490146"/>
              <a:ext cx="10698224" cy="4453361"/>
              <a:chOff x="746888" y="1302600"/>
              <a:chExt cx="10698224" cy="4573801"/>
            </a:xfrm>
          </p:grpSpPr>
          <p:sp>
            <p:nvSpPr>
              <p:cNvPr id="20" name="h"/>
              <p:cNvSpPr/>
              <p:nvPr/>
            </p:nvSpPr>
            <p:spPr>
              <a:xfrm>
                <a:off x="746888" y="1302600"/>
                <a:ext cx="2266017" cy="779519"/>
              </a:xfrm>
              <a:prstGeom prst="roundRect">
                <a:avLst>
                  <a:gd name="adj" fmla="val 6000"/>
                </a:avLst>
              </a:prstGeom>
              <a:solidFill>
                <a:srgbClr val="0460A9"/>
              </a:solidFill>
              <a:ln>
                <a:noFill/>
              </a:ln>
            </p:spPr>
            <p:txBody>
              <a:bodyPr wrap="square" lIns="137160" tIns="45720" rIns="137160" bIns="45720" anchor="ctr"/>
              <a:lstStyle/>
              <a:p>
                <a:pPr marL="0" algn="ctr">
                  <a:lnSpc>
                    <a:spcPct val="102000"/>
                  </a:lnSpc>
                  <a:spcBef>
                    <a:spcPts val="0"/>
                  </a:spcBef>
                  <a:spcAft>
                    <a:spcPts val="0"/>
                  </a:spcAft>
                  <a:buNone/>
                </a:pPr>
                <a:r>
                  <a:rPr lang="en-US" b="1" i="0" dirty="0">
                    <a:solidFill>
                      <a:srgbClr val="FFFFFF"/>
                    </a:solidFill>
                    <a:latin typeface="Arial"/>
                    <a:cs typeface="Arial"/>
                  </a:rPr>
                  <a:t>Family / approach</a:t>
                </a:r>
              </a:p>
            </p:txBody>
          </p:sp>
          <p:sp>
            <p:nvSpPr>
              <p:cNvPr id="21" name="h"/>
              <p:cNvSpPr/>
              <p:nvPr/>
            </p:nvSpPr>
            <p:spPr>
              <a:xfrm>
                <a:off x="3090046" y="1302600"/>
                <a:ext cx="3133854" cy="779519"/>
              </a:xfrm>
              <a:prstGeom prst="roundRect">
                <a:avLst>
                  <a:gd name="adj" fmla="val 6000"/>
                </a:avLst>
              </a:prstGeom>
              <a:solidFill>
                <a:srgbClr val="0460A9"/>
              </a:solidFill>
              <a:ln>
                <a:noFill/>
              </a:ln>
            </p:spPr>
            <p:txBody>
              <a:bodyPr wrap="square" lIns="137160" tIns="45720" rIns="137160" bIns="45720" anchor="ctr"/>
              <a:lstStyle/>
              <a:p>
                <a:pPr marL="0" algn="ctr">
                  <a:lnSpc>
                    <a:spcPct val="102000"/>
                  </a:lnSpc>
                  <a:spcBef>
                    <a:spcPts val="0"/>
                  </a:spcBef>
                  <a:spcAft>
                    <a:spcPts val="0"/>
                  </a:spcAft>
                  <a:buNone/>
                </a:pPr>
                <a:r>
                  <a:rPr lang="en-US" b="1" i="0" dirty="0">
                    <a:solidFill>
                      <a:srgbClr val="FFFFFF"/>
                    </a:solidFill>
                    <a:latin typeface="Arial"/>
                    <a:cs typeface="Arial"/>
                  </a:rPr>
                  <a:t>Representative methods</a:t>
                </a:r>
              </a:p>
            </p:txBody>
          </p:sp>
          <p:sp>
            <p:nvSpPr>
              <p:cNvPr id="22" name="h"/>
              <p:cNvSpPr/>
              <p:nvPr/>
            </p:nvSpPr>
            <p:spPr>
              <a:xfrm>
                <a:off x="6301041" y="1302600"/>
                <a:ext cx="2844575" cy="779519"/>
              </a:xfrm>
              <a:prstGeom prst="roundRect">
                <a:avLst>
                  <a:gd name="adj" fmla="val 6000"/>
                </a:avLst>
              </a:prstGeom>
              <a:solidFill>
                <a:srgbClr val="0460A9"/>
              </a:solidFill>
              <a:ln>
                <a:noFill/>
              </a:ln>
            </p:spPr>
            <p:txBody>
              <a:bodyPr wrap="square" lIns="137160" tIns="45720" rIns="137160" bIns="45720" anchor="ctr"/>
              <a:lstStyle/>
              <a:p>
                <a:pPr marL="0" algn="ctr">
                  <a:lnSpc>
                    <a:spcPct val="102000"/>
                  </a:lnSpc>
                  <a:spcBef>
                    <a:spcPts val="0"/>
                  </a:spcBef>
                  <a:spcAft>
                    <a:spcPts val="0"/>
                  </a:spcAft>
                  <a:buNone/>
                </a:pPr>
                <a:r>
                  <a:rPr lang="en-US" b="1" i="0" dirty="0">
                    <a:solidFill>
                      <a:srgbClr val="FFFFFF"/>
                    </a:solidFill>
                    <a:latin typeface="Arial"/>
                    <a:cs typeface="Arial"/>
                  </a:rPr>
                  <a:t>Production software</a:t>
                </a:r>
              </a:p>
            </p:txBody>
          </p:sp>
          <p:sp>
            <p:nvSpPr>
              <p:cNvPr id="23" name="h"/>
              <p:cNvSpPr/>
              <p:nvPr/>
            </p:nvSpPr>
            <p:spPr>
              <a:xfrm>
                <a:off x="9222757" y="1302600"/>
                <a:ext cx="2222355" cy="779519"/>
              </a:xfrm>
              <a:prstGeom prst="roundRect">
                <a:avLst>
                  <a:gd name="adj" fmla="val 6000"/>
                </a:avLst>
              </a:prstGeom>
              <a:solidFill>
                <a:srgbClr val="0460A9"/>
              </a:solidFill>
              <a:ln>
                <a:noFill/>
              </a:ln>
            </p:spPr>
            <p:txBody>
              <a:bodyPr wrap="square" lIns="137160" tIns="45720" rIns="137160" bIns="45720" anchor="ctr"/>
              <a:lstStyle/>
              <a:p>
                <a:pPr marL="0" algn="ctr">
                  <a:lnSpc>
                    <a:spcPct val="102000"/>
                  </a:lnSpc>
                  <a:spcBef>
                    <a:spcPts val="0"/>
                  </a:spcBef>
                  <a:spcAft>
                    <a:spcPts val="0"/>
                  </a:spcAft>
                  <a:buNone/>
                </a:pPr>
                <a:r>
                  <a:rPr lang="en-US" b="1" i="0" dirty="0">
                    <a:solidFill>
                      <a:srgbClr val="FFFFFF"/>
                    </a:solidFill>
                    <a:latin typeface="Arial"/>
                    <a:cs typeface="Arial"/>
                  </a:rPr>
                  <a:t>Regulatory readiness</a:t>
                </a:r>
              </a:p>
            </p:txBody>
          </p:sp>
          <p:grpSp>
            <p:nvGrpSpPr>
              <p:cNvPr id="3" name="Group 2">
                <a:extLst>
                  <a:ext uri="{FF2B5EF4-FFF2-40B4-BE49-F238E27FC236}">
                    <a16:creationId xmlns:a16="http://schemas.microsoft.com/office/drawing/2014/main" id="{B1D70232-6D38-738D-6C06-B963D2BAF31F}"/>
                  </a:ext>
                </a:extLst>
              </p:cNvPr>
              <p:cNvGrpSpPr/>
              <p:nvPr/>
            </p:nvGrpSpPr>
            <p:grpSpPr>
              <a:xfrm>
                <a:off x="746888" y="2082119"/>
                <a:ext cx="10698224" cy="3794282"/>
                <a:chOff x="746888" y="2082119"/>
                <a:chExt cx="10698224" cy="4010350"/>
              </a:xfrm>
            </p:grpSpPr>
            <p:sp>
              <p:nvSpPr>
                <p:cNvPr id="24" name="fam0"/>
                <p:cNvSpPr/>
                <p:nvPr/>
              </p:nvSpPr>
              <p:spPr>
                <a:xfrm>
                  <a:off x="746888" y="2158169"/>
                  <a:ext cx="2266017" cy="719936"/>
                </a:xfrm>
                <a:prstGeom prst="roundRect">
                  <a:avLst>
                    <a:gd name="adj" fmla="val 6000"/>
                  </a:avLst>
                </a:prstGeom>
                <a:solidFill>
                  <a:srgbClr val="ECEFF3"/>
                </a:solidFill>
                <a:ln w="9525">
                  <a:solidFill>
                    <a:srgbClr val="D6E2F0"/>
                  </a:solidFill>
                </a:ln>
              </p:spPr>
              <p:txBody>
                <a:bodyPr wrap="square" lIns="137160" tIns="45720" rIns="137160" bIns="45720" anchor="ctr"/>
                <a:lstStyle/>
                <a:p>
                  <a:pPr marL="0" algn="ctr">
                    <a:lnSpc>
                      <a:spcPct val="102000"/>
                    </a:lnSpc>
                    <a:spcBef>
                      <a:spcPts val="0"/>
                    </a:spcBef>
                    <a:spcAft>
                      <a:spcPts val="0"/>
                    </a:spcAft>
                    <a:buNone/>
                  </a:pPr>
                  <a:r>
                    <a:rPr lang="en-US" b="1" i="0" dirty="0">
                      <a:solidFill>
                        <a:srgbClr val="0460A9"/>
                      </a:solidFill>
                      <a:latin typeface="Arial"/>
                      <a:cs typeface="Arial"/>
                    </a:rPr>
                    <a:t>Stepwise</a:t>
                  </a:r>
                </a:p>
              </p:txBody>
            </p:sp>
            <p:sp>
              <p:nvSpPr>
                <p:cNvPr id="25" name="me0"/>
                <p:cNvSpPr/>
                <p:nvPr/>
              </p:nvSpPr>
              <p:spPr>
                <a:xfrm>
                  <a:off x="3090046" y="2158169"/>
                  <a:ext cx="3133854" cy="719936"/>
                </a:xfrm>
                <a:prstGeom prst="roundRect">
                  <a:avLst>
                    <a:gd name="adj" fmla="val 6000"/>
                  </a:avLst>
                </a:prstGeom>
                <a:solidFill>
                  <a:srgbClr val="EAF1FA"/>
                </a:solidFill>
                <a:ln w="9525">
                  <a:solidFill>
                    <a:srgbClr val="D6E2F0"/>
                  </a:solidFill>
                </a:ln>
              </p:spPr>
              <p:txBody>
                <a:bodyPr wrap="square" lIns="137160" tIns="45720" rIns="137160" bIns="45720" anchor="ctr"/>
                <a:lstStyle/>
                <a:p>
                  <a:pPr marL="0" algn="ctr">
                    <a:lnSpc>
                      <a:spcPct val="102000"/>
                    </a:lnSpc>
                    <a:spcBef>
                      <a:spcPts val="0"/>
                    </a:spcBef>
                    <a:spcAft>
                      <a:spcPts val="0"/>
                    </a:spcAft>
                    <a:buNone/>
                  </a:pPr>
                  <a:r>
                    <a:rPr lang="en-US" b="1" i="0" dirty="0">
                      <a:solidFill>
                        <a:srgbClr val="5A5A5A"/>
                      </a:solidFill>
                      <a:latin typeface="Arial"/>
                      <a:cs typeface="Arial"/>
                    </a:rPr>
                    <a:t>SCM </a:t>
                  </a:r>
                  <a:br>
                    <a:rPr lang="en-US" dirty="0">
                      <a:solidFill>
                        <a:srgbClr val="5A5A5A"/>
                      </a:solidFill>
                      <a:latin typeface="Arial"/>
                      <a:cs typeface="Arial"/>
                    </a:rPr>
                  </a:br>
                  <a:r>
                    <a:rPr lang="en-US" b="0" i="0" dirty="0" err="1">
                      <a:solidFill>
                        <a:srgbClr val="5A5A5A"/>
                      </a:solidFill>
                      <a:latin typeface="Arial"/>
                      <a:cs typeface="Arial"/>
                    </a:rPr>
                    <a:t>SCM</a:t>
                  </a:r>
                  <a:r>
                    <a:rPr lang="en-US" b="0" i="0" dirty="0">
                      <a:solidFill>
                        <a:srgbClr val="5A5A5A"/>
                      </a:solidFill>
                      <a:latin typeface="Arial"/>
                      <a:cs typeface="Arial"/>
                    </a:rPr>
                    <a:t>+ · </a:t>
                  </a:r>
                  <a:r>
                    <a:rPr lang="en-US" b="0" i="0" u="sng" dirty="0">
                      <a:solidFill>
                        <a:srgbClr val="5A5A5A"/>
                      </a:solidFill>
                      <a:latin typeface="Arial"/>
                      <a:cs typeface="Arial"/>
                    </a:rPr>
                    <a:t>COSSAC · SAMBA</a:t>
                  </a:r>
                </a:p>
              </p:txBody>
            </p:sp>
            <p:sp>
              <p:nvSpPr>
                <p:cNvPr id="26" name="sw0"/>
                <p:cNvSpPr/>
                <p:nvPr/>
              </p:nvSpPr>
              <p:spPr>
                <a:xfrm>
                  <a:off x="6301041" y="2082119"/>
                  <a:ext cx="2844575" cy="779519"/>
                </a:xfrm>
                <a:prstGeom prst="roundRect">
                  <a:avLst>
                    <a:gd name="adj" fmla="val 6000"/>
                  </a:avLst>
                </a:prstGeom>
                <a:solidFill>
                  <a:srgbClr val="F7F9FC"/>
                </a:solidFill>
                <a:ln w="9525">
                  <a:solidFill>
                    <a:srgbClr val="D6E2F0"/>
                  </a:solidFill>
                </a:ln>
              </p:spPr>
              <p:txBody>
                <a:bodyPr wrap="square" lIns="137160" tIns="45720" rIns="137160" bIns="45720" anchor="ctr"/>
                <a:lstStyle/>
                <a:p>
                  <a:pPr algn="ctr">
                    <a:lnSpc>
                      <a:spcPct val="102000"/>
                    </a:lnSpc>
                  </a:pPr>
                  <a:r>
                    <a:rPr lang="en-US" b="1" i="0" dirty="0">
                      <a:solidFill>
                        <a:srgbClr val="3C3C3C"/>
                      </a:solidFill>
                      <a:latin typeface="Arial"/>
                      <a:cs typeface="Arial"/>
                    </a:rPr>
                    <a:t>PsN + NONMEM </a:t>
                  </a:r>
                  <a:br>
                    <a:rPr lang="en-US" b="1" dirty="0">
                      <a:solidFill>
                        <a:srgbClr val="3C3C3C"/>
                      </a:solidFill>
                      <a:latin typeface="Arial"/>
                      <a:cs typeface="Arial"/>
                    </a:rPr>
                  </a:br>
                  <a:r>
                    <a:rPr lang="en-US" b="0" i="0" u="sng" dirty="0" err="1">
                      <a:solidFill>
                        <a:srgbClr val="3C3C3C"/>
                      </a:solidFill>
                      <a:latin typeface="Arial"/>
                      <a:cs typeface="Arial"/>
                    </a:rPr>
                    <a:t>Monolix</a:t>
                  </a:r>
                  <a:r>
                    <a:rPr lang="en-US" u="sng" dirty="0">
                      <a:solidFill>
                        <a:srgbClr val="3C3C3C"/>
                      </a:solidFill>
                      <a:cs typeface="Arial"/>
                    </a:rPr>
                    <a:t> </a:t>
                  </a:r>
                  <a:r>
                    <a:rPr lang="en-US" dirty="0">
                      <a:solidFill>
                        <a:srgbClr val="3C3C3C"/>
                      </a:solidFill>
                      <a:cs typeface="Arial"/>
                    </a:rPr>
                    <a:t>· nlmixr2</a:t>
                  </a:r>
                  <a:endParaRPr lang="en-US" b="0" i="0" dirty="0">
                    <a:solidFill>
                      <a:srgbClr val="3C3C3C"/>
                    </a:solidFill>
                    <a:latin typeface="Arial"/>
                    <a:cs typeface="Arial"/>
                  </a:endParaRPr>
                </a:p>
              </p:txBody>
            </p:sp>
            <p:sp>
              <p:nvSpPr>
                <p:cNvPr id="27" name="rg0"/>
                <p:cNvSpPr/>
                <p:nvPr/>
              </p:nvSpPr>
              <p:spPr>
                <a:xfrm>
                  <a:off x="9222757" y="2158169"/>
                  <a:ext cx="2222355" cy="719936"/>
                </a:xfrm>
                <a:prstGeom prst="roundRect">
                  <a:avLst>
                    <a:gd name="adj" fmla="val 22000"/>
                  </a:avLst>
                </a:prstGeom>
                <a:solidFill>
                  <a:srgbClr val="2E7D32"/>
                </a:solidFill>
                <a:ln>
                  <a:noFill/>
                </a:ln>
              </p:spPr>
              <p:txBody>
                <a:bodyPr wrap="square" lIns="91440" tIns="45720" rIns="91440" bIns="45720" anchor="ctr"/>
                <a:lstStyle/>
                <a:p>
                  <a:pPr marL="0" algn="ctr">
                    <a:lnSpc>
                      <a:spcPct val="102000"/>
                    </a:lnSpc>
                    <a:spcBef>
                      <a:spcPts val="0"/>
                    </a:spcBef>
                    <a:spcAft>
                      <a:spcPts val="0"/>
                    </a:spcAft>
                    <a:buNone/>
                  </a:pPr>
                  <a:r>
                    <a:rPr lang="en-US" b="1" i="0" dirty="0">
                      <a:solidFill>
                        <a:srgbClr val="FFFFFF"/>
                      </a:solidFill>
                      <a:latin typeface="Arial"/>
                      <a:cs typeface="Arial"/>
                    </a:rPr>
                    <a:t>Standard </a:t>
                  </a:r>
                  <a:endParaRPr lang="en-US" b="1" dirty="0">
                    <a:solidFill>
                      <a:srgbClr val="FFFFFF"/>
                    </a:solidFill>
                    <a:latin typeface="Arial"/>
                    <a:cs typeface="Arial"/>
                  </a:endParaRPr>
                </a:p>
                <a:p>
                  <a:pPr marL="0" algn="ctr">
                    <a:lnSpc>
                      <a:spcPct val="102000"/>
                    </a:lnSpc>
                    <a:spcBef>
                      <a:spcPts val="0"/>
                    </a:spcBef>
                    <a:spcAft>
                      <a:spcPts val="0"/>
                    </a:spcAft>
                    <a:buNone/>
                  </a:pPr>
                  <a:r>
                    <a:rPr lang="en-US" b="1" i="0" dirty="0">
                      <a:solidFill>
                        <a:srgbClr val="FFFFFF"/>
                      </a:solidFill>
                      <a:latin typeface="Arial"/>
                      <a:cs typeface="Arial"/>
                    </a:rPr>
                    <a:t>Accepted</a:t>
                  </a:r>
                </a:p>
              </p:txBody>
            </p:sp>
            <p:sp>
              <p:nvSpPr>
                <p:cNvPr id="28" name="fam1"/>
                <p:cNvSpPr/>
                <p:nvPr/>
              </p:nvSpPr>
              <p:spPr>
                <a:xfrm>
                  <a:off x="746888" y="2961760"/>
                  <a:ext cx="2266017" cy="719936"/>
                </a:xfrm>
                <a:prstGeom prst="roundRect">
                  <a:avLst>
                    <a:gd name="adj" fmla="val 6000"/>
                  </a:avLst>
                </a:prstGeom>
                <a:solidFill>
                  <a:srgbClr val="ECEFF3"/>
                </a:solidFill>
                <a:ln w="9525">
                  <a:solidFill>
                    <a:srgbClr val="D6E2F0"/>
                  </a:solidFill>
                </a:ln>
              </p:spPr>
              <p:txBody>
                <a:bodyPr wrap="square" lIns="137160" tIns="45720" rIns="137160" bIns="45720" anchor="ctr"/>
                <a:lstStyle/>
                <a:p>
                  <a:pPr marL="0" algn="ctr">
                    <a:lnSpc>
                      <a:spcPct val="102000"/>
                    </a:lnSpc>
                    <a:spcBef>
                      <a:spcPts val="0"/>
                    </a:spcBef>
                    <a:spcAft>
                      <a:spcPts val="0"/>
                    </a:spcAft>
                    <a:buNone/>
                  </a:pPr>
                  <a:r>
                    <a:rPr lang="en-US" b="1" i="0" dirty="0">
                      <a:solidFill>
                        <a:srgbClr val="0460A9"/>
                      </a:solidFill>
                      <a:latin typeface="Arial"/>
                      <a:cs typeface="Arial"/>
                    </a:rPr>
                    <a:t>Full-model</a:t>
                  </a:r>
                </a:p>
              </p:txBody>
            </p:sp>
            <p:sp>
              <p:nvSpPr>
                <p:cNvPr id="29" name="me1"/>
                <p:cNvSpPr/>
                <p:nvPr/>
              </p:nvSpPr>
              <p:spPr>
                <a:xfrm>
                  <a:off x="3090046" y="2961760"/>
                  <a:ext cx="3133854" cy="719936"/>
                </a:xfrm>
                <a:prstGeom prst="roundRect">
                  <a:avLst>
                    <a:gd name="adj" fmla="val 6000"/>
                  </a:avLst>
                </a:prstGeom>
                <a:solidFill>
                  <a:srgbClr val="EAF1FA"/>
                </a:solidFill>
                <a:ln w="9525">
                  <a:solidFill>
                    <a:srgbClr val="D6E2F0"/>
                  </a:solidFill>
                </a:ln>
              </p:spPr>
              <p:txBody>
                <a:bodyPr wrap="square" lIns="137160" tIns="45720" rIns="137160" bIns="45720" anchor="ctr"/>
                <a:lstStyle/>
                <a:p>
                  <a:pPr marL="0" algn="ctr">
                    <a:lnSpc>
                      <a:spcPct val="102000"/>
                    </a:lnSpc>
                    <a:spcBef>
                      <a:spcPts val="0"/>
                    </a:spcBef>
                    <a:spcAft>
                      <a:spcPts val="0"/>
                    </a:spcAft>
                    <a:buNone/>
                  </a:pPr>
                  <a:r>
                    <a:rPr lang="en-US" b="0" i="0" dirty="0">
                      <a:solidFill>
                        <a:srgbClr val="5A5A5A"/>
                      </a:solidFill>
                      <a:latin typeface="Arial"/>
                      <a:cs typeface="Arial"/>
                    </a:rPr>
                    <a:t>FFEM · FREM</a:t>
                  </a:r>
                </a:p>
              </p:txBody>
            </p:sp>
            <p:sp>
              <p:nvSpPr>
                <p:cNvPr id="30" name="sw1"/>
                <p:cNvSpPr/>
                <p:nvPr/>
              </p:nvSpPr>
              <p:spPr>
                <a:xfrm>
                  <a:off x="6301041" y="2961760"/>
                  <a:ext cx="2844575" cy="719936"/>
                </a:xfrm>
                <a:prstGeom prst="roundRect">
                  <a:avLst>
                    <a:gd name="adj" fmla="val 6000"/>
                  </a:avLst>
                </a:prstGeom>
                <a:solidFill>
                  <a:srgbClr val="F7F9FC"/>
                </a:solidFill>
                <a:ln w="9525">
                  <a:solidFill>
                    <a:srgbClr val="D6E2F0"/>
                  </a:solidFill>
                </a:ln>
              </p:spPr>
              <p:txBody>
                <a:bodyPr wrap="square" lIns="137160" tIns="45720" rIns="137160" bIns="45720" anchor="ctr"/>
                <a:lstStyle/>
                <a:p>
                  <a:pPr marL="0" algn="ctr">
                    <a:lnSpc>
                      <a:spcPct val="102000"/>
                    </a:lnSpc>
                    <a:spcBef>
                      <a:spcPts val="0"/>
                    </a:spcBef>
                    <a:spcAft>
                      <a:spcPts val="0"/>
                    </a:spcAft>
                    <a:buNone/>
                  </a:pPr>
                  <a:r>
                    <a:rPr lang="en-US" b="0" i="0" dirty="0">
                      <a:solidFill>
                        <a:srgbClr val="3C3C3C"/>
                      </a:solidFill>
                      <a:latin typeface="Arial"/>
                      <a:cs typeface="Arial"/>
                    </a:rPr>
                    <a:t>PsN + NONMEM</a:t>
                  </a:r>
                </a:p>
              </p:txBody>
            </p:sp>
            <p:sp>
              <p:nvSpPr>
                <p:cNvPr id="31" name="rg1"/>
                <p:cNvSpPr/>
                <p:nvPr/>
              </p:nvSpPr>
              <p:spPr>
                <a:xfrm>
                  <a:off x="9222757" y="2961760"/>
                  <a:ext cx="2222355" cy="719936"/>
                </a:xfrm>
                <a:prstGeom prst="roundRect">
                  <a:avLst>
                    <a:gd name="adj" fmla="val 22000"/>
                  </a:avLst>
                </a:prstGeom>
                <a:solidFill>
                  <a:srgbClr val="2E7D32"/>
                </a:solidFill>
                <a:ln>
                  <a:noFill/>
                </a:ln>
              </p:spPr>
              <p:txBody>
                <a:bodyPr wrap="square" lIns="91440" tIns="45720" rIns="91440" bIns="45720" anchor="ctr"/>
                <a:lstStyle/>
                <a:p>
                  <a:pPr marL="0" algn="ctr">
                    <a:lnSpc>
                      <a:spcPct val="102000"/>
                    </a:lnSpc>
                    <a:spcBef>
                      <a:spcPts val="0"/>
                    </a:spcBef>
                    <a:spcAft>
                      <a:spcPts val="0"/>
                    </a:spcAft>
                    <a:buNone/>
                  </a:pPr>
                  <a:r>
                    <a:rPr lang="en-US" b="1" i="0" dirty="0">
                      <a:solidFill>
                        <a:srgbClr val="FFFFFF"/>
                      </a:solidFill>
                      <a:latin typeface="Arial"/>
                      <a:cs typeface="Arial"/>
                    </a:rPr>
                    <a:t>Accepted</a:t>
                  </a:r>
                </a:p>
              </p:txBody>
            </p:sp>
            <p:sp>
              <p:nvSpPr>
                <p:cNvPr id="32" name="fam2"/>
                <p:cNvSpPr/>
                <p:nvPr/>
              </p:nvSpPr>
              <p:spPr>
                <a:xfrm>
                  <a:off x="746888" y="3765351"/>
                  <a:ext cx="2266017" cy="719936"/>
                </a:xfrm>
                <a:prstGeom prst="roundRect">
                  <a:avLst>
                    <a:gd name="adj" fmla="val 6000"/>
                  </a:avLst>
                </a:prstGeom>
                <a:solidFill>
                  <a:srgbClr val="ECEFF3"/>
                </a:solidFill>
                <a:ln w="9525">
                  <a:solidFill>
                    <a:srgbClr val="D6E2F0"/>
                  </a:solidFill>
                </a:ln>
              </p:spPr>
              <p:txBody>
                <a:bodyPr wrap="square" lIns="137160" tIns="45720" rIns="137160" bIns="45720" anchor="ctr"/>
                <a:lstStyle/>
                <a:p>
                  <a:pPr marL="0" algn="ctr">
                    <a:lnSpc>
                      <a:spcPct val="102000"/>
                    </a:lnSpc>
                    <a:spcBef>
                      <a:spcPts val="0"/>
                    </a:spcBef>
                    <a:spcAft>
                      <a:spcPts val="0"/>
                    </a:spcAft>
                    <a:buNone/>
                  </a:pPr>
                  <a:r>
                    <a:rPr lang="en-US" b="1" i="0" dirty="0">
                      <a:solidFill>
                        <a:srgbClr val="0460A9"/>
                      </a:solidFill>
                      <a:latin typeface="Arial"/>
                      <a:cs typeface="Arial"/>
                    </a:rPr>
                    <a:t>Penalized regression</a:t>
                  </a:r>
                </a:p>
              </p:txBody>
            </p:sp>
            <p:sp>
              <p:nvSpPr>
                <p:cNvPr id="33" name="me2"/>
                <p:cNvSpPr/>
                <p:nvPr/>
              </p:nvSpPr>
              <p:spPr>
                <a:xfrm>
                  <a:off x="3090046" y="3765351"/>
                  <a:ext cx="3133854" cy="719936"/>
                </a:xfrm>
                <a:prstGeom prst="roundRect">
                  <a:avLst>
                    <a:gd name="adj" fmla="val 6000"/>
                  </a:avLst>
                </a:prstGeom>
                <a:solidFill>
                  <a:srgbClr val="EAF1FA"/>
                </a:solidFill>
                <a:ln w="9525">
                  <a:solidFill>
                    <a:srgbClr val="D6E2F0"/>
                  </a:solidFill>
                </a:ln>
              </p:spPr>
              <p:txBody>
                <a:bodyPr wrap="square" lIns="137160" tIns="45720" rIns="137160" bIns="45720" anchor="ctr"/>
                <a:lstStyle/>
                <a:p>
                  <a:pPr marL="0" algn="ctr">
                    <a:lnSpc>
                      <a:spcPct val="102000"/>
                    </a:lnSpc>
                    <a:spcBef>
                      <a:spcPts val="0"/>
                    </a:spcBef>
                    <a:spcAft>
                      <a:spcPts val="0"/>
                    </a:spcAft>
                    <a:buNone/>
                  </a:pPr>
                  <a:r>
                    <a:rPr lang="en-US" b="0" i="0" dirty="0">
                      <a:solidFill>
                        <a:srgbClr val="5A5A5A"/>
                      </a:solidFill>
                      <a:latin typeface="Arial"/>
                      <a:cs typeface="Arial"/>
                    </a:rPr>
                    <a:t>LASSO · AALASSO</a:t>
                  </a:r>
                </a:p>
              </p:txBody>
            </p:sp>
            <p:sp>
              <p:nvSpPr>
                <p:cNvPr id="34" name="sw2"/>
                <p:cNvSpPr/>
                <p:nvPr/>
              </p:nvSpPr>
              <p:spPr>
                <a:xfrm>
                  <a:off x="6301041" y="3765351"/>
                  <a:ext cx="2844575" cy="719936"/>
                </a:xfrm>
                <a:prstGeom prst="roundRect">
                  <a:avLst>
                    <a:gd name="adj" fmla="val 6000"/>
                  </a:avLst>
                </a:prstGeom>
                <a:solidFill>
                  <a:srgbClr val="F7F9FC"/>
                </a:solidFill>
                <a:ln w="9525">
                  <a:solidFill>
                    <a:srgbClr val="D6E2F0"/>
                  </a:solidFill>
                </a:ln>
              </p:spPr>
              <p:txBody>
                <a:bodyPr wrap="square" lIns="137160" tIns="45720" rIns="137160" bIns="45720" anchor="ctr"/>
                <a:lstStyle/>
                <a:p>
                  <a:pPr marL="0" algn="ctr">
                    <a:lnSpc>
                      <a:spcPct val="102000"/>
                    </a:lnSpc>
                    <a:spcBef>
                      <a:spcPts val="0"/>
                    </a:spcBef>
                    <a:spcAft>
                      <a:spcPts val="0"/>
                    </a:spcAft>
                    <a:buNone/>
                  </a:pPr>
                  <a:r>
                    <a:rPr lang="en-US" b="0" i="0" dirty="0">
                      <a:solidFill>
                        <a:srgbClr val="3C3C3C"/>
                      </a:solidFill>
                      <a:latin typeface="Arial"/>
                      <a:cs typeface="Arial"/>
                    </a:rPr>
                    <a:t>PsN + NONMEM (lasso)</a:t>
                  </a:r>
                </a:p>
              </p:txBody>
            </p:sp>
            <p:sp>
              <p:nvSpPr>
                <p:cNvPr id="35" name="rg2"/>
                <p:cNvSpPr/>
                <p:nvPr/>
              </p:nvSpPr>
              <p:spPr>
                <a:xfrm>
                  <a:off x="9222757" y="3765351"/>
                  <a:ext cx="2222355" cy="719936"/>
                </a:xfrm>
                <a:prstGeom prst="roundRect">
                  <a:avLst>
                    <a:gd name="adj" fmla="val 22000"/>
                  </a:avLst>
                </a:prstGeom>
                <a:solidFill>
                  <a:srgbClr val="C77700"/>
                </a:solidFill>
                <a:ln>
                  <a:noFill/>
                </a:ln>
              </p:spPr>
              <p:txBody>
                <a:bodyPr wrap="square" lIns="91440" tIns="45720" rIns="91440" bIns="45720" anchor="ctr"/>
                <a:lstStyle/>
                <a:p>
                  <a:pPr marL="0" algn="ctr">
                    <a:lnSpc>
                      <a:spcPct val="102000"/>
                    </a:lnSpc>
                    <a:spcBef>
                      <a:spcPts val="0"/>
                    </a:spcBef>
                    <a:spcAft>
                      <a:spcPts val="0"/>
                    </a:spcAft>
                    <a:buNone/>
                  </a:pPr>
                  <a:r>
                    <a:rPr lang="en-US" b="1" i="0" dirty="0">
                      <a:solidFill>
                        <a:srgbClr val="FFFFFF"/>
                      </a:solidFill>
                      <a:latin typeface="Arial"/>
                      <a:cs typeface="Arial"/>
                    </a:rPr>
                    <a:t>Capable; rare in submissions</a:t>
                  </a:r>
                </a:p>
              </p:txBody>
            </p:sp>
            <p:sp>
              <p:nvSpPr>
                <p:cNvPr id="36" name="fam3"/>
                <p:cNvSpPr/>
                <p:nvPr/>
              </p:nvSpPr>
              <p:spPr>
                <a:xfrm>
                  <a:off x="746888" y="4568942"/>
                  <a:ext cx="2266017" cy="719936"/>
                </a:xfrm>
                <a:prstGeom prst="roundRect">
                  <a:avLst>
                    <a:gd name="adj" fmla="val 6000"/>
                  </a:avLst>
                </a:prstGeom>
                <a:solidFill>
                  <a:srgbClr val="ECEFF3"/>
                </a:solidFill>
                <a:ln w="9525">
                  <a:solidFill>
                    <a:srgbClr val="D6E2F0"/>
                  </a:solidFill>
                </a:ln>
              </p:spPr>
              <p:txBody>
                <a:bodyPr wrap="square" lIns="137160" tIns="45720" rIns="137160" bIns="45720" anchor="ctr"/>
                <a:lstStyle/>
                <a:p>
                  <a:pPr marL="0" algn="ctr">
                    <a:lnSpc>
                      <a:spcPct val="102000"/>
                    </a:lnSpc>
                    <a:spcBef>
                      <a:spcPts val="0"/>
                    </a:spcBef>
                    <a:spcAft>
                      <a:spcPts val="0"/>
                    </a:spcAft>
                    <a:buNone/>
                  </a:pPr>
                  <a:r>
                    <a:rPr lang="en-US" b="1" i="0" dirty="0">
                      <a:solidFill>
                        <a:srgbClr val="0460A9"/>
                      </a:solidFill>
                      <a:latin typeface="Arial"/>
                      <a:cs typeface="Arial"/>
                    </a:rPr>
                    <a:t>Machine learning (EBE)</a:t>
                  </a:r>
                </a:p>
              </p:txBody>
            </p:sp>
            <p:sp>
              <p:nvSpPr>
                <p:cNvPr id="37" name="me3"/>
                <p:cNvSpPr/>
                <p:nvPr/>
              </p:nvSpPr>
              <p:spPr>
                <a:xfrm>
                  <a:off x="3090046" y="4568942"/>
                  <a:ext cx="3133854" cy="719936"/>
                </a:xfrm>
                <a:prstGeom prst="roundRect">
                  <a:avLst>
                    <a:gd name="adj" fmla="val 6000"/>
                  </a:avLst>
                </a:prstGeom>
                <a:solidFill>
                  <a:srgbClr val="EAF1FA"/>
                </a:solidFill>
                <a:ln w="9525">
                  <a:solidFill>
                    <a:srgbClr val="D6E2F0"/>
                  </a:solidFill>
                </a:ln>
              </p:spPr>
              <p:txBody>
                <a:bodyPr wrap="square" lIns="137160" tIns="45720" rIns="137160" bIns="45720" anchor="ctr"/>
                <a:lstStyle/>
                <a:p>
                  <a:pPr marL="0" algn="ctr">
                    <a:lnSpc>
                      <a:spcPct val="102000"/>
                    </a:lnSpc>
                    <a:spcBef>
                      <a:spcPts val="0"/>
                    </a:spcBef>
                    <a:spcAft>
                      <a:spcPts val="0"/>
                    </a:spcAft>
                    <a:buNone/>
                  </a:pPr>
                  <a:r>
                    <a:rPr lang="en-US" b="0" i="0" dirty="0">
                      <a:solidFill>
                        <a:srgbClr val="5A5A5A"/>
                      </a:solidFill>
                      <a:latin typeface="Arial"/>
                      <a:cs typeface="Arial"/>
                    </a:rPr>
                    <a:t>RF · XGB · ridge</a:t>
                  </a:r>
                </a:p>
              </p:txBody>
            </p:sp>
            <p:sp>
              <p:nvSpPr>
                <p:cNvPr id="38" name="sw3"/>
                <p:cNvSpPr/>
                <p:nvPr/>
              </p:nvSpPr>
              <p:spPr>
                <a:xfrm>
                  <a:off x="6301041" y="4568942"/>
                  <a:ext cx="2844575" cy="719936"/>
                </a:xfrm>
                <a:prstGeom prst="roundRect">
                  <a:avLst>
                    <a:gd name="adj" fmla="val 6000"/>
                  </a:avLst>
                </a:prstGeom>
                <a:solidFill>
                  <a:srgbClr val="F7F9FC"/>
                </a:solidFill>
                <a:ln w="9525">
                  <a:solidFill>
                    <a:srgbClr val="D6E2F0"/>
                  </a:solidFill>
                </a:ln>
              </p:spPr>
              <p:txBody>
                <a:bodyPr wrap="square" lIns="137160" tIns="45720" rIns="137160" bIns="45720" anchor="ctr"/>
                <a:lstStyle/>
                <a:p>
                  <a:pPr marL="0" algn="ctr">
                    <a:lnSpc>
                      <a:spcPct val="102000"/>
                    </a:lnSpc>
                    <a:spcBef>
                      <a:spcPts val="0"/>
                    </a:spcBef>
                    <a:spcAft>
                      <a:spcPts val="0"/>
                    </a:spcAft>
                    <a:buNone/>
                  </a:pPr>
                  <a:r>
                    <a:rPr lang="en-US" b="0" i="0" dirty="0">
                      <a:solidFill>
                        <a:srgbClr val="3C3C3C"/>
                      </a:solidFill>
                      <a:latin typeface="Arial"/>
                      <a:cs typeface="Arial"/>
                    </a:rPr>
                    <a:t>R / Python packages</a:t>
                  </a:r>
                </a:p>
              </p:txBody>
            </p:sp>
            <p:sp>
              <p:nvSpPr>
                <p:cNvPr id="39" name="rg3"/>
                <p:cNvSpPr/>
                <p:nvPr/>
              </p:nvSpPr>
              <p:spPr>
                <a:xfrm>
                  <a:off x="9222757" y="4568942"/>
                  <a:ext cx="2222355" cy="719936"/>
                </a:xfrm>
                <a:prstGeom prst="roundRect">
                  <a:avLst>
                    <a:gd name="adj" fmla="val 22000"/>
                  </a:avLst>
                </a:prstGeom>
                <a:solidFill>
                  <a:srgbClr val="7C7C7C"/>
                </a:solidFill>
                <a:ln>
                  <a:noFill/>
                </a:ln>
              </p:spPr>
              <p:txBody>
                <a:bodyPr wrap="square" lIns="91440" tIns="45720" rIns="91440" bIns="45720" anchor="ctr"/>
                <a:lstStyle/>
                <a:p>
                  <a:pPr marL="0" algn="ctr">
                    <a:lnSpc>
                      <a:spcPct val="102000"/>
                    </a:lnSpc>
                    <a:spcBef>
                      <a:spcPts val="0"/>
                    </a:spcBef>
                    <a:spcAft>
                      <a:spcPts val="0"/>
                    </a:spcAft>
                    <a:buNone/>
                  </a:pPr>
                  <a:r>
                    <a:rPr lang="en-US" b="1" i="0" dirty="0">
                      <a:solidFill>
                        <a:srgbClr val="FFFFFF"/>
                      </a:solidFill>
                      <a:latin typeface="Arial"/>
                      <a:cs typeface="Arial"/>
                    </a:rPr>
                    <a:t>Exploratory</a:t>
                  </a:r>
                </a:p>
              </p:txBody>
            </p:sp>
            <p:sp>
              <p:nvSpPr>
                <p:cNvPr id="40" name="fam4"/>
                <p:cNvSpPr/>
                <p:nvPr/>
              </p:nvSpPr>
              <p:spPr>
                <a:xfrm>
                  <a:off x="746888" y="5372533"/>
                  <a:ext cx="2266017" cy="719936"/>
                </a:xfrm>
                <a:prstGeom prst="roundRect">
                  <a:avLst>
                    <a:gd name="adj" fmla="val 6000"/>
                  </a:avLst>
                </a:prstGeom>
                <a:solidFill>
                  <a:srgbClr val="ECEFF3"/>
                </a:solidFill>
                <a:ln w="9525">
                  <a:solidFill>
                    <a:srgbClr val="D6E2F0"/>
                  </a:solidFill>
                </a:ln>
              </p:spPr>
              <p:txBody>
                <a:bodyPr wrap="square" lIns="137160" tIns="45720" rIns="137160" bIns="45720" anchor="ctr"/>
                <a:lstStyle/>
                <a:p>
                  <a:pPr marL="0" algn="ctr">
                    <a:lnSpc>
                      <a:spcPct val="102000"/>
                    </a:lnSpc>
                    <a:spcBef>
                      <a:spcPts val="0"/>
                    </a:spcBef>
                    <a:spcAft>
                      <a:spcPts val="0"/>
                    </a:spcAft>
                    <a:buNone/>
                  </a:pPr>
                  <a:r>
                    <a:rPr lang="en-US" b="1" i="0" dirty="0">
                      <a:solidFill>
                        <a:srgbClr val="0460A9"/>
                      </a:solidFill>
                      <a:latin typeface="Arial"/>
                      <a:cs typeface="Arial"/>
                    </a:rPr>
                    <a:t>Generative AI</a:t>
                  </a:r>
                </a:p>
              </p:txBody>
            </p:sp>
            <p:sp>
              <p:nvSpPr>
                <p:cNvPr id="41" name="me4"/>
                <p:cNvSpPr/>
                <p:nvPr/>
              </p:nvSpPr>
              <p:spPr>
                <a:xfrm>
                  <a:off x="3090046" y="5372533"/>
                  <a:ext cx="3133854" cy="719936"/>
                </a:xfrm>
                <a:prstGeom prst="roundRect">
                  <a:avLst>
                    <a:gd name="adj" fmla="val 6000"/>
                  </a:avLst>
                </a:prstGeom>
                <a:solidFill>
                  <a:srgbClr val="EAF1FA"/>
                </a:solidFill>
                <a:ln w="9525">
                  <a:solidFill>
                    <a:srgbClr val="D6E2F0"/>
                  </a:solidFill>
                </a:ln>
              </p:spPr>
              <p:txBody>
                <a:bodyPr wrap="square" lIns="137160" tIns="45720" rIns="137160" bIns="45720" anchor="ctr"/>
                <a:lstStyle/>
                <a:p>
                  <a:pPr marL="0" algn="ctr">
                    <a:lnSpc>
                      <a:spcPct val="102000"/>
                    </a:lnSpc>
                    <a:spcBef>
                      <a:spcPts val="0"/>
                    </a:spcBef>
                    <a:spcAft>
                      <a:spcPts val="0"/>
                    </a:spcAft>
                    <a:buNone/>
                  </a:pPr>
                  <a:r>
                    <a:rPr lang="en-US" b="0" i="0" dirty="0">
                      <a:solidFill>
                        <a:srgbClr val="5A5A5A"/>
                      </a:solidFill>
                      <a:latin typeface="Arial"/>
                      <a:cs typeface="Arial"/>
                    </a:rPr>
                    <a:t>VAE </a:t>
                  </a:r>
                </a:p>
              </p:txBody>
            </p:sp>
            <p:sp>
              <p:nvSpPr>
                <p:cNvPr id="42" name="sw4"/>
                <p:cNvSpPr/>
                <p:nvPr/>
              </p:nvSpPr>
              <p:spPr>
                <a:xfrm>
                  <a:off x="6301041" y="5372533"/>
                  <a:ext cx="2844575" cy="719936"/>
                </a:xfrm>
                <a:prstGeom prst="roundRect">
                  <a:avLst>
                    <a:gd name="adj" fmla="val 6000"/>
                  </a:avLst>
                </a:prstGeom>
                <a:solidFill>
                  <a:srgbClr val="F7F9FC"/>
                </a:solidFill>
                <a:ln w="9525">
                  <a:solidFill>
                    <a:srgbClr val="D6E2F0"/>
                  </a:solidFill>
                </a:ln>
              </p:spPr>
              <p:txBody>
                <a:bodyPr wrap="square" lIns="137160" tIns="45720" rIns="137160" bIns="45720" anchor="ctr"/>
                <a:lstStyle/>
                <a:p>
                  <a:pPr marL="0" algn="ctr">
                    <a:lnSpc>
                      <a:spcPct val="102000"/>
                    </a:lnSpc>
                    <a:spcBef>
                      <a:spcPts val="0"/>
                    </a:spcBef>
                    <a:spcAft>
                      <a:spcPts val="0"/>
                    </a:spcAft>
                    <a:buNone/>
                  </a:pPr>
                  <a:r>
                    <a:rPr lang="en-US" b="0" i="0" dirty="0">
                      <a:solidFill>
                        <a:srgbClr val="3C3C3C"/>
                      </a:solidFill>
                      <a:latin typeface="Arial"/>
                      <a:cs typeface="Arial"/>
                    </a:rPr>
                    <a:t>nlmixr2 · PyTorch</a:t>
                  </a:r>
                </a:p>
              </p:txBody>
            </p:sp>
            <p:sp>
              <p:nvSpPr>
                <p:cNvPr id="43" name="rg4"/>
                <p:cNvSpPr/>
                <p:nvPr/>
              </p:nvSpPr>
              <p:spPr>
                <a:xfrm>
                  <a:off x="9222756" y="5372533"/>
                  <a:ext cx="2222355" cy="719936"/>
                </a:xfrm>
                <a:prstGeom prst="roundRect">
                  <a:avLst>
                    <a:gd name="adj" fmla="val 22000"/>
                  </a:avLst>
                </a:prstGeom>
                <a:solidFill>
                  <a:srgbClr val="7C7C7C"/>
                </a:solidFill>
                <a:ln>
                  <a:noFill/>
                </a:ln>
              </p:spPr>
              <p:txBody>
                <a:bodyPr wrap="square" lIns="91440" tIns="45720" rIns="91440" bIns="45720" anchor="ctr"/>
                <a:lstStyle/>
                <a:p>
                  <a:pPr algn="ctr">
                    <a:lnSpc>
                      <a:spcPct val="102000"/>
                    </a:lnSpc>
                  </a:pPr>
                  <a:r>
                    <a:rPr lang="en-US" b="1" dirty="0">
                      <a:solidFill>
                        <a:srgbClr val="FFFFFF"/>
                      </a:solidFill>
                      <a:cs typeface="Arial"/>
                    </a:rPr>
                    <a:t>Exploratory</a:t>
                  </a:r>
                  <a:endParaRPr lang="en-US" b="1" i="0" dirty="0">
                    <a:solidFill>
                      <a:srgbClr val="FFFFFF"/>
                    </a:solidFill>
                    <a:latin typeface="Arial"/>
                    <a:cs typeface="Arial"/>
                  </a:endParaRPr>
                </a:p>
              </p:txBody>
            </p:sp>
          </p:grpSp>
        </p:grpSp>
        <p:sp>
          <p:nvSpPr>
            <p:cNvPr id="17" name="Rectangle 16">
              <a:extLst>
                <a:ext uri="{FF2B5EF4-FFF2-40B4-BE49-F238E27FC236}">
                  <a16:creationId xmlns:a16="http://schemas.microsoft.com/office/drawing/2014/main" id="{FDC59EA2-4F7D-88FE-57EA-F1F75F0DD861}"/>
                </a:ext>
              </a:extLst>
            </p:cNvPr>
            <p:cNvSpPr/>
            <p:nvPr/>
          </p:nvSpPr>
          <p:spPr>
            <a:xfrm>
              <a:off x="7730138" y="2604439"/>
              <a:ext cx="985476" cy="298166"/>
            </a:xfrm>
            <a:prstGeom prst="rect">
              <a:avLst/>
            </a:prstGeom>
            <a:noFill/>
            <a:ln>
              <a:solidFill>
                <a:srgbClr val="00B050"/>
              </a:solidFill>
              <a:prstDash val="dash"/>
            </a:ln>
          </p:spPr>
          <p:style>
            <a:lnRef idx="2">
              <a:schemeClr val="accent3"/>
            </a:lnRef>
            <a:fillRef idx="1">
              <a:schemeClr val="lt1"/>
            </a:fillRef>
            <a:effectRef idx="0">
              <a:schemeClr val="accent3"/>
            </a:effectRef>
            <a:fontRef idx="minor">
              <a:schemeClr val="dk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sp>
          <p:nvSpPr>
            <p:cNvPr id="19" name="Rectangle 18">
              <a:extLst>
                <a:ext uri="{FF2B5EF4-FFF2-40B4-BE49-F238E27FC236}">
                  <a16:creationId xmlns:a16="http://schemas.microsoft.com/office/drawing/2014/main" id="{F022F31E-65A5-E55B-5C53-28C32D4CF7C2}"/>
                </a:ext>
              </a:extLst>
            </p:cNvPr>
            <p:cNvSpPr/>
            <p:nvPr/>
          </p:nvSpPr>
          <p:spPr>
            <a:xfrm>
              <a:off x="6503574" y="4632854"/>
              <a:ext cx="2212040" cy="449350"/>
            </a:xfrm>
            <a:prstGeom prst="rect">
              <a:avLst/>
            </a:prstGeom>
            <a:noFill/>
            <a:ln>
              <a:solidFill>
                <a:srgbClr val="00B050"/>
              </a:solidFill>
              <a:prstDash val="dash"/>
            </a:ln>
          </p:spPr>
          <p:style>
            <a:lnRef idx="2">
              <a:schemeClr val="accent3"/>
            </a:lnRef>
            <a:fillRef idx="1">
              <a:schemeClr val="lt1"/>
            </a:fillRef>
            <a:effectRef idx="0">
              <a:schemeClr val="accent3"/>
            </a:effectRef>
            <a:fontRef idx="minor">
              <a:schemeClr val="dk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sp>
          <p:nvSpPr>
            <p:cNvPr id="46" name="Rectangle 45">
              <a:extLst>
                <a:ext uri="{FF2B5EF4-FFF2-40B4-BE49-F238E27FC236}">
                  <a16:creationId xmlns:a16="http://schemas.microsoft.com/office/drawing/2014/main" id="{C8C13EEC-D0F6-263A-18E3-CBCA4A77DB12}"/>
                </a:ext>
              </a:extLst>
            </p:cNvPr>
            <p:cNvSpPr/>
            <p:nvPr/>
          </p:nvSpPr>
          <p:spPr>
            <a:xfrm>
              <a:off x="6525099" y="5385660"/>
              <a:ext cx="2212040" cy="449350"/>
            </a:xfrm>
            <a:prstGeom prst="rect">
              <a:avLst/>
            </a:prstGeom>
            <a:noFill/>
            <a:ln>
              <a:solidFill>
                <a:srgbClr val="00B050"/>
              </a:solidFill>
              <a:prstDash val="dash"/>
            </a:ln>
          </p:spPr>
          <p:style>
            <a:lnRef idx="2">
              <a:schemeClr val="accent3"/>
            </a:lnRef>
            <a:fillRef idx="1">
              <a:schemeClr val="lt1"/>
            </a:fillRef>
            <a:effectRef idx="0">
              <a:schemeClr val="accent3"/>
            </a:effectRef>
            <a:fontRef idx="minor">
              <a:schemeClr val="dk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grpSp>
      <p:sp>
        <p:nvSpPr>
          <p:cNvPr id="49" name="TextBox 48">
            <a:extLst>
              <a:ext uri="{FF2B5EF4-FFF2-40B4-BE49-F238E27FC236}">
                <a16:creationId xmlns:a16="http://schemas.microsoft.com/office/drawing/2014/main" id="{87BDA95E-FA36-3543-7BD3-89F943357F5B}"/>
              </a:ext>
            </a:extLst>
          </p:cNvPr>
          <p:cNvSpPr txBox="1"/>
          <p:nvPr/>
        </p:nvSpPr>
        <p:spPr>
          <a:xfrm>
            <a:off x="3423237" y="5698793"/>
            <a:ext cx="8613802" cy="307777"/>
          </a:xfrm>
          <a:prstGeom prst="rect">
            <a:avLst/>
          </a:prstGeom>
          <a:noFill/>
        </p:spPr>
        <p:txBody>
          <a:bodyPr wrap="square">
            <a:spAutoFit/>
          </a:bodyPr>
          <a:lstStyle/>
          <a:p>
            <a:r>
              <a:rPr lang="en-US" sz="1400" b="0" i="1" dirty="0" err="1">
                <a:solidFill>
                  <a:srgbClr val="5A5A5A"/>
                </a:solidFill>
                <a:latin typeface="+mj-lt"/>
                <a:cs typeface="Arial"/>
              </a:rPr>
              <a:t>FDA“accepted</a:t>
            </a:r>
            <a:r>
              <a:rPr lang="en-US" sz="1400" b="0" i="1" dirty="0">
                <a:solidFill>
                  <a:srgbClr val="5A5A5A"/>
                </a:solidFill>
                <a:latin typeface="+mj-lt"/>
                <a:cs typeface="Arial"/>
              </a:rPr>
              <a:t>” = track record in submissions + reviewer use + sponsor validation (</a:t>
            </a:r>
            <a:r>
              <a:rPr lang="en-US" sz="1400" b="0" i="1" dirty="0" err="1">
                <a:solidFill>
                  <a:srgbClr val="5A5A5A"/>
                </a:solidFill>
                <a:latin typeface="+mj-lt"/>
                <a:cs typeface="Arial"/>
              </a:rPr>
              <a:t>GxP</a:t>
            </a:r>
            <a:r>
              <a:rPr lang="en-US" sz="1400" b="0" i="1" dirty="0">
                <a:solidFill>
                  <a:srgbClr val="5A5A5A"/>
                </a:solidFill>
                <a:latin typeface="+mj-lt"/>
                <a:cs typeface="Arial"/>
              </a:rPr>
              <a:t>)</a:t>
            </a:r>
            <a:endParaRPr lang="en-US" sz="2000" dirty="0"/>
          </a:p>
        </p:txBody>
      </p:sp>
      <p:sp>
        <p:nvSpPr>
          <p:cNvPr id="52" name="TextBox 51">
            <a:extLst>
              <a:ext uri="{FF2B5EF4-FFF2-40B4-BE49-F238E27FC236}">
                <a16:creationId xmlns:a16="http://schemas.microsoft.com/office/drawing/2014/main" id="{77AA2B7E-E018-DD8C-D4D6-05B4BC20FC63}"/>
              </a:ext>
            </a:extLst>
          </p:cNvPr>
          <p:cNvSpPr txBox="1"/>
          <p:nvPr/>
        </p:nvSpPr>
        <p:spPr>
          <a:xfrm>
            <a:off x="606652" y="5729571"/>
            <a:ext cx="2964423" cy="276999"/>
          </a:xfrm>
          <a:prstGeom prst="rect">
            <a:avLst/>
          </a:prstGeom>
          <a:noFill/>
        </p:spPr>
        <p:txBody>
          <a:bodyPr wrap="square">
            <a:spAutoFit/>
          </a:bodyPr>
          <a:lstStyle/>
          <a:p>
            <a:r>
              <a:rPr lang="en-US" sz="1200" b="1" i="0" dirty="0">
                <a:solidFill>
                  <a:srgbClr val="0460A9"/>
                </a:solidFill>
                <a:latin typeface="Arial"/>
                <a:cs typeface="Arial"/>
              </a:rPr>
              <a:t>EBE (Empirical Bayesian Estimates)</a:t>
            </a:r>
            <a:endParaRPr lang="en-US" sz="2400" dirty="0"/>
          </a:p>
        </p:txBody>
      </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1C771D3E-66BD-4A8B-AFA9-E187E08ACC6E}" type="slidenum">
              <a:rPr lang="en-US" sz="1000">
                <a:solidFill>
                  <a:srgbClr val="8A8A8A"/>
                </a:solidFill>
                <a:latin typeface="Arial"/>
              </a:rPr>
              <a:t>33</a:t>
            </a:fld>
            <a:endParaRPr lang="en-US" sz="1000">
              <a:solidFill>
                <a:srgbClr val="8A8A8A"/>
              </a:solidFill>
              <a:latin typeface="Arial"/>
            </a:endParaRPr>
          </a:p>
        </p:txBody>
      </p:sp>
      <p:sp>
        <p:nvSpPr>
          <p:cNvPr id="5" name="Title">
            <a:extLst>
              <a:ext uri="{FF2B5EF4-FFF2-40B4-BE49-F238E27FC236}">
                <a16:creationId xmlns:a16="http://schemas.microsoft.com/office/drawing/2014/main" id="{102F519A-1079-3B08-66AA-C694D7CC85E5}"/>
              </a:ext>
            </a:extLst>
          </p:cNvPr>
          <p:cNvSpPr txBox="1"/>
          <p:nvPr/>
        </p:nvSpPr>
        <p:spPr>
          <a:xfrm>
            <a:off x="155280" y="235098"/>
            <a:ext cx="11094720" cy="525396"/>
          </a:xfrm>
          <a:prstGeom prst="rect">
            <a:avLst/>
          </a:prstGeom>
          <a:noFill/>
        </p:spPr>
        <p:txBody>
          <a:bodyPr wrap="square" lIns="0" tIns="0" rIns="0" bIns="0" anchor="t"/>
          <a:lstStyle/>
          <a:p>
            <a:r>
              <a:rPr lang="en-US" sz="2800" b="1" dirty="0">
                <a:solidFill>
                  <a:srgbClr val="0460A9"/>
                </a:solidFill>
                <a:latin typeface="Arial"/>
                <a:cs typeface="Arial"/>
              </a:rPr>
              <a:t>Landscape of covariate selection: Methods &amp; Software</a:t>
            </a:r>
          </a:p>
        </p:txBody>
      </p:sp>
    </p:spTree>
    <p:extLst>
      <p:ext uri="{BB962C8B-B14F-4D97-AF65-F5344CB8AC3E}">
        <p14:creationId xmlns:p14="http://schemas.microsoft.com/office/powerpoint/2010/main" val="18288369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3288A-D456-72E5-0347-631E23502B1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EA0C079-36E3-F599-AC9A-EC78A6312AA9}"/>
              </a:ext>
            </a:extLst>
          </p:cNvPr>
          <p:cNvPicPr>
            <a:picLocks noChangeAspect="1"/>
          </p:cNvPicPr>
          <p:nvPr/>
        </p:nvPicPr>
        <p:blipFill>
          <a:blip r:embed="rId3"/>
          <a:stretch>
            <a:fillRect/>
          </a:stretch>
        </p:blipFill>
        <p:spPr>
          <a:xfrm>
            <a:off x="2049938" y="1159747"/>
            <a:ext cx="8090891" cy="4909982"/>
          </a:xfrm>
          <a:prstGeom prst="rect">
            <a:avLst/>
          </a:prstGeom>
        </p:spPr>
      </p:pic>
      <p:sp>
        <p:nvSpPr>
          <p:cNvPr id="960" name="slidenum_fn">
            <a:extLst>
              <a:ext uri="{FF2B5EF4-FFF2-40B4-BE49-F238E27FC236}">
                <a16:creationId xmlns:a16="http://schemas.microsoft.com/office/drawing/2014/main" id="{771858CC-8712-B0F5-20B1-4E2CA357B016}"/>
              </a:ext>
            </a:extLst>
          </p:cNvPr>
          <p:cNvSpPr txBox="1"/>
          <p:nvPr/>
        </p:nvSpPr>
        <p:spPr>
          <a:xfrm>
            <a:off x="11250000" y="6560000"/>
            <a:ext cx="760000" cy="260000"/>
          </a:xfrm>
          <a:prstGeom prst="rect">
            <a:avLst/>
          </a:prstGeom>
          <a:noFill/>
        </p:spPr>
        <p:txBody>
          <a:bodyPr wrap="none" lIns="0" tIns="0" rIns="0" bIns="0" anchor="ctr"/>
          <a:lstStyle/>
          <a:p>
            <a:pPr algn="r">
              <a:buNone/>
            </a:pPr>
            <a:fld id="{F088BF29-56BA-4C96-9148-AF5D956366D1}" type="slidenum">
              <a:rPr lang="en-US" sz="1000">
                <a:solidFill>
                  <a:srgbClr val="8A8A8A"/>
                </a:solidFill>
                <a:latin typeface="Arial"/>
              </a:rPr>
              <a:t>34</a:t>
            </a:fld>
            <a:endParaRPr lang="en-US" sz="1000">
              <a:solidFill>
                <a:srgbClr val="8A8A8A"/>
              </a:solidFill>
              <a:latin typeface="Arial"/>
            </a:endParaRPr>
          </a:p>
        </p:txBody>
      </p:sp>
      <p:sp>
        <p:nvSpPr>
          <p:cNvPr id="11" name="Content Placeholder 1">
            <a:extLst>
              <a:ext uri="{FF2B5EF4-FFF2-40B4-BE49-F238E27FC236}">
                <a16:creationId xmlns:a16="http://schemas.microsoft.com/office/drawing/2014/main" id="{4255A739-1974-9215-18C6-1A48183AD917}"/>
              </a:ext>
            </a:extLst>
          </p:cNvPr>
          <p:cNvSpPr txBox="1">
            <a:spLocks/>
          </p:cNvSpPr>
          <p:nvPr/>
        </p:nvSpPr>
        <p:spPr bwMode="gray">
          <a:xfrm>
            <a:off x="312895" y="232886"/>
            <a:ext cx="11064240" cy="775597"/>
          </a:xfrm>
          <a:prstGeom prst="rect">
            <a:avLst/>
          </a:prstGeom>
        </p:spPr>
        <p:txBody>
          <a:bodyPr vert="horz"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r>
              <a:rPr lang="en-US" sz="2800" dirty="0">
                <a:solidFill>
                  <a:srgbClr val="0460A9"/>
                </a:solidFill>
                <a:latin typeface="Arial"/>
                <a:cs typeface="Arial"/>
              </a:rPr>
              <a:t>Design 16 scenarios with easy </a:t>
            </a:r>
            <a:r>
              <a:rPr lang="zh-CN" altLang="en-US" sz="2800" dirty="0">
                <a:solidFill>
                  <a:srgbClr val="0460A9"/>
                </a:solidFill>
                <a:latin typeface="Arial"/>
                <a:cs typeface="Arial"/>
              </a:rPr>
              <a:t>→ </a:t>
            </a:r>
            <a:r>
              <a:rPr lang="en-US" altLang="zh-CN" sz="2800" dirty="0">
                <a:solidFill>
                  <a:srgbClr val="0460A9"/>
                </a:solidFill>
                <a:latin typeface="Arial"/>
                <a:cs typeface="Arial"/>
              </a:rPr>
              <a:t>complex covariate effects from the overall covariate space</a:t>
            </a:r>
            <a:endParaRPr lang="en-US" sz="2800" dirty="0">
              <a:solidFill>
                <a:srgbClr val="0460A9"/>
              </a:solidFill>
              <a:latin typeface="Arial"/>
              <a:cs typeface="Arial"/>
            </a:endParaRPr>
          </a:p>
        </p:txBody>
      </p:sp>
    </p:spTree>
    <p:extLst>
      <p:ext uri="{BB962C8B-B14F-4D97-AF65-F5344CB8AC3E}">
        <p14:creationId xmlns:p14="http://schemas.microsoft.com/office/powerpoint/2010/main" val="28257775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548640" y="411480"/>
            <a:ext cx="11064240" cy="430887"/>
          </a:xfrm>
        </p:spPr>
        <p:txBody>
          <a:bodyPr/>
          <a:lstStyle/>
          <a:p>
            <a:pPr algn="l">
              <a:buNone/>
            </a:pPr>
            <a:r>
              <a:rPr lang="en-US" sz="2400" b="1" dirty="0">
                <a:solidFill>
                  <a:srgbClr val="0460A9"/>
                </a:solidFill>
                <a:latin typeface="Arial"/>
                <a:cs typeface="Arial"/>
              </a:rPr>
              <a:t>NHANES-based virtual patients preserve real covariate correlations</a:t>
            </a:r>
          </a:p>
        </p:txBody>
      </p:sp>
      <p:grpSp>
        <p:nvGrpSpPr>
          <p:cNvPr id="33" name="Group 32">
            <a:extLst>
              <a:ext uri="{FF2B5EF4-FFF2-40B4-BE49-F238E27FC236}">
                <a16:creationId xmlns:a16="http://schemas.microsoft.com/office/drawing/2014/main" id="{1C5AF61E-CF75-2166-E301-3AC1DBFD23C3}"/>
              </a:ext>
            </a:extLst>
          </p:cNvPr>
          <p:cNvGrpSpPr/>
          <p:nvPr/>
        </p:nvGrpSpPr>
        <p:grpSpPr>
          <a:xfrm>
            <a:off x="363246" y="2092825"/>
            <a:ext cx="3676377" cy="2334180"/>
            <a:chOff x="363246" y="2092825"/>
            <a:chExt cx="3676377" cy="2334180"/>
          </a:xfrm>
        </p:grpSpPr>
        <p:sp>
          <p:nvSpPr>
            <p:cNvPr id="7" name="TextBox 6">
              <a:extLst>
                <a:ext uri="{FF2B5EF4-FFF2-40B4-BE49-F238E27FC236}">
                  <a16:creationId xmlns:a16="http://schemas.microsoft.com/office/drawing/2014/main" id="{5A44C895-2334-325C-CC68-0C55B56710B6}"/>
                </a:ext>
              </a:extLst>
            </p:cNvPr>
            <p:cNvSpPr txBox="1"/>
            <p:nvPr/>
          </p:nvSpPr>
          <p:spPr>
            <a:xfrm>
              <a:off x="780619" y="2092825"/>
              <a:ext cx="2118730" cy="276999"/>
            </a:xfrm>
            <a:prstGeom prst="rect">
              <a:avLst/>
            </a:prstGeom>
            <a:noFill/>
          </p:spPr>
          <p:txBody>
            <a:bodyPr wrap="square" lIns="0" tIns="0" rIns="0" bIns="0" rtlCol="0">
              <a:spAutoFit/>
            </a:bodyPr>
            <a:lstStyle/>
            <a:p>
              <a:pPr algn="l">
                <a:spcBef>
                  <a:spcPts val="800"/>
                </a:spcBef>
              </a:pPr>
              <a:r>
                <a:rPr lang="en-US" dirty="0"/>
                <a:t>NHANES 2021-2023</a:t>
              </a:r>
            </a:p>
          </p:txBody>
        </p:sp>
        <p:sp>
          <p:nvSpPr>
            <p:cNvPr id="9" name="TextBox 8">
              <a:extLst>
                <a:ext uri="{FF2B5EF4-FFF2-40B4-BE49-F238E27FC236}">
                  <a16:creationId xmlns:a16="http://schemas.microsoft.com/office/drawing/2014/main" id="{5BBF500B-274C-BFF1-F32A-9D7EE82F5BB0}"/>
                </a:ext>
              </a:extLst>
            </p:cNvPr>
            <p:cNvSpPr txBox="1"/>
            <p:nvPr/>
          </p:nvSpPr>
          <p:spPr>
            <a:xfrm>
              <a:off x="363246" y="2734234"/>
              <a:ext cx="3676377" cy="1692771"/>
            </a:xfrm>
            <a:prstGeom prst="rect">
              <a:avLst/>
            </a:prstGeom>
            <a:noFill/>
          </p:spPr>
          <p:txBody>
            <a:bodyPr wrap="square" lIns="0" tIns="0" rIns="0" bIns="0" rtlCol="0">
              <a:spAutoFit/>
            </a:bodyPr>
            <a:lstStyle/>
            <a:p>
              <a:pPr marL="285750" indent="-285750">
                <a:spcBef>
                  <a:spcPts val="800"/>
                </a:spcBef>
                <a:buFont typeface="Arial" panose="020B0604020202020204" pitchFamily="34" charset="0"/>
                <a:buChar char="•"/>
              </a:pPr>
              <a:r>
                <a:rPr lang="en-US" dirty="0"/>
                <a:t>Stratified bootstrapping</a:t>
              </a:r>
              <a:br>
                <a:rPr lang="en-US" dirty="0"/>
              </a:br>
              <a:r>
                <a:rPr lang="en-US" dirty="0"/>
                <a:t> by Sex*Race </a:t>
              </a:r>
            </a:p>
            <a:p>
              <a:pPr marL="285750" indent="-285750">
                <a:spcBef>
                  <a:spcPts val="800"/>
                </a:spcBef>
                <a:buFont typeface="Arial" panose="020B0604020202020204" pitchFamily="34" charset="0"/>
                <a:buChar char="•"/>
              </a:pPr>
              <a:r>
                <a:rPr lang="en-US" dirty="0"/>
                <a:t>(|</a:t>
              </a:r>
              <a:r>
                <a:rPr lang="en-US" dirty="0" err="1"/>
                <a:t>delta_correlation</a:t>
              </a:r>
              <a:r>
                <a:rPr lang="en-US" dirty="0"/>
                <a:t>| &lt; 0.05) </a:t>
              </a:r>
            </a:p>
            <a:p>
              <a:pPr marL="285750" indent="-285750" algn="l">
                <a:spcBef>
                  <a:spcPts val="800"/>
                </a:spcBef>
                <a:buFont typeface="Arial" panose="020B0604020202020204" pitchFamily="34" charset="0"/>
                <a:buChar char="•"/>
              </a:pPr>
              <a:r>
                <a:rPr lang="en-US" dirty="0"/>
                <a:t>N= 300/80/40 patients</a:t>
              </a:r>
            </a:p>
            <a:p>
              <a:pPr marL="285750" indent="-285750" algn="l">
                <a:spcBef>
                  <a:spcPts val="800"/>
                </a:spcBef>
                <a:buFont typeface="Arial" panose="020B0604020202020204" pitchFamily="34" charset="0"/>
                <a:buChar char="•"/>
              </a:pPr>
              <a:r>
                <a:rPr lang="en-US" dirty="0"/>
                <a:t>100 datasets each case</a:t>
              </a:r>
            </a:p>
          </p:txBody>
        </p:sp>
      </p:grpSp>
      <p:grpSp>
        <p:nvGrpSpPr>
          <p:cNvPr id="43" name="Group 42">
            <a:extLst>
              <a:ext uri="{FF2B5EF4-FFF2-40B4-BE49-F238E27FC236}">
                <a16:creationId xmlns:a16="http://schemas.microsoft.com/office/drawing/2014/main" id="{7FA30331-BB43-9AE6-18D4-A1E4B50344A6}"/>
              </a:ext>
            </a:extLst>
          </p:cNvPr>
          <p:cNvGrpSpPr/>
          <p:nvPr/>
        </p:nvGrpSpPr>
        <p:grpSpPr>
          <a:xfrm>
            <a:off x="4547144" y="1242531"/>
            <a:ext cx="3149475" cy="1235860"/>
            <a:chOff x="4935901" y="1406603"/>
            <a:chExt cx="3149475" cy="1763888"/>
          </a:xfrm>
        </p:grpSpPr>
        <p:sp>
          <p:nvSpPr>
            <p:cNvPr id="15" name="Rectangle 14">
              <a:extLst>
                <a:ext uri="{FF2B5EF4-FFF2-40B4-BE49-F238E27FC236}">
                  <a16:creationId xmlns:a16="http://schemas.microsoft.com/office/drawing/2014/main" id="{53DB04BF-A9FA-2EED-3478-3D9E87A7FB71}"/>
                </a:ext>
              </a:extLst>
            </p:cNvPr>
            <p:cNvSpPr/>
            <p:nvPr/>
          </p:nvSpPr>
          <p:spPr>
            <a:xfrm>
              <a:off x="4935901" y="1970584"/>
              <a:ext cx="1144859" cy="72483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sp>
          <p:nvSpPr>
            <p:cNvPr id="17" name="Rectangle 16">
              <a:extLst>
                <a:ext uri="{FF2B5EF4-FFF2-40B4-BE49-F238E27FC236}">
                  <a16:creationId xmlns:a16="http://schemas.microsoft.com/office/drawing/2014/main" id="{5FF57DC2-F8F8-40B1-9A8F-1E209A1EB9F7}"/>
                </a:ext>
              </a:extLst>
            </p:cNvPr>
            <p:cNvSpPr/>
            <p:nvPr/>
          </p:nvSpPr>
          <p:spPr>
            <a:xfrm>
              <a:off x="6940517" y="1970584"/>
              <a:ext cx="1144859" cy="72483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cxnSp>
          <p:nvCxnSpPr>
            <p:cNvPr id="20" name="Straight Arrow Connector 19">
              <a:extLst>
                <a:ext uri="{FF2B5EF4-FFF2-40B4-BE49-F238E27FC236}">
                  <a16:creationId xmlns:a16="http://schemas.microsoft.com/office/drawing/2014/main" id="{D849E56F-A58A-FB81-F8C9-197E13F8B900}"/>
                </a:ext>
              </a:extLst>
            </p:cNvPr>
            <p:cNvCxnSpPr>
              <a:cxnSpLocks/>
            </p:cNvCxnSpPr>
            <p:nvPr/>
          </p:nvCxnSpPr>
          <p:spPr>
            <a:xfrm>
              <a:off x="5497551" y="1406603"/>
              <a:ext cx="0" cy="487344"/>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5496030-0F01-6873-E1F7-E6CB490F97FF}"/>
                </a:ext>
              </a:extLst>
            </p:cNvPr>
            <p:cNvCxnSpPr>
              <a:cxnSpLocks/>
            </p:cNvCxnSpPr>
            <p:nvPr/>
          </p:nvCxnSpPr>
          <p:spPr>
            <a:xfrm>
              <a:off x="6251331" y="2163271"/>
              <a:ext cx="495157" cy="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031E2F0F-A0D0-69D1-D20D-1847700845BA}"/>
                </a:ext>
              </a:extLst>
            </p:cNvPr>
            <p:cNvCxnSpPr>
              <a:cxnSpLocks/>
            </p:cNvCxnSpPr>
            <p:nvPr/>
          </p:nvCxnSpPr>
          <p:spPr>
            <a:xfrm flipH="1">
              <a:off x="6208917" y="2540629"/>
              <a:ext cx="559873" cy="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FC861BAC-D7D2-F04D-AB33-43E54158AC36}"/>
                </a:ext>
              </a:extLst>
            </p:cNvPr>
            <p:cNvSpPr txBox="1"/>
            <p:nvPr/>
          </p:nvSpPr>
          <p:spPr>
            <a:xfrm>
              <a:off x="5364603" y="2164289"/>
              <a:ext cx="613317" cy="276998"/>
            </a:xfrm>
            <a:prstGeom prst="rect">
              <a:avLst/>
            </a:prstGeom>
            <a:noFill/>
          </p:spPr>
          <p:txBody>
            <a:bodyPr wrap="square" lIns="0" tIns="0" rIns="0" bIns="0" rtlCol="0">
              <a:spAutoFit/>
            </a:bodyPr>
            <a:lstStyle/>
            <a:p>
              <a:pPr algn="l">
                <a:spcBef>
                  <a:spcPts val="800"/>
                </a:spcBef>
              </a:pPr>
              <a:r>
                <a:rPr lang="en-US" dirty="0" err="1"/>
                <a:t>Vc</a:t>
              </a:r>
              <a:endParaRPr lang="en-US" dirty="0"/>
            </a:p>
          </p:txBody>
        </p:sp>
        <p:cxnSp>
          <p:nvCxnSpPr>
            <p:cNvPr id="28" name="Straight Arrow Connector 27">
              <a:extLst>
                <a:ext uri="{FF2B5EF4-FFF2-40B4-BE49-F238E27FC236}">
                  <a16:creationId xmlns:a16="http://schemas.microsoft.com/office/drawing/2014/main" id="{9B176B85-0201-BFC8-C0FE-64A020D2CD10}"/>
                </a:ext>
              </a:extLst>
            </p:cNvPr>
            <p:cNvCxnSpPr>
              <a:cxnSpLocks/>
            </p:cNvCxnSpPr>
            <p:nvPr/>
          </p:nvCxnSpPr>
          <p:spPr>
            <a:xfrm>
              <a:off x="5516467" y="2840501"/>
              <a:ext cx="8240" cy="32999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2506BDB4-29F5-26DA-B026-09CDCC9EDED5}"/>
                </a:ext>
              </a:extLst>
            </p:cNvPr>
            <p:cNvSpPr txBox="1"/>
            <p:nvPr/>
          </p:nvSpPr>
          <p:spPr>
            <a:xfrm>
              <a:off x="5660316" y="1550740"/>
              <a:ext cx="613317" cy="276999"/>
            </a:xfrm>
            <a:prstGeom prst="rect">
              <a:avLst/>
            </a:prstGeom>
            <a:noFill/>
          </p:spPr>
          <p:txBody>
            <a:bodyPr wrap="square" lIns="0" tIns="0" rIns="0" bIns="0" rtlCol="0">
              <a:spAutoFit/>
            </a:bodyPr>
            <a:lstStyle/>
            <a:p>
              <a:pPr algn="l">
                <a:spcBef>
                  <a:spcPts val="800"/>
                </a:spcBef>
              </a:pPr>
              <a:r>
                <a:rPr lang="en-US" dirty="0"/>
                <a:t>Ka</a:t>
              </a:r>
            </a:p>
          </p:txBody>
        </p:sp>
        <p:sp>
          <p:nvSpPr>
            <p:cNvPr id="32" name="TextBox 31">
              <a:extLst>
                <a:ext uri="{FF2B5EF4-FFF2-40B4-BE49-F238E27FC236}">
                  <a16:creationId xmlns:a16="http://schemas.microsoft.com/office/drawing/2014/main" id="{FC01A0AE-E5D6-E590-6357-E2155F9B94E9}"/>
                </a:ext>
              </a:extLst>
            </p:cNvPr>
            <p:cNvSpPr txBox="1"/>
            <p:nvPr/>
          </p:nvSpPr>
          <p:spPr>
            <a:xfrm>
              <a:off x="7384565" y="2163271"/>
              <a:ext cx="613317" cy="276998"/>
            </a:xfrm>
            <a:prstGeom prst="rect">
              <a:avLst/>
            </a:prstGeom>
            <a:noFill/>
          </p:spPr>
          <p:txBody>
            <a:bodyPr wrap="square" lIns="0" tIns="0" rIns="0" bIns="0" rtlCol="0">
              <a:spAutoFit/>
            </a:bodyPr>
            <a:lstStyle/>
            <a:p>
              <a:pPr algn="l">
                <a:spcBef>
                  <a:spcPts val="800"/>
                </a:spcBef>
              </a:pPr>
              <a:r>
                <a:rPr lang="en-US" dirty="0" err="1"/>
                <a:t>Vp</a:t>
              </a:r>
              <a:endParaRPr lang="en-US" dirty="0"/>
            </a:p>
          </p:txBody>
        </p:sp>
        <p:sp>
          <p:nvSpPr>
            <p:cNvPr id="34" name="TextBox 33">
              <a:extLst>
                <a:ext uri="{FF2B5EF4-FFF2-40B4-BE49-F238E27FC236}">
                  <a16:creationId xmlns:a16="http://schemas.microsoft.com/office/drawing/2014/main" id="{C0AA6328-90CD-C014-6F66-DA565AF6E33E}"/>
                </a:ext>
              </a:extLst>
            </p:cNvPr>
            <p:cNvSpPr txBox="1"/>
            <p:nvPr/>
          </p:nvSpPr>
          <p:spPr>
            <a:xfrm>
              <a:off x="6426004" y="2173641"/>
              <a:ext cx="613317" cy="276998"/>
            </a:xfrm>
            <a:prstGeom prst="rect">
              <a:avLst/>
            </a:prstGeom>
            <a:noFill/>
          </p:spPr>
          <p:txBody>
            <a:bodyPr wrap="square" lIns="0" tIns="0" rIns="0" bIns="0" rtlCol="0">
              <a:spAutoFit/>
            </a:bodyPr>
            <a:lstStyle/>
            <a:p>
              <a:pPr algn="l">
                <a:spcBef>
                  <a:spcPts val="800"/>
                </a:spcBef>
              </a:pPr>
              <a:r>
                <a:rPr lang="en-US" dirty="0"/>
                <a:t>Q</a:t>
              </a:r>
            </a:p>
          </p:txBody>
        </p:sp>
        <p:sp>
          <p:nvSpPr>
            <p:cNvPr id="36" name="TextBox 35">
              <a:extLst>
                <a:ext uri="{FF2B5EF4-FFF2-40B4-BE49-F238E27FC236}">
                  <a16:creationId xmlns:a16="http://schemas.microsoft.com/office/drawing/2014/main" id="{49C711DE-F3AE-81B9-7FCD-7FC2744CAEC8}"/>
                </a:ext>
              </a:extLst>
            </p:cNvPr>
            <p:cNvSpPr txBox="1"/>
            <p:nvPr/>
          </p:nvSpPr>
          <p:spPr>
            <a:xfrm>
              <a:off x="5621248" y="2796068"/>
              <a:ext cx="535155" cy="367109"/>
            </a:xfrm>
            <a:prstGeom prst="rect">
              <a:avLst/>
            </a:prstGeom>
            <a:noFill/>
          </p:spPr>
          <p:txBody>
            <a:bodyPr wrap="square" lIns="0" tIns="0" rIns="0" bIns="0" rtlCol="0">
              <a:spAutoFit/>
            </a:bodyPr>
            <a:lstStyle/>
            <a:p>
              <a:pPr algn="l">
                <a:spcBef>
                  <a:spcPts val="800"/>
                </a:spcBef>
              </a:pPr>
              <a:r>
                <a:rPr lang="en-US" dirty="0"/>
                <a:t>CL</a:t>
              </a:r>
            </a:p>
          </p:txBody>
        </p:sp>
      </p:grpSp>
      <p:sp>
        <p:nvSpPr>
          <p:cNvPr id="5" name="TextBox 4">
            <a:extLst>
              <a:ext uri="{FF2B5EF4-FFF2-40B4-BE49-F238E27FC236}">
                <a16:creationId xmlns:a16="http://schemas.microsoft.com/office/drawing/2014/main" id="{CAE91208-9E51-DF1A-1235-4E8A7E35395E}"/>
              </a:ext>
            </a:extLst>
          </p:cNvPr>
          <p:cNvSpPr txBox="1"/>
          <p:nvPr/>
        </p:nvSpPr>
        <p:spPr>
          <a:xfrm>
            <a:off x="9370003" y="842367"/>
            <a:ext cx="3102634" cy="4278094"/>
          </a:xfrm>
          <a:prstGeom prst="rect">
            <a:avLst/>
          </a:prstGeom>
          <a:noFill/>
        </p:spPr>
        <p:txBody>
          <a:bodyPr wrap="square">
            <a:spAutoFit/>
          </a:bodyPr>
          <a:lstStyle/>
          <a:p>
            <a:pPr algn="l"/>
            <a:r>
              <a:rPr lang="pt-BR" sz="1600" dirty="0"/>
              <a:t>TVCL = 0.6 L/h</a:t>
            </a:r>
            <a:br>
              <a:rPr lang="pt-BR" sz="1600" dirty="0"/>
            </a:br>
            <a:r>
              <a:rPr lang="en-US" sz="1600" dirty="0"/>
              <a:t>Q = 1.8 L/h</a:t>
            </a:r>
          </a:p>
          <a:p>
            <a:r>
              <a:rPr lang="it-IT" sz="1600" dirty="0"/>
              <a:t>TVVc = 20 L, </a:t>
            </a:r>
          </a:p>
          <a:p>
            <a:r>
              <a:rPr lang="it-IT" sz="1600" dirty="0"/>
              <a:t>TVVp = 80 L,</a:t>
            </a:r>
          </a:p>
          <a:p>
            <a:r>
              <a:rPr lang="en-US" sz="1600" dirty="0"/>
              <a:t>Ka = 0.7/h </a:t>
            </a:r>
          </a:p>
          <a:p>
            <a:r>
              <a:rPr lang="en-US" sz="1600" dirty="0" err="1"/>
              <a:t>Ref_BW</a:t>
            </a:r>
            <a:r>
              <a:rPr lang="en-US" sz="1600" dirty="0"/>
              <a:t> = 70 Kg</a:t>
            </a:r>
          </a:p>
          <a:p>
            <a:r>
              <a:rPr lang="en-US" sz="1600" dirty="0" err="1"/>
              <a:t>Ref_CRCL</a:t>
            </a:r>
            <a:r>
              <a:rPr lang="en-US" sz="1600" dirty="0"/>
              <a:t> = 95 mL/min</a:t>
            </a:r>
          </a:p>
          <a:p>
            <a:r>
              <a:rPr lang="el-GR" sz="1600" dirty="0"/>
              <a:t>θ₁ </a:t>
            </a:r>
            <a:r>
              <a:rPr lang="en-US" sz="1600" dirty="0"/>
              <a:t>=0.75</a:t>
            </a:r>
          </a:p>
          <a:p>
            <a:r>
              <a:rPr lang="el-GR" sz="1600" dirty="0">
                <a:solidFill>
                  <a:srgbClr val="000000">
                    <a:alpha val="100000"/>
                  </a:srgbClr>
                </a:solidFill>
                <a:cs typeface="Arial"/>
                <a:sym typeface="Arial"/>
              </a:rPr>
              <a:t>θ₂ </a:t>
            </a:r>
            <a:r>
              <a:rPr lang="en-US" sz="1600" dirty="0">
                <a:solidFill>
                  <a:srgbClr val="000000">
                    <a:alpha val="100000"/>
                  </a:srgbClr>
                </a:solidFill>
                <a:cs typeface="Arial"/>
                <a:sym typeface="Arial"/>
              </a:rPr>
              <a:t>=0.5</a:t>
            </a:r>
          </a:p>
          <a:p>
            <a:r>
              <a:rPr lang="el-GR" sz="1600" dirty="0">
                <a:solidFill>
                  <a:srgbClr val="000000">
                    <a:alpha val="100000"/>
                  </a:srgbClr>
                </a:solidFill>
                <a:cs typeface="Arial"/>
                <a:sym typeface="Arial"/>
              </a:rPr>
              <a:t>θ₃ </a:t>
            </a:r>
            <a:r>
              <a:rPr lang="en-US" sz="1600" dirty="0">
                <a:solidFill>
                  <a:srgbClr val="000000">
                    <a:alpha val="100000"/>
                  </a:srgbClr>
                </a:solidFill>
                <a:cs typeface="Arial"/>
                <a:sym typeface="Arial"/>
              </a:rPr>
              <a:t> =1</a:t>
            </a:r>
          </a:p>
          <a:p>
            <a:r>
              <a:rPr lang="el-GR" sz="1600" dirty="0">
                <a:solidFill>
                  <a:srgbClr val="000000">
                    <a:alpha val="100000"/>
                  </a:srgbClr>
                </a:solidFill>
                <a:cs typeface="Arial"/>
                <a:sym typeface="Arial"/>
              </a:rPr>
              <a:t>θ₄ </a:t>
            </a:r>
            <a:r>
              <a:rPr lang="en-US" sz="1600" dirty="0">
                <a:solidFill>
                  <a:srgbClr val="000000">
                    <a:alpha val="100000"/>
                  </a:srgbClr>
                </a:solidFill>
                <a:cs typeface="Arial"/>
                <a:sym typeface="Arial"/>
              </a:rPr>
              <a:t> = log(1.5)</a:t>
            </a:r>
          </a:p>
          <a:p>
            <a:r>
              <a:rPr lang="en-US" sz="1600" dirty="0" err="1"/>
              <a:t>Var_CL</a:t>
            </a:r>
            <a:r>
              <a:rPr lang="en-US" sz="1600" dirty="0"/>
              <a:t>= 0.01</a:t>
            </a:r>
          </a:p>
          <a:p>
            <a:r>
              <a:rPr lang="en-US" sz="1600" dirty="0" err="1"/>
              <a:t>Var_Vc</a:t>
            </a:r>
            <a:r>
              <a:rPr lang="en-US" sz="1600" dirty="0"/>
              <a:t>= 0.01</a:t>
            </a:r>
          </a:p>
          <a:p>
            <a:r>
              <a:rPr lang="en-US" sz="1600" dirty="0" err="1"/>
              <a:t>Cov_CL_Vc</a:t>
            </a:r>
            <a:r>
              <a:rPr lang="en-US" sz="1600" dirty="0"/>
              <a:t>= 0.02</a:t>
            </a:r>
          </a:p>
          <a:p>
            <a:r>
              <a:rPr lang="en-US" sz="1600" dirty="0"/>
              <a:t>I</a:t>
            </a:r>
            <a:r>
              <a:rPr lang="en-US" sz="1050" dirty="0"/>
              <a:t>1-4</a:t>
            </a:r>
            <a:r>
              <a:rPr lang="en-US" sz="1600" dirty="0"/>
              <a:t>=0 or 1 (different scenario)</a:t>
            </a:r>
            <a:endParaRPr lang="en-US" sz="1600" dirty="0">
              <a:solidFill>
                <a:srgbClr val="000000">
                  <a:alpha val="100000"/>
                </a:srgbClr>
              </a:solidFill>
              <a:cs typeface="Arial"/>
              <a:sym typeface="Arial"/>
            </a:endParaRPr>
          </a:p>
          <a:p>
            <a:r>
              <a:rPr lang="en-US" sz="1600" dirty="0"/>
              <a:t>dose = 100 mg</a:t>
            </a:r>
            <a:br>
              <a:rPr lang="en-US" sz="1600" dirty="0"/>
            </a:br>
            <a:r>
              <a:rPr lang="en-US" sz="1600" dirty="0"/>
              <a:t>T= 0, 0.05, 0.1, 0.5, 1, 3 * t</a:t>
            </a:r>
            <a:r>
              <a:rPr lang="en-US" sz="900" dirty="0"/>
              <a:t>1/2</a:t>
            </a:r>
            <a:endParaRPr lang="en-US" sz="16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04E628C-23D9-E5C6-6CC5-E2CE10A00960}"/>
                  </a:ext>
                </a:extLst>
              </p:cNvPr>
              <p:cNvSpPr txBox="1"/>
              <p:nvPr/>
            </p:nvSpPr>
            <p:spPr>
              <a:xfrm>
                <a:off x="3881061" y="2600294"/>
                <a:ext cx="5059077" cy="6673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1500" smtClean="0">
                          <a:latin typeface="Cambria Math" panose="02040503050406030204" pitchFamily="18" charset="0"/>
                        </a:rPr>
                        <m:t>CL</m:t>
                      </m:r>
                      <m:sSub>
                        <m:sSubPr>
                          <m:ctrlPr>
                            <a:rPr lang="ar-AE" sz="1500" i="1">
                              <a:latin typeface="Cambria Math" panose="02040503050406030204" pitchFamily="18" charset="0"/>
                            </a:rPr>
                          </m:ctrlPr>
                        </m:sSubPr>
                        <m:e>
                          <m:r>
                            <a:rPr lang="ar-AE" sz="1500">
                              <a:latin typeface="Cambria Math" panose="02040503050406030204" pitchFamily="18" charset="0"/>
                            </a:rPr>
                            <m:t> </m:t>
                          </m:r>
                        </m:e>
                        <m:sub>
                          <m:r>
                            <a:rPr lang="ar-AE" sz="1500">
                              <a:latin typeface="Cambria Math" panose="02040503050406030204" pitchFamily="18" charset="0"/>
                            </a:rPr>
                            <m:t>𝑖</m:t>
                          </m:r>
                        </m:sub>
                      </m:sSub>
                      <m:r>
                        <a:rPr lang="ar-AE" sz="1500">
                          <a:latin typeface="Cambria Math" panose="02040503050406030204" pitchFamily="18" charset="0"/>
                        </a:rPr>
                        <m:t> = </m:t>
                      </m:r>
                      <m:r>
                        <a:rPr lang="ar-AE" sz="1500">
                          <a:latin typeface="Cambria Math" panose="02040503050406030204" pitchFamily="18" charset="0"/>
                        </a:rPr>
                        <m:t>𝑇𝑉𝐶𝐿</m:t>
                      </m:r>
                      <m:r>
                        <a:rPr lang="ar-AE" sz="1500">
                          <a:latin typeface="Cambria Math" panose="02040503050406030204" pitchFamily="18" charset="0"/>
                        </a:rPr>
                        <m:t> · </m:t>
                      </m:r>
                      <m:sSup>
                        <m:sSupPr>
                          <m:ctrlPr>
                            <a:rPr lang="ar-AE" sz="1500" i="1">
                              <a:latin typeface="Cambria Math" panose="02040503050406030204" pitchFamily="18" charset="0"/>
                            </a:rPr>
                          </m:ctrlPr>
                        </m:sSupPr>
                        <m:e>
                          <m:d>
                            <m:dPr>
                              <m:ctrlPr>
                                <a:rPr lang="ar-AE" sz="1500" i="1">
                                  <a:latin typeface="Cambria Math" panose="02040503050406030204" pitchFamily="18" charset="0"/>
                                </a:rPr>
                              </m:ctrlPr>
                            </m:dPr>
                            <m:e>
                              <m:f>
                                <m:fPr>
                                  <m:ctrlPr>
                                    <a:rPr lang="ar-AE" sz="1500" i="1">
                                      <a:latin typeface="Cambria Math" panose="02040503050406030204" pitchFamily="18" charset="0"/>
                                    </a:rPr>
                                  </m:ctrlPr>
                                </m:fPr>
                                <m:num>
                                  <m:r>
                                    <a:rPr lang="ar-AE" sz="1500">
                                      <a:latin typeface="Cambria Math" panose="02040503050406030204" pitchFamily="18" charset="0"/>
                                    </a:rPr>
                                    <m:t>𝐵𝑊</m:t>
                                  </m:r>
                                </m:num>
                                <m:den>
                                  <m:r>
                                    <a:rPr lang="ar-AE" sz="1500">
                                      <a:latin typeface="Cambria Math" panose="02040503050406030204" pitchFamily="18" charset="0"/>
                                    </a:rPr>
                                    <m:t>𝑅𝑒𝑓𝐵𝑊</m:t>
                                  </m:r>
                                </m:den>
                              </m:f>
                            </m:e>
                          </m:d>
                        </m:e>
                        <m:sup>
                          <m:r>
                            <a:rPr lang="ar-AE" sz="1500">
                              <a:latin typeface="Cambria Math" panose="02040503050406030204" pitchFamily="18" charset="0"/>
                            </a:rPr>
                            <m:t>𝜃</m:t>
                          </m:r>
                          <m:r>
                            <a:rPr lang="ar-AE" sz="1500">
                              <a:latin typeface="Cambria Math" panose="02040503050406030204" pitchFamily="18" charset="0"/>
                            </a:rPr>
                            <m:t>1</m:t>
                          </m:r>
                          <m:r>
                            <a:rPr lang="ar-AE" sz="1500">
                              <a:latin typeface="Cambria Math" panose="02040503050406030204" pitchFamily="18" charset="0"/>
                            </a:rPr>
                            <m:t>∗</m:t>
                          </m:r>
                          <m:r>
                            <m:rPr>
                              <m:sty m:val="p"/>
                            </m:rPr>
                            <a:rPr lang="en-US" sz="1500" b="0" i="0" smtClean="0">
                              <a:latin typeface="Cambria Math" panose="02040503050406030204" pitchFamily="18" charset="0"/>
                            </a:rPr>
                            <m:t>I</m:t>
                          </m:r>
                          <m:r>
                            <a:rPr lang="en-US" sz="1500" b="0" i="0" smtClean="0">
                              <a:latin typeface="Cambria Math" panose="02040503050406030204" pitchFamily="18" charset="0"/>
                            </a:rPr>
                            <m:t>1</m:t>
                          </m:r>
                        </m:sup>
                      </m:sSup>
                      <m:r>
                        <a:rPr lang="ar-AE" sz="1500">
                          <a:latin typeface="Cambria Math" panose="02040503050406030204" pitchFamily="18" charset="0"/>
                        </a:rPr>
                        <m:t> · </m:t>
                      </m:r>
                      <m:sSup>
                        <m:sSupPr>
                          <m:ctrlPr>
                            <a:rPr lang="ar-AE" sz="1500" i="1">
                              <a:latin typeface="Cambria Math" panose="02040503050406030204" pitchFamily="18" charset="0"/>
                            </a:rPr>
                          </m:ctrlPr>
                        </m:sSupPr>
                        <m:e>
                          <m:d>
                            <m:dPr>
                              <m:ctrlPr>
                                <a:rPr lang="ar-AE" sz="1500" i="1">
                                  <a:latin typeface="Cambria Math" panose="02040503050406030204" pitchFamily="18" charset="0"/>
                                </a:rPr>
                              </m:ctrlPr>
                            </m:dPr>
                            <m:e>
                              <m:f>
                                <m:fPr>
                                  <m:ctrlPr>
                                    <a:rPr lang="ar-AE" sz="1500" i="1">
                                      <a:latin typeface="Cambria Math" panose="02040503050406030204" pitchFamily="18" charset="0"/>
                                    </a:rPr>
                                  </m:ctrlPr>
                                </m:fPr>
                                <m:num>
                                  <m:r>
                                    <a:rPr lang="ar-AE" sz="1500">
                                      <a:latin typeface="Cambria Math" panose="02040503050406030204" pitchFamily="18" charset="0"/>
                                    </a:rPr>
                                    <m:t>𝐶𝑟𝐶𝐿</m:t>
                                  </m:r>
                                </m:num>
                                <m:den>
                                  <m:r>
                                    <a:rPr lang="ar-AE" sz="1500">
                                      <a:latin typeface="Cambria Math" panose="02040503050406030204" pitchFamily="18" charset="0"/>
                                    </a:rPr>
                                    <m:t>𝑅𝑒𝑓𝐶𝑅𝐶𝐿</m:t>
                                  </m:r>
                                </m:den>
                              </m:f>
                            </m:e>
                          </m:d>
                        </m:e>
                        <m:sup>
                          <m:r>
                            <a:rPr lang="ar-AE" sz="1500">
                              <a:latin typeface="Cambria Math" panose="02040503050406030204" pitchFamily="18" charset="0"/>
                            </a:rPr>
                            <m:t>𝜃</m:t>
                          </m:r>
                          <m:r>
                            <a:rPr lang="ar-AE" sz="1500">
                              <a:latin typeface="Cambria Math" panose="02040503050406030204" pitchFamily="18" charset="0"/>
                            </a:rPr>
                            <m:t>2</m:t>
                          </m:r>
                          <m:r>
                            <a:rPr lang="ar-AE" sz="1500">
                              <a:latin typeface="Cambria Math" panose="02040503050406030204" pitchFamily="18" charset="0"/>
                            </a:rPr>
                            <m:t>∗</m:t>
                          </m:r>
                          <m:r>
                            <a:rPr lang="en-US" sz="1500" b="0" i="1" smtClean="0">
                              <a:latin typeface="Cambria Math" panose="02040503050406030204" pitchFamily="18" charset="0"/>
                            </a:rPr>
                            <m:t>𝐼</m:t>
                          </m:r>
                          <m:r>
                            <a:rPr lang="en-US" sz="1500" b="0" i="1" smtClean="0">
                              <a:latin typeface="Cambria Math" panose="02040503050406030204" pitchFamily="18" charset="0"/>
                            </a:rPr>
                            <m:t>2</m:t>
                          </m:r>
                        </m:sup>
                      </m:sSup>
                      <m:r>
                        <a:rPr lang="ar-AE" sz="1500">
                          <a:latin typeface="Cambria Math" panose="02040503050406030204" pitchFamily="18" charset="0"/>
                        </a:rPr>
                        <m:t> · </m:t>
                      </m:r>
                      <m:sSup>
                        <m:sSupPr>
                          <m:ctrlPr>
                            <a:rPr lang="ar-AE" sz="1500" i="1">
                              <a:latin typeface="Cambria Math" panose="02040503050406030204" pitchFamily="18" charset="0"/>
                            </a:rPr>
                          </m:ctrlPr>
                        </m:sSupPr>
                        <m:e>
                          <m:r>
                            <a:rPr lang="ar-AE" sz="1500">
                              <a:latin typeface="Cambria Math" panose="02040503050406030204" pitchFamily="18" charset="0"/>
                            </a:rPr>
                            <m:t>𝑒</m:t>
                          </m:r>
                        </m:e>
                        <m:sup>
                          <m:sSub>
                            <m:sSubPr>
                              <m:ctrlPr>
                                <a:rPr lang="ar-AE" sz="1500" i="1">
                                  <a:latin typeface="Cambria Math" panose="02040503050406030204" pitchFamily="18" charset="0"/>
                                </a:rPr>
                              </m:ctrlPr>
                            </m:sSubPr>
                            <m:e>
                              <m:r>
                                <a:rPr lang="ar-AE" sz="1500">
                                  <a:latin typeface="Cambria Math" panose="02040503050406030204" pitchFamily="18" charset="0"/>
                                </a:rPr>
                                <m:t>𝜂</m:t>
                              </m:r>
                            </m:e>
                            <m:sub>
                              <m:r>
                                <a:rPr lang="ar-AE" sz="1500">
                                  <a:latin typeface="Cambria Math" panose="02040503050406030204" pitchFamily="18" charset="0"/>
                                </a:rPr>
                                <m:t>𝐶𝐿</m:t>
                              </m:r>
                              <m:r>
                                <a:rPr lang="ar-AE" sz="1500">
                                  <a:latin typeface="Cambria Math" panose="02040503050406030204" pitchFamily="18" charset="0"/>
                                </a:rPr>
                                <m:t>,</m:t>
                              </m:r>
                              <m:r>
                                <a:rPr lang="ar-AE" sz="1500">
                                  <a:latin typeface="Cambria Math" panose="02040503050406030204" pitchFamily="18" charset="0"/>
                                </a:rPr>
                                <m:t>𝑖</m:t>
                              </m:r>
                            </m:sub>
                          </m:sSub>
                        </m:sup>
                      </m:sSup>
                    </m:oMath>
                  </m:oMathPara>
                </a14:m>
                <a:endParaRPr sz="1500" dirty="0"/>
              </a:p>
            </p:txBody>
          </p:sp>
        </mc:Choice>
        <mc:Fallback xmlns="">
          <p:sp>
            <p:nvSpPr>
              <p:cNvPr id="35" name="TextBox 34">
                <a:extLst>
                  <a:ext uri="{FF2B5EF4-FFF2-40B4-BE49-F238E27FC236}">
                    <a16:creationId xmlns:a16="http://schemas.microsoft.com/office/drawing/2014/main" id="{D04E628C-23D9-E5C6-6CC5-E2CE10A00960}"/>
                  </a:ext>
                </a:extLst>
              </p:cNvPr>
              <p:cNvSpPr txBox="1">
                <a:spLocks noRot="1" noChangeAspect="1" noMove="1" noResize="1" noEditPoints="1" noAdjustHandles="1" noChangeArrowheads="1" noChangeShapeType="1" noTextEdit="1"/>
              </p:cNvSpPr>
              <p:nvPr/>
            </p:nvSpPr>
            <p:spPr>
              <a:xfrm>
                <a:off x="3881061" y="2600294"/>
                <a:ext cx="5059077" cy="66736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4C7B2CC8-8631-8EF7-E8E7-2CBD7AAAAFB5}"/>
                  </a:ext>
                </a:extLst>
              </p:cNvPr>
              <p:cNvSpPr txBox="1"/>
              <p:nvPr/>
            </p:nvSpPr>
            <p:spPr>
              <a:xfrm>
                <a:off x="4039623" y="3370036"/>
                <a:ext cx="4341893" cy="667362"/>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ar-AE" sz="1500" i="1">
                              <a:latin typeface="Cambria Math" panose="02040503050406030204" pitchFamily="18" charset="0"/>
                            </a:rPr>
                          </m:ctrlPr>
                        </m:sSubPr>
                        <m:e>
                          <m:r>
                            <a:rPr lang="ar-AE" sz="1500">
                              <a:latin typeface="Cambria Math" panose="02040503050406030204" pitchFamily="18" charset="0"/>
                            </a:rPr>
                            <m:t>𝑉</m:t>
                          </m:r>
                        </m:e>
                        <m:sub>
                          <m:r>
                            <a:rPr lang="ar-AE" sz="1500">
                              <a:latin typeface="Cambria Math" panose="02040503050406030204" pitchFamily="18" charset="0"/>
                            </a:rPr>
                            <m:t>𝑐</m:t>
                          </m:r>
                          <m:r>
                            <a:rPr lang="ar-AE" sz="1500">
                              <a:latin typeface="Cambria Math" panose="02040503050406030204" pitchFamily="18" charset="0"/>
                            </a:rPr>
                            <m:t>,</m:t>
                          </m:r>
                          <m:r>
                            <a:rPr lang="ar-AE" sz="1500">
                              <a:latin typeface="Cambria Math" panose="02040503050406030204" pitchFamily="18" charset="0"/>
                            </a:rPr>
                            <m:t>𝑖</m:t>
                          </m:r>
                        </m:sub>
                      </m:sSub>
                      <m:r>
                        <a:rPr lang="ar-AE" sz="1500">
                          <a:latin typeface="Cambria Math" panose="02040503050406030204" pitchFamily="18" charset="0"/>
                        </a:rPr>
                        <m:t> = </m:t>
                      </m:r>
                      <m:r>
                        <a:rPr lang="ar-AE" sz="1500">
                          <a:latin typeface="Cambria Math" panose="02040503050406030204" pitchFamily="18" charset="0"/>
                        </a:rPr>
                        <m:t>𝑇𝑉𝑉</m:t>
                      </m:r>
                      <m:r>
                        <a:rPr lang="ar-AE" sz="1500">
                          <a:latin typeface="Cambria Math" panose="02040503050406030204" pitchFamily="18" charset="0"/>
                        </a:rPr>
                        <m:t> · </m:t>
                      </m:r>
                      <m:sSup>
                        <m:sSupPr>
                          <m:ctrlPr>
                            <a:rPr lang="ar-AE" sz="1500" i="1">
                              <a:latin typeface="Cambria Math" panose="02040503050406030204" pitchFamily="18" charset="0"/>
                            </a:rPr>
                          </m:ctrlPr>
                        </m:sSupPr>
                        <m:e>
                          <m:d>
                            <m:dPr>
                              <m:ctrlPr>
                                <a:rPr lang="ar-AE" sz="1500" i="1">
                                  <a:latin typeface="Cambria Math" panose="02040503050406030204" pitchFamily="18" charset="0"/>
                                </a:rPr>
                              </m:ctrlPr>
                            </m:dPr>
                            <m:e>
                              <m:f>
                                <m:fPr>
                                  <m:ctrlPr>
                                    <a:rPr lang="ar-AE" sz="1500" i="1">
                                      <a:latin typeface="Cambria Math" panose="02040503050406030204" pitchFamily="18" charset="0"/>
                                    </a:rPr>
                                  </m:ctrlPr>
                                </m:fPr>
                                <m:num>
                                  <m:r>
                                    <a:rPr lang="ar-AE" sz="1500">
                                      <a:latin typeface="Cambria Math" panose="02040503050406030204" pitchFamily="18" charset="0"/>
                                    </a:rPr>
                                    <m:t>𝐵𝑊</m:t>
                                  </m:r>
                                </m:num>
                                <m:den>
                                  <m:r>
                                    <a:rPr lang="ar-AE" sz="1500">
                                      <a:latin typeface="Cambria Math" panose="02040503050406030204" pitchFamily="18" charset="0"/>
                                    </a:rPr>
                                    <m:t>𝑅𝑒𝑓𝐵𝑊</m:t>
                                  </m:r>
                                </m:den>
                              </m:f>
                            </m:e>
                          </m:d>
                        </m:e>
                        <m:sup>
                          <m:r>
                            <a:rPr lang="ar-AE" sz="1500">
                              <a:latin typeface="Cambria Math" panose="02040503050406030204" pitchFamily="18" charset="0"/>
                            </a:rPr>
                            <m:t>𝜃</m:t>
                          </m:r>
                          <m:r>
                            <a:rPr lang="ar-AE" sz="1500">
                              <a:latin typeface="Cambria Math" panose="02040503050406030204" pitchFamily="18" charset="0"/>
                            </a:rPr>
                            <m:t>3</m:t>
                          </m:r>
                          <m:r>
                            <a:rPr lang="ar-AE" sz="1500">
                              <a:latin typeface="Cambria Math" panose="02040503050406030204" pitchFamily="18" charset="0"/>
                            </a:rPr>
                            <m:t>∗</m:t>
                          </m:r>
                          <m:r>
                            <m:rPr>
                              <m:sty m:val="p"/>
                            </m:rPr>
                            <a:rPr lang="en-US" sz="1500" b="0" i="0" smtClean="0">
                              <a:latin typeface="Cambria Math" panose="02040503050406030204" pitchFamily="18" charset="0"/>
                            </a:rPr>
                            <m:t>I</m:t>
                          </m:r>
                          <m:r>
                            <a:rPr lang="en-US" sz="1500" b="0" i="0" smtClean="0">
                              <a:latin typeface="Cambria Math" panose="02040503050406030204" pitchFamily="18" charset="0"/>
                            </a:rPr>
                            <m:t>3</m:t>
                          </m:r>
                        </m:sup>
                      </m:sSup>
                      <m:r>
                        <a:rPr lang="ar-AE" sz="1500">
                          <a:latin typeface="Cambria Math" panose="02040503050406030204" pitchFamily="18" charset="0"/>
                        </a:rPr>
                        <m:t> ·</m:t>
                      </m:r>
                      <m:sSup>
                        <m:sSupPr>
                          <m:ctrlPr>
                            <a:rPr lang="ar-AE" sz="1500" i="1">
                              <a:latin typeface="Cambria Math" panose="02040503050406030204" pitchFamily="18" charset="0"/>
                            </a:rPr>
                          </m:ctrlPr>
                        </m:sSupPr>
                        <m:e>
                          <m:r>
                            <a:rPr lang="ar-AE" sz="1500">
                              <a:latin typeface="Cambria Math" panose="02040503050406030204" pitchFamily="18" charset="0"/>
                            </a:rPr>
                            <m:t>𝑒</m:t>
                          </m:r>
                        </m:e>
                        <m:sup>
                          <m:d>
                            <m:dPr>
                              <m:ctrlPr>
                                <a:rPr lang="ar-AE" sz="1500" i="1">
                                  <a:latin typeface="Cambria Math" panose="02040503050406030204" pitchFamily="18" charset="0"/>
                                </a:rPr>
                              </m:ctrlPr>
                            </m:dPr>
                            <m:e>
                              <m:r>
                                <a:rPr lang="ar-AE" sz="1500">
                                  <a:latin typeface="Cambria Math" panose="02040503050406030204" pitchFamily="18" charset="0"/>
                                </a:rPr>
                                <m:t>𝑠𝑒𝑥</m:t>
                              </m:r>
                              <m:r>
                                <a:rPr lang="ar-AE"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𝜃</m:t>
                                  </m:r>
                                </m:e>
                                <m:sub>
                                  <m:r>
                                    <a:rPr lang="ar-AE" sz="1500">
                                      <a:latin typeface="Cambria Math" panose="02040503050406030204" pitchFamily="18" charset="0"/>
                                    </a:rPr>
                                    <m:t>4</m:t>
                                  </m:r>
                                </m:sub>
                              </m:sSub>
                              <m:r>
                                <a:rPr lang="en-US" sz="1500" b="0" i="1" smtClean="0">
                                  <a:latin typeface="Cambria Math" panose="02040503050406030204" pitchFamily="18" charset="0"/>
                                </a:rPr>
                                <m:t>∗</m:t>
                              </m:r>
                              <m:r>
                                <a:rPr lang="en-US" sz="1500" b="0" i="1" smtClean="0">
                                  <a:latin typeface="Cambria Math" panose="02040503050406030204" pitchFamily="18" charset="0"/>
                                </a:rPr>
                                <m:t>𝐼</m:t>
                              </m:r>
                              <m:r>
                                <a:rPr lang="en-US" sz="1500" b="0" i="1" smtClean="0">
                                  <a:latin typeface="Cambria Math" panose="02040503050406030204" pitchFamily="18" charset="0"/>
                                </a:rPr>
                                <m:t>4</m:t>
                              </m:r>
                            </m:e>
                          </m:d>
                        </m:sup>
                      </m:sSup>
                      <m:r>
                        <a:rPr lang="ar-AE" sz="1500">
                          <a:latin typeface="Cambria Math" panose="02040503050406030204" pitchFamily="18" charset="0"/>
                        </a:rPr>
                        <m:t> · </m:t>
                      </m:r>
                      <m:sSup>
                        <m:sSupPr>
                          <m:ctrlPr>
                            <a:rPr lang="ar-AE" sz="1500" i="1">
                              <a:latin typeface="Cambria Math" panose="02040503050406030204" pitchFamily="18" charset="0"/>
                            </a:rPr>
                          </m:ctrlPr>
                        </m:sSupPr>
                        <m:e>
                          <m:r>
                            <a:rPr lang="ar-AE" sz="1500">
                              <a:latin typeface="Cambria Math" panose="02040503050406030204" pitchFamily="18" charset="0"/>
                            </a:rPr>
                            <m:t>𝑒</m:t>
                          </m:r>
                        </m:e>
                        <m:sup>
                          <m:sSub>
                            <m:sSubPr>
                              <m:ctrlPr>
                                <a:rPr lang="ar-AE" sz="1500" i="1">
                                  <a:latin typeface="Cambria Math" panose="02040503050406030204" pitchFamily="18" charset="0"/>
                                </a:rPr>
                              </m:ctrlPr>
                            </m:sSubPr>
                            <m:e>
                              <m:r>
                                <a:rPr lang="ar-AE" sz="1500">
                                  <a:latin typeface="Cambria Math" panose="02040503050406030204" pitchFamily="18" charset="0"/>
                                </a:rPr>
                                <m:t>𝜂</m:t>
                              </m:r>
                            </m:e>
                            <m:sub>
                              <m:r>
                                <a:rPr lang="ar-AE" sz="1500">
                                  <a:latin typeface="Cambria Math" panose="02040503050406030204" pitchFamily="18" charset="0"/>
                                </a:rPr>
                                <m:t>𝑉𝑐</m:t>
                              </m:r>
                              <m:r>
                                <a:rPr lang="ar-AE" sz="1500">
                                  <a:latin typeface="Cambria Math" panose="02040503050406030204" pitchFamily="18" charset="0"/>
                                </a:rPr>
                                <m:t>,</m:t>
                              </m:r>
                              <m:r>
                                <a:rPr lang="ar-AE" sz="1500">
                                  <a:latin typeface="Cambria Math" panose="02040503050406030204" pitchFamily="18" charset="0"/>
                                </a:rPr>
                                <m:t>𝑖</m:t>
                              </m:r>
                            </m:sub>
                          </m:sSub>
                        </m:sup>
                      </m:sSup>
                    </m:oMath>
                  </m:oMathPara>
                </a14:m>
                <a:endParaRPr sz="1500" dirty="0"/>
              </a:p>
            </p:txBody>
          </p:sp>
        </mc:Choice>
        <mc:Fallback xmlns="">
          <p:sp>
            <p:nvSpPr>
              <p:cNvPr id="39" name="TextBox 38">
                <a:extLst>
                  <a:ext uri="{FF2B5EF4-FFF2-40B4-BE49-F238E27FC236}">
                    <a16:creationId xmlns:a16="http://schemas.microsoft.com/office/drawing/2014/main" id="{4C7B2CC8-8631-8EF7-E8E7-2CBD7AAAAFB5}"/>
                  </a:ext>
                </a:extLst>
              </p:cNvPr>
              <p:cNvSpPr txBox="1">
                <a:spLocks noRot="1" noChangeAspect="1" noMove="1" noResize="1" noEditPoints="1" noAdjustHandles="1" noChangeArrowheads="1" noChangeShapeType="1" noTextEdit="1"/>
              </p:cNvSpPr>
              <p:nvPr/>
            </p:nvSpPr>
            <p:spPr>
              <a:xfrm>
                <a:off x="4039623" y="3370036"/>
                <a:ext cx="4341893" cy="66736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F86BE1E-A73F-6B36-4E9D-25480F042845}"/>
                  </a:ext>
                </a:extLst>
              </p:cNvPr>
              <p:cNvSpPr txBox="1"/>
              <p:nvPr/>
            </p:nvSpPr>
            <p:spPr>
              <a:xfrm>
                <a:off x="3926581" y="4231193"/>
                <a:ext cx="4815357" cy="606000"/>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sz="1500" i="1">
                              <a:latin typeface="Cambria Math" panose="02040503050406030204" pitchFamily="18" charset="0"/>
                            </a:rPr>
                          </m:ctrlPr>
                        </m:dPr>
                        <m:e>
                          <m:m>
                            <m:mPr>
                              <m:mcs>
                                <m:mc>
                                  <m:mcPr>
                                    <m:count m:val="1"/>
                                    <m:mcJc m:val="center"/>
                                  </m:mcPr>
                                </m:mc>
                              </m:mcs>
                              <m:ctrlPr>
                                <a:rPr sz="1500" i="1">
                                  <a:latin typeface="Cambria Math" panose="02040503050406030204" pitchFamily="18" charset="0"/>
                                </a:rPr>
                              </m:ctrlPr>
                            </m:mPr>
                            <m:mr>
                              <m:e>
                                <m:sSub>
                                  <m:sSubPr>
                                    <m:ctrlPr>
                                      <a:rPr sz="1500" i="1">
                                        <a:latin typeface="Cambria Math" panose="02040503050406030204" pitchFamily="18" charset="0"/>
                                      </a:rPr>
                                    </m:ctrlPr>
                                  </m:sSubPr>
                                  <m:e>
                                    <m:r>
                                      <a:rPr sz="1500">
                                        <a:latin typeface="Cambria Math" panose="02040503050406030204" pitchFamily="18" charset="0"/>
                                      </a:rPr>
                                      <m:t>𝜂</m:t>
                                    </m:r>
                                  </m:e>
                                  <m:sub>
                                    <m:r>
                                      <a:rPr sz="1500">
                                        <a:latin typeface="Cambria Math" panose="02040503050406030204" pitchFamily="18" charset="0"/>
                                      </a:rPr>
                                      <m:t>𝐶𝐿</m:t>
                                    </m:r>
                                    <m:r>
                                      <a:rPr sz="1500">
                                        <a:latin typeface="Cambria Math" panose="02040503050406030204" pitchFamily="18" charset="0"/>
                                      </a:rPr>
                                      <m:t>,</m:t>
                                    </m:r>
                                    <m:r>
                                      <a:rPr sz="1500">
                                        <a:latin typeface="Cambria Math" panose="02040503050406030204" pitchFamily="18" charset="0"/>
                                      </a:rPr>
                                      <m:t>𝑖</m:t>
                                    </m:r>
                                  </m:sub>
                                </m:sSub>
                              </m:e>
                            </m:mr>
                            <m:mr>
                              <m:e>
                                <m:sSub>
                                  <m:sSubPr>
                                    <m:ctrlPr>
                                      <a:rPr sz="1500" i="1">
                                        <a:latin typeface="Cambria Math" panose="02040503050406030204" pitchFamily="18" charset="0"/>
                                      </a:rPr>
                                    </m:ctrlPr>
                                  </m:sSubPr>
                                  <m:e>
                                    <m:r>
                                      <a:rPr sz="1500">
                                        <a:latin typeface="Cambria Math" panose="02040503050406030204" pitchFamily="18" charset="0"/>
                                      </a:rPr>
                                      <m:t>𝜂</m:t>
                                    </m:r>
                                  </m:e>
                                  <m:sub>
                                    <m:r>
                                      <a:rPr sz="1500">
                                        <a:latin typeface="Cambria Math" panose="02040503050406030204" pitchFamily="18" charset="0"/>
                                      </a:rPr>
                                      <m:t>𝑉𝑐</m:t>
                                    </m:r>
                                    <m:r>
                                      <a:rPr sz="1500">
                                        <a:latin typeface="Cambria Math" panose="02040503050406030204" pitchFamily="18" charset="0"/>
                                      </a:rPr>
                                      <m:t>,</m:t>
                                    </m:r>
                                    <m:r>
                                      <a:rPr sz="1500">
                                        <a:latin typeface="Cambria Math" panose="02040503050406030204" pitchFamily="18" charset="0"/>
                                      </a:rPr>
                                      <m:t>𝑖</m:t>
                                    </m:r>
                                  </m:sub>
                                </m:sSub>
                              </m:e>
                            </m:mr>
                          </m:m>
                        </m:e>
                      </m:d>
                      <m:r>
                        <a:rPr sz="1500">
                          <a:latin typeface="Cambria Math" panose="02040503050406030204" pitchFamily="18" charset="0"/>
                        </a:rPr>
                        <m:t> ∼ </m:t>
                      </m:r>
                      <m:r>
                        <a:rPr sz="1500">
                          <a:latin typeface="Cambria Math" panose="02040503050406030204" pitchFamily="18" charset="0"/>
                        </a:rPr>
                        <m:t>𝑁</m:t>
                      </m:r>
                      <m:d>
                        <m:dPr>
                          <m:ctrlPr>
                            <a:rPr sz="1500" i="1">
                              <a:latin typeface="Cambria Math" panose="02040503050406030204" pitchFamily="18" charset="0"/>
                            </a:rPr>
                          </m:ctrlPr>
                        </m:dPr>
                        <m:e>
                          <m:r>
                            <a:rPr sz="1500">
                              <a:latin typeface="Cambria Math" panose="02040503050406030204" pitchFamily="18" charset="0"/>
                            </a:rPr>
                            <m:t>0</m:t>
                          </m:r>
                          <m:r>
                            <a:rPr sz="1500">
                              <a:latin typeface="Cambria Math" panose="02040503050406030204" pitchFamily="18" charset="0"/>
                            </a:rPr>
                            <m:t>, </m:t>
                          </m:r>
                          <m:r>
                            <a:rPr sz="1500">
                              <a:latin typeface="Cambria Math" panose="02040503050406030204" pitchFamily="18" charset="0"/>
                            </a:rPr>
                            <m:t>𝛺</m:t>
                          </m:r>
                        </m:e>
                      </m:d>
                      <m:r>
                        <a:rPr sz="1500">
                          <a:latin typeface="Cambria Math" panose="02040503050406030204" pitchFamily="18" charset="0"/>
                        </a:rPr>
                        <m:t>  </m:t>
                      </m:r>
                      <m:r>
                        <a:rPr sz="1500">
                          <a:latin typeface="Cambria Math" panose="02040503050406030204" pitchFamily="18" charset="0"/>
                        </a:rPr>
                        <m:t>𝑤𝑖𝑡</m:t>
                      </m:r>
                      <m:r>
                        <a:rPr sz="1500">
                          <a:latin typeface="Cambria Math" panose="02040503050406030204" pitchFamily="18" charset="0"/>
                        </a:rPr>
                        <m:t>h</m:t>
                      </m:r>
                      <m:r>
                        <a:rPr sz="1500">
                          <a:latin typeface="Cambria Math" panose="02040503050406030204" pitchFamily="18" charset="0"/>
                        </a:rPr>
                        <m:t>  </m:t>
                      </m:r>
                      <m:r>
                        <a:rPr sz="1500">
                          <a:latin typeface="Cambria Math" panose="02040503050406030204" pitchFamily="18" charset="0"/>
                        </a:rPr>
                        <m:t>𝛺</m:t>
                      </m:r>
                      <m:r>
                        <a:rPr sz="1500">
                          <a:latin typeface="Cambria Math" panose="02040503050406030204" pitchFamily="18" charset="0"/>
                        </a:rPr>
                        <m:t> = </m:t>
                      </m:r>
                      <m:d>
                        <m:dPr>
                          <m:begChr m:val="["/>
                          <m:endChr m:val="]"/>
                          <m:ctrlPr>
                            <a:rPr sz="1500" i="1">
                              <a:latin typeface="Cambria Math" panose="02040503050406030204" pitchFamily="18" charset="0"/>
                            </a:rPr>
                          </m:ctrlPr>
                        </m:dPr>
                        <m:e>
                          <m:m>
                            <m:mPr>
                              <m:mcs>
                                <m:mc>
                                  <m:mcPr>
                                    <m:count m:val="2"/>
                                    <m:mcJc m:val="center"/>
                                  </m:mcPr>
                                </m:mc>
                              </m:mcs>
                              <m:ctrlPr>
                                <a:rPr sz="1500" i="1">
                                  <a:latin typeface="Cambria Math" panose="02040503050406030204" pitchFamily="18" charset="0"/>
                                </a:rPr>
                              </m:ctrlPr>
                            </m:mPr>
                            <m:mr>
                              <m:e>
                                <m:sSub>
                                  <m:sSubPr>
                                    <m:ctrlPr>
                                      <a:rPr sz="1500" i="1">
                                        <a:latin typeface="Cambria Math" panose="02040503050406030204" pitchFamily="18" charset="0"/>
                                      </a:rPr>
                                    </m:ctrlPr>
                                  </m:sSubPr>
                                  <m:e>
                                    <m:sSup>
                                      <m:sSupPr>
                                        <m:ctrlPr>
                                          <a:rPr sz="1500" i="1">
                                            <a:latin typeface="Cambria Math" panose="02040503050406030204" pitchFamily="18" charset="0"/>
                                          </a:rPr>
                                        </m:ctrlPr>
                                      </m:sSupPr>
                                      <m:e>
                                        <m:r>
                                          <a:rPr sz="1500">
                                            <a:latin typeface="Cambria Math" panose="02040503050406030204" pitchFamily="18" charset="0"/>
                                          </a:rPr>
                                          <m:t>𝜔</m:t>
                                        </m:r>
                                      </m:e>
                                      <m:sup>
                                        <m:r>
                                          <a:rPr sz="1500">
                                            <a:latin typeface="Cambria Math" panose="02040503050406030204" pitchFamily="18" charset="0"/>
                                          </a:rPr>
                                          <m:t>2</m:t>
                                        </m:r>
                                      </m:sup>
                                    </m:sSup>
                                  </m:e>
                                  <m:sub>
                                    <m:r>
                                      <a:rPr sz="1500">
                                        <a:latin typeface="Cambria Math" panose="02040503050406030204" pitchFamily="18" charset="0"/>
                                      </a:rPr>
                                      <m:t>𝐶𝐿</m:t>
                                    </m:r>
                                  </m:sub>
                                </m:sSub>
                              </m:e>
                              <m:e>
                                <m:r>
                                  <a:rPr sz="1500">
                                    <a:latin typeface="Cambria Math" panose="02040503050406030204" pitchFamily="18" charset="0"/>
                                  </a:rPr>
                                  <m:t>𝑐𝑜𝑣</m:t>
                                </m:r>
                                <m:r>
                                  <a:rPr sz="1500">
                                    <a:latin typeface="Cambria Math" panose="02040503050406030204" pitchFamily="18" charset="0"/>
                                  </a:rPr>
                                  <m:t>(</m:t>
                                </m:r>
                                <m:r>
                                  <a:rPr sz="1500">
                                    <a:latin typeface="Cambria Math" panose="02040503050406030204" pitchFamily="18" charset="0"/>
                                  </a:rPr>
                                  <m:t>𝐶𝐿</m:t>
                                </m:r>
                                <m:r>
                                  <a:rPr sz="1500">
                                    <a:latin typeface="Cambria Math" panose="02040503050406030204" pitchFamily="18" charset="0"/>
                                  </a:rPr>
                                  <m:t>,</m:t>
                                </m:r>
                                <m:r>
                                  <a:rPr sz="1500">
                                    <a:latin typeface="Cambria Math" panose="02040503050406030204" pitchFamily="18" charset="0"/>
                                  </a:rPr>
                                  <m:t>𝑉</m:t>
                                </m:r>
                                <m:r>
                                  <a:rPr sz="1500">
                                    <a:latin typeface="Cambria Math" panose="02040503050406030204" pitchFamily="18" charset="0"/>
                                  </a:rPr>
                                  <m:t>)</m:t>
                                </m:r>
                              </m:e>
                            </m:mr>
                            <m:mr>
                              <m:e>
                                <m:r>
                                  <a:rPr sz="1500">
                                    <a:latin typeface="Cambria Math" panose="02040503050406030204" pitchFamily="18" charset="0"/>
                                  </a:rPr>
                                  <m:t>𝑐𝑜𝑣</m:t>
                                </m:r>
                                <m:r>
                                  <a:rPr sz="1500">
                                    <a:latin typeface="Cambria Math" panose="02040503050406030204" pitchFamily="18" charset="0"/>
                                  </a:rPr>
                                  <m:t>(</m:t>
                                </m:r>
                                <m:r>
                                  <a:rPr sz="1500">
                                    <a:latin typeface="Cambria Math" panose="02040503050406030204" pitchFamily="18" charset="0"/>
                                  </a:rPr>
                                  <m:t>𝐶𝐿</m:t>
                                </m:r>
                                <m:r>
                                  <a:rPr sz="1500">
                                    <a:latin typeface="Cambria Math" panose="02040503050406030204" pitchFamily="18" charset="0"/>
                                  </a:rPr>
                                  <m:t>,</m:t>
                                </m:r>
                                <m:r>
                                  <a:rPr sz="1500">
                                    <a:latin typeface="Cambria Math" panose="02040503050406030204" pitchFamily="18" charset="0"/>
                                  </a:rPr>
                                  <m:t>𝑉</m:t>
                                </m:r>
                                <m:r>
                                  <a:rPr sz="1500">
                                    <a:latin typeface="Cambria Math" panose="02040503050406030204" pitchFamily="18" charset="0"/>
                                  </a:rPr>
                                  <m:t>)</m:t>
                                </m:r>
                              </m:e>
                              <m:e>
                                <m:sSub>
                                  <m:sSubPr>
                                    <m:ctrlPr>
                                      <a:rPr sz="1500" i="1">
                                        <a:latin typeface="Cambria Math" panose="02040503050406030204" pitchFamily="18" charset="0"/>
                                      </a:rPr>
                                    </m:ctrlPr>
                                  </m:sSubPr>
                                  <m:e>
                                    <m:sSup>
                                      <m:sSupPr>
                                        <m:ctrlPr>
                                          <a:rPr sz="1500" i="1">
                                            <a:latin typeface="Cambria Math" panose="02040503050406030204" pitchFamily="18" charset="0"/>
                                          </a:rPr>
                                        </m:ctrlPr>
                                      </m:sSupPr>
                                      <m:e>
                                        <m:r>
                                          <a:rPr sz="1500">
                                            <a:latin typeface="Cambria Math" panose="02040503050406030204" pitchFamily="18" charset="0"/>
                                          </a:rPr>
                                          <m:t>𝜔</m:t>
                                        </m:r>
                                      </m:e>
                                      <m:sup>
                                        <m:r>
                                          <a:rPr sz="1500">
                                            <a:latin typeface="Cambria Math" panose="02040503050406030204" pitchFamily="18" charset="0"/>
                                          </a:rPr>
                                          <m:t>2</m:t>
                                        </m:r>
                                      </m:sup>
                                    </m:sSup>
                                  </m:e>
                                  <m:sub>
                                    <m:r>
                                      <a:rPr sz="1500">
                                        <a:latin typeface="Cambria Math" panose="02040503050406030204" pitchFamily="18" charset="0"/>
                                      </a:rPr>
                                      <m:t>𝑉𝑐</m:t>
                                    </m:r>
                                  </m:sub>
                                </m:sSub>
                              </m:e>
                            </m:mr>
                          </m:m>
                        </m:e>
                      </m:d>
                    </m:oMath>
                  </m:oMathPara>
                </a14:m>
                <a:endParaRPr sz="1500" dirty="0"/>
              </a:p>
            </p:txBody>
          </p:sp>
        </mc:Choice>
        <mc:Fallback xmlns="">
          <p:sp>
            <p:nvSpPr>
              <p:cNvPr id="44" name="TextBox 43">
                <a:extLst>
                  <a:ext uri="{FF2B5EF4-FFF2-40B4-BE49-F238E27FC236}">
                    <a16:creationId xmlns:a16="http://schemas.microsoft.com/office/drawing/2014/main" id="{7F86BE1E-A73F-6B36-4E9D-25480F042845}"/>
                  </a:ext>
                </a:extLst>
              </p:cNvPr>
              <p:cNvSpPr txBox="1">
                <a:spLocks noRot="1" noChangeAspect="1" noMove="1" noResize="1" noEditPoints="1" noAdjustHandles="1" noChangeArrowheads="1" noChangeShapeType="1" noTextEdit="1"/>
              </p:cNvSpPr>
              <p:nvPr/>
            </p:nvSpPr>
            <p:spPr>
              <a:xfrm>
                <a:off x="3926581" y="4231193"/>
                <a:ext cx="4815357" cy="606000"/>
              </a:xfrm>
              <a:prstGeom prst="rect">
                <a:avLst/>
              </a:prstGeom>
              <a:blipFill>
                <a:blip r:embed="rId5"/>
                <a:stretch>
                  <a:fillRect/>
                </a:stretch>
              </a:blipFill>
            </p:spPr>
            <p:txBody>
              <a:bodyPr/>
              <a:lstStyle/>
              <a:p>
                <a:r>
                  <a:rPr lang="en-US">
                    <a:noFill/>
                  </a:rPr>
                  <a:t> </a:t>
                </a:r>
              </a:p>
            </p:txBody>
          </p:sp>
        </mc:Fallback>
      </mc:AlternateContent>
      <p:sp>
        <p:nvSpPr>
          <p:cNvPr id="46" name="Right Brace 45">
            <a:extLst>
              <a:ext uri="{FF2B5EF4-FFF2-40B4-BE49-F238E27FC236}">
                <a16:creationId xmlns:a16="http://schemas.microsoft.com/office/drawing/2014/main" id="{BCA2E20C-454F-5541-19DF-14D5E9B57EBA}"/>
              </a:ext>
            </a:extLst>
          </p:cNvPr>
          <p:cNvSpPr/>
          <p:nvPr/>
        </p:nvSpPr>
        <p:spPr>
          <a:xfrm rot="5400000">
            <a:off x="5937361" y="1330675"/>
            <a:ext cx="221055" cy="8008795"/>
          </a:xfrm>
          <a:prstGeom prst="rightBrace">
            <a:avLst/>
          </a:prstGeom>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pic>
        <p:nvPicPr>
          <p:cNvPr id="11" name="Graphic 10" descr="Add with solid fill">
            <a:extLst>
              <a:ext uri="{FF2B5EF4-FFF2-40B4-BE49-F238E27FC236}">
                <a16:creationId xmlns:a16="http://schemas.microsoft.com/office/drawing/2014/main" id="{ACAB859E-E415-A584-FA27-EAFF8534CB2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28186" y="3206867"/>
            <a:ext cx="687053" cy="687053"/>
          </a:xfrm>
          <a:prstGeom prst="rect">
            <a:avLst/>
          </a:prstGeom>
        </p:spPr>
      </p:pic>
      <p:pic>
        <p:nvPicPr>
          <p:cNvPr id="14" name="Graphic 13" descr="Add with solid fill">
            <a:extLst>
              <a:ext uri="{FF2B5EF4-FFF2-40B4-BE49-F238E27FC236}">
                <a16:creationId xmlns:a16="http://schemas.microsoft.com/office/drawing/2014/main" id="{A982C974-1636-892C-68C6-A9BD7B4208E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98457" y="3085473"/>
            <a:ext cx="687053" cy="687053"/>
          </a:xfrm>
          <a:prstGeom prst="rect">
            <a:avLst/>
          </a:prstGeom>
        </p:spPr>
      </p:pic>
      <p:sp>
        <p:nvSpPr>
          <p:cNvPr id="13" name="TextBox 12">
            <a:extLst>
              <a:ext uri="{FF2B5EF4-FFF2-40B4-BE49-F238E27FC236}">
                <a16:creationId xmlns:a16="http://schemas.microsoft.com/office/drawing/2014/main" id="{B229DD2D-A2FE-F0BB-CD9F-C96E25EBBA62}"/>
              </a:ext>
            </a:extLst>
          </p:cNvPr>
          <p:cNvSpPr txBox="1"/>
          <p:nvPr/>
        </p:nvSpPr>
        <p:spPr>
          <a:xfrm>
            <a:off x="780619" y="5575224"/>
            <a:ext cx="5674421"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spcBef>
                <a:spcPts val="800"/>
              </a:spcBef>
            </a:pPr>
            <a:r>
              <a:rPr lang="en-US" dirty="0"/>
              <a:t>Cohort, Dataset, </a:t>
            </a:r>
            <a:r>
              <a:rPr lang="en-US" dirty="0" err="1"/>
              <a:t>ID,</a:t>
            </a:r>
            <a:r>
              <a:rPr lang="en-US" sz="1800" dirty="0" err="1"/>
              <a:t>Weight</a:t>
            </a:r>
            <a:r>
              <a:rPr lang="en-US" sz="1800" dirty="0"/>
              <a:t>, BMI,</a:t>
            </a:r>
            <a:r>
              <a:rPr lang="en-US" dirty="0"/>
              <a:t> </a:t>
            </a:r>
            <a:r>
              <a:rPr lang="en-US" dirty="0" err="1"/>
              <a:t>CrCL</a:t>
            </a:r>
            <a:r>
              <a:rPr lang="en-US" dirty="0"/>
              <a:t>,</a:t>
            </a:r>
            <a:r>
              <a:rPr lang="en-US" sz="1800" dirty="0"/>
              <a:t> Sex, Race</a:t>
            </a:r>
          </a:p>
        </p:txBody>
      </p:sp>
      <p:sp>
        <p:nvSpPr>
          <p:cNvPr id="26" name="TextBox 25">
            <a:extLst>
              <a:ext uri="{FF2B5EF4-FFF2-40B4-BE49-F238E27FC236}">
                <a16:creationId xmlns:a16="http://schemas.microsoft.com/office/drawing/2014/main" id="{E8AB52F7-E75C-CEC7-CBF8-6097EBEAF853}"/>
              </a:ext>
            </a:extLst>
          </p:cNvPr>
          <p:cNvSpPr txBox="1"/>
          <p:nvPr/>
        </p:nvSpPr>
        <p:spPr>
          <a:xfrm>
            <a:off x="6455040" y="5575224"/>
            <a:ext cx="4224759"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spcBef>
                <a:spcPts val="800"/>
              </a:spcBef>
            </a:pPr>
            <a:r>
              <a:rPr lang="en-US" dirty="0"/>
              <a:t>Scenario, Time, Dose, Concentration</a:t>
            </a:r>
          </a:p>
        </p:txBody>
      </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A06962F7-92B1-4A68-836E-B5017DB5262B}" type="slidenum">
              <a:rPr lang="en-US" sz="1000">
                <a:solidFill>
                  <a:srgbClr val="8A8A8A"/>
                </a:solidFill>
                <a:latin typeface="Arial"/>
              </a:rPr>
              <a:t>35</a:t>
            </a:fld>
            <a:endParaRPr lang="en-US" sz="1000">
              <a:solidFill>
                <a:srgbClr val="8A8A8A"/>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5" grpId="0"/>
      <p:bldP spid="39" grpId="0"/>
      <p:bldP spid="44" grpId="0"/>
      <p:bldP spid="13" grpId="0" animBg="1"/>
      <p:bldP spid="2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7D92C-5C68-81F5-E067-97EB67DECF30}"/>
              </a:ext>
            </a:extLst>
          </p:cNvPr>
          <p:cNvSpPr>
            <a:spLocks noGrp="1"/>
          </p:cNvSpPr>
          <p:nvPr>
            <p:ph type="title"/>
          </p:nvPr>
        </p:nvSpPr>
        <p:spPr>
          <a:xfrm>
            <a:off x="408600" y="329434"/>
            <a:ext cx="11088000" cy="498598"/>
          </a:xfrm>
        </p:spPr>
        <p:txBody>
          <a:bodyPr/>
          <a:lstStyle/>
          <a:p>
            <a:r>
              <a:rPr lang="en-US" sz="3600" dirty="0" err="1"/>
              <a:t>vae</a:t>
            </a:r>
            <a:endParaRPr lang="en-US" sz="3600" dirty="0"/>
          </a:p>
        </p:txBody>
      </p:sp>
      <p:sp>
        <p:nvSpPr>
          <p:cNvPr id="3" name="Text Placeholder 2">
            <a:extLst>
              <a:ext uri="{FF2B5EF4-FFF2-40B4-BE49-F238E27FC236}">
                <a16:creationId xmlns:a16="http://schemas.microsoft.com/office/drawing/2014/main" id="{E9280051-1224-E172-B8C0-725DFD82307E}"/>
              </a:ext>
            </a:extLst>
          </p:cNvPr>
          <p:cNvSpPr>
            <a:spLocks noGrp="1"/>
          </p:cNvSpPr>
          <p:nvPr>
            <p:ph type="body" sz="quarter" idx="13"/>
          </p:nvPr>
        </p:nvSpPr>
        <p:spPr>
          <a:xfrm>
            <a:off x="408600" y="1126367"/>
            <a:ext cx="11088000" cy="4212000"/>
          </a:xfrm>
        </p:spPr>
        <p:txBody>
          <a:bodyPr/>
          <a:lstStyle/>
          <a:p>
            <a:pPr>
              <a:lnSpc>
                <a:spcPts val="2300"/>
              </a:lnSpc>
            </a:pPr>
            <a:r>
              <a:rPr lang="en-US" b="0" dirty="0"/>
              <a:t>A VAE-NLME fit alternates three pieces per iteration:</a:t>
            </a:r>
          </a:p>
          <a:p>
            <a:pPr>
              <a:lnSpc>
                <a:spcPts val="2300"/>
              </a:lnSpc>
            </a:pPr>
            <a:r>
              <a:rPr lang="en-US" b="0" dirty="0"/>
              <a:t>1. **Encoder (LSTM).**: A single-layer LSTM reads each subject's observation sequence (and its covariates) and outputs </a:t>
            </a:r>
            <a:r>
              <a:rPr lang="en-US" b="0" u="sng" dirty="0"/>
              <a:t>a Gaussian posterior over that subject's individual parameters</a:t>
            </a:r>
            <a:r>
              <a:rPr lang="en-US" b="0" dirty="0"/>
              <a:t> -- a mean and a Cholesky factor.</a:t>
            </a:r>
          </a:p>
          <a:p>
            <a:pPr>
              <a:lnSpc>
                <a:spcPts val="2300"/>
              </a:lnSpc>
            </a:pPr>
            <a:r>
              <a:rPr lang="en-US" b="0" dirty="0"/>
              <a:t>2. **Decoder (the structural model).** The sampled individual parameters are pushed through the ODE model to produce predictions. In `nlmixr2` the decoder is your ordinary `rxode2` model, so any compartment structure, error model, dosing or event handling is supported</a:t>
            </a:r>
          </a:p>
          <a:p>
            <a:pPr>
              <a:lnSpc>
                <a:spcPts val="2300"/>
              </a:lnSpc>
            </a:pPr>
            <a:r>
              <a:rPr lang="en-US" b="0" dirty="0"/>
              <a:t>3. **Population M-step.** A stochastic-approximation update refreshes the population means, the between-subject variances (`omega`) and the residual error, and runs the covariate selection. Each latent parameter is regressed on the candidate covariates under an L0 (</a:t>
            </a:r>
            <a:r>
              <a:rPr lang="en-US" b="0" dirty="0" err="1"/>
              <a:t>BICc</a:t>
            </a:r>
            <a:r>
              <a:rPr lang="en-US" b="0" dirty="0"/>
              <a:t>-style) </a:t>
            </a:r>
            <a:r>
              <a:rPr lang="en-US" b="0" dirty="0" err="1"/>
              <a:t>penalty`RSS</a:t>
            </a:r>
            <a:r>
              <a:rPr lang="en-US" b="0" dirty="0"/>
              <a:t>/omega + log(N) * (number of covariates)`; </a:t>
            </a:r>
          </a:p>
        </p:txBody>
      </p:sp>
      <p:sp>
        <p:nvSpPr>
          <p:cNvPr id="4" name="Footer Placeholder 3">
            <a:extLst>
              <a:ext uri="{FF2B5EF4-FFF2-40B4-BE49-F238E27FC236}">
                <a16:creationId xmlns:a16="http://schemas.microsoft.com/office/drawing/2014/main" id="{043C3270-D060-DD7F-DD93-FE80DE93C710}"/>
              </a:ext>
            </a:extLst>
          </p:cNvPr>
          <p:cNvSpPr>
            <a:spLocks noGrp="1"/>
          </p:cNvSpPr>
          <p:nvPr>
            <p:ph type="ftr" sz="quarter" idx="11"/>
          </p:nvPr>
        </p:nvSpPr>
        <p:spPr/>
        <p:txBody>
          <a:bodyPr/>
          <a:lstStyle/>
          <a:p>
            <a:endParaRPr lang="en-US" noProof="0"/>
          </a:p>
        </p:txBody>
      </p:sp>
      <p:sp>
        <p:nvSpPr>
          <p:cNvPr id="5" name="Slide Number Placeholder 4">
            <a:extLst>
              <a:ext uri="{FF2B5EF4-FFF2-40B4-BE49-F238E27FC236}">
                <a16:creationId xmlns:a16="http://schemas.microsoft.com/office/drawing/2014/main" id="{69E831C2-1EFF-6F8B-1144-FA4FD7D9743C}"/>
              </a:ext>
            </a:extLst>
          </p:cNvPr>
          <p:cNvSpPr>
            <a:spLocks noGrp="1"/>
          </p:cNvSpPr>
          <p:nvPr>
            <p:ph type="sldNum" sz="quarter" idx="12"/>
          </p:nvPr>
        </p:nvSpPr>
        <p:spPr/>
        <p:txBody>
          <a:bodyPr/>
          <a:lstStyle/>
          <a:p>
            <a:fld id="{1EDD9F3E-8BFD-4E3C-98D1-767322780FDD}" type="slidenum">
              <a:rPr lang="en-US" noProof="0" smtClean="0"/>
              <a:t>36</a:t>
            </a:fld>
            <a:endParaRPr lang="en-US" noProof="0"/>
          </a:p>
        </p:txBody>
      </p:sp>
    </p:spTree>
    <p:extLst>
      <p:ext uri="{BB962C8B-B14F-4D97-AF65-F5344CB8AC3E}">
        <p14:creationId xmlns:p14="http://schemas.microsoft.com/office/powerpoint/2010/main" val="23053742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2AED6CA-E70C-C6A1-0A29-CEFA5283491E}"/>
            </a:ext>
          </a:extLst>
        </p:cNvPr>
        <p:cNvGrpSpPr/>
        <p:nvPr/>
      </p:nvGrpSpPr>
      <p:grpSpPr>
        <a:xfrm>
          <a:off x="0" y="0"/>
          <a:ext cx="0" cy="0"/>
          <a:chOff x="0" y="0"/>
          <a:chExt cx="0" cy="0"/>
        </a:xfrm>
      </p:grpSpPr>
      <p:sp>
        <p:nvSpPr>
          <p:cNvPr id="9" name="title">
            <a:extLst>
              <a:ext uri="{FF2B5EF4-FFF2-40B4-BE49-F238E27FC236}">
                <a16:creationId xmlns:a16="http://schemas.microsoft.com/office/drawing/2014/main" id="{4823E125-FEEF-9F3F-61D3-80596B6EE152}"/>
              </a:ext>
            </a:extLst>
          </p:cNvPr>
          <p:cNvSpPr txBox="1"/>
          <p:nvPr/>
        </p:nvSpPr>
        <p:spPr>
          <a:xfrm>
            <a:off x="217714" y="240974"/>
            <a:ext cx="11094720" cy="903385"/>
          </a:xfrm>
          <a:prstGeom prst="rect">
            <a:avLst/>
          </a:prstGeom>
          <a:noFill/>
        </p:spPr>
        <p:txBody>
          <a:bodyPr wrap="square" lIns="0" tIns="0" rIns="0" bIns="0" anchor="t"/>
          <a:lstStyle/>
          <a:p>
            <a:pPr algn="l">
              <a:buNone/>
            </a:pPr>
            <a:r>
              <a:rPr lang="en-US" sz="2400" b="1" dirty="0">
                <a:solidFill>
                  <a:srgbClr val="0460A9"/>
                </a:solidFill>
                <a:latin typeface="Arial"/>
                <a:cs typeface="Arial"/>
              </a:rPr>
              <a:t>VAE can estimate population parameters while screening covariate effects in a single run </a:t>
            </a:r>
          </a:p>
        </p:txBody>
      </p:sp>
      <p:grpSp>
        <p:nvGrpSpPr>
          <p:cNvPr id="24" name="Group 23">
            <a:extLst>
              <a:ext uri="{FF2B5EF4-FFF2-40B4-BE49-F238E27FC236}">
                <a16:creationId xmlns:a16="http://schemas.microsoft.com/office/drawing/2014/main" id="{5FEEDCD9-3C27-936D-919F-9D5FD51EDB11}"/>
              </a:ext>
            </a:extLst>
          </p:cNvPr>
          <p:cNvGrpSpPr/>
          <p:nvPr/>
        </p:nvGrpSpPr>
        <p:grpSpPr>
          <a:xfrm>
            <a:off x="885038" y="4802440"/>
            <a:ext cx="10435038" cy="1344203"/>
            <a:chOff x="1108677" y="4536061"/>
            <a:chExt cx="10435038" cy="1344203"/>
          </a:xfrm>
        </p:grpSpPr>
        <p:sp>
          <p:nvSpPr>
            <p:cNvPr id="40" name="callout">
              <a:extLst>
                <a:ext uri="{FF2B5EF4-FFF2-40B4-BE49-F238E27FC236}">
                  <a16:creationId xmlns:a16="http://schemas.microsoft.com/office/drawing/2014/main" id="{0BF0C60D-AACD-F691-7F54-348FFB321F1F}"/>
                </a:ext>
              </a:extLst>
            </p:cNvPr>
            <p:cNvSpPr/>
            <p:nvPr/>
          </p:nvSpPr>
          <p:spPr>
            <a:xfrm>
              <a:off x="1108677" y="4536061"/>
              <a:ext cx="10435038" cy="1344203"/>
            </a:xfrm>
            <a:prstGeom prst="roundRect">
              <a:avLst/>
            </a:prstGeom>
            <a:solidFill>
              <a:srgbClr val="EAF1FA"/>
            </a:solidFill>
            <a:ln>
              <a:noFill/>
            </a:ln>
          </p:spPr>
          <p:txBody>
            <a:bodyPr wrap="square" lIns="45720" tIns="27432" rIns="45720" bIns="27432" anchor="ctr"/>
            <a:lstStyle/>
            <a:p>
              <a:pPr>
                <a:buNone/>
              </a:pPr>
              <a:endParaRPr lang="en-US"/>
            </a:p>
          </p:txBody>
        </p:sp>
        <p:grpSp>
          <p:nvGrpSpPr>
            <p:cNvPr id="28" name="Group 27">
              <a:extLst>
                <a:ext uri="{FF2B5EF4-FFF2-40B4-BE49-F238E27FC236}">
                  <a16:creationId xmlns:a16="http://schemas.microsoft.com/office/drawing/2014/main" id="{1E9337AD-42EC-D583-F2F5-0E1EFE1C6FAA}"/>
                </a:ext>
              </a:extLst>
            </p:cNvPr>
            <p:cNvGrpSpPr/>
            <p:nvPr/>
          </p:nvGrpSpPr>
          <p:grpSpPr>
            <a:xfrm>
              <a:off x="1493360" y="4685436"/>
              <a:ext cx="1200000" cy="1070000"/>
              <a:chOff x="1910000" y="4930000"/>
              <a:chExt cx="1200000" cy="1070000"/>
            </a:xfrm>
          </p:grpSpPr>
          <p:sp>
            <p:nvSpPr>
              <p:cNvPr id="50" name="b50">
                <a:extLst>
                  <a:ext uri="{FF2B5EF4-FFF2-40B4-BE49-F238E27FC236}">
                    <a16:creationId xmlns:a16="http://schemas.microsoft.com/office/drawing/2014/main" id="{4AD53259-527A-5C55-4E5E-FDFD49801EE9}"/>
                  </a:ext>
                </a:extLst>
              </p:cNvPr>
              <p:cNvSpPr/>
              <p:nvPr/>
            </p:nvSpPr>
            <p:spPr>
              <a:xfrm>
                <a:off x="1950000" y="4930000"/>
                <a:ext cx="195000" cy="195000"/>
              </a:xfrm>
              <a:prstGeom prst="rect">
                <a:avLst/>
              </a:prstGeom>
              <a:solidFill>
                <a:srgbClr val="E8590C"/>
              </a:solidFill>
              <a:ln>
                <a:noFill/>
              </a:ln>
            </p:spPr>
            <p:txBody>
              <a:bodyPr wrap="square" lIns="45720" tIns="27432" rIns="45720" bIns="27432" anchor="ctr"/>
              <a:lstStyle/>
              <a:p>
                <a:pPr>
                  <a:buNone/>
                </a:pPr>
                <a:endParaRPr lang="en-US"/>
              </a:p>
            </p:txBody>
          </p:sp>
          <p:sp>
            <p:nvSpPr>
              <p:cNvPr id="51" name="b51">
                <a:extLst>
                  <a:ext uri="{FF2B5EF4-FFF2-40B4-BE49-F238E27FC236}">
                    <a16:creationId xmlns:a16="http://schemas.microsoft.com/office/drawing/2014/main" id="{E5003988-919C-E805-9635-781D07824435}"/>
                  </a:ext>
                </a:extLst>
              </p:cNvPr>
              <p:cNvSpPr/>
              <p:nvPr/>
            </p:nvSpPr>
            <p:spPr>
              <a:xfrm>
                <a:off x="1950000" y="5180000"/>
                <a:ext cx="195000" cy="195000"/>
              </a:xfrm>
              <a:prstGeom prst="rect">
                <a:avLst/>
              </a:prstGeom>
              <a:solidFill>
                <a:srgbClr val="E8590C"/>
              </a:solidFill>
              <a:ln>
                <a:noFill/>
              </a:ln>
            </p:spPr>
            <p:txBody>
              <a:bodyPr wrap="square" lIns="45720" tIns="27432" rIns="45720" bIns="27432" anchor="ctr"/>
              <a:lstStyle/>
              <a:p>
                <a:pPr>
                  <a:buNone/>
                </a:pPr>
                <a:endParaRPr lang="en-US"/>
              </a:p>
            </p:txBody>
          </p:sp>
          <p:sp>
            <p:nvSpPr>
              <p:cNvPr id="52" name="b52">
                <a:extLst>
                  <a:ext uri="{FF2B5EF4-FFF2-40B4-BE49-F238E27FC236}">
                    <a16:creationId xmlns:a16="http://schemas.microsoft.com/office/drawing/2014/main" id="{3EEC0678-EF51-1966-B995-CCBA03F3C3D4}"/>
                  </a:ext>
                </a:extLst>
              </p:cNvPr>
              <p:cNvSpPr/>
              <p:nvPr/>
            </p:nvSpPr>
            <p:spPr>
              <a:xfrm>
                <a:off x="1950000" y="5430000"/>
                <a:ext cx="195000" cy="195000"/>
              </a:xfrm>
              <a:prstGeom prst="rect">
                <a:avLst/>
              </a:prstGeom>
              <a:solidFill>
                <a:srgbClr val="E8590C"/>
              </a:solidFill>
              <a:ln>
                <a:noFill/>
              </a:ln>
            </p:spPr>
            <p:txBody>
              <a:bodyPr wrap="square" lIns="45720" tIns="27432" rIns="45720" bIns="27432" anchor="ctr"/>
              <a:lstStyle/>
              <a:p>
                <a:pPr>
                  <a:buNone/>
                </a:pPr>
                <a:endParaRPr lang="en-US"/>
              </a:p>
            </p:txBody>
          </p:sp>
          <p:sp>
            <p:nvSpPr>
              <p:cNvPr id="53" name="b53">
                <a:extLst>
                  <a:ext uri="{FF2B5EF4-FFF2-40B4-BE49-F238E27FC236}">
                    <a16:creationId xmlns:a16="http://schemas.microsoft.com/office/drawing/2014/main" id="{9943D3B4-6D98-DBC9-55C9-25C57C7308A7}"/>
                  </a:ext>
                </a:extLst>
              </p:cNvPr>
              <p:cNvSpPr/>
              <p:nvPr/>
            </p:nvSpPr>
            <p:spPr>
              <a:xfrm>
                <a:off x="2200000" y="4930000"/>
                <a:ext cx="195000" cy="195000"/>
              </a:xfrm>
              <a:prstGeom prst="rect">
                <a:avLst/>
              </a:prstGeom>
              <a:solidFill>
                <a:srgbClr val="FFFFFF"/>
              </a:solidFill>
              <a:ln w="9525">
                <a:solidFill>
                  <a:srgbClr val="2E6DB4"/>
                </a:solidFill>
              </a:ln>
            </p:spPr>
            <p:txBody>
              <a:bodyPr wrap="square" lIns="45720" tIns="27432" rIns="45720" bIns="27432" anchor="ctr"/>
              <a:lstStyle/>
              <a:p>
                <a:pPr>
                  <a:buNone/>
                </a:pPr>
                <a:endParaRPr lang="en-US"/>
              </a:p>
            </p:txBody>
          </p:sp>
          <p:sp>
            <p:nvSpPr>
              <p:cNvPr id="54" name="b54">
                <a:extLst>
                  <a:ext uri="{FF2B5EF4-FFF2-40B4-BE49-F238E27FC236}">
                    <a16:creationId xmlns:a16="http://schemas.microsoft.com/office/drawing/2014/main" id="{4D7A23A2-8ED1-57CF-DCFB-74B24FD4C3E8}"/>
                  </a:ext>
                </a:extLst>
              </p:cNvPr>
              <p:cNvSpPr/>
              <p:nvPr/>
            </p:nvSpPr>
            <p:spPr>
              <a:xfrm>
                <a:off x="2200000" y="5180000"/>
                <a:ext cx="195000" cy="195000"/>
              </a:xfrm>
              <a:prstGeom prst="rect">
                <a:avLst/>
              </a:prstGeom>
              <a:solidFill>
                <a:srgbClr val="FFFFFF"/>
              </a:solidFill>
              <a:ln w="9525">
                <a:solidFill>
                  <a:srgbClr val="2E6DB4"/>
                </a:solidFill>
              </a:ln>
            </p:spPr>
            <p:txBody>
              <a:bodyPr wrap="square" lIns="45720" tIns="27432" rIns="45720" bIns="27432" anchor="ctr"/>
              <a:lstStyle/>
              <a:p>
                <a:pPr>
                  <a:buNone/>
                </a:pPr>
                <a:endParaRPr lang="en-US"/>
              </a:p>
            </p:txBody>
          </p:sp>
          <p:sp>
            <p:nvSpPr>
              <p:cNvPr id="55" name="b55">
                <a:extLst>
                  <a:ext uri="{FF2B5EF4-FFF2-40B4-BE49-F238E27FC236}">
                    <a16:creationId xmlns:a16="http://schemas.microsoft.com/office/drawing/2014/main" id="{C695B4F6-29A5-5CED-9EC7-2418FCF282E2}"/>
                  </a:ext>
                </a:extLst>
              </p:cNvPr>
              <p:cNvSpPr/>
              <p:nvPr/>
            </p:nvSpPr>
            <p:spPr>
              <a:xfrm>
                <a:off x="2200000" y="5430000"/>
                <a:ext cx="195000" cy="195000"/>
              </a:xfrm>
              <a:prstGeom prst="rect">
                <a:avLst/>
              </a:prstGeom>
              <a:solidFill>
                <a:srgbClr val="FFFFFF"/>
              </a:solidFill>
              <a:ln w="9525">
                <a:solidFill>
                  <a:srgbClr val="2E6DB4"/>
                </a:solidFill>
              </a:ln>
            </p:spPr>
            <p:txBody>
              <a:bodyPr wrap="square" lIns="45720" tIns="27432" rIns="45720" bIns="27432" anchor="ctr"/>
              <a:lstStyle/>
              <a:p>
                <a:pPr>
                  <a:buNone/>
                </a:pPr>
                <a:endParaRPr lang="en-US"/>
              </a:p>
            </p:txBody>
          </p:sp>
          <p:sp>
            <p:nvSpPr>
              <p:cNvPr id="56" name="b56">
                <a:extLst>
                  <a:ext uri="{FF2B5EF4-FFF2-40B4-BE49-F238E27FC236}">
                    <a16:creationId xmlns:a16="http://schemas.microsoft.com/office/drawing/2014/main" id="{7DF3A68B-9BD1-1F6D-EE1F-0E1CC6139E8C}"/>
                  </a:ext>
                </a:extLst>
              </p:cNvPr>
              <p:cNvSpPr/>
              <p:nvPr/>
            </p:nvSpPr>
            <p:spPr>
              <a:xfrm>
                <a:off x="2450000" y="4930000"/>
                <a:ext cx="195000" cy="195000"/>
              </a:xfrm>
              <a:prstGeom prst="rect">
                <a:avLst/>
              </a:prstGeom>
              <a:solidFill>
                <a:srgbClr val="E8590C"/>
              </a:solidFill>
              <a:ln>
                <a:noFill/>
              </a:ln>
            </p:spPr>
            <p:txBody>
              <a:bodyPr wrap="square" lIns="45720" tIns="27432" rIns="45720" bIns="27432" anchor="ctr"/>
              <a:lstStyle/>
              <a:p>
                <a:pPr>
                  <a:buNone/>
                </a:pPr>
                <a:endParaRPr lang="en-US"/>
              </a:p>
            </p:txBody>
          </p:sp>
          <p:sp>
            <p:nvSpPr>
              <p:cNvPr id="57" name="b57">
                <a:extLst>
                  <a:ext uri="{FF2B5EF4-FFF2-40B4-BE49-F238E27FC236}">
                    <a16:creationId xmlns:a16="http://schemas.microsoft.com/office/drawing/2014/main" id="{451AE956-E0D1-4444-BBA6-94A970C59123}"/>
                  </a:ext>
                </a:extLst>
              </p:cNvPr>
              <p:cNvSpPr/>
              <p:nvPr/>
            </p:nvSpPr>
            <p:spPr>
              <a:xfrm>
                <a:off x="2450000" y="5180000"/>
                <a:ext cx="195000" cy="195000"/>
              </a:xfrm>
              <a:prstGeom prst="rect">
                <a:avLst/>
              </a:prstGeom>
              <a:solidFill>
                <a:srgbClr val="FFFFFF"/>
              </a:solidFill>
              <a:ln w="9525">
                <a:solidFill>
                  <a:srgbClr val="2E6DB4"/>
                </a:solidFill>
              </a:ln>
            </p:spPr>
            <p:txBody>
              <a:bodyPr wrap="square" lIns="45720" tIns="27432" rIns="45720" bIns="27432" anchor="ctr"/>
              <a:lstStyle/>
              <a:p>
                <a:pPr>
                  <a:buNone/>
                </a:pPr>
                <a:endParaRPr lang="en-US"/>
              </a:p>
            </p:txBody>
          </p:sp>
          <p:sp>
            <p:nvSpPr>
              <p:cNvPr id="58" name="b58">
                <a:extLst>
                  <a:ext uri="{FF2B5EF4-FFF2-40B4-BE49-F238E27FC236}">
                    <a16:creationId xmlns:a16="http://schemas.microsoft.com/office/drawing/2014/main" id="{49AD3B23-178A-BC7D-ECCA-64C41CF18E02}"/>
                  </a:ext>
                </a:extLst>
              </p:cNvPr>
              <p:cNvSpPr/>
              <p:nvPr/>
            </p:nvSpPr>
            <p:spPr>
              <a:xfrm>
                <a:off x="2450000" y="5430000"/>
                <a:ext cx="195000" cy="195000"/>
              </a:xfrm>
              <a:prstGeom prst="rect">
                <a:avLst/>
              </a:prstGeom>
              <a:solidFill>
                <a:srgbClr val="FFFFFF"/>
              </a:solidFill>
              <a:ln w="9525">
                <a:solidFill>
                  <a:srgbClr val="2E6DB4"/>
                </a:solidFill>
              </a:ln>
            </p:spPr>
            <p:txBody>
              <a:bodyPr wrap="square" lIns="45720" tIns="27432" rIns="45720" bIns="27432" anchor="ctr"/>
              <a:lstStyle/>
              <a:p>
                <a:pPr>
                  <a:buNone/>
                </a:pPr>
                <a:endParaRPr lang="en-US"/>
              </a:p>
            </p:txBody>
          </p:sp>
          <p:sp>
            <p:nvSpPr>
              <p:cNvPr id="59" name="b59">
                <a:extLst>
                  <a:ext uri="{FF2B5EF4-FFF2-40B4-BE49-F238E27FC236}">
                    <a16:creationId xmlns:a16="http://schemas.microsoft.com/office/drawing/2014/main" id="{40C980F8-9C13-071A-8535-14106352341F}"/>
                  </a:ext>
                </a:extLst>
              </p:cNvPr>
              <p:cNvSpPr/>
              <p:nvPr/>
            </p:nvSpPr>
            <p:spPr>
              <a:xfrm>
                <a:off x="2700000" y="4930000"/>
                <a:ext cx="195000" cy="195000"/>
              </a:xfrm>
              <a:prstGeom prst="rect">
                <a:avLst/>
              </a:prstGeom>
              <a:solidFill>
                <a:srgbClr val="FFFFFF"/>
              </a:solidFill>
              <a:ln w="9525">
                <a:solidFill>
                  <a:srgbClr val="2E6DB4"/>
                </a:solidFill>
              </a:ln>
            </p:spPr>
            <p:txBody>
              <a:bodyPr wrap="square" lIns="45720" tIns="27432" rIns="45720" bIns="27432" anchor="ctr"/>
              <a:lstStyle/>
              <a:p>
                <a:pPr>
                  <a:buNone/>
                </a:pPr>
                <a:endParaRPr lang="en-US"/>
              </a:p>
            </p:txBody>
          </p:sp>
          <p:sp>
            <p:nvSpPr>
              <p:cNvPr id="60" name="b60">
                <a:extLst>
                  <a:ext uri="{FF2B5EF4-FFF2-40B4-BE49-F238E27FC236}">
                    <a16:creationId xmlns:a16="http://schemas.microsoft.com/office/drawing/2014/main" id="{FA6B2688-C85E-6AE0-1266-16C25A6D4E57}"/>
                  </a:ext>
                </a:extLst>
              </p:cNvPr>
              <p:cNvSpPr/>
              <p:nvPr/>
            </p:nvSpPr>
            <p:spPr>
              <a:xfrm>
                <a:off x="2700000" y="5180000"/>
                <a:ext cx="195000" cy="195000"/>
              </a:xfrm>
              <a:prstGeom prst="rect">
                <a:avLst/>
              </a:prstGeom>
              <a:solidFill>
                <a:srgbClr val="FFFFFF"/>
              </a:solidFill>
              <a:ln w="9525">
                <a:solidFill>
                  <a:srgbClr val="2E6DB4"/>
                </a:solidFill>
              </a:ln>
            </p:spPr>
            <p:txBody>
              <a:bodyPr wrap="square" lIns="45720" tIns="27432" rIns="45720" bIns="27432" anchor="ctr"/>
              <a:lstStyle/>
              <a:p>
                <a:pPr>
                  <a:buNone/>
                </a:pPr>
                <a:endParaRPr lang="en-US"/>
              </a:p>
            </p:txBody>
          </p:sp>
          <p:sp>
            <p:nvSpPr>
              <p:cNvPr id="61" name="b61">
                <a:extLst>
                  <a:ext uri="{FF2B5EF4-FFF2-40B4-BE49-F238E27FC236}">
                    <a16:creationId xmlns:a16="http://schemas.microsoft.com/office/drawing/2014/main" id="{1DD17C50-7595-0E52-8068-331BC045FD4E}"/>
                  </a:ext>
                </a:extLst>
              </p:cNvPr>
              <p:cNvSpPr/>
              <p:nvPr/>
            </p:nvSpPr>
            <p:spPr>
              <a:xfrm>
                <a:off x="2700000" y="5430000"/>
                <a:ext cx="195000" cy="195000"/>
              </a:xfrm>
              <a:prstGeom prst="rect">
                <a:avLst/>
              </a:prstGeom>
              <a:solidFill>
                <a:srgbClr val="FFFFFF"/>
              </a:solidFill>
              <a:ln w="9525">
                <a:solidFill>
                  <a:srgbClr val="2E6DB4"/>
                </a:solidFill>
              </a:ln>
            </p:spPr>
            <p:txBody>
              <a:bodyPr wrap="square" lIns="45720" tIns="27432" rIns="45720" bIns="27432" anchor="ctr"/>
              <a:lstStyle/>
              <a:p>
                <a:pPr>
                  <a:buNone/>
                </a:pPr>
                <a:endParaRPr lang="en-US"/>
              </a:p>
            </p:txBody>
          </p:sp>
          <p:sp>
            <p:nvSpPr>
              <p:cNvPr id="70" name="bcap">
                <a:extLst>
                  <a:ext uri="{FF2B5EF4-FFF2-40B4-BE49-F238E27FC236}">
                    <a16:creationId xmlns:a16="http://schemas.microsoft.com/office/drawing/2014/main" id="{BD5E86D3-E69D-6A12-E080-F6CD632CF34F}"/>
                  </a:ext>
                </a:extLst>
              </p:cNvPr>
              <p:cNvSpPr txBox="1"/>
              <p:nvPr/>
            </p:nvSpPr>
            <p:spPr>
              <a:xfrm>
                <a:off x="1910000" y="5700000"/>
                <a:ext cx="1200000" cy="300000"/>
              </a:xfrm>
              <a:prstGeom prst="rect">
                <a:avLst/>
              </a:prstGeom>
              <a:noFill/>
            </p:spPr>
            <p:txBody>
              <a:bodyPr wrap="square" lIns="0" tIns="0" rIns="0" bIns="0" anchor="t"/>
              <a:lstStyle/>
              <a:p>
                <a:pPr marL="0" algn="ctr">
                  <a:lnSpc>
                    <a:spcPct val="100000"/>
                  </a:lnSpc>
                  <a:spcAft>
                    <a:spcPts val="60"/>
                  </a:spcAft>
                  <a:buNone/>
                </a:pPr>
                <a:r>
                  <a:rPr lang="en-US" sz="1000" b="0" i="0" dirty="0">
                    <a:solidFill>
                      <a:srgbClr val="3C3C3C"/>
                    </a:solidFill>
                    <a:latin typeface="Arial"/>
                    <a:cs typeface="Arial"/>
                  </a:rPr>
                  <a:t>β  (params × covariates)</a:t>
                </a:r>
              </a:p>
            </p:txBody>
          </p:sp>
        </p:grpSp>
        <p:sp>
          <p:nvSpPr>
            <p:cNvPr id="71" name="ctext">
              <a:extLst>
                <a:ext uri="{FF2B5EF4-FFF2-40B4-BE49-F238E27FC236}">
                  <a16:creationId xmlns:a16="http://schemas.microsoft.com/office/drawing/2014/main" id="{D66D3453-0FF2-B466-6A6F-CEAACC6E76D1}"/>
                </a:ext>
              </a:extLst>
            </p:cNvPr>
            <p:cNvSpPr txBox="1"/>
            <p:nvPr/>
          </p:nvSpPr>
          <p:spPr>
            <a:xfrm>
              <a:off x="2693360" y="4692338"/>
              <a:ext cx="8500000" cy="890000"/>
            </a:xfrm>
            <a:prstGeom prst="rect">
              <a:avLst/>
            </a:prstGeom>
            <a:noFill/>
          </p:spPr>
          <p:txBody>
            <a:bodyPr wrap="square" lIns="0" tIns="0" rIns="0" bIns="0" anchor="ctr"/>
            <a:lstStyle/>
            <a:p>
              <a:pPr>
                <a:spcAft>
                  <a:spcPts val="60"/>
                </a:spcAft>
              </a:pPr>
              <a:r>
                <a:rPr lang="en-US" b="1" i="0" dirty="0">
                  <a:solidFill>
                    <a:srgbClr val="0460A9"/>
                  </a:solidFill>
                  <a:latin typeface="Arial"/>
                  <a:cs typeface="Arial"/>
                </a:rPr>
                <a:t>Covariate selection is built in: </a:t>
              </a:r>
              <a:r>
                <a:rPr lang="en-US" b="0" i="0" dirty="0">
                  <a:solidFill>
                    <a:srgbClr val="3C3C3C"/>
                  </a:solidFill>
                  <a:latin typeface="Arial"/>
                  <a:cs typeface="Arial"/>
                </a:rPr>
                <a:t> individual latent parameters are regressed on candidate covariates, and an L0 </a:t>
              </a:r>
              <a:r>
                <a:rPr lang="en-US" b="0" i="0" dirty="0" err="1">
                  <a:solidFill>
                    <a:srgbClr val="3C3C3C"/>
                  </a:solidFill>
                  <a:latin typeface="Arial"/>
                  <a:cs typeface="Arial"/>
                </a:rPr>
                <a:t>BICc</a:t>
              </a:r>
              <a:r>
                <a:rPr lang="en-US" b="0" i="0" dirty="0">
                  <a:solidFill>
                    <a:srgbClr val="3C3C3C"/>
                  </a:solidFill>
                  <a:latin typeface="Arial"/>
                  <a:cs typeface="Arial"/>
                </a:rPr>
                <a:t>-style penalty keeps only covariate effects that improve fit enough to justify added complexity</a:t>
              </a:r>
            </a:p>
          </p:txBody>
        </p:sp>
      </p:grpSp>
      <p:sp>
        <p:nvSpPr>
          <p:cNvPr id="3" name="data">
            <a:extLst>
              <a:ext uri="{FF2B5EF4-FFF2-40B4-BE49-F238E27FC236}">
                <a16:creationId xmlns:a16="http://schemas.microsoft.com/office/drawing/2014/main" id="{41A00C82-3C71-5FE0-1B5F-3EBF316BC707}"/>
              </a:ext>
            </a:extLst>
          </p:cNvPr>
          <p:cNvSpPr/>
          <p:nvPr/>
        </p:nvSpPr>
        <p:spPr>
          <a:xfrm>
            <a:off x="473794" y="1539722"/>
            <a:ext cx="1534895" cy="1344200"/>
          </a:xfrm>
          <a:prstGeom prst="rect">
            <a:avLst/>
          </a:prstGeom>
          <a:solidFill>
            <a:schemeClr val="bg1">
              <a:lumMod val="90000"/>
            </a:schemeClr>
          </a:solidFill>
          <a:ln w="15875">
            <a:solidFill>
              <a:schemeClr val="bg1"/>
            </a:solidFill>
          </a:ln>
        </p:spPr>
        <p:txBody>
          <a:bodyPr wrap="square" lIns="45720" tIns="27432" rIns="45720" bIns="27432" anchor="ctr"/>
          <a:lstStyle/>
          <a:p>
            <a:pPr marL="0" algn="ctr">
              <a:lnSpc>
                <a:spcPct val="100000"/>
              </a:lnSpc>
              <a:spcAft>
                <a:spcPts val="40"/>
              </a:spcAft>
              <a:buNone/>
            </a:pPr>
            <a:r>
              <a:rPr lang="en-US" b="1" i="0" dirty="0">
                <a:latin typeface="Arial"/>
                <a:cs typeface="Arial"/>
              </a:rPr>
              <a:t>Patient data</a:t>
            </a:r>
          </a:p>
          <a:p>
            <a:pPr marL="0" algn="ctr">
              <a:lnSpc>
                <a:spcPct val="100000"/>
              </a:lnSpc>
              <a:spcAft>
                <a:spcPts val="0"/>
              </a:spcAft>
              <a:buNone/>
            </a:pPr>
            <a:r>
              <a:rPr lang="en-US" sz="1400" b="0" i="0" dirty="0">
                <a:solidFill>
                  <a:srgbClr val="3C3C3C"/>
                </a:solidFill>
                <a:latin typeface="Arial"/>
                <a:cs typeface="Arial"/>
              </a:rPr>
              <a:t>(Observations, time,  covariates)</a:t>
            </a:r>
          </a:p>
        </p:txBody>
      </p:sp>
      <p:sp>
        <p:nvSpPr>
          <p:cNvPr id="4" name="enc">
            <a:extLst>
              <a:ext uri="{FF2B5EF4-FFF2-40B4-BE49-F238E27FC236}">
                <a16:creationId xmlns:a16="http://schemas.microsoft.com/office/drawing/2014/main" id="{B5C22FD5-9A80-B2EA-AD35-F9803A8741EC}"/>
              </a:ext>
            </a:extLst>
          </p:cNvPr>
          <p:cNvSpPr/>
          <p:nvPr/>
        </p:nvSpPr>
        <p:spPr>
          <a:xfrm>
            <a:off x="2252658" y="1552720"/>
            <a:ext cx="1255339" cy="1344202"/>
          </a:xfrm>
          <a:prstGeom prst="rect">
            <a:avLst/>
          </a:prstGeom>
          <a:solidFill>
            <a:srgbClr val="DCE9F7"/>
          </a:solidFill>
          <a:ln w="15875">
            <a:solidFill>
              <a:srgbClr val="2E6DB4"/>
            </a:solidFill>
          </a:ln>
        </p:spPr>
        <p:txBody>
          <a:bodyPr wrap="square" lIns="45720" tIns="27432" rIns="45720" bIns="27432" anchor="ctr"/>
          <a:lstStyle/>
          <a:p>
            <a:pPr marL="0" algn="ctr">
              <a:lnSpc>
                <a:spcPct val="100000"/>
              </a:lnSpc>
              <a:spcAft>
                <a:spcPts val="40"/>
              </a:spcAft>
              <a:buNone/>
            </a:pPr>
            <a:r>
              <a:rPr lang="en-US" sz="1600" b="1" i="0" dirty="0">
                <a:solidFill>
                  <a:srgbClr val="0460A9"/>
                </a:solidFill>
                <a:latin typeface="Arial"/>
                <a:cs typeface="Arial"/>
              </a:rPr>
              <a:t>LSTM </a:t>
            </a:r>
            <a:r>
              <a:rPr lang="en-US" b="1" i="0" dirty="0">
                <a:solidFill>
                  <a:srgbClr val="0460A9"/>
                </a:solidFill>
                <a:latin typeface="Arial"/>
                <a:cs typeface="Arial"/>
              </a:rPr>
              <a:t>encoder</a:t>
            </a:r>
            <a:endParaRPr lang="en-US" sz="1600" b="1" i="0" dirty="0">
              <a:solidFill>
                <a:srgbClr val="0460A9"/>
              </a:solidFill>
              <a:latin typeface="Arial"/>
              <a:cs typeface="Arial"/>
            </a:endParaRPr>
          </a:p>
        </p:txBody>
      </p:sp>
      <mc:AlternateContent xmlns:mc="http://schemas.openxmlformats.org/markup-compatibility/2006" xmlns:a14="http://schemas.microsoft.com/office/drawing/2010/main">
        <mc:Choice Requires="a14">
          <p:sp>
            <p:nvSpPr>
              <p:cNvPr id="5" name="lat">
                <a:extLst>
                  <a:ext uri="{FF2B5EF4-FFF2-40B4-BE49-F238E27FC236}">
                    <a16:creationId xmlns:a16="http://schemas.microsoft.com/office/drawing/2014/main" id="{2D56D8EE-FAB3-1BC7-41A8-EB3D6AAA7877}"/>
                  </a:ext>
                </a:extLst>
              </p:cNvPr>
              <p:cNvSpPr/>
              <p:nvPr/>
            </p:nvSpPr>
            <p:spPr>
              <a:xfrm>
                <a:off x="3793770" y="1361682"/>
                <a:ext cx="2474956" cy="1713278"/>
              </a:xfrm>
              <a:prstGeom prst="rect">
                <a:avLst/>
              </a:prstGeom>
              <a:solidFill>
                <a:schemeClr val="bg1">
                  <a:lumMod val="90000"/>
                </a:schemeClr>
              </a:solidFill>
              <a:ln w="15875">
                <a:noFill/>
              </a:ln>
            </p:spPr>
            <p:txBody>
              <a:bodyPr wrap="square" lIns="45720" tIns="27432" rIns="45720" bIns="27432" anchor="ctr"/>
              <a:lstStyle/>
              <a:p>
                <a:pPr algn="ctr">
                  <a:spcAft>
                    <a:spcPts val="40"/>
                  </a:spcAft>
                </a:pPr>
                <a:r>
                  <a:rPr lang="en-US" sz="1600" u="sng" dirty="0">
                    <a:latin typeface="Arial"/>
                    <a:cs typeface="Arial"/>
                  </a:rPr>
                  <a:t>Approximate posterior distribution </a:t>
                </a:r>
                <a:br>
                  <a:rPr lang="en-US" sz="1600" u="sng" dirty="0">
                    <a:latin typeface="Arial"/>
                    <a:cs typeface="Arial"/>
                  </a:rPr>
                </a:br>
                <a14:m>
                  <m:oMath xmlns:m="http://schemas.openxmlformats.org/officeDocument/2006/math">
                    <m:sSub>
                      <m:sSubPr>
                        <m:ctrlPr>
                          <a:rPr lang="en-US" sz="1400" i="1" dirty="0">
                            <a:latin typeface="Cambria Math" panose="02040503050406030204" pitchFamily="18" charset="0"/>
                            <a:cs typeface="Arial"/>
                          </a:rPr>
                        </m:ctrlPr>
                      </m:sSubPr>
                      <m:e>
                        <m:r>
                          <a:rPr lang="en-US" sz="1400" i="1" dirty="0">
                            <a:latin typeface="Cambria Math" panose="02040503050406030204" pitchFamily="18" charset="0"/>
                            <a:cs typeface="Arial"/>
                          </a:rPr>
                          <m:t>𝑍</m:t>
                        </m:r>
                      </m:e>
                      <m:sub>
                        <m:r>
                          <a:rPr lang="en-US" sz="1400" i="1" dirty="0">
                            <a:latin typeface="Cambria Math" panose="02040503050406030204" pitchFamily="18" charset="0"/>
                            <a:cs typeface="Arial"/>
                          </a:rPr>
                          <m:t>𝑖</m:t>
                        </m:r>
                      </m:sub>
                    </m:sSub>
                    <m:r>
                      <a:rPr lang="en-US" sz="1400" i="1" dirty="0">
                        <a:latin typeface="Cambria Math" panose="02040503050406030204" pitchFamily="18" charset="0"/>
                        <a:cs typeface="Arial"/>
                      </a:rPr>
                      <m:t> </m:t>
                    </m:r>
                  </m:oMath>
                </a14:m>
                <a:r>
                  <a:rPr lang="en-US" sz="1400" dirty="0">
                    <a:cs typeface="Arial"/>
                  </a:rPr>
                  <a:t>~N(</a:t>
                </a:r>
                <a14:m>
                  <m:oMath xmlns:m="http://schemas.openxmlformats.org/officeDocument/2006/math">
                    <m:sSub>
                      <m:sSubPr>
                        <m:ctrlPr>
                          <a:rPr lang="en-US" sz="1400" i="1" dirty="0">
                            <a:latin typeface="Cambria Math" panose="02040503050406030204" pitchFamily="18" charset="0"/>
                            <a:ea typeface="Cambria Math" panose="02040503050406030204" pitchFamily="18" charset="0"/>
                            <a:cs typeface="Arial"/>
                          </a:rPr>
                        </m:ctrlPr>
                      </m:sSubPr>
                      <m:e>
                        <m:r>
                          <a:rPr lang="en-US" sz="1400" i="1" dirty="0">
                            <a:latin typeface="Cambria Math" panose="02040503050406030204" pitchFamily="18" charset="0"/>
                            <a:ea typeface="Cambria Math" panose="02040503050406030204" pitchFamily="18" charset="0"/>
                            <a:cs typeface="Arial"/>
                          </a:rPr>
                          <m:t>𝜇</m:t>
                        </m:r>
                      </m:e>
                      <m:sub>
                        <m:r>
                          <a:rPr lang="en-US" sz="1400" i="1" dirty="0">
                            <a:latin typeface="Cambria Math" panose="02040503050406030204" pitchFamily="18" charset="0"/>
                            <a:cs typeface="Arial"/>
                          </a:rPr>
                          <m:t>𝑖</m:t>
                        </m:r>
                      </m:sub>
                    </m:sSub>
                  </m:oMath>
                </a14:m>
                <a:r>
                  <a:rPr lang="en-US" sz="1400" dirty="0">
                    <a:cs typeface="Arial"/>
                  </a:rPr>
                  <a:t>,</a:t>
                </a:r>
                <a14:m>
                  <m:oMath xmlns:m="http://schemas.openxmlformats.org/officeDocument/2006/math">
                    <m:sSub>
                      <m:sSubPr>
                        <m:ctrlPr>
                          <a:rPr lang="en-US" sz="1400" i="1">
                            <a:latin typeface="Cambria Math" panose="02040503050406030204" pitchFamily="18" charset="0"/>
                            <a:cs typeface="Arial"/>
                          </a:rPr>
                        </m:ctrlPr>
                      </m:sSubPr>
                      <m:e>
                        <m:r>
                          <a:rPr lang="en-US" sz="1400" i="1">
                            <a:latin typeface="Cambria Math" panose="02040503050406030204" pitchFamily="18" charset="0"/>
                            <a:cs typeface="Arial"/>
                          </a:rPr>
                          <m:t>𝐿</m:t>
                        </m:r>
                      </m:e>
                      <m:sub>
                        <m:r>
                          <a:rPr lang="en-US" sz="1400" i="1">
                            <a:latin typeface="Cambria Math" panose="02040503050406030204" pitchFamily="18" charset="0"/>
                            <a:cs typeface="Arial"/>
                          </a:rPr>
                          <m:t>𝑖</m:t>
                        </m:r>
                      </m:sub>
                    </m:sSub>
                    <m:sSubSup>
                      <m:sSubSupPr>
                        <m:ctrlPr>
                          <a:rPr lang="en-US" sz="1400" i="1">
                            <a:latin typeface="Cambria Math" panose="02040503050406030204" pitchFamily="18" charset="0"/>
                            <a:cs typeface="Arial"/>
                          </a:rPr>
                        </m:ctrlPr>
                      </m:sSubSupPr>
                      <m:e>
                        <m:r>
                          <a:rPr lang="en-US" sz="1400" i="1">
                            <a:latin typeface="Cambria Math" panose="02040503050406030204" pitchFamily="18" charset="0"/>
                            <a:cs typeface="Arial"/>
                          </a:rPr>
                          <m:t>𝐿</m:t>
                        </m:r>
                      </m:e>
                      <m:sub>
                        <m:r>
                          <a:rPr lang="en-US" sz="1400" i="1">
                            <a:latin typeface="Cambria Math" panose="02040503050406030204" pitchFamily="18" charset="0"/>
                            <a:cs typeface="Arial"/>
                          </a:rPr>
                          <m:t>𝑖</m:t>
                        </m:r>
                      </m:sub>
                      <m:sup>
                        <m:r>
                          <a:rPr lang="en-US" sz="1400" i="1">
                            <a:latin typeface="Cambria Math" panose="02040503050406030204" pitchFamily="18" charset="0"/>
                            <a:cs typeface="Arial"/>
                          </a:rPr>
                          <m:t>𝑇</m:t>
                        </m:r>
                      </m:sup>
                    </m:sSubSup>
                  </m:oMath>
                </a14:m>
                <a:r>
                  <a:rPr lang="en-US" sz="1400" dirty="0">
                    <a:cs typeface="Arial"/>
                  </a:rPr>
                  <a:t>)</a:t>
                </a:r>
                <a:br>
                  <a:rPr lang="en-US" sz="1400" dirty="0">
                    <a:latin typeface="Arial"/>
                    <a:cs typeface="Arial"/>
                  </a:rPr>
                </a:br>
                <a:r>
                  <a:rPr lang="en-US" sz="1600" b="1" dirty="0">
                    <a:latin typeface="Arial"/>
                    <a:cs typeface="Arial"/>
                  </a:rPr>
                  <a:t> sample individual parameters</a:t>
                </a:r>
              </a:p>
              <a:p>
                <a:pPr algn="ctr">
                  <a:spcAft>
                    <a:spcPts val="40"/>
                  </a:spcAft>
                </a:pPr>
                <a14:m>
                  <m:oMathPara xmlns:m="http://schemas.openxmlformats.org/officeDocument/2006/math">
                    <m:oMathParaPr>
                      <m:jc m:val="centerGroup"/>
                    </m:oMathParaPr>
                    <m:oMath xmlns:m="http://schemas.openxmlformats.org/officeDocument/2006/math">
                      <m:sSub>
                        <m:sSubPr>
                          <m:ctrlPr>
                            <a:rPr lang="en-US" sz="1400" i="1" dirty="0">
                              <a:latin typeface="Cambria Math" panose="02040503050406030204" pitchFamily="18" charset="0"/>
                              <a:cs typeface="Arial"/>
                            </a:rPr>
                          </m:ctrlPr>
                        </m:sSubPr>
                        <m:e>
                          <m:r>
                            <a:rPr lang="en-US" sz="1400" i="1" dirty="0">
                              <a:latin typeface="Cambria Math" panose="02040503050406030204" pitchFamily="18" charset="0"/>
                              <a:cs typeface="Arial"/>
                            </a:rPr>
                            <m:t>𝑍</m:t>
                          </m:r>
                        </m:e>
                        <m:sub>
                          <m:r>
                            <a:rPr lang="en-US" sz="1400" i="1" dirty="0">
                              <a:latin typeface="Cambria Math" panose="02040503050406030204" pitchFamily="18" charset="0"/>
                              <a:cs typeface="Arial"/>
                            </a:rPr>
                            <m:t>𝑖</m:t>
                          </m:r>
                        </m:sub>
                      </m:sSub>
                      <m:r>
                        <a:rPr lang="en-US" sz="1400" b="0" i="1" dirty="0" smtClean="0">
                          <a:latin typeface="Cambria Math" panose="02040503050406030204" pitchFamily="18" charset="0"/>
                          <a:cs typeface="Arial"/>
                        </a:rPr>
                        <m:t>=</m:t>
                      </m:r>
                      <m:sSub>
                        <m:sSubPr>
                          <m:ctrlPr>
                            <a:rPr lang="en-US" sz="1400" i="1" dirty="0">
                              <a:latin typeface="Cambria Math" panose="02040503050406030204" pitchFamily="18" charset="0"/>
                              <a:ea typeface="Cambria Math" panose="02040503050406030204" pitchFamily="18" charset="0"/>
                              <a:cs typeface="Arial"/>
                            </a:rPr>
                          </m:ctrlPr>
                        </m:sSubPr>
                        <m:e>
                          <m:r>
                            <a:rPr lang="en-US" sz="1400" i="1" dirty="0">
                              <a:latin typeface="Cambria Math" panose="02040503050406030204" pitchFamily="18" charset="0"/>
                              <a:ea typeface="Cambria Math" panose="02040503050406030204" pitchFamily="18" charset="0"/>
                              <a:cs typeface="Arial"/>
                            </a:rPr>
                            <m:t>𝜇</m:t>
                          </m:r>
                        </m:e>
                        <m:sub>
                          <m:r>
                            <a:rPr lang="en-US" sz="1400" i="1" dirty="0">
                              <a:latin typeface="Cambria Math" panose="02040503050406030204" pitchFamily="18" charset="0"/>
                              <a:cs typeface="Arial"/>
                            </a:rPr>
                            <m:t>𝑖</m:t>
                          </m:r>
                        </m:sub>
                      </m:sSub>
                      <m:r>
                        <a:rPr lang="en-US" sz="1400" b="0" i="1" dirty="0" smtClean="0">
                          <a:latin typeface="Cambria Math" panose="02040503050406030204" pitchFamily="18" charset="0"/>
                          <a:cs typeface="Arial"/>
                        </a:rPr>
                        <m:t>+ </m:t>
                      </m:r>
                      <m:sSub>
                        <m:sSubPr>
                          <m:ctrlPr>
                            <a:rPr lang="en-US" sz="1400" i="1">
                              <a:latin typeface="Cambria Math" panose="02040503050406030204" pitchFamily="18" charset="0"/>
                              <a:cs typeface="Arial"/>
                            </a:rPr>
                          </m:ctrlPr>
                        </m:sSubPr>
                        <m:e>
                          <m:r>
                            <a:rPr lang="en-US" sz="1400" i="1">
                              <a:latin typeface="Cambria Math" panose="02040503050406030204" pitchFamily="18" charset="0"/>
                              <a:cs typeface="Arial"/>
                            </a:rPr>
                            <m:t>𝐿</m:t>
                          </m:r>
                        </m:e>
                        <m:sub>
                          <m:r>
                            <a:rPr lang="en-US" sz="1400" i="1">
                              <a:latin typeface="Cambria Math" panose="02040503050406030204" pitchFamily="18" charset="0"/>
                              <a:cs typeface="Arial"/>
                            </a:rPr>
                            <m:t>𝑖</m:t>
                          </m:r>
                        </m:sub>
                      </m:sSub>
                      <m:r>
                        <a:rPr lang="en-US" sz="1400" i="1" smtClean="0">
                          <a:latin typeface="Cambria Math" panose="02040503050406030204" pitchFamily="18" charset="0"/>
                          <a:ea typeface="Cambria Math" panose="02040503050406030204" pitchFamily="18" charset="0"/>
                          <a:cs typeface="Arial"/>
                        </a:rPr>
                        <m:t>𝜀</m:t>
                      </m:r>
                    </m:oMath>
                  </m:oMathPara>
                </a14:m>
                <a:endParaRPr lang="en-US" sz="1600" i="0" dirty="0">
                  <a:latin typeface="Arial"/>
                  <a:cs typeface="Arial"/>
                </a:endParaRPr>
              </a:p>
            </p:txBody>
          </p:sp>
        </mc:Choice>
        <mc:Fallback xmlns="">
          <p:sp>
            <p:nvSpPr>
              <p:cNvPr id="5" name="lat">
                <a:extLst>
                  <a:ext uri="{FF2B5EF4-FFF2-40B4-BE49-F238E27FC236}">
                    <a16:creationId xmlns:a16="http://schemas.microsoft.com/office/drawing/2014/main" id="{2D56D8EE-FAB3-1BC7-41A8-EB3D6AAA7877}"/>
                  </a:ext>
                </a:extLst>
              </p:cNvPr>
              <p:cNvSpPr>
                <a:spLocks noRot="1" noChangeAspect="1" noMove="1" noResize="1" noEditPoints="1" noAdjustHandles="1" noChangeArrowheads="1" noChangeShapeType="1" noTextEdit="1"/>
              </p:cNvSpPr>
              <p:nvPr/>
            </p:nvSpPr>
            <p:spPr>
              <a:xfrm>
                <a:off x="3793770" y="1361682"/>
                <a:ext cx="2474956" cy="1713278"/>
              </a:xfrm>
              <a:prstGeom prst="rect">
                <a:avLst/>
              </a:prstGeom>
              <a:blipFill>
                <a:blip r:embed="rId3"/>
                <a:stretch>
                  <a:fillRect/>
                </a:stretch>
              </a:blipFill>
              <a:ln w="15875">
                <a:noFill/>
              </a:ln>
            </p:spPr>
            <p:txBody>
              <a:bodyPr/>
              <a:lstStyle/>
              <a:p>
                <a:r>
                  <a:rPr lang="en-US">
                    <a:noFill/>
                  </a:rPr>
                  <a:t> </a:t>
                </a:r>
              </a:p>
            </p:txBody>
          </p:sp>
        </mc:Fallback>
      </mc:AlternateContent>
      <p:sp>
        <p:nvSpPr>
          <p:cNvPr id="6" name="dec">
            <a:extLst>
              <a:ext uri="{FF2B5EF4-FFF2-40B4-BE49-F238E27FC236}">
                <a16:creationId xmlns:a16="http://schemas.microsoft.com/office/drawing/2014/main" id="{2632780A-8A13-7900-1AE6-7210C1EC8211}"/>
              </a:ext>
            </a:extLst>
          </p:cNvPr>
          <p:cNvSpPr/>
          <p:nvPr/>
        </p:nvSpPr>
        <p:spPr>
          <a:xfrm>
            <a:off x="6502045" y="1552720"/>
            <a:ext cx="1622990" cy="1331202"/>
          </a:xfrm>
          <a:prstGeom prst="rect">
            <a:avLst/>
          </a:prstGeom>
          <a:solidFill>
            <a:srgbClr val="DCE9F7"/>
          </a:solidFill>
          <a:ln w="15875">
            <a:solidFill>
              <a:srgbClr val="2E6DB4"/>
            </a:solidFill>
          </a:ln>
        </p:spPr>
        <p:txBody>
          <a:bodyPr wrap="square" lIns="45720" tIns="27432" rIns="45720" bIns="27432" anchor="ctr"/>
          <a:lstStyle/>
          <a:p>
            <a:pPr marL="0" algn="ctr">
              <a:lnSpc>
                <a:spcPct val="100000"/>
              </a:lnSpc>
              <a:spcAft>
                <a:spcPts val="40"/>
              </a:spcAft>
              <a:buNone/>
            </a:pPr>
            <a:r>
              <a:rPr lang="en-US" b="1" i="0" dirty="0">
                <a:solidFill>
                  <a:srgbClr val="0460A9"/>
                </a:solidFill>
                <a:latin typeface="Arial"/>
                <a:cs typeface="Arial"/>
              </a:rPr>
              <a:t>ODE decoder</a:t>
            </a:r>
          </a:p>
          <a:p>
            <a:pPr marL="0" algn="ctr">
              <a:lnSpc>
                <a:spcPct val="100000"/>
              </a:lnSpc>
              <a:spcAft>
                <a:spcPts val="0"/>
              </a:spcAft>
              <a:buNone/>
            </a:pPr>
            <a:r>
              <a:rPr lang="en-US" sz="1400" b="0" i="0" dirty="0">
                <a:solidFill>
                  <a:srgbClr val="3C3C3C"/>
                </a:solidFill>
                <a:latin typeface="Arial"/>
                <a:cs typeface="Arial"/>
              </a:rPr>
              <a:t>(structural model; error model)</a:t>
            </a:r>
          </a:p>
          <a:p>
            <a:pPr marL="0" algn="ctr">
              <a:lnSpc>
                <a:spcPct val="100000"/>
              </a:lnSpc>
              <a:spcAft>
                <a:spcPts val="0"/>
              </a:spcAft>
              <a:buNone/>
            </a:pPr>
            <a:r>
              <a:rPr lang="en-US" sz="1400" b="1" dirty="0">
                <a:solidFill>
                  <a:srgbClr val="3C3C3C"/>
                </a:solidFill>
                <a:latin typeface="Arial"/>
                <a:cs typeface="Arial"/>
              </a:rPr>
              <a:t>Predictions</a:t>
            </a:r>
            <a:endParaRPr lang="en-US" sz="1400" b="1" i="0" dirty="0">
              <a:solidFill>
                <a:srgbClr val="3C3C3C"/>
              </a:solidFill>
              <a:latin typeface="Arial"/>
              <a:cs typeface="Arial"/>
            </a:endParaRPr>
          </a:p>
        </p:txBody>
      </p:sp>
      <p:sp>
        <p:nvSpPr>
          <p:cNvPr id="7" name="dia">
            <a:extLst>
              <a:ext uri="{FF2B5EF4-FFF2-40B4-BE49-F238E27FC236}">
                <a16:creationId xmlns:a16="http://schemas.microsoft.com/office/drawing/2014/main" id="{6284FB62-3C50-2BAB-9E2A-1CED161787C8}"/>
              </a:ext>
            </a:extLst>
          </p:cNvPr>
          <p:cNvSpPr/>
          <p:nvPr/>
        </p:nvSpPr>
        <p:spPr>
          <a:xfrm>
            <a:off x="5023300" y="3301360"/>
            <a:ext cx="3029261" cy="1268700"/>
          </a:xfrm>
          <a:prstGeom prst="diamond">
            <a:avLst/>
          </a:prstGeom>
          <a:solidFill>
            <a:srgbClr val="ED9B33"/>
          </a:solidFill>
          <a:ln>
            <a:noFill/>
          </a:ln>
        </p:spPr>
        <p:txBody>
          <a:bodyPr wrap="square" lIns="45720" tIns="27432" rIns="45720" bIns="27432" anchor="ctr"/>
          <a:lstStyle/>
          <a:p>
            <a:pPr algn="ctr">
              <a:spcAft>
                <a:spcPts val="40"/>
              </a:spcAft>
            </a:pPr>
            <a:r>
              <a:rPr lang="en-US" sz="1600" b="1" i="0" dirty="0">
                <a:solidFill>
                  <a:srgbClr val="3C3C3C"/>
                </a:solidFill>
                <a:latin typeface="Arial"/>
                <a:cs typeface="Arial"/>
              </a:rPr>
              <a:t>Penalized objective</a:t>
            </a:r>
          </a:p>
          <a:p>
            <a:pPr algn="ctr">
              <a:spcAft>
                <a:spcPts val="40"/>
              </a:spcAft>
            </a:pPr>
            <a:r>
              <a:rPr lang="en-US" sz="1600" b="1" dirty="0">
                <a:solidFill>
                  <a:srgbClr val="3C3C3C"/>
                </a:solidFill>
                <a:latin typeface="Arial"/>
                <a:cs typeface="Arial"/>
              </a:rPr>
              <a:t>Converged?</a:t>
            </a:r>
            <a:endParaRPr lang="en-US" sz="1600" b="1" i="0" dirty="0">
              <a:solidFill>
                <a:srgbClr val="3C3C3C"/>
              </a:solidFill>
              <a:latin typeface="Arial"/>
              <a:cs typeface="Arial"/>
            </a:endParaRPr>
          </a:p>
        </p:txBody>
      </p:sp>
      <p:sp>
        <p:nvSpPr>
          <p:cNvPr id="8" name="fin">
            <a:extLst>
              <a:ext uri="{FF2B5EF4-FFF2-40B4-BE49-F238E27FC236}">
                <a16:creationId xmlns:a16="http://schemas.microsoft.com/office/drawing/2014/main" id="{C7D9BDE4-6872-E331-ABEF-60B1D49C1313}"/>
              </a:ext>
            </a:extLst>
          </p:cNvPr>
          <p:cNvSpPr/>
          <p:nvPr/>
        </p:nvSpPr>
        <p:spPr>
          <a:xfrm>
            <a:off x="9782157" y="3279163"/>
            <a:ext cx="1450917" cy="1141267"/>
          </a:xfrm>
          <a:prstGeom prst="rect">
            <a:avLst/>
          </a:prstGeom>
          <a:solidFill>
            <a:srgbClr val="00B050"/>
          </a:solidFill>
          <a:ln>
            <a:noFill/>
          </a:ln>
        </p:spPr>
        <p:txBody>
          <a:bodyPr wrap="square" lIns="45720" tIns="27432" rIns="45720" bIns="27432" anchor="ctr"/>
          <a:lstStyle/>
          <a:p>
            <a:pPr marL="0" algn="ctr">
              <a:lnSpc>
                <a:spcPct val="100000"/>
              </a:lnSpc>
              <a:spcAft>
                <a:spcPts val="40"/>
              </a:spcAft>
              <a:buNone/>
            </a:pPr>
            <a:r>
              <a:rPr lang="en-US" sz="1600" b="1" i="0" dirty="0">
                <a:solidFill>
                  <a:srgbClr val="FFFFFF"/>
                </a:solidFill>
                <a:latin typeface="Arial"/>
                <a:cs typeface="Arial"/>
              </a:rPr>
              <a:t>One run →</a:t>
            </a:r>
          </a:p>
          <a:p>
            <a:pPr marL="0" algn="ctr">
              <a:lnSpc>
                <a:spcPct val="100000"/>
              </a:lnSpc>
              <a:spcAft>
                <a:spcPts val="0"/>
              </a:spcAft>
              <a:buNone/>
            </a:pPr>
            <a:r>
              <a:rPr lang="en-US" sz="1600" b="1" i="0" dirty="0">
                <a:solidFill>
                  <a:srgbClr val="FFFFFF"/>
                </a:solidFill>
                <a:latin typeface="Arial"/>
                <a:cs typeface="Arial"/>
              </a:rPr>
              <a:t>params + selected covariates</a:t>
            </a:r>
          </a:p>
        </p:txBody>
      </p:sp>
      <p:cxnSp>
        <p:nvCxnSpPr>
          <p:cNvPr id="12" name="a30">
            <a:extLst>
              <a:ext uri="{FF2B5EF4-FFF2-40B4-BE49-F238E27FC236}">
                <a16:creationId xmlns:a16="http://schemas.microsoft.com/office/drawing/2014/main" id="{7F5078A5-DA88-D005-6119-E9E4D9C640ED}"/>
              </a:ext>
            </a:extLst>
          </p:cNvPr>
          <p:cNvCxnSpPr>
            <a:cxnSpLocks/>
          </p:cNvCxnSpPr>
          <p:nvPr/>
        </p:nvCxnSpPr>
        <p:spPr>
          <a:xfrm>
            <a:off x="2004721" y="2238049"/>
            <a:ext cx="259545" cy="0"/>
          </a:xfrm>
          <a:prstGeom prst="straightConnector1">
            <a:avLst/>
          </a:prstGeom>
          <a:ln w="19050" cap="rnd">
            <a:solidFill>
              <a:srgbClr val="4D4D4D"/>
            </a:solidFill>
            <a:tailEnd type="triangle" w="med" len="med"/>
          </a:ln>
        </p:spPr>
      </p:cxnSp>
      <p:cxnSp>
        <p:nvCxnSpPr>
          <p:cNvPr id="13" name="a31">
            <a:extLst>
              <a:ext uri="{FF2B5EF4-FFF2-40B4-BE49-F238E27FC236}">
                <a16:creationId xmlns:a16="http://schemas.microsoft.com/office/drawing/2014/main" id="{B0488EF9-311D-BEA5-E7D2-002781D8BE1B}"/>
              </a:ext>
            </a:extLst>
          </p:cNvPr>
          <p:cNvCxnSpPr>
            <a:cxnSpLocks/>
          </p:cNvCxnSpPr>
          <p:nvPr/>
        </p:nvCxnSpPr>
        <p:spPr>
          <a:xfrm>
            <a:off x="3507999" y="2238050"/>
            <a:ext cx="259545" cy="0"/>
          </a:xfrm>
          <a:prstGeom prst="straightConnector1">
            <a:avLst/>
          </a:prstGeom>
          <a:ln w="19050" cap="rnd">
            <a:solidFill>
              <a:srgbClr val="4D4D4D"/>
            </a:solidFill>
            <a:tailEnd type="triangle" w="med" len="med"/>
          </a:ln>
        </p:spPr>
      </p:cxnSp>
      <p:cxnSp>
        <p:nvCxnSpPr>
          <p:cNvPr id="14" name="a32">
            <a:extLst>
              <a:ext uri="{FF2B5EF4-FFF2-40B4-BE49-F238E27FC236}">
                <a16:creationId xmlns:a16="http://schemas.microsoft.com/office/drawing/2014/main" id="{68D7E071-F0C6-8FD8-F19C-9E6180D0F570}"/>
              </a:ext>
            </a:extLst>
          </p:cNvPr>
          <p:cNvCxnSpPr>
            <a:cxnSpLocks/>
          </p:cNvCxnSpPr>
          <p:nvPr/>
        </p:nvCxnSpPr>
        <p:spPr>
          <a:xfrm>
            <a:off x="6242500" y="2240534"/>
            <a:ext cx="259545" cy="0"/>
          </a:xfrm>
          <a:prstGeom prst="straightConnector1">
            <a:avLst/>
          </a:prstGeom>
          <a:ln w="19050" cap="rnd">
            <a:solidFill>
              <a:srgbClr val="4D4D4D"/>
            </a:solidFill>
            <a:tailEnd type="triangle" w="med" len="med"/>
          </a:ln>
        </p:spPr>
      </p:cxnSp>
      <p:sp>
        <p:nvSpPr>
          <p:cNvPr id="17" name="yes">
            <a:extLst>
              <a:ext uri="{FF2B5EF4-FFF2-40B4-BE49-F238E27FC236}">
                <a16:creationId xmlns:a16="http://schemas.microsoft.com/office/drawing/2014/main" id="{1CC45A92-3839-899E-CCB2-0CA07AFD7FAE}"/>
              </a:ext>
            </a:extLst>
          </p:cNvPr>
          <p:cNvSpPr txBox="1"/>
          <p:nvPr/>
        </p:nvSpPr>
        <p:spPr>
          <a:xfrm>
            <a:off x="8002156" y="3976023"/>
            <a:ext cx="1692685" cy="317570"/>
          </a:xfrm>
          <a:prstGeom prst="rect">
            <a:avLst/>
          </a:prstGeom>
          <a:noFill/>
        </p:spPr>
        <p:txBody>
          <a:bodyPr wrap="square" lIns="0" tIns="0" rIns="0" bIns="0" anchor="t"/>
          <a:lstStyle/>
          <a:p>
            <a:pPr marL="0" algn="ctr">
              <a:lnSpc>
                <a:spcPct val="100000"/>
              </a:lnSpc>
              <a:spcAft>
                <a:spcPts val="60"/>
              </a:spcAft>
              <a:buNone/>
            </a:pPr>
            <a:r>
              <a:rPr lang="en-US" sz="1600" b="1" i="0" dirty="0">
                <a:solidFill>
                  <a:srgbClr val="002060"/>
                </a:solidFill>
                <a:latin typeface="Arial"/>
                <a:cs typeface="Arial"/>
              </a:rPr>
              <a:t>Yes → converged</a:t>
            </a:r>
          </a:p>
        </p:txBody>
      </p:sp>
      <p:cxnSp>
        <p:nvCxnSpPr>
          <p:cNvPr id="18" name="a36">
            <a:extLst>
              <a:ext uri="{FF2B5EF4-FFF2-40B4-BE49-F238E27FC236}">
                <a16:creationId xmlns:a16="http://schemas.microsoft.com/office/drawing/2014/main" id="{940C4CCD-C812-8842-7B81-55AD9EE595DA}"/>
              </a:ext>
            </a:extLst>
          </p:cNvPr>
          <p:cNvCxnSpPr>
            <a:cxnSpLocks/>
          </p:cNvCxnSpPr>
          <p:nvPr/>
        </p:nvCxnSpPr>
        <p:spPr>
          <a:xfrm flipV="1">
            <a:off x="9520211" y="2896922"/>
            <a:ext cx="0" cy="1039817"/>
          </a:xfrm>
          <a:prstGeom prst="straightConnector1">
            <a:avLst/>
          </a:prstGeom>
          <a:ln w="19050" cap="rnd">
            <a:solidFill>
              <a:srgbClr val="E8590C"/>
            </a:solidFill>
          </a:ln>
        </p:spPr>
      </p:cxnSp>
      <p:cxnSp>
        <p:nvCxnSpPr>
          <p:cNvPr id="19" name="a37">
            <a:extLst>
              <a:ext uri="{FF2B5EF4-FFF2-40B4-BE49-F238E27FC236}">
                <a16:creationId xmlns:a16="http://schemas.microsoft.com/office/drawing/2014/main" id="{F59867B7-9D10-C72D-81A3-32F0433158A1}"/>
              </a:ext>
            </a:extLst>
          </p:cNvPr>
          <p:cNvCxnSpPr>
            <a:cxnSpLocks/>
          </p:cNvCxnSpPr>
          <p:nvPr/>
        </p:nvCxnSpPr>
        <p:spPr>
          <a:xfrm flipH="1">
            <a:off x="7929349" y="3947613"/>
            <a:ext cx="1581898" cy="0"/>
          </a:xfrm>
          <a:prstGeom prst="straightConnector1">
            <a:avLst/>
          </a:prstGeom>
          <a:ln w="19050" cap="rnd">
            <a:solidFill>
              <a:srgbClr val="E8590C"/>
            </a:solidFill>
          </a:ln>
        </p:spPr>
      </p:cxnSp>
      <p:sp>
        <p:nvSpPr>
          <p:cNvPr id="960" name="slidenum_fn">
            <a:extLst>
              <a:ext uri="{FF2B5EF4-FFF2-40B4-BE49-F238E27FC236}">
                <a16:creationId xmlns:a16="http://schemas.microsoft.com/office/drawing/2014/main" id="{3776A3C3-9843-8298-95CE-0D8376B3A668}"/>
              </a:ext>
            </a:extLst>
          </p:cNvPr>
          <p:cNvSpPr txBox="1"/>
          <p:nvPr/>
        </p:nvSpPr>
        <p:spPr>
          <a:xfrm>
            <a:off x="11250000" y="6560000"/>
            <a:ext cx="760000" cy="260000"/>
          </a:xfrm>
          <a:prstGeom prst="rect">
            <a:avLst/>
          </a:prstGeom>
          <a:noFill/>
        </p:spPr>
        <p:txBody>
          <a:bodyPr wrap="none" lIns="0" tIns="0" rIns="0" bIns="0" anchor="ctr"/>
          <a:lstStyle/>
          <a:p>
            <a:pPr algn="r">
              <a:buNone/>
            </a:pPr>
            <a:fld id="{E7ADCBED-8115-48F3-8598-04A3FF67B1C8}" type="slidenum">
              <a:rPr lang="en-US" sz="1000">
                <a:solidFill>
                  <a:srgbClr val="8A8A8A"/>
                </a:solidFill>
                <a:latin typeface="Arial"/>
              </a:rPr>
              <a:t>37</a:t>
            </a:fld>
            <a:endParaRPr lang="en-US" sz="1000">
              <a:solidFill>
                <a:srgbClr val="8A8A8A"/>
              </a:solidFill>
              <a:latin typeface="Arial"/>
            </a:endParaRPr>
          </a:p>
        </p:txBody>
      </p:sp>
      <p:sp>
        <p:nvSpPr>
          <p:cNvPr id="20" name="TextBox 19">
            <a:extLst>
              <a:ext uri="{FF2B5EF4-FFF2-40B4-BE49-F238E27FC236}">
                <a16:creationId xmlns:a16="http://schemas.microsoft.com/office/drawing/2014/main" id="{C0DD023B-93B0-936F-83F1-3F1EDB9B2185}"/>
              </a:ext>
            </a:extLst>
          </p:cNvPr>
          <p:cNvSpPr txBox="1"/>
          <p:nvPr/>
        </p:nvSpPr>
        <p:spPr>
          <a:xfrm>
            <a:off x="7729718" y="6490743"/>
            <a:ext cx="3813996" cy="246221"/>
          </a:xfrm>
          <a:prstGeom prst="rect">
            <a:avLst/>
          </a:prstGeom>
          <a:noFill/>
        </p:spPr>
        <p:txBody>
          <a:bodyPr wrap="square">
            <a:spAutoFit/>
          </a:bodyPr>
          <a:lstStyle/>
          <a:p>
            <a:r>
              <a:rPr lang="en-US" sz="1000" dirty="0">
                <a:solidFill>
                  <a:schemeClr val="bg1">
                    <a:lumMod val="25000"/>
                  </a:schemeClr>
                </a:solidFill>
              </a:rPr>
              <a:t>CPT Pharmacometrics Syst </a:t>
            </a:r>
            <a:r>
              <a:rPr lang="en-US" sz="1000" dirty="0" err="1">
                <a:solidFill>
                  <a:schemeClr val="bg1">
                    <a:lumMod val="25000"/>
                  </a:schemeClr>
                </a:solidFill>
              </a:rPr>
              <a:t>Pharmacol</a:t>
            </a:r>
            <a:r>
              <a:rPr lang="en-US" sz="1000" dirty="0">
                <a:solidFill>
                  <a:schemeClr val="bg1">
                    <a:lumMod val="25000"/>
                  </a:schemeClr>
                </a:solidFill>
              </a:rPr>
              <a:t>. 2025;14(12):2232-2243. </a:t>
            </a:r>
          </a:p>
        </p:txBody>
      </p:sp>
      <mc:AlternateContent xmlns:mc="http://schemas.openxmlformats.org/markup-compatibility/2006" xmlns:a14="http://schemas.microsoft.com/office/drawing/2010/main">
        <mc:Choice Requires="a14">
          <p:sp>
            <p:nvSpPr>
              <p:cNvPr id="29" name="enc">
                <a:extLst>
                  <a:ext uri="{FF2B5EF4-FFF2-40B4-BE49-F238E27FC236}">
                    <a16:creationId xmlns:a16="http://schemas.microsoft.com/office/drawing/2014/main" id="{518CB6CD-35BA-363E-652E-5760CB2F9C42}"/>
                  </a:ext>
                </a:extLst>
              </p:cNvPr>
              <p:cNvSpPr/>
              <p:nvPr/>
            </p:nvSpPr>
            <p:spPr>
              <a:xfrm>
                <a:off x="8358355" y="1539722"/>
                <a:ext cx="2891646" cy="1344200"/>
              </a:xfrm>
              <a:prstGeom prst="rect">
                <a:avLst/>
              </a:prstGeom>
              <a:solidFill>
                <a:srgbClr val="DCE9F7"/>
              </a:solidFill>
              <a:ln w="15875">
                <a:solidFill>
                  <a:srgbClr val="2E6DB4"/>
                </a:solidFill>
              </a:ln>
            </p:spPr>
            <p:txBody>
              <a:bodyPr wrap="square" lIns="45720" tIns="27432" rIns="45720" bIns="27432" anchor="ctr"/>
              <a:lstStyle/>
              <a:p>
                <a:pPr marL="0" algn="ctr">
                  <a:lnSpc>
                    <a:spcPct val="100000"/>
                  </a:lnSpc>
                  <a:spcAft>
                    <a:spcPts val="40"/>
                  </a:spcAft>
                  <a:buNone/>
                </a:pPr>
                <a:r>
                  <a:rPr lang="en-US" sz="1600" b="1" i="0" dirty="0">
                    <a:solidFill>
                      <a:srgbClr val="0460A9"/>
                    </a:solidFill>
                    <a:latin typeface="Arial"/>
                    <a:cs typeface="Arial"/>
                  </a:rPr>
                  <a:t>Population M-step</a:t>
                </a:r>
                <a:br>
                  <a:rPr lang="en-US" sz="1600" b="1" i="0" dirty="0">
                    <a:solidFill>
                      <a:srgbClr val="0460A9"/>
                    </a:solidFill>
                    <a:latin typeface="Arial"/>
                    <a:cs typeface="Arial"/>
                  </a:rPr>
                </a:br>
                <a:r>
                  <a:rPr lang="en-US" sz="1400" i="0" dirty="0">
                    <a:latin typeface="Arial"/>
                    <a:cs typeface="Arial"/>
                  </a:rPr>
                  <a:t>update </a:t>
                </a:r>
                <a:r>
                  <a:rPr lang="en-US" sz="1400" i="0" u="sng" dirty="0">
                    <a:latin typeface="Arial"/>
                    <a:cs typeface="Arial"/>
                  </a:rPr>
                  <a:t>population parameters, &amp; covariate effects, </a:t>
                </a:r>
                <a:r>
                  <a:rPr lang="en-US" sz="1400" i="0" u="sng" dirty="0" err="1">
                    <a:latin typeface="Arial"/>
                    <a:cs typeface="Arial"/>
                  </a:rPr>
                  <a:t>varability</a:t>
                </a:r>
                <a:endParaRPr lang="en-US" sz="1200" i="0" u="sng" dirty="0">
                  <a:latin typeface="Arial"/>
                  <a:cs typeface="Arial"/>
                </a:endParaRPr>
              </a:p>
              <a:p>
                <a:pPr algn="ctr">
                  <a:spcAft>
                    <a:spcPts val="40"/>
                  </a:spcAft>
                </a:pPr>
                <a:r>
                  <a:rPr lang="en-US" sz="1600" dirty="0">
                    <a:cs typeface="Arial"/>
                  </a:rPr>
                  <a:t> </a:t>
                </a:r>
                <a14:m>
                  <m:oMath xmlns:m="http://schemas.openxmlformats.org/officeDocument/2006/math">
                    <m:sSub>
                      <m:sSubPr>
                        <m:ctrlPr>
                          <a:rPr lang="en-US" sz="1200" i="1" dirty="0">
                            <a:latin typeface="Cambria Math" panose="02040503050406030204" pitchFamily="18" charset="0"/>
                            <a:cs typeface="Arial"/>
                          </a:rPr>
                        </m:ctrlPr>
                      </m:sSubPr>
                      <m:e>
                        <m:r>
                          <a:rPr lang="en-US" sz="1200" i="1" dirty="0">
                            <a:latin typeface="Cambria Math" panose="02040503050406030204" pitchFamily="18" charset="0"/>
                            <a:cs typeface="Arial"/>
                          </a:rPr>
                          <m:t>𝑍</m:t>
                        </m:r>
                      </m:e>
                      <m:sub>
                        <m:r>
                          <a:rPr lang="en-US" sz="1200" i="1" dirty="0">
                            <a:latin typeface="Cambria Math" panose="02040503050406030204" pitchFamily="18" charset="0"/>
                            <a:cs typeface="Arial"/>
                          </a:rPr>
                          <m:t>𝑖</m:t>
                        </m:r>
                      </m:sub>
                    </m:sSub>
                    <m:r>
                      <a:rPr lang="en-US" sz="1200" b="0" i="1" dirty="0" smtClean="0">
                        <a:latin typeface="Cambria Math" panose="02040503050406030204" pitchFamily="18" charset="0"/>
                        <a:cs typeface="Arial"/>
                      </a:rPr>
                      <m:t>=</m:t>
                    </m:r>
                    <m:sSub>
                      <m:sSubPr>
                        <m:ctrlPr>
                          <a:rPr lang="en-US" sz="1200" b="0" i="1" dirty="0" smtClean="0">
                            <a:latin typeface="Cambria Math" panose="02040503050406030204" pitchFamily="18" charset="0"/>
                            <a:cs typeface="Arial"/>
                          </a:rPr>
                        </m:ctrlPr>
                      </m:sSubPr>
                      <m:e>
                        <m:r>
                          <a:rPr lang="en-US" sz="1200" b="0" i="1" dirty="0" smtClean="0">
                            <a:latin typeface="Cambria Math" panose="02040503050406030204" pitchFamily="18" charset="0"/>
                            <a:cs typeface="Arial"/>
                          </a:rPr>
                          <m:t>𝑍</m:t>
                        </m:r>
                      </m:e>
                      <m:sub>
                        <m:r>
                          <a:rPr lang="en-US" sz="1200" b="0" i="1" dirty="0" smtClean="0">
                            <a:latin typeface="Cambria Math" panose="02040503050406030204" pitchFamily="18" charset="0"/>
                            <a:cs typeface="Arial"/>
                          </a:rPr>
                          <m:t>𝑝𝑜𝑝</m:t>
                        </m:r>
                      </m:sub>
                    </m:sSub>
                    <m:r>
                      <a:rPr lang="en-US" sz="1200" b="0" i="1" dirty="0" smtClean="0">
                        <a:latin typeface="Cambria Math" panose="02040503050406030204" pitchFamily="18" charset="0"/>
                        <a:cs typeface="Arial"/>
                      </a:rPr>
                      <m:t>+ </m:t>
                    </m:r>
                    <m:r>
                      <a:rPr lang="en-US" sz="1200" b="0" i="1" dirty="0" smtClean="0">
                        <a:latin typeface="Cambria Math" panose="02040503050406030204" pitchFamily="18" charset="0"/>
                        <a:ea typeface="Cambria Math" panose="02040503050406030204" pitchFamily="18" charset="0"/>
                        <a:cs typeface="Arial"/>
                      </a:rPr>
                      <m:t>𝛽</m:t>
                    </m:r>
                    <m:r>
                      <a:rPr lang="en-US" sz="1200" b="0" i="1" dirty="0" smtClean="0">
                        <a:latin typeface="Cambria Math" panose="02040503050406030204" pitchFamily="18" charset="0"/>
                        <a:ea typeface="Cambria Math" panose="02040503050406030204" pitchFamily="18" charset="0"/>
                        <a:cs typeface="Arial"/>
                      </a:rPr>
                      <m:t>𝐶</m:t>
                    </m:r>
                    <m:r>
                      <a:rPr lang="en-US" sz="1200" b="0" i="1" dirty="0" smtClean="0">
                        <a:latin typeface="Cambria Math" panose="02040503050406030204" pitchFamily="18" charset="0"/>
                        <a:ea typeface="Cambria Math" panose="02040503050406030204" pitchFamily="18" charset="0"/>
                        <a:cs typeface="Arial"/>
                      </a:rPr>
                      <m:t>+ </m:t>
                    </m:r>
                    <m:r>
                      <a:rPr lang="en-US" sz="1200" b="0" i="1" dirty="0" smtClean="0">
                        <a:latin typeface="Cambria Math" panose="02040503050406030204" pitchFamily="18" charset="0"/>
                        <a:ea typeface="Cambria Math" panose="02040503050406030204" pitchFamily="18" charset="0"/>
                        <a:cs typeface="Arial"/>
                      </a:rPr>
                      <m:t>𝜂</m:t>
                    </m:r>
                  </m:oMath>
                </a14:m>
                <a:endParaRPr lang="en-US" sz="1600" b="1" i="0" dirty="0">
                  <a:solidFill>
                    <a:srgbClr val="0460A9"/>
                  </a:solidFill>
                  <a:latin typeface="Arial"/>
                  <a:cs typeface="Arial"/>
                </a:endParaRPr>
              </a:p>
            </p:txBody>
          </p:sp>
        </mc:Choice>
        <mc:Fallback xmlns="">
          <p:sp>
            <p:nvSpPr>
              <p:cNvPr id="29" name="enc">
                <a:extLst>
                  <a:ext uri="{FF2B5EF4-FFF2-40B4-BE49-F238E27FC236}">
                    <a16:creationId xmlns:a16="http://schemas.microsoft.com/office/drawing/2014/main" id="{518CB6CD-35BA-363E-652E-5760CB2F9C42}"/>
                  </a:ext>
                </a:extLst>
              </p:cNvPr>
              <p:cNvSpPr>
                <a:spLocks noRot="1" noChangeAspect="1" noMove="1" noResize="1" noEditPoints="1" noAdjustHandles="1" noChangeArrowheads="1" noChangeShapeType="1" noTextEdit="1"/>
              </p:cNvSpPr>
              <p:nvPr/>
            </p:nvSpPr>
            <p:spPr>
              <a:xfrm>
                <a:off x="8358355" y="1539722"/>
                <a:ext cx="2891646" cy="1344200"/>
              </a:xfrm>
              <a:prstGeom prst="rect">
                <a:avLst/>
              </a:prstGeom>
              <a:blipFill>
                <a:blip r:embed="rId4"/>
                <a:stretch>
                  <a:fillRect/>
                </a:stretch>
              </a:blipFill>
              <a:ln w="15875">
                <a:solidFill>
                  <a:srgbClr val="2E6DB4"/>
                </a:solidFill>
              </a:ln>
            </p:spPr>
            <p:txBody>
              <a:bodyPr/>
              <a:lstStyle/>
              <a:p>
                <a:r>
                  <a:rPr lang="en-US">
                    <a:noFill/>
                  </a:rPr>
                  <a:t> </a:t>
                </a:r>
              </a:p>
            </p:txBody>
          </p:sp>
        </mc:Fallback>
      </mc:AlternateContent>
      <p:grpSp>
        <p:nvGrpSpPr>
          <p:cNvPr id="48" name="Group 47">
            <a:extLst>
              <a:ext uri="{FF2B5EF4-FFF2-40B4-BE49-F238E27FC236}">
                <a16:creationId xmlns:a16="http://schemas.microsoft.com/office/drawing/2014/main" id="{6AA6FB16-2300-CBE7-D458-F62AC3301697}"/>
              </a:ext>
            </a:extLst>
          </p:cNvPr>
          <p:cNvGrpSpPr/>
          <p:nvPr/>
        </p:nvGrpSpPr>
        <p:grpSpPr>
          <a:xfrm>
            <a:off x="2654123" y="2969537"/>
            <a:ext cx="2373156" cy="975027"/>
            <a:chOff x="2689149" y="2274690"/>
            <a:chExt cx="1606981" cy="1303999"/>
          </a:xfrm>
        </p:grpSpPr>
        <p:cxnSp>
          <p:nvCxnSpPr>
            <p:cNvPr id="26" name="a38">
              <a:extLst>
                <a:ext uri="{FF2B5EF4-FFF2-40B4-BE49-F238E27FC236}">
                  <a16:creationId xmlns:a16="http://schemas.microsoft.com/office/drawing/2014/main" id="{78FADA52-4EB9-8C12-D360-B4867C171514}"/>
                </a:ext>
              </a:extLst>
            </p:cNvPr>
            <p:cNvCxnSpPr>
              <a:cxnSpLocks/>
            </p:cNvCxnSpPr>
            <p:nvPr/>
          </p:nvCxnSpPr>
          <p:spPr>
            <a:xfrm flipV="1">
              <a:off x="2689149" y="2274690"/>
              <a:ext cx="0" cy="1303999"/>
            </a:xfrm>
            <a:prstGeom prst="straightConnector1">
              <a:avLst/>
            </a:prstGeom>
            <a:ln w="19050" cap="rnd">
              <a:solidFill>
                <a:srgbClr val="E8590C"/>
              </a:solidFill>
              <a:tailEnd type="triangle" w="med" len="med"/>
            </a:ln>
          </p:spPr>
        </p:cxnSp>
        <p:cxnSp>
          <p:nvCxnSpPr>
            <p:cNvPr id="41" name="a37">
              <a:extLst>
                <a:ext uri="{FF2B5EF4-FFF2-40B4-BE49-F238E27FC236}">
                  <a16:creationId xmlns:a16="http://schemas.microsoft.com/office/drawing/2014/main" id="{3FD22D3C-2159-F5ED-AA18-AB78E71F5F26}"/>
                </a:ext>
              </a:extLst>
            </p:cNvPr>
            <p:cNvCxnSpPr>
              <a:cxnSpLocks/>
            </p:cNvCxnSpPr>
            <p:nvPr/>
          </p:nvCxnSpPr>
          <p:spPr>
            <a:xfrm flipH="1" flipV="1">
              <a:off x="2689149" y="3555006"/>
              <a:ext cx="1606981" cy="23683"/>
            </a:xfrm>
            <a:prstGeom prst="straightConnector1">
              <a:avLst/>
            </a:prstGeom>
            <a:ln w="19050" cap="rnd">
              <a:solidFill>
                <a:srgbClr val="E8590C"/>
              </a:solidFill>
            </a:ln>
          </p:spPr>
        </p:cxnSp>
      </p:grpSp>
      <p:sp>
        <p:nvSpPr>
          <p:cNvPr id="62" name="TextBox 61">
            <a:extLst>
              <a:ext uri="{FF2B5EF4-FFF2-40B4-BE49-F238E27FC236}">
                <a16:creationId xmlns:a16="http://schemas.microsoft.com/office/drawing/2014/main" id="{FCFCAFF4-D75F-AE70-5C65-D1B7FFAA1BDD}"/>
              </a:ext>
            </a:extLst>
          </p:cNvPr>
          <p:cNvSpPr txBox="1"/>
          <p:nvPr/>
        </p:nvSpPr>
        <p:spPr>
          <a:xfrm>
            <a:off x="2900808" y="3965531"/>
            <a:ext cx="2417355" cy="338554"/>
          </a:xfrm>
          <a:prstGeom prst="rect">
            <a:avLst/>
          </a:prstGeom>
          <a:noFill/>
        </p:spPr>
        <p:txBody>
          <a:bodyPr wrap="square">
            <a:spAutoFit/>
          </a:bodyPr>
          <a:lstStyle/>
          <a:p>
            <a:r>
              <a:rPr lang="en-US" sz="1600" b="1" i="0" dirty="0">
                <a:solidFill>
                  <a:srgbClr val="002060"/>
                </a:solidFill>
                <a:latin typeface="Arial"/>
                <a:cs typeface="Arial"/>
              </a:rPr>
              <a:t>No, update parameters</a:t>
            </a:r>
            <a:endParaRPr lang="en-US" dirty="0"/>
          </a:p>
        </p:txBody>
      </p:sp>
      <p:cxnSp>
        <p:nvCxnSpPr>
          <p:cNvPr id="68" name="a32">
            <a:extLst>
              <a:ext uri="{FF2B5EF4-FFF2-40B4-BE49-F238E27FC236}">
                <a16:creationId xmlns:a16="http://schemas.microsoft.com/office/drawing/2014/main" id="{A1266D70-AA08-FC4B-54D9-F02C043E2595}"/>
              </a:ext>
            </a:extLst>
          </p:cNvPr>
          <p:cNvCxnSpPr>
            <a:cxnSpLocks/>
          </p:cNvCxnSpPr>
          <p:nvPr/>
        </p:nvCxnSpPr>
        <p:spPr>
          <a:xfrm>
            <a:off x="8125035" y="2166598"/>
            <a:ext cx="259545" cy="0"/>
          </a:xfrm>
          <a:prstGeom prst="straightConnector1">
            <a:avLst/>
          </a:prstGeom>
          <a:ln w="19050" cap="rnd">
            <a:solidFill>
              <a:srgbClr val="4D4D4D"/>
            </a:solidFill>
            <a:tailEnd type="triangle" w="med" len="med"/>
          </a:ln>
        </p:spPr>
      </p:cxnSp>
      <p:cxnSp>
        <p:nvCxnSpPr>
          <p:cNvPr id="77" name="a38">
            <a:extLst>
              <a:ext uri="{FF2B5EF4-FFF2-40B4-BE49-F238E27FC236}">
                <a16:creationId xmlns:a16="http://schemas.microsoft.com/office/drawing/2014/main" id="{34B3B99F-8856-AD3C-E9D5-B10CC9683A65}"/>
              </a:ext>
            </a:extLst>
          </p:cNvPr>
          <p:cNvCxnSpPr>
            <a:cxnSpLocks/>
          </p:cNvCxnSpPr>
          <p:nvPr/>
        </p:nvCxnSpPr>
        <p:spPr>
          <a:xfrm>
            <a:off x="9511247" y="3941522"/>
            <a:ext cx="221228" cy="6091"/>
          </a:xfrm>
          <a:prstGeom prst="straightConnector1">
            <a:avLst/>
          </a:prstGeom>
          <a:ln w="19050" cap="rnd">
            <a:solidFill>
              <a:srgbClr val="E8590C"/>
            </a:solidFill>
            <a:tailEnd type="triangle" w="med" len="med"/>
          </a:ln>
        </p:spPr>
      </p:cxnSp>
    </p:spTree>
    <p:extLst>
      <p:ext uri="{BB962C8B-B14F-4D97-AF65-F5344CB8AC3E}">
        <p14:creationId xmlns:p14="http://schemas.microsoft.com/office/powerpoint/2010/main" val="26188081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CBFFE87-8ACA-3E2C-023A-4E3792703479}"/>
              </a:ext>
            </a:extLst>
          </p:cNvPr>
          <p:cNvSpPr>
            <a:spLocks noGrp="1"/>
          </p:cNvSpPr>
          <p:nvPr>
            <p:ph type="ftr" sz="quarter" idx="11"/>
          </p:nvPr>
        </p:nvSpPr>
        <p:spPr/>
        <p:txBody>
          <a:bodyPr/>
          <a:lstStyle/>
          <a:p>
            <a:endParaRPr lang="en-US" noProof="0" dirty="0"/>
          </a:p>
        </p:txBody>
      </p:sp>
      <p:sp>
        <p:nvSpPr>
          <p:cNvPr id="5" name="Slide Number Placeholder 4">
            <a:extLst>
              <a:ext uri="{FF2B5EF4-FFF2-40B4-BE49-F238E27FC236}">
                <a16:creationId xmlns:a16="http://schemas.microsoft.com/office/drawing/2014/main" id="{5EFBF19A-E01B-2809-E2F0-DBF901789F3C}"/>
              </a:ext>
            </a:extLst>
          </p:cNvPr>
          <p:cNvSpPr>
            <a:spLocks noGrp="1"/>
          </p:cNvSpPr>
          <p:nvPr>
            <p:ph type="sldNum" sz="quarter" idx="12"/>
          </p:nvPr>
        </p:nvSpPr>
        <p:spPr/>
        <p:txBody>
          <a:bodyPr/>
          <a:lstStyle/>
          <a:p>
            <a:fld id="{1EDD9F3E-8BFD-4E3C-98D1-767322780FDD}" type="slidenum">
              <a:rPr lang="en-US" noProof="0" smtClean="0"/>
              <a:t>38</a:t>
            </a:fld>
            <a:endParaRPr lang="en-US" noProof="0"/>
          </a:p>
        </p:txBody>
      </p:sp>
      <mc:AlternateContent xmlns:mc="http://schemas.openxmlformats.org/markup-compatibility/2006" xmlns:a14="http://schemas.microsoft.com/office/drawing/2010/main">
        <mc:Choice Requires="a14">
          <p:sp>
            <p:nvSpPr>
              <p:cNvPr id="13" name="Content Placeholder 3">
                <a:extLst>
                  <a:ext uri="{FF2B5EF4-FFF2-40B4-BE49-F238E27FC236}">
                    <a16:creationId xmlns:a16="http://schemas.microsoft.com/office/drawing/2014/main" id="{787B2D7E-D99D-39A2-9BCC-F17244CBA0C3}"/>
                  </a:ext>
                </a:extLst>
              </p:cNvPr>
              <p:cNvSpPr txBox="1">
                <a:spLocks/>
              </p:cNvSpPr>
              <p:nvPr/>
            </p:nvSpPr>
            <p:spPr bwMode="gray">
              <a:xfrm>
                <a:off x="2888079" y="5414839"/>
                <a:ext cx="8608521" cy="30078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pPr>
                  <a:lnSpc>
                    <a:spcPct val="105000"/>
                  </a:lnSpc>
                  <a:spcBef>
                    <a:spcPts val="0"/>
                  </a:spcBef>
                  <a:spcAft>
                    <a:spcPts val="500"/>
                  </a:spcAft>
                </a:pPr>
                <a:r>
                  <a:rPr lang="en-US" sz="2000" b="0" dirty="0">
                    <a:solidFill>
                      <a:srgbClr val="4D4D4D">
                        <a:alpha val="100000"/>
                      </a:srgbClr>
                    </a:solidFill>
                    <a:latin typeface="+mn-lt"/>
                    <a:cs typeface="Arial"/>
                    <a:sym typeface="Arial"/>
                  </a:rPr>
                  <a:t>Power: nlmixr2-SCM </a:t>
                </a:r>
                <a14:m>
                  <m:oMath xmlns:m="http://schemas.openxmlformats.org/officeDocument/2006/math">
                    <m:r>
                      <a:rPr lang="en-US" sz="2000" b="0" i="1">
                        <a:solidFill>
                          <a:srgbClr val="4D4D4D">
                            <a:alpha val="100000"/>
                          </a:srgbClr>
                        </a:solidFill>
                        <a:latin typeface="Cambria Math" panose="02040503050406030204" pitchFamily="18" charset="0"/>
                        <a:ea typeface="Cambria Math" panose="02040503050406030204" pitchFamily="18" charset="0"/>
                        <a:cs typeface="Arial"/>
                        <a:sym typeface="Arial"/>
                      </a:rPr>
                      <m:t>≈</m:t>
                    </m:r>
                    <m:r>
                      <m:rPr>
                        <m:nor/>
                      </m:rPr>
                      <a:rPr lang="en-US" sz="2000" b="0" i="0" smtClean="0">
                        <a:solidFill>
                          <a:srgbClr val="4D4D4D">
                            <a:alpha val="100000"/>
                          </a:srgbClr>
                        </a:solidFill>
                        <a:latin typeface="+mn-lt"/>
                        <a:ea typeface="Cambria Math" panose="02040503050406030204" pitchFamily="18" charset="0"/>
                        <a:cs typeface="Arial"/>
                        <a:sym typeface="Arial"/>
                      </a:rPr>
                      <m:t>PsN</m:t>
                    </m:r>
                    <m:r>
                      <m:rPr>
                        <m:nor/>
                      </m:rPr>
                      <a:rPr lang="en-US" sz="2000" b="0" i="0" smtClean="0">
                        <a:solidFill>
                          <a:srgbClr val="4D4D4D">
                            <a:alpha val="100000"/>
                          </a:srgbClr>
                        </a:solidFill>
                        <a:latin typeface="+mn-lt"/>
                        <a:ea typeface="Cambria Math" panose="02040503050406030204" pitchFamily="18" charset="0"/>
                        <a:cs typeface="Arial"/>
                        <a:sym typeface="Arial"/>
                      </a:rPr>
                      <m:t>_</m:t>
                    </m:r>
                    <m:r>
                      <m:rPr>
                        <m:nor/>
                      </m:rPr>
                      <a:rPr lang="en-US" sz="2000" b="0" i="0" dirty="0">
                        <a:solidFill>
                          <a:srgbClr val="4D4D4D">
                            <a:alpha val="100000"/>
                          </a:srgbClr>
                        </a:solidFill>
                        <a:latin typeface="+mn-lt"/>
                        <a:cs typeface="Arial"/>
                        <a:sym typeface="Arial"/>
                      </a:rPr>
                      <m:t>SCM</m:t>
                    </m:r>
                    <m:r>
                      <m:rPr>
                        <m:nor/>
                      </m:rPr>
                      <a:rPr lang="en-US" sz="2000" b="0" i="0" dirty="0" smtClean="0">
                        <a:solidFill>
                          <a:srgbClr val="4D4D4D">
                            <a:alpha val="100000"/>
                          </a:srgbClr>
                        </a:solidFill>
                        <a:latin typeface="+mn-lt"/>
                        <a:cs typeface="Arial"/>
                        <a:sym typeface="Arial"/>
                      </a:rPr>
                      <m:t> </m:t>
                    </m:r>
                    <m:r>
                      <m:rPr>
                        <m:nor/>
                      </m:rPr>
                      <a:rPr lang="en-US" sz="2000" b="0" i="0" dirty="0" smtClean="0">
                        <a:solidFill>
                          <a:srgbClr val="4D4D4D">
                            <a:alpha val="100000"/>
                          </a:srgbClr>
                        </a:solidFill>
                        <a:latin typeface="+mn-lt"/>
                        <a:cs typeface="Arial"/>
                        <a:sym typeface="Arial"/>
                      </a:rPr>
                      <m:t>&gt; </m:t>
                    </m:r>
                    <m:r>
                      <m:rPr>
                        <m:nor/>
                      </m:rPr>
                      <a:rPr lang="en-US" sz="2000" b="0" i="0" dirty="0">
                        <a:solidFill>
                          <a:srgbClr val="4D4D4D">
                            <a:alpha val="100000"/>
                          </a:srgbClr>
                        </a:solidFill>
                        <a:cs typeface="Arial"/>
                        <a:sym typeface="Arial"/>
                      </a:rPr>
                      <m:t>nlmixr</m:t>
                    </m:r>
                    <m:r>
                      <m:rPr>
                        <m:nor/>
                      </m:rPr>
                      <a:rPr lang="en-US" sz="2000" b="0" i="0" dirty="0">
                        <a:solidFill>
                          <a:srgbClr val="4D4D4D">
                            <a:alpha val="100000"/>
                          </a:srgbClr>
                        </a:solidFill>
                        <a:cs typeface="Arial"/>
                        <a:sym typeface="Arial"/>
                      </a:rPr>
                      <m:t>2</m:t>
                    </m:r>
                    <m:r>
                      <m:rPr>
                        <m:nor/>
                      </m:rPr>
                      <a:rPr lang="en-US" sz="2000" b="0" i="0" dirty="0">
                        <a:solidFill>
                          <a:srgbClr val="4D4D4D">
                            <a:alpha val="100000"/>
                          </a:srgbClr>
                        </a:solidFill>
                        <a:cs typeface="Arial"/>
                        <a:sym typeface="Arial"/>
                      </a:rPr>
                      <m:t>−</m:t>
                    </m:r>
                    <m:r>
                      <m:rPr>
                        <m:nor/>
                      </m:rPr>
                      <a:rPr lang="en-US" sz="2000" b="0" i="0" dirty="0" smtClean="0">
                        <a:solidFill>
                          <a:srgbClr val="4D4D4D">
                            <a:alpha val="100000"/>
                          </a:srgbClr>
                        </a:solidFill>
                        <a:cs typeface="Arial"/>
                        <a:sym typeface="Arial"/>
                      </a:rPr>
                      <m:t>VAE</m:t>
                    </m:r>
                  </m:oMath>
                </a14:m>
                <a:endParaRPr lang="en-US" sz="2000" b="0" dirty="0">
                  <a:solidFill>
                    <a:srgbClr val="4D4D4D">
                      <a:alpha val="100000"/>
                    </a:srgbClr>
                  </a:solidFill>
                  <a:latin typeface="+mn-lt"/>
                  <a:cs typeface="Arial"/>
                  <a:sym typeface="Arial"/>
                </a:endParaRPr>
              </a:p>
            </p:txBody>
          </p:sp>
        </mc:Choice>
        <mc:Fallback xmlns="">
          <p:sp>
            <p:nvSpPr>
              <p:cNvPr id="13" name="Content Placeholder 3">
                <a:extLst>
                  <a:ext uri="{FF2B5EF4-FFF2-40B4-BE49-F238E27FC236}">
                    <a16:creationId xmlns:a16="http://schemas.microsoft.com/office/drawing/2014/main" id="{787B2D7E-D99D-39A2-9BCC-F17244CBA0C3}"/>
                  </a:ext>
                </a:extLst>
              </p:cNvPr>
              <p:cNvSpPr txBox="1">
                <a:spLocks noRot="1" noChangeAspect="1" noMove="1" noResize="1" noEditPoints="1" noAdjustHandles="1" noChangeArrowheads="1" noChangeShapeType="1" noTextEdit="1"/>
              </p:cNvSpPr>
              <p:nvPr/>
            </p:nvSpPr>
            <p:spPr bwMode="gray">
              <a:xfrm>
                <a:off x="2888079" y="5414839"/>
                <a:ext cx="8608521" cy="300788"/>
              </a:xfrm>
              <a:prstGeom prst="rect">
                <a:avLst/>
              </a:prstGeom>
              <a:blipFill>
                <a:blip r:embed="rId2"/>
                <a:stretch>
                  <a:fillRect l="-1841" t="-28000" b="-5000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58C68B02-AB3B-8AE6-39F1-F0F92FCC92D9}"/>
              </a:ext>
            </a:extLst>
          </p:cNvPr>
          <p:cNvSpPr txBox="1"/>
          <p:nvPr/>
        </p:nvSpPr>
        <p:spPr>
          <a:xfrm>
            <a:off x="222637" y="137160"/>
            <a:ext cx="11390243" cy="954107"/>
          </a:xfrm>
          <a:prstGeom prst="rect">
            <a:avLst/>
          </a:prstGeom>
          <a:noFill/>
        </p:spPr>
        <p:txBody>
          <a:bodyPr wrap="square">
            <a:spAutoFit/>
          </a:bodyPr>
          <a:lstStyle/>
          <a:p>
            <a:pPr algn="l">
              <a:buNone/>
            </a:pPr>
            <a:r>
              <a:rPr lang="en-US" sz="2800" b="1" dirty="0">
                <a:solidFill>
                  <a:srgbClr val="0460A9"/>
                </a:solidFill>
                <a:latin typeface="Arial"/>
                <a:cs typeface="Arial"/>
              </a:rPr>
              <a:t>SCM power is comparable across nlmixr2 and NONMEM, and ≥ the VAE</a:t>
            </a:r>
          </a:p>
        </p:txBody>
      </p:sp>
      <p:grpSp>
        <p:nvGrpSpPr>
          <p:cNvPr id="6" name="Group 5">
            <a:extLst>
              <a:ext uri="{FF2B5EF4-FFF2-40B4-BE49-F238E27FC236}">
                <a16:creationId xmlns:a16="http://schemas.microsoft.com/office/drawing/2014/main" id="{A69F7532-C1ED-9C72-8D5C-F24729FD0456}"/>
              </a:ext>
            </a:extLst>
          </p:cNvPr>
          <p:cNvGrpSpPr/>
          <p:nvPr/>
        </p:nvGrpSpPr>
        <p:grpSpPr>
          <a:xfrm>
            <a:off x="528875" y="1142373"/>
            <a:ext cx="11084005" cy="4207853"/>
            <a:chOff x="440227" y="1024726"/>
            <a:chExt cx="10912357" cy="4092134"/>
          </a:xfrm>
        </p:grpSpPr>
        <p:pic>
          <p:nvPicPr>
            <p:cNvPr id="3" name="Picture 2">
              <a:extLst>
                <a:ext uri="{FF2B5EF4-FFF2-40B4-BE49-F238E27FC236}">
                  <a16:creationId xmlns:a16="http://schemas.microsoft.com/office/drawing/2014/main" id="{184BC5E5-B538-730C-A7FA-CD4AD40C61EE}"/>
                </a:ext>
              </a:extLst>
            </p:cNvPr>
            <p:cNvPicPr>
              <a:picLocks noChangeAspect="1"/>
            </p:cNvPicPr>
            <p:nvPr/>
          </p:nvPicPr>
          <p:blipFill>
            <a:blip r:embed="rId3"/>
            <a:stretch>
              <a:fillRect/>
            </a:stretch>
          </p:blipFill>
          <p:spPr>
            <a:xfrm>
              <a:off x="440227" y="1024726"/>
              <a:ext cx="10912357" cy="4092134"/>
            </a:xfrm>
            <a:prstGeom prst="rect">
              <a:avLst/>
            </a:prstGeom>
          </p:spPr>
        </p:pic>
        <p:sp>
          <p:nvSpPr>
            <p:cNvPr id="9" name="TextBox 8">
              <a:extLst>
                <a:ext uri="{FF2B5EF4-FFF2-40B4-BE49-F238E27FC236}">
                  <a16:creationId xmlns:a16="http://schemas.microsoft.com/office/drawing/2014/main" id="{A1E6ADAB-22E2-6F72-1CB1-0D355D722E9A}"/>
                </a:ext>
              </a:extLst>
            </p:cNvPr>
            <p:cNvSpPr txBox="1"/>
            <p:nvPr/>
          </p:nvSpPr>
          <p:spPr>
            <a:xfrm>
              <a:off x="1197943" y="1222731"/>
              <a:ext cx="955372" cy="307777"/>
            </a:xfrm>
            <a:prstGeom prst="rect">
              <a:avLst/>
            </a:prstGeom>
            <a:noFill/>
          </p:spPr>
          <p:txBody>
            <a:bodyPr wrap="square" lIns="0" tIns="0" rIns="0" bIns="0" rtlCol="0">
              <a:spAutoFit/>
            </a:bodyPr>
            <a:lstStyle/>
            <a:p>
              <a:pPr algn="l">
                <a:spcBef>
                  <a:spcPts val="800"/>
                </a:spcBef>
              </a:pPr>
              <a:r>
                <a:rPr lang="en-US" sz="2000" b="1" dirty="0"/>
                <a:t>N=80</a:t>
              </a:r>
            </a:p>
          </p:txBody>
        </p:sp>
      </p:grpSp>
    </p:spTree>
    <p:extLst>
      <p:ext uri="{BB962C8B-B14F-4D97-AF65-F5344CB8AC3E}">
        <p14:creationId xmlns:p14="http://schemas.microsoft.com/office/powerpoint/2010/main" val="3069344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A703F7D-CB5C-DFA4-8556-61D1757488A8}"/>
              </a:ext>
            </a:extLst>
          </p:cNvPr>
          <p:cNvSpPr>
            <a:spLocks noGrp="1"/>
          </p:cNvSpPr>
          <p:nvPr>
            <p:ph type="sldNum" sz="quarter" idx="12"/>
          </p:nvPr>
        </p:nvSpPr>
        <p:spPr/>
        <p:txBody>
          <a:bodyPr/>
          <a:lstStyle/>
          <a:p>
            <a:fld id="{1EDD9F3E-8BFD-4E3C-98D1-767322780FDD}" type="slidenum">
              <a:rPr lang="en-US" noProof="0" smtClean="0"/>
              <a:t>39</a:t>
            </a:fld>
            <a:endParaRPr lang="en-US" noProof="0"/>
          </a:p>
        </p:txBody>
      </p:sp>
      <p:grpSp>
        <p:nvGrpSpPr>
          <p:cNvPr id="31" name="Group 30">
            <a:extLst>
              <a:ext uri="{FF2B5EF4-FFF2-40B4-BE49-F238E27FC236}">
                <a16:creationId xmlns:a16="http://schemas.microsoft.com/office/drawing/2014/main" id="{89ABD492-95D1-ED45-ED2F-5D4247EE551C}"/>
              </a:ext>
            </a:extLst>
          </p:cNvPr>
          <p:cNvGrpSpPr/>
          <p:nvPr/>
        </p:nvGrpSpPr>
        <p:grpSpPr>
          <a:xfrm>
            <a:off x="2437006" y="1192474"/>
            <a:ext cx="7077487" cy="4175633"/>
            <a:chOff x="7552620" y="1782930"/>
            <a:chExt cx="3366209" cy="2134107"/>
          </a:xfrm>
        </p:grpSpPr>
        <p:grpSp>
          <p:nvGrpSpPr>
            <p:cNvPr id="25" name="Group 24">
              <a:extLst>
                <a:ext uri="{FF2B5EF4-FFF2-40B4-BE49-F238E27FC236}">
                  <a16:creationId xmlns:a16="http://schemas.microsoft.com/office/drawing/2014/main" id="{3E25A70C-C89B-22B6-CB77-C85AEF419C25}"/>
                </a:ext>
              </a:extLst>
            </p:cNvPr>
            <p:cNvGrpSpPr/>
            <p:nvPr/>
          </p:nvGrpSpPr>
          <p:grpSpPr>
            <a:xfrm>
              <a:off x="7552620" y="1782930"/>
              <a:ext cx="3366209" cy="2134107"/>
              <a:chOff x="593697" y="1787859"/>
              <a:chExt cx="5215078" cy="2846903"/>
            </a:xfrm>
          </p:grpSpPr>
          <p:pic>
            <p:nvPicPr>
              <p:cNvPr id="26" name="Picture 25">
                <a:extLst>
                  <a:ext uri="{FF2B5EF4-FFF2-40B4-BE49-F238E27FC236}">
                    <a16:creationId xmlns:a16="http://schemas.microsoft.com/office/drawing/2014/main" id="{7BE82B5E-1567-8703-77C5-5CCC806E1308}"/>
                  </a:ext>
                </a:extLst>
              </p:cNvPr>
              <p:cNvPicPr>
                <a:picLocks noChangeAspect="1"/>
              </p:cNvPicPr>
              <p:nvPr/>
            </p:nvPicPr>
            <p:blipFill>
              <a:blip r:embed="rId3"/>
              <a:stretch>
                <a:fillRect/>
              </a:stretch>
            </p:blipFill>
            <p:spPr>
              <a:xfrm>
                <a:off x="593697" y="1787859"/>
                <a:ext cx="5215078" cy="2846903"/>
              </a:xfrm>
              <a:prstGeom prst="rect">
                <a:avLst/>
              </a:prstGeom>
            </p:spPr>
          </p:pic>
          <p:cxnSp>
            <p:nvCxnSpPr>
              <p:cNvPr id="27" name="Straight Arrow Connector 26">
                <a:extLst>
                  <a:ext uri="{FF2B5EF4-FFF2-40B4-BE49-F238E27FC236}">
                    <a16:creationId xmlns:a16="http://schemas.microsoft.com/office/drawing/2014/main" id="{B2FB3431-3225-F6C7-CE1E-4D4C25727716}"/>
                  </a:ext>
                </a:extLst>
              </p:cNvPr>
              <p:cNvCxnSpPr>
                <a:cxnSpLocks/>
              </p:cNvCxnSpPr>
              <p:nvPr/>
            </p:nvCxnSpPr>
            <p:spPr>
              <a:xfrm>
                <a:off x="1868906" y="2518611"/>
                <a:ext cx="0" cy="385012"/>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8" name="Oval 27">
                <a:extLst>
                  <a:ext uri="{FF2B5EF4-FFF2-40B4-BE49-F238E27FC236}">
                    <a16:creationId xmlns:a16="http://schemas.microsoft.com/office/drawing/2014/main" id="{1B0B63AD-801E-B19D-D682-311628D9F682}"/>
                  </a:ext>
                </a:extLst>
              </p:cNvPr>
              <p:cNvSpPr/>
              <p:nvPr/>
            </p:nvSpPr>
            <p:spPr>
              <a:xfrm>
                <a:off x="1820778" y="2903623"/>
                <a:ext cx="96251" cy="962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p>
            </p:txBody>
          </p:sp>
        </p:grpSp>
        <p:cxnSp>
          <p:nvCxnSpPr>
            <p:cNvPr id="29" name="Straight Arrow Connector 28">
              <a:extLst>
                <a:ext uri="{FF2B5EF4-FFF2-40B4-BE49-F238E27FC236}">
                  <a16:creationId xmlns:a16="http://schemas.microsoft.com/office/drawing/2014/main" id="{6C8327B6-76E6-7410-3F81-91530B3487C4}"/>
                </a:ext>
              </a:extLst>
            </p:cNvPr>
            <p:cNvCxnSpPr>
              <a:cxnSpLocks/>
            </p:cNvCxnSpPr>
            <p:nvPr/>
          </p:nvCxnSpPr>
          <p:spPr>
            <a:xfrm>
              <a:off x="8834614" y="2401704"/>
              <a:ext cx="0" cy="288614"/>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F581A933-1A3A-006A-39CE-91A8CF71E511}"/>
                </a:ext>
              </a:extLst>
            </p:cNvPr>
            <p:cNvSpPr/>
            <p:nvPr/>
          </p:nvSpPr>
          <p:spPr>
            <a:xfrm>
              <a:off x="8803549" y="2690318"/>
              <a:ext cx="62128" cy="72153"/>
            </a:xfrm>
            <a:prstGeom prst="ellipse">
              <a:avLst/>
            </a:prstGeom>
            <a:solidFill>
              <a:schemeClr val="accent1"/>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highlight>
                  <a:srgbClr val="FFFF00"/>
                </a:highlight>
              </a:endParaRPr>
            </a:p>
          </p:txBody>
        </p:sp>
      </p:grpSp>
      <p:sp>
        <p:nvSpPr>
          <p:cNvPr id="32" name="Arrow: Curved Down 31">
            <a:extLst>
              <a:ext uri="{FF2B5EF4-FFF2-40B4-BE49-F238E27FC236}">
                <a16:creationId xmlns:a16="http://schemas.microsoft.com/office/drawing/2014/main" id="{B808782E-C7BD-447D-DC9F-ACCD2BCFB906}"/>
              </a:ext>
            </a:extLst>
          </p:cNvPr>
          <p:cNvSpPr/>
          <p:nvPr/>
        </p:nvSpPr>
        <p:spPr>
          <a:xfrm>
            <a:off x="4096574" y="1813737"/>
            <a:ext cx="1176461" cy="545770"/>
          </a:xfrm>
          <a:prstGeom prst="curved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0000" indent="-180000" algn="l">
              <a:spcBef>
                <a:spcPts val="800"/>
              </a:spcBef>
              <a:buFont typeface="Arial" panose="020B0604020202020204" pitchFamily="34" charset="0"/>
              <a:buChar char="•"/>
            </a:pPr>
            <a:endParaRPr lang="en-US" dirty="0" err="1">
              <a:solidFill>
                <a:schemeClr val="tx1"/>
              </a:solidFill>
            </a:endParaRPr>
          </a:p>
        </p:txBody>
      </p:sp>
      <p:sp>
        <p:nvSpPr>
          <p:cNvPr id="35" name="Title 1">
            <a:extLst>
              <a:ext uri="{FF2B5EF4-FFF2-40B4-BE49-F238E27FC236}">
                <a16:creationId xmlns:a16="http://schemas.microsoft.com/office/drawing/2014/main" id="{BF2A404D-014F-B0FB-CB73-5E9A0FE1FEA2}"/>
              </a:ext>
            </a:extLst>
          </p:cNvPr>
          <p:cNvSpPr txBox="1">
            <a:spLocks/>
          </p:cNvSpPr>
          <p:nvPr/>
        </p:nvSpPr>
        <p:spPr bwMode="gray">
          <a:xfrm>
            <a:off x="264584" y="196296"/>
            <a:ext cx="11088000" cy="775597"/>
          </a:xfrm>
          <a:prstGeom prst="rect">
            <a:avLst/>
          </a:prstGeom>
        </p:spPr>
        <p:txBody>
          <a:bodyPr vert="horz"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r>
              <a:rPr lang="en-US" sz="2800" dirty="0">
                <a:solidFill>
                  <a:srgbClr val="0460A9"/>
                </a:solidFill>
                <a:latin typeface="Arial"/>
                <a:cs typeface="Arial"/>
              </a:rPr>
              <a:t>1-D profile warmup fixes other parameters and use covariate estimate as initial value</a:t>
            </a:r>
          </a:p>
        </p:txBody>
      </p:sp>
      <p:sp>
        <p:nvSpPr>
          <p:cNvPr id="3" name="TextBox 2">
            <a:extLst>
              <a:ext uri="{FF2B5EF4-FFF2-40B4-BE49-F238E27FC236}">
                <a16:creationId xmlns:a16="http://schemas.microsoft.com/office/drawing/2014/main" id="{F1C6D8D4-4CB0-D54F-1D96-CB8204F3B165}"/>
              </a:ext>
            </a:extLst>
          </p:cNvPr>
          <p:cNvSpPr txBox="1"/>
          <p:nvPr/>
        </p:nvSpPr>
        <p:spPr>
          <a:xfrm>
            <a:off x="3782064" y="1259838"/>
            <a:ext cx="2510452" cy="523220"/>
          </a:xfrm>
          <a:prstGeom prst="rect">
            <a:avLst/>
          </a:prstGeom>
          <a:noFill/>
        </p:spPr>
        <p:txBody>
          <a:bodyPr wrap="square">
            <a:spAutoFit/>
          </a:bodyPr>
          <a:lstStyle/>
          <a:p>
            <a:r>
              <a:rPr lang="en-US" sz="2800" b="1" dirty="0">
                <a:solidFill>
                  <a:srgbClr val="FF0000"/>
                </a:solidFill>
                <a:latin typeface="Arial"/>
                <a:cs typeface="Arial"/>
              </a:rPr>
              <a:t>1-D warmup </a:t>
            </a:r>
            <a:endParaRPr lang="en-US" b="1" dirty="0">
              <a:solidFill>
                <a:srgbClr val="FF0000"/>
              </a:solidFill>
            </a:endParaRPr>
          </a:p>
        </p:txBody>
      </p:sp>
      <p:sp>
        <p:nvSpPr>
          <p:cNvPr id="18" name="TextBox 17">
            <a:extLst>
              <a:ext uri="{FF2B5EF4-FFF2-40B4-BE49-F238E27FC236}">
                <a16:creationId xmlns:a16="http://schemas.microsoft.com/office/drawing/2014/main" id="{DFAC0D94-D411-801E-4EEE-0CCC6D382EE3}"/>
              </a:ext>
            </a:extLst>
          </p:cNvPr>
          <p:cNvSpPr txBox="1"/>
          <p:nvPr/>
        </p:nvSpPr>
        <p:spPr>
          <a:xfrm>
            <a:off x="2645982" y="5466703"/>
            <a:ext cx="7540650" cy="1036181"/>
          </a:xfrm>
          <a:prstGeom prst="rect">
            <a:avLst/>
          </a:prstGeom>
          <a:noFill/>
        </p:spPr>
        <p:txBody>
          <a:bodyPr wrap="square" lIns="0" tIns="0" rIns="0" bIns="0" rtlCol="0">
            <a:spAutoFit/>
          </a:bodyPr>
          <a:lstStyle/>
          <a:p>
            <a:pPr marL="285750" indent="-285750">
              <a:spcBef>
                <a:spcPts val="800"/>
              </a:spcBef>
              <a:buFont typeface="Arial" panose="020B0604020202020204" pitchFamily="34" charset="0"/>
              <a:buChar char="•"/>
            </a:pPr>
            <a:r>
              <a:rPr lang="en-US" dirty="0" err="1"/>
              <a:t>Delta_OFV</a:t>
            </a:r>
            <a:r>
              <a:rPr lang="en-US" dirty="0"/>
              <a:t> (forward selection)= </a:t>
            </a:r>
            <a:r>
              <a:rPr lang="en-US" dirty="0" err="1"/>
              <a:t>OFV$parent</a:t>
            </a:r>
            <a:r>
              <a:rPr lang="en-US" dirty="0"/>
              <a:t> –</a:t>
            </a:r>
            <a:r>
              <a:rPr lang="en-US" dirty="0" err="1"/>
              <a:t>OFV$candidate</a:t>
            </a:r>
            <a:r>
              <a:rPr lang="en-US" dirty="0"/>
              <a:t> </a:t>
            </a:r>
          </a:p>
          <a:p>
            <a:pPr marL="742950" lvl="1" indent="-285750">
              <a:spcBef>
                <a:spcPts val="800"/>
              </a:spcBef>
              <a:buFont typeface="Courier New" panose="02070309020205020404" pitchFamily="49" charset="0"/>
              <a:buChar char="o"/>
            </a:pPr>
            <a:r>
              <a:rPr lang="en-US" dirty="0"/>
              <a:t>Stuck at initial estimates(</a:t>
            </a:r>
            <a:r>
              <a:rPr lang="en-US" dirty="0" err="1"/>
              <a:t>Delta_OFV</a:t>
            </a:r>
            <a:r>
              <a:rPr lang="en-US" dirty="0"/>
              <a:t> =0) </a:t>
            </a:r>
          </a:p>
          <a:p>
            <a:pPr marL="742950" lvl="1" indent="-285750">
              <a:spcBef>
                <a:spcPts val="800"/>
              </a:spcBef>
              <a:buFont typeface="Courier New" panose="02070309020205020404" pitchFamily="49" charset="0"/>
              <a:buChar char="o"/>
            </a:pPr>
            <a:r>
              <a:rPr lang="en-US" dirty="0"/>
              <a:t>Candidate model worse than parent model (</a:t>
            </a:r>
            <a:r>
              <a:rPr lang="en-US" dirty="0" err="1"/>
              <a:t>Delta_OFV</a:t>
            </a:r>
            <a:r>
              <a:rPr lang="en-US" dirty="0"/>
              <a:t> &lt;0)</a:t>
            </a:r>
          </a:p>
        </p:txBody>
      </p:sp>
    </p:spTree>
    <p:extLst>
      <p:ext uri="{BB962C8B-B14F-4D97-AF65-F5344CB8AC3E}">
        <p14:creationId xmlns:p14="http://schemas.microsoft.com/office/powerpoint/2010/main" val="13125085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A716239-9ADE-37B2-FA35-8C2950CDC6CC}"/>
              </a:ext>
            </a:extLst>
          </p:cNvPr>
          <p:cNvSpPr>
            <a:spLocks noGrp="1"/>
          </p:cNvSpPr>
          <p:nvPr>
            <p:ph type="ftr" sz="quarter" idx="11"/>
          </p:nvPr>
        </p:nvSpPr>
        <p:spPr/>
        <p:txBody>
          <a:bodyPr/>
          <a:lstStyle/>
          <a:p>
            <a:endParaRPr lang="en-US" noProof="0"/>
          </a:p>
        </p:txBody>
      </p:sp>
      <p:sp>
        <p:nvSpPr>
          <p:cNvPr id="5" name="Slide Number Placeholder 4">
            <a:extLst>
              <a:ext uri="{FF2B5EF4-FFF2-40B4-BE49-F238E27FC236}">
                <a16:creationId xmlns:a16="http://schemas.microsoft.com/office/drawing/2014/main" id="{B68F5730-CA8E-999C-B3DC-B34B52D484BB}"/>
              </a:ext>
            </a:extLst>
          </p:cNvPr>
          <p:cNvSpPr>
            <a:spLocks noGrp="1"/>
          </p:cNvSpPr>
          <p:nvPr>
            <p:ph type="sldNum" sz="quarter" idx="12"/>
          </p:nvPr>
        </p:nvSpPr>
        <p:spPr/>
        <p:txBody>
          <a:bodyPr/>
          <a:lstStyle/>
          <a:p>
            <a:fld id="{1EDD9F3E-8BFD-4E3C-98D1-767322780FDD}" type="slidenum">
              <a:rPr lang="en-US" noProof="0" smtClean="0"/>
              <a:t>40</a:t>
            </a:fld>
            <a:endParaRPr lang="en-US" noProof="0"/>
          </a:p>
        </p:txBody>
      </p:sp>
      <p:sp>
        <p:nvSpPr>
          <p:cNvPr id="6" name="Content Placeholder 1">
            <a:extLst>
              <a:ext uri="{FF2B5EF4-FFF2-40B4-BE49-F238E27FC236}">
                <a16:creationId xmlns:a16="http://schemas.microsoft.com/office/drawing/2014/main" id="{5ACB869D-4EF7-3D94-8ECF-3EC7498FB3A6}"/>
              </a:ext>
            </a:extLst>
          </p:cNvPr>
          <p:cNvSpPr txBox="1">
            <a:spLocks/>
          </p:cNvSpPr>
          <p:nvPr/>
        </p:nvSpPr>
        <p:spPr bwMode="gray">
          <a:xfrm>
            <a:off x="399784" y="339225"/>
            <a:ext cx="11064240" cy="775597"/>
          </a:xfrm>
          <a:prstGeom prst="rect">
            <a:avLst/>
          </a:prstGeom>
        </p:spPr>
        <p:txBody>
          <a:bodyPr vert="horz"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r>
              <a:rPr lang="en-US" sz="2800" dirty="0">
                <a:solidFill>
                  <a:srgbClr val="0460A9"/>
                </a:solidFill>
                <a:latin typeface="Arial"/>
                <a:cs typeface="Arial"/>
              </a:rPr>
              <a:t>Warm up is necessary to maintain power in </a:t>
            </a:r>
            <a:r>
              <a:rPr lang="en-US" sz="2800" dirty="0">
                <a:solidFill>
                  <a:srgbClr val="0460A9"/>
                </a:solidFill>
                <a:cs typeface="Arial"/>
              </a:rPr>
              <a:t>complex scenarios for ODE models</a:t>
            </a:r>
            <a:endParaRPr lang="en-US" sz="2800" dirty="0">
              <a:solidFill>
                <a:srgbClr val="0460A9"/>
              </a:solidFill>
              <a:latin typeface="Arial"/>
              <a:cs typeface="Arial"/>
            </a:endParaRPr>
          </a:p>
        </p:txBody>
      </p:sp>
      <p:pic>
        <p:nvPicPr>
          <p:cNvPr id="8" name="Picture 7">
            <a:extLst>
              <a:ext uri="{FF2B5EF4-FFF2-40B4-BE49-F238E27FC236}">
                <a16:creationId xmlns:a16="http://schemas.microsoft.com/office/drawing/2014/main" id="{0C0D1C3B-2FF9-25C0-D544-F1DC7F4180D0}"/>
              </a:ext>
            </a:extLst>
          </p:cNvPr>
          <p:cNvPicPr>
            <a:picLocks noChangeAspect="1"/>
          </p:cNvPicPr>
          <p:nvPr/>
        </p:nvPicPr>
        <p:blipFill>
          <a:blip r:embed="rId3"/>
          <a:stretch>
            <a:fillRect/>
          </a:stretch>
        </p:blipFill>
        <p:spPr>
          <a:xfrm>
            <a:off x="993798" y="1094871"/>
            <a:ext cx="9336516" cy="4668258"/>
          </a:xfrm>
          <a:prstGeom prst="rect">
            <a:avLst/>
          </a:prstGeom>
        </p:spPr>
      </p:pic>
      <p:cxnSp>
        <p:nvCxnSpPr>
          <p:cNvPr id="3" name="Straight Arrow Connector 2">
            <a:extLst>
              <a:ext uri="{FF2B5EF4-FFF2-40B4-BE49-F238E27FC236}">
                <a16:creationId xmlns:a16="http://schemas.microsoft.com/office/drawing/2014/main" id="{87C939F3-2498-AFCC-B365-95A9ED8884A0}"/>
              </a:ext>
            </a:extLst>
          </p:cNvPr>
          <p:cNvCxnSpPr>
            <a:cxnSpLocks/>
          </p:cNvCxnSpPr>
          <p:nvPr/>
        </p:nvCxnSpPr>
        <p:spPr>
          <a:xfrm flipV="1">
            <a:off x="7413391" y="3246427"/>
            <a:ext cx="0" cy="1049412"/>
          </a:xfrm>
          <a:prstGeom prst="straightConnector1">
            <a:avLst/>
          </a:prstGeom>
          <a:ln w="1905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6648079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p:cNvSpPr>
            <a:spLocks noGrp="1"/>
          </p:cNvSpPr>
          <p:nvPr>
            <p:ph/>
          </p:nvPr>
        </p:nvSpPr>
        <p:spPr>
          <a:xfrm>
            <a:off x="232939" y="232895"/>
            <a:ext cx="11726121" cy="377686"/>
          </a:xfrm>
        </p:spPr>
        <p:txBody>
          <a:bodyPr/>
          <a:lstStyle/>
          <a:p>
            <a:pPr algn="l">
              <a:buNone/>
            </a:pPr>
            <a:r>
              <a:rPr lang="en-US" sz="2600" b="1" dirty="0">
                <a:solidFill>
                  <a:srgbClr val="0460A9"/>
                </a:solidFill>
                <a:latin typeface="Arial"/>
                <a:cs typeface="Arial"/>
              </a:rPr>
              <a:t>False selection concentrates on competing shapes &amp; collinear distractor</a:t>
            </a:r>
          </a:p>
        </p:txBody>
      </p:sp>
      <p:sp>
        <p:nvSpPr>
          <p:cNvPr id="3" name="Content Placeholder 2"/>
          <p:cNvSpPr>
            <a:spLocks noGrp="1"/>
          </p:cNvSpPr>
          <p:nvPr>
            <p:ph/>
          </p:nvPr>
        </p:nvSpPr>
        <p:spPr>
          <a:xfrm>
            <a:off x="566928" y="1188720"/>
            <a:ext cx="3108960" cy="64008"/>
          </a:xfrm>
        </p:spPr>
        <p:txBody>
          <a:bodyPr/>
          <a:lstStyle/>
          <a:p>
            <a:pPr marL="0" marR="0" algn="l">
              <a:lnSpc>
                <a:spcPct val="100000"/>
              </a:lnSpc>
              <a:spcBef>
                <a:spcPts val="0"/>
              </a:spcBef>
              <a:spcAft>
                <a:spcPts val="0"/>
              </a:spcAft>
              <a:buNone/>
            </a:pPr>
            <a:r>
              <a:rPr sz="200" b="0" i="0" u="none" strike="noStrike" cap="none">
                <a:solidFill>
                  <a:srgbClr val="000000">
                    <a:alpha val="100000"/>
                  </a:srgbClr>
                </a:solidFill>
                <a:latin typeface="Arial"/>
                <a:cs typeface="Arial"/>
                <a:sym typeface="Arial"/>
              </a:rPr>
              <a:t> </a:t>
            </a:r>
          </a:p>
        </p:txBody>
      </p:sp>
      <p:pic>
        <p:nvPicPr>
          <p:cNvPr id="5" name="Content Placeholder 4"/>
          <p:cNvPicPr>
            <a:picLocks noGrp="1"/>
          </p:cNvPicPr>
          <p:nvPr>
            <p:ph/>
          </p:nvPr>
        </p:nvPicPr>
        <p:blipFill>
          <a:blip r:embed="rId3"/>
          <a:srcRect l="8960" t="6140" r="9011"/>
          <a:stretch>
            <a:fillRect/>
          </a:stretch>
        </p:blipFill>
        <p:spPr>
          <a:xfrm>
            <a:off x="6824546" y="1026896"/>
            <a:ext cx="4965186" cy="4927946"/>
          </a:xfrm>
          <a:prstGeom prst="rect">
            <a:avLst/>
          </a:prstGeom>
        </p:spPr>
      </p:pic>
      <p:pic>
        <p:nvPicPr>
          <p:cNvPr id="12" name="Picture 11">
            <a:extLst>
              <a:ext uri="{FF2B5EF4-FFF2-40B4-BE49-F238E27FC236}">
                <a16:creationId xmlns:a16="http://schemas.microsoft.com/office/drawing/2014/main" id="{63BCE112-C397-8F45-97CE-9B998D12C0BA}"/>
              </a:ext>
            </a:extLst>
          </p:cNvPr>
          <p:cNvPicPr>
            <a:picLocks noChangeAspect="1"/>
          </p:cNvPicPr>
          <p:nvPr/>
        </p:nvPicPr>
        <p:blipFill>
          <a:blip r:embed="rId4"/>
          <a:srcRect l="10194"/>
          <a:stretch>
            <a:fillRect/>
          </a:stretch>
        </p:blipFill>
        <p:spPr>
          <a:xfrm>
            <a:off x="566928" y="1105906"/>
            <a:ext cx="5337717" cy="4114808"/>
          </a:xfrm>
          <a:prstGeom prst="rect">
            <a:avLst/>
          </a:prstGeom>
        </p:spPr>
      </p:pic>
      <p:cxnSp>
        <p:nvCxnSpPr>
          <p:cNvPr id="14" name="Straight Arrow Connector 13">
            <a:extLst>
              <a:ext uri="{FF2B5EF4-FFF2-40B4-BE49-F238E27FC236}">
                <a16:creationId xmlns:a16="http://schemas.microsoft.com/office/drawing/2014/main" id="{235891F3-0FE5-785D-094C-EC0841A019A8}"/>
              </a:ext>
            </a:extLst>
          </p:cNvPr>
          <p:cNvCxnSpPr>
            <a:cxnSpLocks/>
          </p:cNvCxnSpPr>
          <p:nvPr/>
        </p:nvCxnSpPr>
        <p:spPr>
          <a:xfrm flipH="1" flipV="1">
            <a:off x="5497551" y="1784195"/>
            <a:ext cx="1326995" cy="1237785"/>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Straight Arrow Connector 14">
            <a:extLst>
              <a:ext uri="{FF2B5EF4-FFF2-40B4-BE49-F238E27FC236}">
                <a16:creationId xmlns:a16="http://schemas.microsoft.com/office/drawing/2014/main" id="{A374BE00-1E46-0FD4-7968-3759E9079D76}"/>
              </a:ext>
            </a:extLst>
          </p:cNvPr>
          <p:cNvCxnSpPr>
            <a:cxnSpLocks/>
          </p:cNvCxnSpPr>
          <p:nvPr/>
        </p:nvCxnSpPr>
        <p:spPr>
          <a:xfrm flipH="1">
            <a:off x="5367455" y="3945360"/>
            <a:ext cx="1457091" cy="972328"/>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0" name="Content Placeholder 3">
                <a:extLst>
                  <a:ext uri="{FF2B5EF4-FFF2-40B4-BE49-F238E27FC236}">
                    <a16:creationId xmlns:a16="http://schemas.microsoft.com/office/drawing/2014/main" id="{F866EF30-22F7-D51C-F193-B523B992C4EE}"/>
                  </a:ext>
                </a:extLst>
              </p:cNvPr>
              <p:cNvSpPr txBox="1">
                <a:spLocks/>
              </p:cNvSpPr>
              <p:nvPr/>
            </p:nvSpPr>
            <p:spPr bwMode="gray">
              <a:xfrm>
                <a:off x="7248445" y="6047175"/>
                <a:ext cx="2296999" cy="30078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pPr marL="285750" indent="-285750">
                  <a:lnSpc>
                    <a:spcPct val="105000"/>
                  </a:lnSpc>
                  <a:spcBef>
                    <a:spcPts val="0"/>
                  </a:spcBef>
                  <a:spcAft>
                    <a:spcPts val="500"/>
                  </a:spcAft>
                  <a:buFont typeface="Arial" panose="020B0604020202020204" pitchFamily="34" charset="0"/>
                  <a:buChar char="•"/>
                </a:pPr>
                <a:r>
                  <a:rPr lang="en-US" sz="2000" b="0" dirty="0">
                    <a:solidFill>
                      <a:srgbClr val="4D4D4D">
                        <a:alpha val="100000"/>
                      </a:srgbClr>
                    </a:solidFill>
                    <a:latin typeface="+mn-lt"/>
                    <a:cs typeface="Arial"/>
                    <a:sym typeface="Arial"/>
                  </a:rPr>
                  <a:t>Lincmt </a:t>
                </a:r>
                <a14:m>
                  <m:oMath xmlns:m="http://schemas.openxmlformats.org/officeDocument/2006/math">
                    <m:r>
                      <a:rPr lang="en-US" sz="2000" b="0" i="1" smtClean="0">
                        <a:solidFill>
                          <a:srgbClr val="4D4D4D">
                            <a:alpha val="100000"/>
                          </a:srgbClr>
                        </a:solidFill>
                        <a:latin typeface="Cambria Math" panose="02040503050406030204" pitchFamily="18" charset="0"/>
                        <a:ea typeface="Cambria Math" panose="02040503050406030204" pitchFamily="18" charset="0"/>
                        <a:cs typeface="Arial"/>
                        <a:sym typeface="Arial"/>
                      </a:rPr>
                      <m:t>≈</m:t>
                    </m:r>
                    <m:r>
                      <a:rPr lang="en-US" sz="2000" b="0" i="0" smtClean="0">
                        <a:solidFill>
                          <a:srgbClr val="4D4D4D">
                            <a:alpha val="100000"/>
                          </a:srgbClr>
                        </a:solidFill>
                        <a:latin typeface="Cambria Math" panose="02040503050406030204" pitchFamily="18" charset="0"/>
                        <a:ea typeface="Cambria Math" panose="02040503050406030204" pitchFamily="18" charset="0"/>
                        <a:cs typeface="Arial"/>
                        <a:sym typeface="Arial"/>
                      </a:rPr>
                      <m:t> </m:t>
                    </m:r>
                  </m:oMath>
                </a14:m>
                <a:r>
                  <a:rPr lang="en-US" sz="2000" b="0" dirty="0">
                    <a:solidFill>
                      <a:srgbClr val="4D4D4D">
                        <a:alpha val="100000"/>
                      </a:srgbClr>
                    </a:solidFill>
                    <a:latin typeface="+mn-lt"/>
                    <a:cs typeface="Arial"/>
                    <a:sym typeface="Arial"/>
                  </a:rPr>
                  <a:t>ODE</a:t>
                </a:r>
              </a:p>
            </p:txBody>
          </p:sp>
        </mc:Choice>
        <mc:Fallback xmlns="">
          <p:sp>
            <p:nvSpPr>
              <p:cNvPr id="20" name="Content Placeholder 3">
                <a:extLst>
                  <a:ext uri="{FF2B5EF4-FFF2-40B4-BE49-F238E27FC236}">
                    <a16:creationId xmlns:a16="http://schemas.microsoft.com/office/drawing/2014/main" id="{F866EF30-22F7-D51C-F193-B523B992C4EE}"/>
                  </a:ext>
                </a:extLst>
              </p:cNvPr>
              <p:cNvSpPr txBox="1">
                <a:spLocks noRot="1" noChangeAspect="1" noMove="1" noResize="1" noEditPoints="1" noAdjustHandles="1" noChangeArrowheads="1" noChangeShapeType="1" noTextEdit="1"/>
              </p:cNvSpPr>
              <p:nvPr/>
            </p:nvSpPr>
            <p:spPr bwMode="gray">
              <a:xfrm>
                <a:off x="7248445" y="6047175"/>
                <a:ext cx="2296999" cy="300788"/>
              </a:xfrm>
              <a:prstGeom prst="rect">
                <a:avLst/>
              </a:prstGeom>
              <a:blipFill>
                <a:blip r:embed="rId5"/>
                <a:stretch>
                  <a:fillRect l="-6366" t="-28571" b="-51020"/>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05F9EB74-1C71-110F-86CD-04CE69720542}"/>
              </a:ext>
            </a:extLst>
          </p:cNvPr>
          <p:cNvSpPr txBox="1"/>
          <p:nvPr/>
        </p:nvSpPr>
        <p:spPr>
          <a:xfrm>
            <a:off x="9416004" y="6001008"/>
            <a:ext cx="2282993" cy="393121"/>
          </a:xfrm>
          <a:prstGeom prst="rect">
            <a:avLst/>
          </a:prstGeom>
          <a:noFill/>
        </p:spPr>
        <p:txBody>
          <a:bodyPr wrap="square">
            <a:spAutoFit/>
          </a:bodyPr>
          <a:lstStyle/>
          <a:p>
            <a:pPr marL="285750" indent="-285750">
              <a:lnSpc>
                <a:spcPct val="105000"/>
              </a:lnSpc>
              <a:spcBef>
                <a:spcPts val="0"/>
              </a:spcBef>
              <a:spcAft>
                <a:spcPts val="500"/>
              </a:spcAft>
              <a:buFont typeface="Arial" panose="020B0604020202020204" pitchFamily="34" charset="0"/>
              <a:buChar char="•"/>
            </a:pPr>
            <a:r>
              <a:rPr lang="en-US" sz="2000" dirty="0">
                <a:solidFill>
                  <a:srgbClr val="4D4D4D">
                    <a:alpha val="100000"/>
                  </a:srgbClr>
                </a:solidFill>
                <a:latin typeface="Arial"/>
                <a:cs typeface="Arial"/>
                <a:sym typeface="Arial"/>
              </a:rPr>
              <a:t>N ↓ FP&amp;FN↑</a:t>
            </a:r>
            <a:r>
              <a:rPr lang="en-US" sz="2000" dirty="0">
                <a:solidFill>
                  <a:srgbClr val="4D4D4D">
                    <a:alpha val="100000"/>
                  </a:srgbClr>
                </a:solidFill>
                <a:cs typeface="Arial"/>
                <a:sym typeface="Arial"/>
              </a:rPr>
              <a:t> </a:t>
            </a:r>
            <a:endParaRPr lang="en-US" sz="2000" dirty="0">
              <a:solidFill>
                <a:srgbClr val="4D4D4D">
                  <a:alpha val="100000"/>
                </a:srgbClr>
              </a:solidFill>
              <a:latin typeface="Arial"/>
              <a:cs typeface="Arial"/>
              <a:sym typeface="Arial"/>
            </a:endParaRPr>
          </a:p>
        </p:txBody>
      </p:sp>
      <p:sp>
        <p:nvSpPr>
          <p:cNvPr id="27" name="Content Placeholder 3">
            <a:extLst>
              <a:ext uri="{FF2B5EF4-FFF2-40B4-BE49-F238E27FC236}">
                <a16:creationId xmlns:a16="http://schemas.microsoft.com/office/drawing/2014/main" id="{F9F3DF2F-DDEA-16B5-A374-4CD7E3E48EDC}"/>
              </a:ext>
            </a:extLst>
          </p:cNvPr>
          <p:cNvSpPr txBox="1">
            <a:spLocks/>
          </p:cNvSpPr>
          <p:nvPr/>
        </p:nvSpPr>
        <p:spPr bwMode="gray">
          <a:xfrm>
            <a:off x="1284324" y="5303528"/>
            <a:ext cx="4285633" cy="688073"/>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pPr marL="342900" indent="-342900">
              <a:lnSpc>
                <a:spcPct val="105000"/>
              </a:lnSpc>
              <a:spcBef>
                <a:spcPts val="0"/>
              </a:spcBef>
              <a:spcAft>
                <a:spcPts val="500"/>
              </a:spcAft>
              <a:buFont typeface="Arial" panose="020B0604020202020204" pitchFamily="34" charset="0"/>
              <a:buChar char="•"/>
            </a:pPr>
            <a:r>
              <a:rPr lang="en-US" sz="2000" b="0" dirty="0">
                <a:solidFill>
                  <a:srgbClr val="4D4D4D">
                    <a:alpha val="100000"/>
                  </a:srgbClr>
                </a:solidFill>
                <a:latin typeface="+mn-lt"/>
                <a:cs typeface="Arial"/>
                <a:sym typeface="Arial"/>
              </a:rPr>
              <a:t>Same var-</a:t>
            </a:r>
            <a:r>
              <a:rPr lang="en-US" sz="2000" b="0" dirty="0" err="1">
                <a:solidFill>
                  <a:srgbClr val="4D4D4D">
                    <a:alpha val="100000"/>
                  </a:srgbClr>
                </a:solidFill>
                <a:latin typeface="+mn-lt"/>
                <a:cs typeface="Arial"/>
                <a:sym typeface="Arial"/>
              </a:rPr>
              <a:t>covar</a:t>
            </a:r>
            <a:r>
              <a:rPr lang="en-US" sz="2000" b="0" dirty="0">
                <a:solidFill>
                  <a:srgbClr val="4D4D4D">
                    <a:alpha val="100000"/>
                  </a:srgbClr>
                </a:solidFill>
                <a:latin typeface="+mn-lt"/>
                <a:cs typeface="Arial"/>
                <a:sym typeface="Arial"/>
              </a:rPr>
              <a:t>, different shape</a:t>
            </a:r>
          </a:p>
          <a:p>
            <a:pPr marL="342900" indent="-342900">
              <a:lnSpc>
                <a:spcPct val="105000"/>
              </a:lnSpc>
              <a:spcBef>
                <a:spcPts val="0"/>
              </a:spcBef>
              <a:spcAft>
                <a:spcPts val="500"/>
              </a:spcAft>
              <a:buFont typeface="Arial" panose="020B0604020202020204" pitchFamily="34" charset="0"/>
              <a:buChar char="•"/>
            </a:pPr>
            <a:r>
              <a:rPr lang="en-US" sz="2000" b="0" dirty="0">
                <a:solidFill>
                  <a:srgbClr val="4D4D4D">
                    <a:alpha val="100000"/>
                  </a:srgbClr>
                </a:solidFill>
                <a:latin typeface="+mn-lt"/>
                <a:cs typeface="Arial"/>
                <a:sym typeface="Arial"/>
              </a:rPr>
              <a:t>Covariates with high collinearity</a:t>
            </a:r>
          </a:p>
        </p:txBody>
      </p:sp>
      <p:sp>
        <p:nvSpPr>
          <p:cNvPr id="960" name="slidenum_fn"/>
          <p:cNvSpPr txBox="1"/>
          <p:nvPr/>
        </p:nvSpPr>
        <p:spPr>
          <a:xfrm>
            <a:off x="11250000" y="6560000"/>
            <a:ext cx="760000" cy="260000"/>
          </a:xfrm>
          <a:prstGeom prst="rect">
            <a:avLst/>
          </a:prstGeom>
          <a:noFill/>
        </p:spPr>
        <p:txBody>
          <a:bodyPr wrap="none" lIns="0" tIns="0" rIns="0" bIns="0" anchor="ctr"/>
          <a:lstStyle/>
          <a:p>
            <a:pPr algn="r">
              <a:buNone/>
            </a:pPr>
            <a:fld id="{DC80CD59-6577-41F7-9FDE-1CED828047F9}" type="slidenum">
              <a:rPr lang="en-US" sz="1000">
                <a:solidFill>
                  <a:srgbClr val="8A8A8A"/>
                </a:solidFill>
                <a:latin typeface="Arial"/>
              </a:rPr>
              <a:t>41</a:t>
            </a:fld>
            <a:endParaRPr lang="en-US" sz="1000">
              <a:solidFill>
                <a:srgbClr val="8A8A8A"/>
              </a:solidFill>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08B37-B927-C81C-034C-782571B8322B}"/>
              </a:ext>
            </a:extLst>
          </p:cNvPr>
          <p:cNvSpPr>
            <a:spLocks noGrp="1"/>
          </p:cNvSpPr>
          <p:nvPr>
            <p:ph type="title"/>
          </p:nvPr>
        </p:nvSpPr>
        <p:spPr/>
        <p:txBody>
          <a:bodyPr/>
          <a:lstStyle/>
          <a:p>
            <a:r>
              <a:rPr lang="en-US" dirty="0"/>
              <a:t>Power of VAE with no competing shapes</a:t>
            </a:r>
          </a:p>
        </p:txBody>
      </p:sp>
      <p:sp>
        <p:nvSpPr>
          <p:cNvPr id="4" name="Footer Placeholder 3">
            <a:extLst>
              <a:ext uri="{FF2B5EF4-FFF2-40B4-BE49-F238E27FC236}">
                <a16:creationId xmlns:a16="http://schemas.microsoft.com/office/drawing/2014/main" id="{D0D84F25-AE89-8FA6-E9A0-60F4475EAF36}"/>
              </a:ext>
            </a:extLst>
          </p:cNvPr>
          <p:cNvSpPr>
            <a:spLocks noGrp="1"/>
          </p:cNvSpPr>
          <p:nvPr>
            <p:ph type="ftr" sz="quarter" idx="11"/>
          </p:nvPr>
        </p:nvSpPr>
        <p:spPr/>
        <p:txBody>
          <a:bodyPr/>
          <a:lstStyle/>
          <a:p>
            <a:endParaRPr lang="en-US" noProof="0"/>
          </a:p>
        </p:txBody>
      </p:sp>
      <p:sp>
        <p:nvSpPr>
          <p:cNvPr id="5" name="Slide Number Placeholder 4">
            <a:extLst>
              <a:ext uri="{FF2B5EF4-FFF2-40B4-BE49-F238E27FC236}">
                <a16:creationId xmlns:a16="http://schemas.microsoft.com/office/drawing/2014/main" id="{8135C227-6F35-660E-2A3B-2100D28E3582}"/>
              </a:ext>
            </a:extLst>
          </p:cNvPr>
          <p:cNvSpPr>
            <a:spLocks noGrp="1"/>
          </p:cNvSpPr>
          <p:nvPr>
            <p:ph type="sldNum" sz="quarter" idx="12"/>
          </p:nvPr>
        </p:nvSpPr>
        <p:spPr/>
        <p:txBody>
          <a:bodyPr/>
          <a:lstStyle/>
          <a:p>
            <a:fld id="{1EDD9F3E-8BFD-4E3C-98D1-767322780FDD}" type="slidenum">
              <a:rPr lang="en-US" noProof="0" smtClean="0"/>
              <a:t>42</a:t>
            </a:fld>
            <a:endParaRPr lang="en-US" noProof="0"/>
          </a:p>
        </p:txBody>
      </p:sp>
      <p:pic>
        <p:nvPicPr>
          <p:cNvPr id="6" name="Picture 5">
            <a:extLst>
              <a:ext uri="{FF2B5EF4-FFF2-40B4-BE49-F238E27FC236}">
                <a16:creationId xmlns:a16="http://schemas.microsoft.com/office/drawing/2014/main" id="{BEED72E5-9C8C-D8BD-276E-9D3A9D0E7D2E}"/>
              </a:ext>
            </a:extLst>
          </p:cNvPr>
          <p:cNvPicPr>
            <a:picLocks noChangeAspect="1"/>
          </p:cNvPicPr>
          <p:nvPr/>
        </p:nvPicPr>
        <p:blipFill>
          <a:blip r:embed="rId2"/>
          <a:stretch>
            <a:fillRect/>
          </a:stretch>
        </p:blipFill>
        <p:spPr>
          <a:xfrm>
            <a:off x="2173210" y="1173051"/>
            <a:ext cx="7387886" cy="4979703"/>
          </a:xfrm>
          <a:prstGeom prst="rect">
            <a:avLst/>
          </a:prstGeom>
        </p:spPr>
      </p:pic>
    </p:spTree>
    <p:extLst>
      <p:ext uri="{BB962C8B-B14F-4D97-AF65-F5344CB8AC3E}">
        <p14:creationId xmlns:p14="http://schemas.microsoft.com/office/powerpoint/2010/main" val="37737672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69442-1B9E-1243-B9D5-4BD7F2EC7388}"/>
              </a:ext>
            </a:extLst>
          </p:cNvPr>
          <p:cNvSpPr>
            <a:spLocks noGrp="1"/>
          </p:cNvSpPr>
          <p:nvPr>
            <p:ph type="title"/>
          </p:nvPr>
        </p:nvSpPr>
        <p:spPr/>
        <p:txBody>
          <a:bodyPr/>
          <a:lstStyle/>
          <a:p>
            <a:r>
              <a:rPr lang="en-US" dirty="0">
                <a:solidFill>
                  <a:srgbClr val="0460A9"/>
                </a:solidFill>
              </a:rPr>
              <a:t>Power shape only</a:t>
            </a:r>
          </a:p>
        </p:txBody>
      </p:sp>
      <p:sp>
        <p:nvSpPr>
          <p:cNvPr id="4" name="Footer Placeholder 3">
            <a:extLst>
              <a:ext uri="{FF2B5EF4-FFF2-40B4-BE49-F238E27FC236}">
                <a16:creationId xmlns:a16="http://schemas.microsoft.com/office/drawing/2014/main" id="{9E3E5F8F-D854-6122-76B8-491DAA6088B8}"/>
              </a:ext>
            </a:extLst>
          </p:cNvPr>
          <p:cNvSpPr>
            <a:spLocks noGrp="1"/>
          </p:cNvSpPr>
          <p:nvPr>
            <p:ph type="ftr" sz="quarter" idx="11"/>
          </p:nvPr>
        </p:nvSpPr>
        <p:spPr/>
        <p:txBody>
          <a:bodyPr/>
          <a:lstStyle/>
          <a:p>
            <a:endParaRPr lang="en-US" noProof="0"/>
          </a:p>
        </p:txBody>
      </p:sp>
      <p:sp>
        <p:nvSpPr>
          <p:cNvPr id="5" name="Slide Number Placeholder 4">
            <a:extLst>
              <a:ext uri="{FF2B5EF4-FFF2-40B4-BE49-F238E27FC236}">
                <a16:creationId xmlns:a16="http://schemas.microsoft.com/office/drawing/2014/main" id="{A2ABE22A-C6A8-75D0-65D8-84D61769CA6A}"/>
              </a:ext>
            </a:extLst>
          </p:cNvPr>
          <p:cNvSpPr>
            <a:spLocks noGrp="1"/>
          </p:cNvSpPr>
          <p:nvPr>
            <p:ph type="sldNum" sz="quarter" idx="12"/>
          </p:nvPr>
        </p:nvSpPr>
        <p:spPr/>
        <p:txBody>
          <a:bodyPr/>
          <a:lstStyle/>
          <a:p>
            <a:fld id="{1EDD9F3E-8BFD-4E3C-98D1-767322780FDD}" type="slidenum">
              <a:rPr lang="en-US" noProof="0" smtClean="0"/>
              <a:t>43</a:t>
            </a:fld>
            <a:endParaRPr lang="en-US" noProof="0"/>
          </a:p>
        </p:txBody>
      </p:sp>
      <p:pic>
        <p:nvPicPr>
          <p:cNvPr id="7" name="Picture 6">
            <a:extLst>
              <a:ext uri="{FF2B5EF4-FFF2-40B4-BE49-F238E27FC236}">
                <a16:creationId xmlns:a16="http://schemas.microsoft.com/office/drawing/2014/main" id="{5C3F11AA-CDB0-C016-A4CD-BE64AA37EB45}"/>
              </a:ext>
            </a:extLst>
          </p:cNvPr>
          <p:cNvPicPr>
            <a:picLocks noChangeAspect="1"/>
          </p:cNvPicPr>
          <p:nvPr/>
        </p:nvPicPr>
        <p:blipFill>
          <a:blip r:embed="rId2"/>
          <a:stretch>
            <a:fillRect/>
          </a:stretch>
        </p:blipFill>
        <p:spPr>
          <a:xfrm>
            <a:off x="666562" y="1013984"/>
            <a:ext cx="10972822" cy="5029210"/>
          </a:xfrm>
          <a:prstGeom prst="rect">
            <a:avLst/>
          </a:prstGeom>
        </p:spPr>
      </p:pic>
    </p:spTree>
    <p:extLst>
      <p:ext uri="{BB962C8B-B14F-4D97-AF65-F5344CB8AC3E}">
        <p14:creationId xmlns:p14="http://schemas.microsoft.com/office/powerpoint/2010/main" val="4519334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57BCDAA-0FCB-5F60-61AE-A5EEA05F5DD7}"/>
              </a:ext>
            </a:extLst>
          </p:cNvPr>
          <p:cNvSpPr>
            <a:spLocks noGrp="1"/>
          </p:cNvSpPr>
          <p:nvPr>
            <p:ph type="ftr" sz="quarter" idx="11"/>
          </p:nvPr>
        </p:nvSpPr>
        <p:spPr/>
        <p:txBody>
          <a:bodyPr/>
          <a:lstStyle/>
          <a:p>
            <a:endParaRPr lang="en-US" noProof="0"/>
          </a:p>
        </p:txBody>
      </p:sp>
      <p:sp>
        <p:nvSpPr>
          <p:cNvPr id="5" name="Slide Number Placeholder 4">
            <a:extLst>
              <a:ext uri="{FF2B5EF4-FFF2-40B4-BE49-F238E27FC236}">
                <a16:creationId xmlns:a16="http://schemas.microsoft.com/office/drawing/2014/main" id="{2392DA1A-DA54-890E-FB1B-C676F2B87DEF}"/>
              </a:ext>
            </a:extLst>
          </p:cNvPr>
          <p:cNvSpPr>
            <a:spLocks noGrp="1"/>
          </p:cNvSpPr>
          <p:nvPr>
            <p:ph type="sldNum" sz="quarter" idx="12"/>
          </p:nvPr>
        </p:nvSpPr>
        <p:spPr/>
        <p:txBody>
          <a:bodyPr/>
          <a:lstStyle/>
          <a:p>
            <a:fld id="{1EDD9F3E-8BFD-4E3C-98D1-767322780FDD}" type="slidenum">
              <a:rPr lang="en-US" noProof="0" smtClean="0"/>
              <a:t>44</a:t>
            </a:fld>
            <a:endParaRPr lang="en-US" noProof="0"/>
          </a:p>
        </p:txBody>
      </p:sp>
      <p:sp>
        <p:nvSpPr>
          <p:cNvPr id="7" name="Title 1">
            <a:extLst>
              <a:ext uri="{FF2B5EF4-FFF2-40B4-BE49-F238E27FC236}">
                <a16:creationId xmlns:a16="http://schemas.microsoft.com/office/drawing/2014/main" id="{78111580-BFF9-18D3-09F5-99D6F554A32B}"/>
              </a:ext>
            </a:extLst>
          </p:cNvPr>
          <p:cNvSpPr txBox="1">
            <a:spLocks/>
          </p:cNvSpPr>
          <p:nvPr/>
        </p:nvSpPr>
        <p:spPr bwMode="gray">
          <a:xfrm>
            <a:off x="264584" y="285866"/>
            <a:ext cx="11088000" cy="387798"/>
          </a:xfrm>
          <a:prstGeom prst="rect">
            <a:avLst/>
          </a:prstGeom>
        </p:spPr>
        <p:txBody>
          <a:bodyPr vert="horz"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r>
              <a:rPr lang="en-US" sz="2800" dirty="0">
                <a:solidFill>
                  <a:srgbClr val="0460A9"/>
                </a:solidFill>
                <a:cs typeface="Arial"/>
              </a:rPr>
              <a:t>Power shape only</a:t>
            </a:r>
          </a:p>
        </p:txBody>
      </p:sp>
      <p:pic>
        <p:nvPicPr>
          <p:cNvPr id="9" name="Picture 8">
            <a:extLst>
              <a:ext uri="{FF2B5EF4-FFF2-40B4-BE49-F238E27FC236}">
                <a16:creationId xmlns:a16="http://schemas.microsoft.com/office/drawing/2014/main" id="{F2103C51-BEDA-3AA6-CB09-A45CE13E1EC1}"/>
              </a:ext>
            </a:extLst>
          </p:cNvPr>
          <p:cNvPicPr>
            <a:picLocks noChangeAspect="1"/>
          </p:cNvPicPr>
          <p:nvPr/>
        </p:nvPicPr>
        <p:blipFill>
          <a:blip r:embed="rId2"/>
          <a:stretch>
            <a:fillRect/>
          </a:stretch>
        </p:blipFill>
        <p:spPr>
          <a:xfrm>
            <a:off x="321898" y="1165256"/>
            <a:ext cx="11318718" cy="4527487"/>
          </a:xfrm>
          <a:prstGeom prst="rect">
            <a:avLst/>
          </a:prstGeom>
        </p:spPr>
      </p:pic>
    </p:spTree>
    <p:extLst>
      <p:ext uri="{BB962C8B-B14F-4D97-AF65-F5344CB8AC3E}">
        <p14:creationId xmlns:p14="http://schemas.microsoft.com/office/powerpoint/2010/main" val="31335436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6E7468-5532-48B9-5786-858974F971BD}"/>
              </a:ext>
            </a:extLst>
          </p:cNvPr>
          <p:cNvSpPr>
            <a:spLocks noGrp="1"/>
          </p:cNvSpPr>
          <p:nvPr>
            <p:ph type="ftr" sz="quarter" idx="11"/>
          </p:nvPr>
        </p:nvSpPr>
        <p:spPr/>
        <p:txBody>
          <a:bodyPr/>
          <a:lstStyle/>
          <a:p>
            <a:endParaRPr lang="en-US" noProof="0"/>
          </a:p>
        </p:txBody>
      </p:sp>
      <p:sp>
        <p:nvSpPr>
          <p:cNvPr id="5" name="Slide Number Placeholder 4">
            <a:extLst>
              <a:ext uri="{FF2B5EF4-FFF2-40B4-BE49-F238E27FC236}">
                <a16:creationId xmlns:a16="http://schemas.microsoft.com/office/drawing/2014/main" id="{6A25F89F-2C66-B2A3-3E7C-6992EB5E6281}"/>
              </a:ext>
            </a:extLst>
          </p:cNvPr>
          <p:cNvSpPr>
            <a:spLocks noGrp="1"/>
          </p:cNvSpPr>
          <p:nvPr>
            <p:ph type="sldNum" sz="quarter" idx="12"/>
          </p:nvPr>
        </p:nvSpPr>
        <p:spPr/>
        <p:txBody>
          <a:bodyPr/>
          <a:lstStyle/>
          <a:p>
            <a:fld id="{1EDD9F3E-8BFD-4E3C-98D1-767322780FDD}" type="slidenum">
              <a:rPr lang="en-US" noProof="0" smtClean="0"/>
              <a:t>45</a:t>
            </a:fld>
            <a:endParaRPr lang="en-US" noProof="0"/>
          </a:p>
        </p:txBody>
      </p:sp>
      <p:pic>
        <p:nvPicPr>
          <p:cNvPr id="7" name="Picture 6">
            <a:extLst>
              <a:ext uri="{FF2B5EF4-FFF2-40B4-BE49-F238E27FC236}">
                <a16:creationId xmlns:a16="http://schemas.microsoft.com/office/drawing/2014/main" id="{403A4D14-F44C-4A46-ED5F-D814CED36F8E}"/>
              </a:ext>
            </a:extLst>
          </p:cNvPr>
          <p:cNvPicPr>
            <a:picLocks noChangeAspect="1"/>
          </p:cNvPicPr>
          <p:nvPr/>
        </p:nvPicPr>
        <p:blipFill>
          <a:blip r:embed="rId2"/>
          <a:srcRect t="21263" b="21587"/>
          <a:stretch>
            <a:fillRect/>
          </a:stretch>
        </p:blipFill>
        <p:spPr>
          <a:xfrm>
            <a:off x="731780" y="1040788"/>
            <a:ext cx="7955020" cy="4773591"/>
          </a:xfrm>
          <a:prstGeom prst="rect">
            <a:avLst/>
          </a:prstGeom>
        </p:spPr>
      </p:pic>
      <p:sp>
        <p:nvSpPr>
          <p:cNvPr id="8" name="Content Placeholder 1">
            <a:extLst>
              <a:ext uri="{FF2B5EF4-FFF2-40B4-BE49-F238E27FC236}">
                <a16:creationId xmlns:a16="http://schemas.microsoft.com/office/drawing/2014/main" id="{72FD8A15-F983-3364-62D9-F44EAFF47120}"/>
              </a:ext>
            </a:extLst>
          </p:cNvPr>
          <p:cNvSpPr txBox="1">
            <a:spLocks/>
          </p:cNvSpPr>
          <p:nvPr/>
        </p:nvSpPr>
        <p:spPr bwMode="gray">
          <a:xfrm>
            <a:off x="232323" y="285866"/>
            <a:ext cx="11726121" cy="377686"/>
          </a:xfrm>
          <a:prstGeom prst="rect">
            <a:avLst/>
          </a:prstGeom>
        </p:spPr>
        <p:txBody>
          <a:bodyPr vert="horz"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r>
              <a:rPr lang="en-US" sz="2600" dirty="0">
                <a:solidFill>
                  <a:srgbClr val="0460A9"/>
                </a:solidFill>
                <a:latin typeface="Arial"/>
                <a:cs typeface="Arial"/>
              </a:rPr>
              <a:t>False selection concentrates on competing shapes &amp; collinear distractor</a:t>
            </a:r>
          </a:p>
        </p:txBody>
      </p:sp>
      <p:grpSp>
        <p:nvGrpSpPr>
          <p:cNvPr id="9" name="Group 8">
            <a:extLst>
              <a:ext uri="{FF2B5EF4-FFF2-40B4-BE49-F238E27FC236}">
                <a16:creationId xmlns:a16="http://schemas.microsoft.com/office/drawing/2014/main" id="{CB5E1648-C4C2-359C-4AC0-5541736C4DBA}"/>
              </a:ext>
            </a:extLst>
          </p:cNvPr>
          <p:cNvGrpSpPr/>
          <p:nvPr/>
        </p:nvGrpSpPr>
        <p:grpSpPr>
          <a:xfrm>
            <a:off x="8799305" y="2439737"/>
            <a:ext cx="2841311" cy="1733331"/>
            <a:chOff x="8664890" y="2688925"/>
            <a:chExt cx="2841311" cy="1733331"/>
          </a:xfrm>
        </p:grpSpPr>
        <mc:AlternateContent xmlns:mc="http://schemas.openxmlformats.org/markup-compatibility/2006" xmlns:a14="http://schemas.microsoft.com/office/drawing/2010/main">
          <mc:Choice Requires="a14">
            <p:sp>
              <p:nvSpPr>
                <p:cNvPr id="10" name="Content Placeholder 3">
                  <a:extLst>
                    <a:ext uri="{FF2B5EF4-FFF2-40B4-BE49-F238E27FC236}">
                      <a16:creationId xmlns:a16="http://schemas.microsoft.com/office/drawing/2014/main" id="{2AFCE8F3-B1A7-FC54-C88B-4893264913E7}"/>
                    </a:ext>
                  </a:extLst>
                </p:cNvPr>
                <p:cNvSpPr txBox="1">
                  <a:spLocks/>
                </p:cNvSpPr>
                <p:nvPr/>
              </p:nvSpPr>
              <p:spPr bwMode="gray">
                <a:xfrm>
                  <a:off x="8751976" y="2688925"/>
                  <a:ext cx="2296999" cy="30078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pPr marL="285750" indent="-285750">
                    <a:lnSpc>
                      <a:spcPct val="105000"/>
                    </a:lnSpc>
                    <a:spcBef>
                      <a:spcPts val="0"/>
                    </a:spcBef>
                    <a:spcAft>
                      <a:spcPts val="500"/>
                    </a:spcAft>
                    <a:buFont typeface="Arial" panose="020B0604020202020204" pitchFamily="34" charset="0"/>
                    <a:buChar char="•"/>
                  </a:pPr>
                  <a:r>
                    <a:rPr lang="en-US" sz="2000" b="0" dirty="0">
                      <a:solidFill>
                        <a:srgbClr val="4D4D4D">
                          <a:alpha val="100000"/>
                        </a:srgbClr>
                      </a:solidFill>
                      <a:latin typeface="+mn-lt"/>
                      <a:cs typeface="Arial"/>
                      <a:sym typeface="Arial"/>
                    </a:rPr>
                    <a:t>Lincmt </a:t>
                  </a:r>
                  <a14:m>
                    <m:oMath xmlns:m="http://schemas.openxmlformats.org/officeDocument/2006/math">
                      <m:r>
                        <a:rPr lang="en-US" sz="2000" b="0" i="1" smtClean="0">
                          <a:solidFill>
                            <a:srgbClr val="4D4D4D">
                              <a:alpha val="100000"/>
                            </a:srgbClr>
                          </a:solidFill>
                          <a:latin typeface="Cambria Math" panose="02040503050406030204" pitchFamily="18" charset="0"/>
                          <a:ea typeface="Cambria Math" panose="02040503050406030204" pitchFamily="18" charset="0"/>
                          <a:cs typeface="Arial"/>
                          <a:sym typeface="Arial"/>
                        </a:rPr>
                        <m:t>≈</m:t>
                      </m:r>
                      <m:r>
                        <a:rPr lang="en-US" sz="2000" b="0" i="0" smtClean="0">
                          <a:solidFill>
                            <a:srgbClr val="4D4D4D">
                              <a:alpha val="100000"/>
                            </a:srgbClr>
                          </a:solidFill>
                          <a:latin typeface="Cambria Math" panose="02040503050406030204" pitchFamily="18" charset="0"/>
                          <a:ea typeface="Cambria Math" panose="02040503050406030204" pitchFamily="18" charset="0"/>
                          <a:cs typeface="Arial"/>
                          <a:sym typeface="Arial"/>
                        </a:rPr>
                        <m:t> </m:t>
                      </m:r>
                    </m:oMath>
                  </a14:m>
                  <a:r>
                    <a:rPr lang="en-US" sz="2000" b="0" dirty="0">
                      <a:solidFill>
                        <a:srgbClr val="4D4D4D">
                          <a:alpha val="100000"/>
                        </a:srgbClr>
                      </a:solidFill>
                      <a:latin typeface="+mn-lt"/>
                      <a:cs typeface="Arial"/>
                      <a:sym typeface="Arial"/>
                    </a:rPr>
                    <a:t>ODE</a:t>
                  </a:r>
                </a:p>
              </p:txBody>
            </p:sp>
          </mc:Choice>
          <mc:Fallback xmlns="">
            <p:sp>
              <p:nvSpPr>
                <p:cNvPr id="20" name="Content Placeholder 3">
                  <a:extLst>
                    <a:ext uri="{FF2B5EF4-FFF2-40B4-BE49-F238E27FC236}">
                      <a16:creationId xmlns:a16="http://schemas.microsoft.com/office/drawing/2014/main" id="{F866EF30-22F7-D51C-F193-B523B992C4EE}"/>
                    </a:ext>
                  </a:extLst>
                </p:cNvPr>
                <p:cNvSpPr txBox="1">
                  <a:spLocks noRot="1" noChangeAspect="1" noMove="1" noResize="1" noEditPoints="1" noAdjustHandles="1" noChangeArrowheads="1" noChangeShapeType="1" noTextEdit="1"/>
                </p:cNvSpPr>
                <p:nvPr/>
              </p:nvSpPr>
              <p:spPr bwMode="gray">
                <a:xfrm>
                  <a:off x="8751976" y="2688925"/>
                  <a:ext cx="2296999" cy="300788"/>
                </a:xfrm>
                <a:prstGeom prst="rect">
                  <a:avLst/>
                </a:prstGeom>
                <a:blipFill>
                  <a:blip r:embed="rId3"/>
                  <a:stretch>
                    <a:fillRect l="-6366" t="-28571" b="-51020"/>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75D4EB26-B9A8-E8D9-1EB1-A5D5AC0DF9EC}"/>
                </a:ext>
              </a:extLst>
            </p:cNvPr>
            <p:cNvSpPr txBox="1"/>
            <p:nvPr/>
          </p:nvSpPr>
          <p:spPr>
            <a:xfrm>
              <a:off x="8664890" y="3035879"/>
              <a:ext cx="2282993" cy="393121"/>
            </a:xfrm>
            <a:prstGeom prst="rect">
              <a:avLst/>
            </a:prstGeom>
            <a:noFill/>
          </p:spPr>
          <p:txBody>
            <a:bodyPr wrap="square">
              <a:spAutoFit/>
            </a:bodyPr>
            <a:lstStyle/>
            <a:p>
              <a:pPr marL="285750" indent="-285750">
                <a:lnSpc>
                  <a:spcPct val="105000"/>
                </a:lnSpc>
                <a:spcBef>
                  <a:spcPts val="0"/>
                </a:spcBef>
                <a:spcAft>
                  <a:spcPts val="500"/>
                </a:spcAft>
                <a:buFont typeface="Arial" panose="020B0604020202020204" pitchFamily="34" charset="0"/>
                <a:buChar char="•"/>
              </a:pPr>
              <a:r>
                <a:rPr lang="en-US" sz="2000" dirty="0">
                  <a:solidFill>
                    <a:srgbClr val="4D4D4D">
                      <a:alpha val="100000"/>
                    </a:srgbClr>
                  </a:solidFill>
                  <a:latin typeface="Arial"/>
                  <a:cs typeface="Arial"/>
                  <a:sym typeface="Arial"/>
                </a:rPr>
                <a:t>N ↓ FP&amp;FN↑</a:t>
              </a:r>
              <a:r>
                <a:rPr lang="en-US" sz="2000" dirty="0">
                  <a:solidFill>
                    <a:srgbClr val="4D4D4D">
                      <a:alpha val="100000"/>
                    </a:srgbClr>
                  </a:solidFill>
                  <a:cs typeface="Arial"/>
                  <a:sym typeface="Arial"/>
                </a:rPr>
                <a:t> </a:t>
              </a:r>
              <a:endParaRPr lang="en-US" sz="2000" dirty="0">
                <a:solidFill>
                  <a:srgbClr val="4D4D4D">
                    <a:alpha val="100000"/>
                  </a:srgbClr>
                </a:solidFill>
                <a:latin typeface="Arial"/>
                <a:cs typeface="Arial"/>
                <a:sym typeface="Arial"/>
              </a:endParaRPr>
            </a:p>
          </p:txBody>
        </p:sp>
        <p:sp>
          <p:nvSpPr>
            <p:cNvPr id="12" name="Content Placeholder 3">
              <a:extLst>
                <a:ext uri="{FF2B5EF4-FFF2-40B4-BE49-F238E27FC236}">
                  <a16:creationId xmlns:a16="http://schemas.microsoft.com/office/drawing/2014/main" id="{3BBD99FF-6DE8-46FD-3449-D14FCF0B7E5D}"/>
                </a:ext>
              </a:extLst>
            </p:cNvPr>
            <p:cNvSpPr txBox="1">
              <a:spLocks/>
            </p:cNvSpPr>
            <p:nvPr/>
          </p:nvSpPr>
          <p:spPr bwMode="gray">
            <a:xfrm>
              <a:off x="8751976" y="3734183"/>
              <a:ext cx="2754225" cy="688073"/>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pPr marL="342900" indent="-342900">
                <a:lnSpc>
                  <a:spcPct val="105000"/>
                </a:lnSpc>
                <a:spcBef>
                  <a:spcPts val="0"/>
                </a:spcBef>
                <a:spcAft>
                  <a:spcPts val="500"/>
                </a:spcAft>
                <a:buFont typeface="Arial" panose="020B0604020202020204" pitchFamily="34" charset="0"/>
                <a:buChar char="•"/>
              </a:pPr>
              <a:r>
                <a:rPr lang="en-US" sz="2000" b="0" dirty="0">
                  <a:solidFill>
                    <a:srgbClr val="4D4D4D">
                      <a:alpha val="100000"/>
                    </a:srgbClr>
                  </a:solidFill>
                  <a:latin typeface="+mn-lt"/>
                  <a:cs typeface="Arial"/>
                  <a:sym typeface="Arial"/>
                </a:rPr>
                <a:t>Competing shape</a:t>
              </a:r>
            </a:p>
            <a:p>
              <a:pPr marL="342900" indent="-342900">
                <a:lnSpc>
                  <a:spcPct val="105000"/>
                </a:lnSpc>
                <a:spcBef>
                  <a:spcPts val="0"/>
                </a:spcBef>
                <a:spcAft>
                  <a:spcPts val="500"/>
                </a:spcAft>
                <a:buFont typeface="Arial" panose="020B0604020202020204" pitchFamily="34" charset="0"/>
                <a:buChar char="•"/>
              </a:pPr>
              <a:r>
                <a:rPr lang="en-US" sz="2000" b="0" dirty="0">
                  <a:solidFill>
                    <a:srgbClr val="4D4D4D">
                      <a:alpha val="100000"/>
                    </a:srgbClr>
                  </a:solidFill>
                  <a:latin typeface="+mn-lt"/>
                  <a:cs typeface="Arial"/>
                  <a:sym typeface="Arial"/>
                </a:rPr>
                <a:t>Colinear covariate</a:t>
              </a:r>
            </a:p>
          </p:txBody>
        </p:sp>
      </p:grpSp>
    </p:spTree>
    <p:extLst>
      <p:ext uri="{BB962C8B-B14F-4D97-AF65-F5344CB8AC3E}">
        <p14:creationId xmlns:p14="http://schemas.microsoft.com/office/powerpoint/2010/main" val="36667953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23B22-8964-BA6C-100E-374AC661B48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101FB6D-5F1A-5302-4101-3F755E73C7E8}"/>
                  </a:ext>
                </a:extLst>
              </p:cNvPr>
              <p:cNvSpPr>
                <a:spLocks noGrp="1"/>
              </p:cNvSpPr>
              <p:nvPr>
                <p:ph type="title"/>
              </p:nvPr>
            </p:nvSpPr>
            <p:spPr>
              <a:xfrm>
                <a:off x="264584" y="285866"/>
                <a:ext cx="11088000" cy="387798"/>
              </a:xfrm>
            </p:spPr>
            <p:txBody>
              <a:bodyPr/>
              <a:lstStyle/>
              <a:p>
                <a:r>
                  <a:rPr lang="en-US" sz="2800" dirty="0">
                    <a:solidFill>
                      <a:srgbClr val="0460A9"/>
                    </a:solidFill>
                    <a:cs typeface="Arial"/>
                  </a:rPr>
                  <a:t>FP &amp; FN rate Nlmixr2-SCM </a:t>
                </a:r>
                <a14:m>
                  <m:oMath xmlns:m="http://schemas.openxmlformats.org/officeDocument/2006/math">
                    <m:r>
                      <a:rPr lang="en-US" sz="2800">
                        <a:solidFill>
                          <a:srgbClr val="0460A9"/>
                        </a:solidFill>
                        <a:latin typeface="Cambria Math" panose="02040503050406030204" pitchFamily="18" charset="0"/>
                        <a:cs typeface="Arial"/>
                        <a:sym typeface="Arial"/>
                      </a:rPr>
                      <m:t>≈</m:t>
                    </m:r>
                  </m:oMath>
                </a14:m>
                <a:r>
                  <a:rPr lang="en-US" sz="2800" dirty="0">
                    <a:solidFill>
                      <a:srgbClr val="0460A9"/>
                    </a:solidFill>
                    <a:cs typeface="Arial"/>
                  </a:rPr>
                  <a:t> </a:t>
                </a:r>
                <a:r>
                  <a:rPr lang="en-US" sz="2800" b="1" dirty="0">
                    <a:solidFill>
                      <a:srgbClr val="0460A9"/>
                    </a:solidFill>
                    <a:latin typeface="Arial"/>
                    <a:cs typeface="Arial"/>
                  </a:rPr>
                  <a:t>NONMEM-SCM &lt; nlmixr2VAE</a:t>
                </a:r>
              </a:p>
            </p:txBody>
          </p:sp>
        </mc:Choice>
        <mc:Fallback xmlns="">
          <p:sp>
            <p:nvSpPr>
              <p:cNvPr id="2" name="Title 1">
                <a:extLst>
                  <a:ext uri="{FF2B5EF4-FFF2-40B4-BE49-F238E27FC236}">
                    <a16:creationId xmlns:a16="http://schemas.microsoft.com/office/drawing/2014/main" id="{3101FB6D-5F1A-5302-4101-3F755E73C7E8}"/>
                  </a:ext>
                </a:extLst>
              </p:cNvPr>
              <p:cNvSpPr>
                <a:spLocks noGrp="1" noRot="1" noChangeAspect="1" noMove="1" noResize="1" noEditPoints="1" noAdjustHandles="1" noChangeArrowheads="1" noChangeShapeType="1" noTextEdit="1"/>
              </p:cNvSpPr>
              <p:nvPr>
                <p:ph type="title"/>
              </p:nvPr>
            </p:nvSpPr>
            <p:spPr>
              <a:xfrm>
                <a:off x="264584" y="285866"/>
                <a:ext cx="11088000" cy="387798"/>
              </a:xfrm>
              <a:blipFill>
                <a:blip r:embed="rId3"/>
                <a:stretch>
                  <a:fillRect l="-1924" t="-39063" b="-53125"/>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8AB28406-3A91-74E0-303F-B644F19511CF}"/>
              </a:ext>
            </a:extLst>
          </p:cNvPr>
          <p:cNvSpPr>
            <a:spLocks noGrp="1"/>
          </p:cNvSpPr>
          <p:nvPr>
            <p:ph type="sldNum" sz="quarter" idx="12"/>
          </p:nvPr>
        </p:nvSpPr>
        <p:spPr/>
        <p:txBody>
          <a:bodyPr/>
          <a:lstStyle/>
          <a:p>
            <a:fld id="{1EDD9F3E-8BFD-4E3C-98D1-767322780FDD}" type="slidenum">
              <a:rPr lang="en-US" noProof="0" smtClean="0"/>
              <a:t>46</a:t>
            </a:fld>
            <a:endParaRPr lang="en-US" noProof="0"/>
          </a:p>
        </p:txBody>
      </p:sp>
      <p:sp>
        <p:nvSpPr>
          <p:cNvPr id="6" name="Content Placeholder 3">
            <a:extLst>
              <a:ext uri="{FF2B5EF4-FFF2-40B4-BE49-F238E27FC236}">
                <a16:creationId xmlns:a16="http://schemas.microsoft.com/office/drawing/2014/main" id="{FC73011D-9669-BC6E-D6C9-8FC7AFF770CC}"/>
              </a:ext>
            </a:extLst>
          </p:cNvPr>
          <p:cNvSpPr txBox="1">
            <a:spLocks/>
          </p:cNvSpPr>
          <p:nvPr/>
        </p:nvSpPr>
        <p:spPr bwMode="gray">
          <a:xfrm>
            <a:off x="3920059" y="5868661"/>
            <a:ext cx="5480419" cy="30078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a:lstStyle>
          <a:p>
            <a:pPr>
              <a:lnSpc>
                <a:spcPct val="105000"/>
              </a:lnSpc>
              <a:spcBef>
                <a:spcPts val="0"/>
              </a:spcBef>
              <a:spcAft>
                <a:spcPts val="500"/>
              </a:spcAft>
            </a:pPr>
            <a:r>
              <a:rPr lang="en-US" sz="2000" b="0" dirty="0">
                <a:solidFill>
                  <a:srgbClr val="4D4D4D">
                    <a:alpha val="100000"/>
                  </a:srgbClr>
                </a:solidFill>
                <a:latin typeface="+mn-lt"/>
                <a:cs typeface="Arial"/>
                <a:sym typeface="Arial"/>
              </a:rPr>
              <a:t>Delta error rate: nlmixr2/VAE  - NONMEM</a:t>
            </a:r>
          </a:p>
        </p:txBody>
      </p:sp>
      <p:grpSp>
        <p:nvGrpSpPr>
          <p:cNvPr id="19" name="Group 18">
            <a:extLst>
              <a:ext uri="{FF2B5EF4-FFF2-40B4-BE49-F238E27FC236}">
                <a16:creationId xmlns:a16="http://schemas.microsoft.com/office/drawing/2014/main" id="{46D61277-239B-7207-5D22-74344649F43B}"/>
              </a:ext>
            </a:extLst>
          </p:cNvPr>
          <p:cNvGrpSpPr/>
          <p:nvPr/>
        </p:nvGrpSpPr>
        <p:grpSpPr>
          <a:xfrm>
            <a:off x="1129846" y="803699"/>
            <a:ext cx="10222738" cy="4917799"/>
            <a:chOff x="156117" y="989339"/>
            <a:chExt cx="10222738" cy="4917799"/>
          </a:xfrm>
        </p:grpSpPr>
        <p:pic>
          <p:nvPicPr>
            <p:cNvPr id="7" name="Picture 6">
              <a:extLst>
                <a:ext uri="{FF2B5EF4-FFF2-40B4-BE49-F238E27FC236}">
                  <a16:creationId xmlns:a16="http://schemas.microsoft.com/office/drawing/2014/main" id="{1FD881BA-8A73-4854-E6FA-302E39A3C23B}"/>
                </a:ext>
              </a:extLst>
            </p:cNvPr>
            <p:cNvPicPr>
              <a:picLocks noChangeAspect="1"/>
            </p:cNvPicPr>
            <p:nvPr/>
          </p:nvPicPr>
          <p:blipFill>
            <a:blip r:embed="rId4"/>
            <a:srcRect b="3295"/>
            <a:stretch>
              <a:fillRect/>
            </a:stretch>
          </p:blipFill>
          <p:spPr>
            <a:xfrm>
              <a:off x="156117" y="989339"/>
              <a:ext cx="9388354" cy="4917799"/>
            </a:xfrm>
            <a:prstGeom prst="rect">
              <a:avLst/>
            </a:prstGeom>
          </p:spPr>
        </p:pic>
        <p:grpSp>
          <p:nvGrpSpPr>
            <p:cNvPr id="18" name="Group 17">
              <a:extLst>
                <a:ext uri="{FF2B5EF4-FFF2-40B4-BE49-F238E27FC236}">
                  <a16:creationId xmlns:a16="http://schemas.microsoft.com/office/drawing/2014/main" id="{ADBCCE71-5828-2FBB-D510-A80649196AF7}"/>
                </a:ext>
              </a:extLst>
            </p:cNvPr>
            <p:cNvGrpSpPr/>
            <p:nvPr/>
          </p:nvGrpSpPr>
          <p:grpSpPr>
            <a:xfrm>
              <a:off x="9544471" y="2809256"/>
              <a:ext cx="834384" cy="1400289"/>
              <a:chOff x="9544471" y="2809256"/>
              <a:chExt cx="834384" cy="1400289"/>
            </a:xfrm>
          </p:grpSpPr>
          <p:grpSp>
            <p:nvGrpSpPr>
              <p:cNvPr id="10" name="Group 9">
                <a:extLst>
                  <a:ext uri="{FF2B5EF4-FFF2-40B4-BE49-F238E27FC236}">
                    <a16:creationId xmlns:a16="http://schemas.microsoft.com/office/drawing/2014/main" id="{264EF100-3546-7D54-2EA2-5005B47A58A0}"/>
                  </a:ext>
                </a:extLst>
              </p:cNvPr>
              <p:cNvGrpSpPr/>
              <p:nvPr/>
            </p:nvGrpSpPr>
            <p:grpSpPr>
              <a:xfrm>
                <a:off x="9544471" y="3714247"/>
                <a:ext cx="834384" cy="276999"/>
                <a:chOff x="9962985" y="3352123"/>
                <a:chExt cx="834384" cy="276999"/>
              </a:xfrm>
            </p:grpSpPr>
            <p:cxnSp>
              <p:nvCxnSpPr>
                <p:cNvPr id="4" name="Straight Arrow Connector 3">
                  <a:extLst>
                    <a:ext uri="{FF2B5EF4-FFF2-40B4-BE49-F238E27FC236}">
                      <a16:creationId xmlns:a16="http://schemas.microsoft.com/office/drawing/2014/main" id="{555E0B92-A628-6EC6-34A1-EA45D4A8E8F4}"/>
                    </a:ext>
                  </a:extLst>
                </p:cNvPr>
                <p:cNvCxnSpPr>
                  <a:cxnSpLocks/>
                </p:cNvCxnSpPr>
                <p:nvPr/>
              </p:nvCxnSpPr>
              <p:spPr>
                <a:xfrm flipH="1">
                  <a:off x="9962985" y="3490623"/>
                  <a:ext cx="269841" cy="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898F3C5A-0E44-0BBF-DA47-5DD04A6E8B54}"/>
                    </a:ext>
                  </a:extLst>
                </p:cNvPr>
                <p:cNvSpPr txBox="1"/>
                <p:nvPr/>
              </p:nvSpPr>
              <p:spPr>
                <a:xfrm>
                  <a:off x="10232826" y="3352123"/>
                  <a:ext cx="564543" cy="276999"/>
                </a:xfrm>
                <a:prstGeom prst="rect">
                  <a:avLst/>
                </a:prstGeom>
                <a:noFill/>
              </p:spPr>
              <p:txBody>
                <a:bodyPr wrap="square" lIns="0" tIns="0" rIns="0" bIns="0" rtlCol="0">
                  <a:spAutoFit/>
                </a:bodyPr>
                <a:lstStyle/>
                <a:p>
                  <a:pPr marL="180000" indent="-180000" algn="l">
                    <a:spcBef>
                      <a:spcPts val="800"/>
                    </a:spcBef>
                    <a:buFont typeface="Arial" panose="020B0604020202020204" pitchFamily="34" charset="0"/>
                    <a:buChar char="•"/>
                  </a:pPr>
                  <a:r>
                    <a:rPr lang="en-US" dirty="0"/>
                    <a:t>FN</a:t>
                  </a:r>
                </a:p>
              </p:txBody>
            </p:sp>
          </p:grpSp>
          <p:grpSp>
            <p:nvGrpSpPr>
              <p:cNvPr id="11" name="Group 10">
                <a:extLst>
                  <a:ext uri="{FF2B5EF4-FFF2-40B4-BE49-F238E27FC236}">
                    <a16:creationId xmlns:a16="http://schemas.microsoft.com/office/drawing/2014/main" id="{53B40AF1-A0A6-4827-75D1-A127B3E3194E}"/>
                  </a:ext>
                </a:extLst>
              </p:cNvPr>
              <p:cNvGrpSpPr/>
              <p:nvPr/>
            </p:nvGrpSpPr>
            <p:grpSpPr>
              <a:xfrm>
                <a:off x="9544471" y="3932546"/>
                <a:ext cx="834384" cy="276999"/>
                <a:chOff x="9962985" y="3352123"/>
                <a:chExt cx="834384" cy="276999"/>
              </a:xfrm>
            </p:grpSpPr>
            <p:cxnSp>
              <p:nvCxnSpPr>
                <p:cNvPr id="12" name="Straight Arrow Connector 11">
                  <a:extLst>
                    <a:ext uri="{FF2B5EF4-FFF2-40B4-BE49-F238E27FC236}">
                      <a16:creationId xmlns:a16="http://schemas.microsoft.com/office/drawing/2014/main" id="{A12F9DE1-95FE-AFD6-7356-0C13372C7046}"/>
                    </a:ext>
                  </a:extLst>
                </p:cNvPr>
                <p:cNvCxnSpPr>
                  <a:cxnSpLocks/>
                </p:cNvCxnSpPr>
                <p:nvPr/>
              </p:nvCxnSpPr>
              <p:spPr>
                <a:xfrm flipH="1">
                  <a:off x="9962985" y="3490623"/>
                  <a:ext cx="269841" cy="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A7839B6-2DCE-61AB-D63E-C9A5816CE607}"/>
                    </a:ext>
                  </a:extLst>
                </p:cNvPr>
                <p:cNvSpPr txBox="1"/>
                <p:nvPr/>
              </p:nvSpPr>
              <p:spPr>
                <a:xfrm>
                  <a:off x="10232826" y="3352123"/>
                  <a:ext cx="564543" cy="276999"/>
                </a:xfrm>
                <a:prstGeom prst="rect">
                  <a:avLst/>
                </a:prstGeom>
                <a:noFill/>
              </p:spPr>
              <p:txBody>
                <a:bodyPr wrap="square" lIns="0" tIns="0" rIns="0" bIns="0" rtlCol="0">
                  <a:spAutoFit/>
                </a:bodyPr>
                <a:lstStyle/>
                <a:p>
                  <a:pPr marL="180000" indent="-180000" algn="l">
                    <a:spcBef>
                      <a:spcPts val="800"/>
                    </a:spcBef>
                    <a:buFont typeface="Arial" panose="020B0604020202020204" pitchFamily="34" charset="0"/>
                    <a:buChar char="•"/>
                  </a:pPr>
                  <a:r>
                    <a:rPr lang="en-US" dirty="0"/>
                    <a:t>FP</a:t>
                  </a:r>
                </a:p>
              </p:txBody>
            </p:sp>
          </p:grpSp>
          <p:grpSp>
            <p:nvGrpSpPr>
              <p:cNvPr id="3" name="Group 2">
                <a:extLst>
                  <a:ext uri="{FF2B5EF4-FFF2-40B4-BE49-F238E27FC236}">
                    <a16:creationId xmlns:a16="http://schemas.microsoft.com/office/drawing/2014/main" id="{B8055864-72D5-0DBA-8799-48D696230192}"/>
                  </a:ext>
                </a:extLst>
              </p:cNvPr>
              <p:cNvGrpSpPr/>
              <p:nvPr/>
            </p:nvGrpSpPr>
            <p:grpSpPr>
              <a:xfrm>
                <a:off x="9544471" y="2809256"/>
                <a:ext cx="834384" cy="276999"/>
                <a:chOff x="9962985" y="3352123"/>
                <a:chExt cx="834384" cy="276999"/>
              </a:xfrm>
            </p:grpSpPr>
            <p:cxnSp>
              <p:nvCxnSpPr>
                <p:cNvPr id="9" name="Straight Arrow Connector 8">
                  <a:extLst>
                    <a:ext uri="{FF2B5EF4-FFF2-40B4-BE49-F238E27FC236}">
                      <a16:creationId xmlns:a16="http://schemas.microsoft.com/office/drawing/2014/main" id="{94CB17C3-C44A-49F8-2C06-B47400ADAB05}"/>
                    </a:ext>
                  </a:extLst>
                </p:cNvPr>
                <p:cNvCxnSpPr>
                  <a:cxnSpLocks/>
                </p:cNvCxnSpPr>
                <p:nvPr/>
              </p:nvCxnSpPr>
              <p:spPr>
                <a:xfrm flipH="1">
                  <a:off x="9962985" y="3490623"/>
                  <a:ext cx="269841" cy="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602B04C-B4A0-E8B8-3255-54B1ABC2ACDD}"/>
                    </a:ext>
                  </a:extLst>
                </p:cNvPr>
                <p:cNvSpPr txBox="1"/>
                <p:nvPr/>
              </p:nvSpPr>
              <p:spPr>
                <a:xfrm>
                  <a:off x="10232826" y="3352123"/>
                  <a:ext cx="564543" cy="276999"/>
                </a:xfrm>
                <a:prstGeom prst="rect">
                  <a:avLst/>
                </a:prstGeom>
                <a:noFill/>
              </p:spPr>
              <p:txBody>
                <a:bodyPr wrap="square" lIns="0" tIns="0" rIns="0" bIns="0" rtlCol="0">
                  <a:spAutoFit/>
                </a:bodyPr>
                <a:lstStyle/>
                <a:p>
                  <a:pPr marL="180000" indent="-180000" algn="l">
                    <a:spcBef>
                      <a:spcPts val="800"/>
                    </a:spcBef>
                    <a:buFont typeface="Arial" panose="020B0604020202020204" pitchFamily="34" charset="0"/>
                    <a:buChar char="•"/>
                  </a:pPr>
                  <a:r>
                    <a:rPr lang="en-US" dirty="0"/>
                    <a:t>FN</a:t>
                  </a:r>
                </a:p>
              </p:txBody>
            </p:sp>
          </p:grpSp>
          <p:grpSp>
            <p:nvGrpSpPr>
              <p:cNvPr id="15" name="Group 14">
                <a:extLst>
                  <a:ext uri="{FF2B5EF4-FFF2-40B4-BE49-F238E27FC236}">
                    <a16:creationId xmlns:a16="http://schemas.microsoft.com/office/drawing/2014/main" id="{8FC732CF-C08A-2FC4-CF3D-244A0366A710}"/>
                  </a:ext>
                </a:extLst>
              </p:cNvPr>
              <p:cNvGrpSpPr/>
              <p:nvPr/>
            </p:nvGrpSpPr>
            <p:grpSpPr>
              <a:xfrm>
                <a:off x="9544471" y="3027555"/>
                <a:ext cx="834384" cy="276999"/>
                <a:chOff x="9962985" y="3352123"/>
                <a:chExt cx="834384" cy="276999"/>
              </a:xfrm>
            </p:grpSpPr>
            <p:cxnSp>
              <p:nvCxnSpPr>
                <p:cNvPr id="16" name="Straight Arrow Connector 15">
                  <a:extLst>
                    <a:ext uri="{FF2B5EF4-FFF2-40B4-BE49-F238E27FC236}">
                      <a16:creationId xmlns:a16="http://schemas.microsoft.com/office/drawing/2014/main" id="{9FE2D0DC-B04E-62F9-BAFD-946272CE13E1}"/>
                    </a:ext>
                  </a:extLst>
                </p:cNvPr>
                <p:cNvCxnSpPr>
                  <a:cxnSpLocks/>
                </p:cNvCxnSpPr>
                <p:nvPr/>
              </p:nvCxnSpPr>
              <p:spPr>
                <a:xfrm flipH="1">
                  <a:off x="9962985" y="3490623"/>
                  <a:ext cx="269841" cy="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0C4D6574-2A74-F6A6-9F63-4BF865EBB16A}"/>
                    </a:ext>
                  </a:extLst>
                </p:cNvPr>
                <p:cNvSpPr txBox="1"/>
                <p:nvPr/>
              </p:nvSpPr>
              <p:spPr>
                <a:xfrm>
                  <a:off x="10232826" y="3352123"/>
                  <a:ext cx="564543" cy="276999"/>
                </a:xfrm>
                <a:prstGeom prst="rect">
                  <a:avLst/>
                </a:prstGeom>
                <a:noFill/>
              </p:spPr>
              <p:txBody>
                <a:bodyPr wrap="square" lIns="0" tIns="0" rIns="0" bIns="0" rtlCol="0">
                  <a:spAutoFit/>
                </a:bodyPr>
                <a:lstStyle/>
                <a:p>
                  <a:pPr marL="180000" indent="-180000" algn="l">
                    <a:spcBef>
                      <a:spcPts val="800"/>
                    </a:spcBef>
                    <a:buFont typeface="Arial" panose="020B0604020202020204" pitchFamily="34" charset="0"/>
                    <a:buChar char="•"/>
                  </a:pPr>
                  <a:r>
                    <a:rPr lang="en-US" dirty="0"/>
                    <a:t>FP</a:t>
                  </a:r>
                </a:p>
              </p:txBody>
            </p:sp>
          </p:grpSp>
        </p:grpSp>
      </p:grpSp>
    </p:spTree>
    <p:extLst>
      <p:ext uri="{BB962C8B-B14F-4D97-AF65-F5344CB8AC3E}">
        <p14:creationId xmlns:p14="http://schemas.microsoft.com/office/powerpoint/2010/main" val="2524575623"/>
      </p:ext>
    </p:extLst>
  </p:cSld>
  <p:clrMapOvr>
    <a:masterClrMapping/>
  </p:clrMapOvr>
</p:sld>
</file>

<file path=ppt/theme/theme1.xml><?xml version="1.0" encoding="utf-8"?>
<a:theme xmlns:a="http://schemas.openxmlformats.org/drawingml/2006/main" name="Novartis PPT Master ARIAL">
  <a:themeElements>
    <a:clrScheme name="Novartis 2025">
      <a:dk1>
        <a:srgbClr val="161616"/>
      </a:dk1>
      <a:lt1>
        <a:srgbClr val="FCFCFC"/>
      </a:lt1>
      <a:dk2>
        <a:srgbClr val="484848"/>
      </a:dk2>
      <a:lt2>
        <a:srgbClr val="F2F2F2"/>
      </a:lt2>
      <a:accent1>
        <a:srgbClr val="FF4E00"/>
      </a:accent1>
      <a:accent2>
        <a:srgbClr val="161616"/>
      </a:accent2>
      <a:accent3>
        <a:srgbClr val="484848"/>
      </a:accent3>
      <a:accent4>
        <a:srgbClr val="7A7A7A"/>
      </a:accent4>
      <a:accent5>
        <a:srgbClr val="ACACAC"/>
      </a:accent5>
      <a:accent6>
        <a:srgbClr val="DADADA"/>
      </a:accent6>
      <a:hlink>
        <a:srgbClr val="161616"/>
      </a:hlink>
      <a:folHlink>
        <a:srgbClr val="7A7A7A"/>
      </a:folHlink>
    </a:clrScheme>
    <a:fontScheme name="Novartis 2025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108000" rIns="108000" bIns="108000" rtlCol="0" anchor="t"/>
      <a:lstStyle>
        <a:defPPr marL="180000" indent="-180000" algn="l">
          <a:spcBef>
            <a:spcPts val="800"/>
          </a:spcBef>
          <a:buFont typeface="Arial" panose="020B0604020202020204" pitchFamily="34" charset="0"/>
          <a:buChar char="•"/>
          <a:defRPr dirty="0" err="1" smtClean="0"/>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marL="180000" indent="-180000" algn="l">
          <a:spcBef>
            <a:spcPts val="800"/>
          </a:spcBef>
          <a:buFont typeface="Arial" panose="020B0604020202020204" pitchFamily="34" charset="0"/>
          <a:buChar char="•"/>
          <a:defRPr dirty="0" err="1" smtClean="0"/>
        </a:defPPr>
      </a:lstStyle>
    </a:txDef>
  </a:objectDefaults>
  <a:extraClrSchemeLst/>
  <a:custClrLst>
    <a:custClr>
      <a:srgbClr val="FB692E"/>
    </a:custClr>
    <a:custClr>
      <a:srgbClr val="C9D9F9"/>
    </a:custClr>
  </a:custClrLst>
  <a:extLst>
    <a:ext uri="{05A4C25C-085E-4340-85A3-A5531E510DB2}">
      <thm15:themeFamily xmlns:thm15="http://schemas.microsoft.com/office/thememl/2012/main" name="Novartis PowerPoint" id="{46FD7BFE-C972-1446-9555-CBDA807834FC}" vid="{71B7A1DA-CA9E-CE4E-99A9-0C1B3863930A}"/>
    </a:ext>
  </a:extLst>
</a:theme>
</file>

<file path=ppt/theme/theme2.xml><?xml version="1.0" encoding="utf-8"?>
<a:theme xmlns:a="http://schemas.openxmlformats.org/drawingml/2006/main" name="Office Theme">
  <a:themeElements>
    <a:clrScheme name="Novartis 2025">
      <a:dk1>
        <a:srgbClr val="161616"/>
      </a:dk1>
      <a:lt1>
        <a:srgbClr val="FCFCFC"/>
      </a:lt1>
      <a:dk2>
        <a:srgbClr val="484848"/>
      </a:dk2>
      <a:lt2>
        <a:srgbClr val="F2F2F2"/>
      </a:lt2>
      <a:accent1>
        <a:srgbClr val="FF4E00"/>
      </a:accent1>
      <a:accent2>
        <a:srgbClr val="161616"/>
      </a:accent2>
      <a:accent3>
        <a:srgbClr val="484848"/>
      </a:accent3>
      <a:accent4>
        <a:srgbClr val="7A7A7A"/>
      </a:accent4>
      <a:accent5>
        <a:srgbClr val="ACACAC"/>
      </a:accent5>
      <a:accent6>
        <a:srgbClr val="DADADA"/>
      </a:accent6>
      <a:hlink>
        <a:srgbClr val="161616"/>
      </a:hlink>
      <a:folHlink>
        <a:srgbClr val="7A7A7A"/>
      </a:folHlink>
    </a:clrScheme>
    <a:fontScheme name="Novartis 2025 (Volta Modern Displa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ovartis 2025">
      <a:dk1>
        <a:srgbClr val="161616"/>
      </a:dk1>
      <a:lt1>
        <a:srgbClr val="FCFCFC"/>
      </a:lt1>
      <a:dk2>
        <a:srgbClr val="484848"/>
      </a:dk2>
      <a:lt2>
        <a:srgbClr val="F2F2F2"/>
      </a:lt2>
      <a:accent1>
        <a:srgbClr val="FF4E00"/>
      </a:accent1>
      <a:accent2>
        <a:srgbClr val="161616"/>
      </a:accent2>
      <a:accent3>
        <a:srgbClr val="484848"/>
      </a:accent3>
      <a:accent4>
        <a:srgbClr val="7A7A7A"/>
      </a:accent4>
      <a:accent5>
        <a:srgbClr val="ACACAC"/>
      </a:accent5>
      <a:accent6>
        <a:srgbClr val="DADADA"/>
      </a:accent6>
      <a:hlink>
        <a:srgbClr val="161616"/>
      </a:hlink>
      <a:folHlink>
        <a:srgbClr val="7A7A7A"/>
      </a:folHlink>
    </a:clrScheme>
    <a:fontScheme name="Novartis 2025 (Volta Modern Displa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CEE18855803214AA5E0FC51F85890E7" ma:contentTypeVersion="18" ma:contentTypeDescription="Create a new document." ma:contentTypeScope="" ma:versionID="9c0f61c24a7c323754b6846d9fdf8c58">
  <xsd:schema xmlns:xsd="http://www.w3.org/2001/XMLSchema" xmlns:xs="http://www.w3.org/2001/XMLSchema" xmlns:p="http://schemas.microsoft.com/office/2006/metadata/properties" xmlns:ns1="http://schemas.microsoft.com/sharepoint/v3" xmlns:ns2="3d94cfd0-68c5-4772-acf8-0efd60032a32" xmlns:ns3="0075bf4a-16ce-455a-b3a1-8efc3c3110cd" targetNamespace="http://schemas.microsoft.com/office/2006/metadata/properties" ma:root="true" ma:fieldsID="41860999f9452597cf5a3e5207c5125b" ns1:_="" ns2:_="" ns3:_="">
    <xsd:import namespace="http://schemas.microsoft.com/sharepoint/v3"/>
    <xsd:import namespace="3d94cfd0-68c5-4772-acf8-0efd60032a32"/>
    <xsd:import namespace="0075bf4a-16ce-455a-b3a1-8efc3c3110c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3:SharedWithUsers" minOccurs="0"/>
                <xsd:element ref="ns3:SharedWithDetails" minOccurs="0"/>
                <xsd:element ref="ns2:MediaLengthInSeconds" minOccurs="0"/>
                <xsd:element ref="ns2:MediaServiceLocation" minOccurs="0"/>
                <xsd:element ref="ns1:_ip_UnifiedCompliancePolicyProperties" minOccurs="0"/>
                <xsd:element ref="ns1:_ip_UnifiedCompliancePolicyUIAc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d94cfd0-68c5-4772-acf8-0efd60032a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37bc47b-3997-4ccb-824d-08e9c3bde3a4"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075bf4a-16ce-455a-b3a1-8efc3c3110c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99ce149-b227-4180-a7fb-58c7ec1a4aee}" ma:internalName="TaxCatchAll" ma:showField="CatchAllData" ma:web="0075bf4a-16ce-455a-b3a1-8efc3c3110cd">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d94cfd0-68c5-4772-acf8-0efd60032a32">
      <Terms xmlns="http://schemas.microsoft.com/office/infopath/2007/PartnerControls"/>
    </lcf76f155ced4ddcb4097134ff3c332f>
    <TaxCatchAll xmlns="0075bf4a-16ce-455a-b3a1-8efc3c3110cd"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20EB0F3C-964D-403A-9F6D-19B038293CEA}">
  <ds:schemaRefs>
    <ds:schemaRef ds:uri="0075bf4a-16ce-455a-b3a1-8efc3c3110cd"/>
    <ds:schemaRef ds:uri="3d94cfd0-68c5-4772-acf8-0efd60032a3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7AF6954-E829-4A38-AEF5-67B8B044C09F}">
  <ds:schemaRefs>
    <ds:schemaRef ds:uri="http://schemas.microsoft.com/sharepoint/v3/contenttype/forms"/>
  </ds:schemaRefs>
</ds:datastoreItem>
</file>

<file path=customXml/itemProps3.xml><?xml version="1.0" encoding="utf-8"?>
<ds:datastoreItem xmlns:ds="http://schemas.openxmlformats.org/officeDocument/2006/customXml" ds:itemID="{815B503F-9CBD-45A1-A1B7-0167040F5B56}">
  <ds:schemaRefs>
    <ds:schemaRef ds:uri="http://schemas.microsoft.com/sharepoint/v3"/>
    <ds:schemaRef ds:uri="http://purl.org/dc/dcmitype/"/>
    <ds:schemaRef ds:uri="http://schemas.openxmlformats.org/package/2006/metadata/core-properties"/>
    <ds:schemaRef ds:uri="3d94cfd0-68c5-4772-acf8-0efd60032a32"/>
    <ds:schemaRef ds:uri="http://schemas.microsoft.com/office/2006/documentManagement/types"/>
    <ds:schemaRef ds:uri="http://schemas.microsoft.com/office/2006/metadata/properties"/>
    <ds:schemaRef ds:uri="http://purl.org/dc/terms/"/>
    <ds:schemaRef ds:uri="http://www.w3.org/XML/1998/namespace"/>
    <ds:schemaRef ds:uri="http://purl.org/dc/elements/1.1/"/>
    <ds:schemaRef ds:uri="http://schemas.microsoft.com/office/infopath/2007/PartnerControls"/>
    <ds:schemaRef ds:uri="0075bf4a-16ce-455a-b3a1-8efc3c3110cd"/>
  </ds:schemaRefs>
</ds:datastoreItem>
</file>

<file path=docMetadata/LabelInfo.xml><?xml version="1.0" encoding="utf-8"?>
<clbl:labelList xmlns:clbl="http://schemas.microsoft.com/office/2020/mipLabelMetadata">
  <clbl:label id="{3c9bec58-8084-492e-8360-0e1cfe36408c}" enabled="1" method="Privileged" siteId="{f35a6974-607f-47d4-82d7-ff31d7dc53a5}" removed="0"/>
</clbl:labelList>
</file>

<file path=docProps/app.xml><?xml version="1.0" encoding="utf-8"?>
<Properties xmlns="http://schemas.openxmlformats.org/officeDocument/2006/extended-properties" xmlns:vt="http://schemas.openxmlformats.org/officeDocument/2006/docPropsVTypes">
  <TotalTime>9351</TotalTime>
  <Words>7426</Words>
  <Application>Microsoft Office PowerPoint</Application>
  <PresentationFormat>Widescreen</PresentationFormat>
  <Paragraphs>839</Paragraphs>
  <Slides>46</Slides>
  <Notes>39</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Cambria Math</vt:lpstr>
      <vt:lpstr>Courier New</vt:lpstr>
      <vt:lpstr>Wingdings</vt:lpstr>
      <vt:lpstr>Novartis PPT Master ARIAL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Simulated datasets retained the correlation structure from NHAENS</vt:lpstr>
      <vt:lpstr>PowerPoint Presentation</vt:lpstr>
      <vt:lpstr>PowerPoint Presentation</vt:lpstr>
      <vt:lpstr>PowerPoint Presentation</vt:lpstr>
      <vt:lpstr>PowerPoint Presentation</vt:lpstr>
      <vt:lpstr>PowerPoint Presentation</vt:lpstr>
      <vt:lpstr>Estimation accuracy is comparable across nlmixr2, NONMEM, and VAE</vt:lpstr>
      <vt:lpstr>PowerPoint Presentation</vt:lpstr>
      <vt:lpstr>PowerPoint Presentation</vt:lpstr>
      <vt:lpstr>PowerPoint Presentation</vt:lpstr>
      <vt:lpstr>PowerPoint Presentation</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vae</vt:lpstr>
      <vt:lpstr>PowerPoint Presentation</vt:lpstr>
      <vt:lpstr>PowerPoint Presentation</vt:lpstr>
      <vt:lpstr>PowerPoint Presentation</vt:lpstr>
      <vt:lpstr>PowerPoint Presentation</vt:lpstr>
      <vt:lpstr>PowerPoint Presentation</vt:lpstr>
      <vt:lpstr>Power of VAE with no competing shapes</vt:lpstr>
      <vt:lpstr>Power shape only</vt:lpstr>
      <vt:lpstr>PowerPoint Presentation</vt:lpstr>
      <vt:lpstr>PowerPoint Presentation</vt:lpstr>
      <vt:lpstr>FP &amp; FN rate Nlmixr2-SCM ≈ NONMEM-SCM &lt; nlmixr2VAE</vt:lpstr>
    </vt:vector>
  </TitlesOfParts>
  <Manager>Name Surname</Manager>
  <Company>Novartis Pharma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Yaping (Ext)</dc:creator>
  <dc:description>PowerPoint template optimised for Windows Office version 2016 and Office 365</dc:description>
  <cp:lastModifiedBy>Liu, Yaping (Ext)</cp:lastModifiedBy>
  <cp:revision>72</cp:revision>
  <dcterms:created xsi:type="dcterms:W3CDTF">2026-07-29T18:55:15Z</dcterms:created>
  <dcterms:modified xsi:type="dcterms:W3CDTF">2026-08-18T13:39:50Z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0x010100DCEE18855803214AA5E0FC51F85890E7</vt:lpwstr>
  </property>
  <property fmtid="{D5CDD505-2E9C-101B-9397-08002B2CF9AE}" pid="3" name="MediaServiceImageTags">
    <vt:lpwstr/>
  </property>
</Properties>
</file>