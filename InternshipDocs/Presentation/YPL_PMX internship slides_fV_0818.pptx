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330" r:id="rId6"/>
    <p:sldId id="331" r:id="rId7"/>
    <p:sldId id="328" r:id="rId8"/>
    <p:sldId id="259" r:id="rId9"/>
    <p:sldId id="311" r:id="rId10"/>
    <p:sldId id="273" r:id="rId11"/>
    <p:sldId id="265" r:id="rId12"/>
    <p:sldId id="304" r:id="rId13"/>
    <p:sldId id="267" r:id="rId14"/>
    <p:sldId id="332" r:id="rId15"/>
    <p:sldId id="270" r:id="rId16"/>
    <p:sldId id="272" r:id="rId17"/>
    <p:sldId id="274" r:id="rId18"/>
    <p:sldId id="318" r:id="rId19"/>
    <p:sldId id="305" r:id="rId20"/>
    <p:sldId id="290" r:id="rId21"/>
    <p:sldId id="277" r:id="rId22"/>
    <p:sldId id="292" r:id="rId23"/>
    <p:sldId id="278" r:id="rId24"/>
    <p:sldId id="334" r:id="rId25"/>
    <p:sldId id="281" r:id="rId26"/>
    <p:sldId id="295" r:id="rId27"/>
    <p:sldId id="346" r:id="rId28"/>
    <p:sldId id="297" r:id="rId29"/>
    <p:sldId id="306" r:id="rId30"/>
    <p:sldId id="286" r:id="rId31"/>
    <p:sldId id="285" r:id="rId32"/>
    <p:sldId id="309" r:id="rId33"/>
    <p:sldId id="322" r:id="rId34"/>
    <p:sldId id="32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86C2E8-9EAB-498E-A758-3891612A56AC}">
          <p14:sldIdLst>
            <p14:sldId id="256"/>
            <p14:sldId id="330"/>
          </p14:sldIdLst>
        </p14:section>
        <p14:section name="Background" id="{AD658D37-D14D-4AF6-8AB8-EF04F50C85D2}">
          <p14:sldIdLst>
            <p14:sldId id="331"/>
            <p14:sldId id="328"/>
            <p14:sldId id="259"/>
            <p14:sldId id="311"/>
            <p14:sldId id="273"/>
            <p14:sldId id="265"/>
          </p14:sldIdLst>
        </p14:section>
        <p14:section name="2. Methods" id="{A24A344E-13CB-4EA8-9699-4474AA134845}">
          <p14:sldIdLst>
            <p14:sldId id="304"/>
            <p14:sldId id="267"/>
            <p14:sldId id="332"/>
            <p14:sldId id="270"/>
            <p14:sldId id="272"/>
            <p14:sldId id="274"/>
            <p14:sldId id="318"/>
          </p14:sldIdLst>
        </p14:section>
        <p14:section name="3. Results" id="{AA115733-5B53-4A11-B832-7A54A8102B02}">
          <p14:sldIdLst>
            <p14:sldId id="305"/>
            <p14:sldId id="290"/>
            <p14:sldId id="277"/>
            <p14:sldId id="292"/>
            <p14:sldId id="278"/>
            <p14:sldId id="334"/>
            <p14:sldId id="281"/>
            <p14:sldId id="295"/>
            <p14:sldId id="346"/>
            <p14:sldId id="297"/>
          </p14:sldIdLst>
        </p14:section>
        <p14:section name="4. Disucssion" id="{68A39D0D-2243-410A-B0C5-E513BB5C72EF}">
          <p14:sldIdLst>
            <p14:sldId id="306"/>
            <p14:sldId id="286"/>
            <p14:sldId id="285"/>
            <p14:sldId id="309"/>
            <p14:sldId id="322"/>
            <p14:sldId id="321"/>
          </p14:sldIdLst>
        </p14:section>
      </p14:sectionLst>
    </p:ext>
    <p:ext uri="{EFAFB233-063F-42B5-8137-9DF3F51BA10A}">
      <p15:sldGuideLst xmlns:p15="http://schemas.microsoft.com/office/powerpoint/2012/main">
        <p15:guide id="1" pos="347" userDrawn="1">
          <p15:clr>
            <a:srgbClr val="A4A3A4"/>
          </p15:clr>
        </p15:guide>
        <p15:guide id="2" pos="7344" userDrawn="1">
          <p15:clr>
            <a:srgbClr val="A4A3A4"/>
          </p15:clr>
        </p15:guide>
        <p15:guide id="3" orient="horz" pos="1152" userDrawn="1">
          <p15:clr>
            <a:srgbClr val="A4A3A4"/>
          </p15:clr>
        </p15:guide>
        <p15:guide id="4" orient="horz" pos="381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3BA30A-662E-8E7C-3CD7-EF7344B3F2C5}" name="Faton Haziri" initials="FH" userId="Faton Haziri" providerId="None"/>
  <p188:author id="{B378B269-8605-A754-3AC8-495F9C28E95C}" name="Branigan, Lila" initials="BL" userId="S::branili1@novartis.net::bad583dd-3f17-4eb2-8c56-30a183d315c6" providerId="AD"/>
  <p188:author id="{27F403B1-BC1A-AE93-5AE1-203CAF3338D9}" name="Haziri, Faton" initials="HF" userId="S::hazirfa1@novartis.net::3052f43f-8ee3-4d23-aecc-818d51f5917c" providerId="AD"/>
  <p188:author id="{9D099CEE-101A-7E26-B0BA-40A68F97A773}" name="Davis-McHenry, Aliah" initials="DA" userId="S::davisale@novartis.net::34a4c28c-d9d9-4fbd-bbf6-8bf1f7f3c8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0A9"/>
    <a:srgbClr val="F0F3F7"/>
    <a:srgbClr val="1F4E79"/>
    <a:srgbClr val="790F0F"/>
    <a:srgbClr val="C9A4A1"/>
    <a:srgbClr val="FFF4EF"/>
    <a:srgbClr val="FCFCFC"/>
    <a:srgbClr val="048CFC"/>
    <a:srgbClr val="7C7C7C"/>
    <a:srgbClr val="01E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83735-A21A-403D-AFAD-69D75B096693}" v="3" dt="2026-08-18T01:36:34.978"/>
    <p1510:client id="{7156A861-1B76-4D27-845A-76A4F0811613}" v="6" dt="2026-08-18T13:34:24.8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73362" autoAdjust="0"/>
  </p:normalViewPr>
  <p:slideViewPr>
    <p:cSldViewPr snapToGrid="0">
      <p:cViewPr varScale="1">
        <p:scale>
          <a:sx n="45" d="100"/>
          <a:sy n="45" d="100"/>
        </p:scale>
        <p:origin x="1420" y="52"/>
      </p:cViewPr>
      <p:guideLst>
        <p:guide pos="347"/>
        <p:guide pos="7344"/>
        <p:guide orient="horz" pos="1152"/>
        <p:guide orient="horz"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Yaping (Ext)" userId="f573593e-5a6a-4224-9cde-434853a04ccb" providerId="ADAL" clId="{D3C91D9B-AA24-48F8-B517-079931D65D62}"/>
    <pc:docChg chg="custSel delSld modSld sldOrd delSection modSection">
      <pc:chgData name="Liu, Yaping (Ext)" userId="f573593e-5a6a-4224-9cde-434853a04ccb" providerId="ADAL" clId="{D3C91D9B-AA24-48F8-B517-079931D65D62}" dt="2026-08-18T14:30:58.194" v="362" actId="18676"/>
      <pc:docMkLst>
        <pc:docMk/>
      </pc:docMkLst>
      <pc:sldChg chg="modNotesTx">
        <pc:chgData name="Liu, Yaping (Ext)" userId="f573593e-5a6a-4224-9cde-434853a04ccb" providerId="ADAL" clId="{D3C91D9B-AA24-48F8-B517-079931D65D62}" dt="2026-08-18T14:29:29.086" v="335" actId="20577"/>
        <pc:sldMkLst>
          <pc:docMk/>
          <pc:sldMk cId="0" sldId="256"/>
        </pc:sldMkLst>
      </pc:sldChg>
      <pc:sldChg chg="modNotesTx">
        <pc:chgData name="Liu, Yaping (Ext)" userId="f573593e-5a6a-4224-9cde-434853a04ccb" providerId="ADAL" clId="{D3C91D9B-AA24-48F8-B517-079931D65D62}" dt="2026-08-18T14:29:43.088" v="340" actId="20577"/>
        <pc:sldMkLst>
          <pc:docMk/>
          <pc:sldMk cId="0" sldId="259"/>
        </pc:sldMkLst>
      </pc:sldChg>
      <pc:sldChg chg="modNotesTx">
        <pc:chgData name="Liu, Yaping (Ext)" userId="f573593e-5a6a-4224-9cde-434853a04ccb" providerId="ADAL" clId="{D3C91D9B-AA24-48F8-B517-079931D65D62}" dt="2026-08-18T14:29:51.858" v="343" actId="20577"/>
        <pc:sldMkLst>
          <pc:docMk/>
          <pc:sldMk cId="0" sldId="265"/>
        </pc:sldMkLst>
      </pc:sldChg>
      <pc:sldChg chg="modNotesTx">
        <pc:chgData name="Liu, Yaping (Ext)" userId="f573593e-5a6a-4224-9cde-434853a04ccb" providerId="ADAL" clId="{D3C91D9B-AA24-48F8-B517-079931D65D62}" dt="2026-08-18T14:29:57.798" v="345" actId="20577"/>
        <pc:sldMkLst>
          <pc:docMk/>
          <pc:sldMk cId="0" sldId="267"/>
        </pc:sldMkLst>
      </pc:sldChg>
      <pc:sldChg chg="modNotesTx">
        <pc:chgData name="Liu, Yaping (Ext)" userId="f573593e-5a6a-4224-9cde-434853a04ccb" providerId="ADAL" clId="{D3C91D9B-AA24-48F8-B517-079931D65D62}" dt="2026-08-18T14:30:03.647" v="347" actId="20577"/>
        <pc:sldMkLst>
          <pc:docMk/>
          <pc:sldMk cId="0" sldId="270"/>
        </pc:sldMkLst>
      </pc:sldChg>
      <pc:sldChg chg="modNotesTx">
        <pc:chgData name="Liu, Yaping (Ext)" userId="f573593e-5a6a-4224-9cde-434853a04ccb" providerId="ADAL" clId="{D3C91D9B-AA24-48F8-B517-079931D65D62}" dt="2026-08-18T14:30:06.812" v="348" actId="20577"/>
        <pc:sldMkLst>
          <pc:docMk/>
          <pc:sldMk cId="0" sldId="272"/>
        </pc:sldMkLst>
      </pc:sldChg>
      <pc:sldChg chg="modNotesTx">
        <pc:chgData name="Liu, Yaping (Ext)" userId="f573593e-5a6a-4224-9cde-434853a04ccb" providerId="ADAL" clId="{D3C91D9B-AA24-48F8-B517-079931D65D62}" dt="2026-08-18T14:29:48.894" v="342" actId="20577"/>
        <pc:sldMkLst>
          <pc:docMk/>
          <pc:sldMk cId="0" sldId="273"/>
        </pc:sldMkLst>
      </pc:sldChg>
      <pc:sldChg chg="modNotesTx">
        <pc:chgData name="Liu, Yaping (Ext)" userId="f573593e-5a6a-4224-9cde-434853a04ccb" providerId="ADAL" clId="{D3C91D9B-AA24-48F8-B517-079931D65D62}" dt="2026-08-18T14:30:09.981" v="349" actId="20577"/>
        <pc:sldMkLst>
          <pc:docMk/>
          <pc:sldMk cId="0" sldId="274"/>
        </pc:sldMkLst>
      </pc:sldChg>
      <pc:sldChg chg="modNotesTx">
        <pc:chgData name="Liu, Yaping (Ext)" userId="f573593e-5a6a-4224-9cde-434853a04ccb" providerId="ADAL" clId="{D3C91D9B-AA24-48F8-B517-079931D65D62}" dt="2026-08-18T14:30:21.987" v="353" actId="20577"/>
        <pc:sldMkLst>
          <pc:docMk/>
          <pc:sldMk cId="0" sldId="277"/>
        </pc:sldMkLst>
      </pc:sldChg>
      <pc:sldChg chg="modNotesTx">
        <pc:chgData name="Liu, Yaping (Ext)" userId="f573593e-5a6a-4224-9cde-434853a04ccb" providerId="ADAL" clId="{D3C91D9B-AA24-48F8-B517-079931D65D62}" dt="2026-08-18T14:30:28.020" v="355" actId="20577"/>
        <pc:sldMkLst>
          <pc:docMk/>
          <pc:sldMk cId="0" sldId="278"/>
        </pc:sldMkLst>
      </pc:sldChg>
      <pc:sldChg chg="del ord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0" sldId="279"/>
        </pc:sldMkLst>
      </pc:sldChg>
      <pc:sldChg chg="modNotesTx">
        <pc:chgData name="Liu, Yaping (Ext)" userId="f573593e-5a6a-4224-9cde-434853a04ccb" providerId="ADAL" clId="{D3C91D9B-AA24-48F8-B517-079931D65D62}" dt="2026-08-18T14:30:33.528" v="357" actId="20577"/>
        <pc:sldMkLst>
          <pc:docMk/>
          <pc:sldMk cId="0" sldId="281"/>
        </pc:sldMkLst>
      </pc:sldChg>
      <pc:sldChg chg="modNotesTx">
        <pc:chgData name="Liu, Yaping (Ext)" userId="f573593e-5a6a-4224-9cde-434853a04ccb" providerId="ADAL" clId="{D3C91D9B-AA24-48F8-B517-079931D65D62}" dt="2026-08-18T11:40:56.941" v="276" actId="20577"/>
        <pc:sldMkLst>
          <pc:docMk/>
          <pc:sldMk cId="0" sldId="285"/>
        </pc:sldMkLst>
      </pc:sldChg>
      <pc:sldChg chg="modNotesTx">
        <pc:chgData name="Liu, Yaping (Ext)" userId="f573593e-5a6a-4224-9cde-434853a04ccb" providerId="ADAL" clId="{D3C91D9B-AA24-48F8-B517-079931D65D62}" dt="2026-08-18T14:30:46.351" v="361" actId="20577"/>
        <pc:sldMkLst>
          <pc:docMk/>
          <pc:sldMk cId="0" sldId="286"/>
        </pc:sldMkLst>
      </pc:sldChg>
      <pc:sldChg chg="del ord modNotesTx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1828836915" sldId="288"/>
        </pc:sldMkLst>
      </pc:sldChg>
      <pc:sldChg chg="modNotesTx">
        <pc:chgData name="Liu, Yaping (Ext)" userId="f573593e-5a6a-4224-9cde-434853a04ccb" providerId="ADAL" clId="{D3C91D9B-AA24-48F8-B517-079931D65D62}" dt="2026-08-18T14:30:19.101" v="352" actId="20577"/>
        <pc:sldMkLst>
          <pc:docMk/>
          <pc:sldMk cId="4272469284" sldId="290"/>
        </pc:sldMkLst>
      </pc:sldChg>
      <pc:sldChg chg="modNotesTx">
        <pc:chgData name="Liu, Yaping (Ext)" userId="f573593e-5a6a-4224-9cde-434853a04ccb" providerId="ADAL" clId="{D3C91D9B-AA24-48F8-B517-079931D65D62}" dt="2026-08-18T14:30:25.150" v="354" actId="20577"/>
        <pc:sldMkLst>
          <pc:docMk/>
          <pc:sldMk cId="3807049283" sldId="292"/>
        </pc:sldMkLst>
      </pc:sldChg>
      <pc:sldChg chg="modSp del mod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2524575623" sldId="294"/>
        </pc:sldMkLst>
        <pc:spChg chg="mod">
          <ac:chgData name="Liu, Yaping (Ext)" userId="f573593e-5a6a-4224-9cde-434853a04ccb" providerId="ADAL" clId="{D3C91D9B-AA24-48F8-B517-079931D65D62}" dt="2026-08-18T11:45:05.954" v="306" actId="1076"/>
          <ac:spMkLst>
            <pc:docMk/>
            <pc:sldMk cId="2524575623" sldId="294"/>
            <ac:spMk id="2" creationId="{3101FB6D-5F1A-5302-4101-3F755E73C7E8}"/>
          </ac:spMkLst>
        </pc:spChg>
      </pc:sldChg>
      <pc:sldChg chg="modNotesTx">
        <pc:chgData name="Liu, Yaping (Ext)" userId="f573593e-5a6a-4224-9cde-434853a04ccb" providerId="ADAL" clId="{D3C91D9B-AA24-48F8-B517-079931D65D62}" dt="2026-08-18T14:30:35.826" v="358" actId="20577"/>
        <pc:sldMkLst>
          <pc:docMk/>
          <pc:sldMk cId="2994138040" sldId="295"/>
        </pc:sldMkLst>
      </pc:sldChg>
      <pc:sldChg chg="del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306934442" sldId="296"/>
        </pc:sldMkLst>
      </pc:sldChg>
      <pc:sldChg chg="modNotesTx">
        <pc:chgData name="Liu, Yaping (Ext)" userId="f573593e-5a6a-4224-9cde-434853a04ccb" providerId="ADAL" clId="{D3C91D9B-AA24-48F8-B517-079931D65D62}" dt="2026-08-18T14:30:41.714" v="360" actId="20577"/>
        <pc:sldMkLst>
          <pc:docMk/>
          <pc:sldMk cId="3139803728" sldId="297"/>
        </pc:sldMkLst>
      </pc:sldChg>
      <pc:sldChg chg="del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4129260111" sldId="298"/>
        </pc:sldMkLst>
      </pc:sldChg>
      <pc:sldChg chg="modNotesTx">
        <pc:chgData name="Liu, Yaping (Ext)" userId="f573593e-5a6a-4224-9cde-434853a04ccb" providerId="ADAL" clId="{D3C91D9B-AA24-48F8-B517-079931D65D62}" dt="2026-08-18T14:29:54.894" v="344" actId="20577"/>
        <pc:sldMkLst>
          <pc:docMk/>
          <pc:sldMk cId="2480295326" sldId="304"/>
        </pc:sldMkLst>
      </pc:sldChg>
      <pc:sldChg chg="modNotesTx">
        <pc:chgData name="Liu, Yaping (Ext)" userId="f573593e-5a6a-4224-9cde-434853a04ccb" providerId="ADAL" clId="{D3C91D9B-AA24-48F8-B517-079931D65D62}" dt="2026-08-18T14:30:16.792" v="351" actId="20577"/>
        <pc:sldMkLst>
          <pc:docMk/>
          <pc:sldMk cId="2860743111" sldId="305"/>
        </pc:sldMkLst>
      </pc:sldChg>
      <pc:sldChg chg="modNotesTx">
        <pc:chgData name="Liu, Yaping (Ext)" userId="f573593e-5a6a-4224-9cde-434853a04ccb" providerId="ADAL" clId="{D3C91D9B-AA24-48F8-B517-079931D65D62}" dt="2026-08-18T14:29:45.777" v="341" actId="20577"/>
        <pc:sldMkLst>
          <pc:docMk/>
          <pc:sldMk cId="117432848" sldId="311"/>
        </pc:sldMkLst>
      </pc:sldChg>
      <pc:sldChg chg="del ord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0" sldId="312"/>
        </pc:sldMkLst>
      </pc:sldChg>
      <pc:sldChg chg="del ord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2825777530" sldId="314"/>
        </pc:sldMkLst>
      </pc:sldChg>
      <pc:sldChg chg="modNotesTx">
        <pc:chgData name="Liu, Yaping (Ext)" userId="f573593e-5a6a-4224-9cde-434853a04ccb" providerId="ADAL" clId="{D3C91D9B-AA24-48F8-B517-079931D65D62}" dt="2026-08-18T14:30:12.854" v="350" actId="20577"/>
        <pc:sldMkLst>
          <pc:docMk/>
          <pc:sldMk cId="3678150043" sldId="318"/>
        </pc:sldMkLst>
      </pc:sldChg>
      <pc:sldChg chg="del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3666795355" sldId="320"/>
        </pc:sldMkLst>
      </pc:sldChg>
      <pc:sldChg chg="modNotesTx">
        <pc:chgData name="Liu, Yaping (Ext)" userId="f573593e-5a6a-4224-9cde-434853a04ccb" providerId="ADAL" clId="{D3C91D9B-AA24-48F8-B517-079931D65D62}" dt="2026-08-18T12:55:31.173" v="320" actId="20577"/>
        <pc:sldMkLst>
          <pc:docMk/>
          <pc:sldMk cId="1474244902" sldId="322"/>
        </pc:sldMkLst>
      </pc:sldChg>
      <pc:sldChg chg="del ord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2305374277" sldId="323"/>
        </pc:sldMkLst>
      </pc:sldChg>
      <pc:sldChg chg="del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2618808169" sldId="324"/>
        </pc:sldMkLst>
      </pc:sldChg>
      <pc:sldChg chg="del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1664807974" sldId="325"/>
        </pc:sldMkLst>
      </pc:sldChg>
      <pc:sldChg chg="del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1312508518" sldId="327"/>
        </pc:sldMkLst>
      </pc:sldChg>
      <pc:sldChg chg="modNotesTx">
        <pc:chgData name="Liu, Yaping (Ext)" userId="f573593e-5a6a-4224-9cde-434853a04ccb" providerId="ADAL" clId="{D3C91D9B-AA24-48F8-B517-079931D65D62}" dt="2026-08-18T14:29:39.109" v="339" actId="20577"/>
        <pc:sldMkLst>
          <pc:docMk/>
          <pc:sldMk cId="1733724878" sldId="328"/>
        </pc:sldMkLst>
      </pc:sldChg>
      <pc:sldChg chg="modNotesTx">
        <pc:chgData name="Liu, Yaping (Ext)" userId="f573593e-5a6a-4224-9cde-434853a04ccb" providerId="ADAL" clId="{D3C91D9B-AA24-48F8-B517-079931D65D62}" dt="2026-08-18T14:29:32.323" v="336" actId="20577"/>
        <pc:sldMkLst>
          <pc:docMk/>
          <pc:sldMk cId="3863112655" sldId="330"/>
        </pc:sldMkLst>
      </pc:sldChg>
      <pc:sldChg chg="modNotesTx">
        <pc:chgData name="Liu, Yaping (Ext)" userId="f573593e-5a6a-4224-9cde-434853a04ccb" providerId="ADAL" clId="{D3C91D9B-AA24-48F8-B517-079931D65D62}" dt="2026-08-18T14:29:35.664" v="338" actId="20577"/>
        <pc:sldMkLst>
          <pc:docMk/>
          <pc:sldMk cId="3041579508" sldId="331"/>
        </pc:sldMkLst>
      </pc:sldChg>
      <pc:sldChg chg="modAnim modNotesTx">
        <pc:chgData name="Liu, Yaping (Ext)" userId="f573593e-5a6a-4224-9cde-434853a04ccb" providerId="ADAL" clId="{D3C91D9B-AA24-48F8-B517-079931D65D62}" dt="2026-08-18T14:30:00.525" v="346" actId="20577"/>
        <pc:sldMkLst>
          <pc:docMk/>
          <pc:sldMk cId="841582702" sldId="332"/>
        </pc:sldMkLst>
      </pc:sldChg>
      <pc:sldChg chg="del ord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3773767242" sldId="333"/>
        </pc:sldMkLst>
      </pc:sldChg>
      <pc:sldChg chg="modNotesTx">
        <pc:chgData name="Liu, Yaping (Ext)" userId="f573593e-5a6a-4224-9cde-434853a04ccb" providerId="ADAL" clId="{D3C91D9B-AA24-48F8-B517-079931D65D62}" dt="2026-08-18T14:30:30.993" v="356" actId="20577"/>
        <pc:sldMkLst>
          <pc:docMk/>
          <pc:sldMk cId="159807091" sldId="334"/>
        </pc:sldMkLst>
      </pc:sldChg>
      <pc:sldChg chg="modNotesTx">
        <pc:chgData name="Liu, Yaping (Ext)" userId="f573593e-5a6a-4224-9cde-434853a04ccb" providerId="ADAL" clId="{D3C91D9B-AA24-48F8-B517-079931D65D62}" dt="2026-08-18T14:30:38.923" v="359" actId="20577"/>
        <pc:sldMkLst>
          <pc:docMk/>
          <pc:sldMk cId="1612243811" sldId="346"/>
        </pc:sldMkLst>
      </pc:sldChg>
      <pc:sldChg chg="modSp del mod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451933423" sldId="347"/>
        </pc:sldMkLst>
        <pc:spChg chg="mod">
          <ac:chgData name="Liu, Yaping (Ext)" userId="f573593e-5a6a-4224-9cde-434853a04ccb" providerId="ADAL" clId="{D3C91D9B-AA24-48F8-B517-079931D65D62}" dt="2026-08-18T11:45:17.162" v="308" actId="207"/>
          <ac:spMkLst>
            <pc:docMk/>
            <pc:sldMk cId="451933423" sldId="347"/>
            <ac:spMk id="2" creationId="{EEC69442-1B9E-1243-B9D5-4BD7F2EC7388}"/>
          </ac:spMkLst>
        </pc:spChg>
      </pc:sldChg>
      <pc:sldChg chg="modSp del mod ord">
        <pc:chgData name="Liu, Yaping (Ext)" userId="f573593e-5a6a-4224-9cde-434853a04ccb" providerId="ADAL" clId="{D3C91D9B-AA24-48F8-B517-079931D65D62}" dt="2026-08-18T14:30:58.194" v="362" actId="18676"/>
        <pc:sldMkLst>
          <pc:docMk/>
          <pc:sldMk cId="3133543688" sldId="348"/>
        </pc:sldMkLst>
        <pc:spChg chg="mod">
          <ac:chgData name="Liu, Yaping (Ext)" userId="f573593e-5a6a-4224-9cde-434853a04ccb" providerId="ADAL" clId="{D3C91D9B-AA24-48F8-B517-079931D65D62}" dt="2026-08-18T11:45:11.879" v="307" actId="108"/>
          <ac:spMkLst>
            <pc:docMk/>
            <pc:sldMk cId="3133543688" sldId="348"/>
            <ac:spMk id="7" creationId="{78111580-BFF9-18D3-09F5-99D6F554A32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836AB-7A71-9C59-1569-F6D368DE69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024844" y="8661357"/>
            <a:ext cx="38880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1200"/>
            </a:lvl1pPr>
          </a:lstStyle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F12FE-E6B8-CB03-BD6F-A6DD226A74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093296" y="8661357"/>
            <a:ext cx="288032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200"/>
            </a:lvl1pPr>
          </a:lstStyle>
          <a:p>
            <a:fld id="{8B0EA715-5C52-46A6-AB3C-9DAA4D99E51E}" type="slidenum">
              <a:rPr lang="en-US" sz="800" smtClean="0"/>
              <a:t>‹#›</a:t>
            </a:fld>
            <a:endParaRPr lang="en-US" sz="80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79C3954B-1D5A-DF7E-F38E-E6C429FEE8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476672" y="8613344"/>
            <a:ext cx="1044116" cy="15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07453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024844" y="8661357"/>
            <a:ext cx="3888000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00"/>
            </a:lvl1pPr>
          </a:lstStyle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93296" y="8661357"/>
            <a:ext cx="288032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800"/>
            </a:lvl1pPr>
          </a:lstStyle>
          <a:p>
            <a:fld id="{CC452610-1F1A-48BB-81B3-3167D77B5272}" type="slidenum">
              <a:rPr lang="en-US" smtClean="0"/>
              <a:pPr/>
              <a:t>‹#›</a:t>
            </a:fld>
            <a:endParaRPr lang="en-US" sz="80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B71D4F93-CCDA-E557-C904-D46A56B09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476672" y="8613344"/>
            <a:ext cx="1044116" cy="15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393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j-lt"/>
        <a:ea typeface="+mn-ea"/>
        <a:cs typeface="+mn-cs"/>
      </a:defRPr>
    </a:lvl1pPr>
    <a:lvl2pPr marL="0" algn="l" defTabSz="914400" rtl="0" eaLnBrk="1" latinLnBrk="0" hangingPunct="1">
      <a:spcBef>
        <a:spcPts val="600"/>
      </a:spcBef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44000" indent="-144000" algn="l" defTabSz="914400" rtl="0" eaLnBrk="1" latinLnBrk="0" hangingPunct="1"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288000" indent="-144000" algn="l" defTabSz="914400" rtl="0" eaLnBrk="1" latinLnBrk="0" hangingPunct="1"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32000" indent="-144000" algn="l" defTabSz="914400" rtl="0" eaLnBrk="1" latinLnBrk="0" hangingPunct="1">
      <a:spcBef>
        <a:spcPts val="3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51657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52570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3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006138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B036-20A8-4305-B8C3-835F0FEA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42891-17BA-85FE-971D-EA9210F7C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86F3BC-39D9-F09F-CDCF-7B7D914D1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3D499-348F-6D6A-F14D-48E2EB0E3A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73AEA-9DFE-BC76-B83E-CBD081E1A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4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417956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5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738789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6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483683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7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721467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8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04381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9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89105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10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962922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64A73-5646-0E4E-6CAD-4A475369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FB492-F9B4-4511-8E7F-39F986FF8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26F30D-A8FA-3E1B-B6F9-BEEE322BB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j-lt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D1DD7-9CAA-2F86-DFD6-AF9ACD4A3B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00D9C-0CFC-C8E7-EDEA-F2DB8AB8A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11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417019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12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664383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13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57549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14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627020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15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831764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16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985287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17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158566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18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29499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19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2022036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20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6828444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3DF30-4CD7-B5D2-BFC5-D8752723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6FAE0-EF08-5742-F317-C0FC45318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FA99E-947B-EC8F-C8D7-D323751A8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95509-B328-979E-5FFF-364A841D78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EBD53-ADF4-38EA-9137-D8EE21085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21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7023180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22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0070499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23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4107423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0FFF-F669-E91C-479B-66E18058E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6DB42-90AD-BE46-CEDE-D204B1FE0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BD1BB-6716-0560-6C3D-1B8D395CB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1EB25-B0E4-9A34-DCBC-B0C719D276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19ABF-980F-EDF9-F42B-9DF0AD7B0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24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5678289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25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9881715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26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150650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27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7220842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To conclude.</a:t>
            </a:r>
          </a:p>
          <a:p>
            <a:pPr rtl="0"/>
            <a:r>
              <a:rPr lang="en-US" dirty="0"/>
              <a:t>In this benchmark, </a:t>
            </a:r>
            <a:r>
              <a:rPr lang="en-US" b="1" dirty="0"/>
              <a:t>the open-source nlmixr2-SCM matched or outperformed </a:t>
            </a:r>
            <a:r>
              <a:rPr lang="en-US" b="1" dirty="0" err="1"/>
              <a:t>PsN</a:t>
            </a:r>
            <a:r>
              <a:rPr lang="en-US" b="1" dirty="0"/>
              <a:t>-NONMEM-SCM.</a:t>
            </a:r>
            <a:r>
              <a:rPr lang="en-US" dirty="0"/>
              <a:t> It gave </a:t>
            </a:r>
            <a:r>
              <a:rPr lang="en-US" b="1" dirty="0"/>
              <a:t>comparable power and estimation accuracy, better reliability, faster runtimes for ODE models</a:t>
            </a:r>
            <a:r>
              <a:rPr lang="en-US" dirty="0"/>
              <a:t> — and it is open source.</a:t>
            </a:r>
          </a:p>
          <a:p>
            <a:pPr rtl="0"/>
            <a:endParaRPr lang="en-US" dirty="0"/>
          </a:p>
          <a:p>
            <a:pPr rtl="0"/>
            <a:r>
              <a:rPr lang="en-US" b="1" dirty="0"/>
              <a:t>The VAE's strength is speed</a:t>
            </a:r>
            <a:r>
              <a:rPr lang="en-US" dirty="0"/>
              <a:t>, with comparable accuracy and reasonable power in the easier covariate scenarios.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So the take-home message is this. </a:t>
            </a:r>
            <a:r>
              <a:rPr lang="en-US" b="1" dirty="0"/>
              <a:t>nlmixr2-SCM is a credible open-source alternative to NONMEM-SCM. </a:t>
            </a:r>
          </a:p>
          <a:p>
            <a:pPr rtl="0"/>
            <a:r>
              <a:rPr lang="en-US" b="1" dirty="0"/>
              <a:t>And the VAE is a promising fast screening method that can complement traditional SCM — though not yet replace it in high-stakes confirmatory settings.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28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220811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29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6426613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I am very grateful to my manager, </a:t>
            </a:r>
            <a:r>
              <a:rPr lang="en-US" b="1" dirty="0"/>
              <a:t>Matt Fidler</a:t>
            </a:r>
            <a:r>
              <a:rPr lang="en-US" dirty="0"/>
              <a:t> — this project would not have been possible without his guidance and support.</a:t>
            </a:r>
          </a:p>
          <a:p>
            <a:pPr rtl="0"/>
            <a:r>
              <a:rPr lang="en-US" dirty="0"/>
              <a:t>Thank you to </a:t>
            </a:r>
            <a:r>
              <a:rPr lang="en-US" b="1" dirty="0"/>
              <a:t>Justin Wilkins</a:t>
            </a:r>
            <a:r>
              <a:rPr lang="en-US" dirty="0"/>
              <a:t>, the other primary developer of the nlmixr2 SCM package, and to the whole </a:t>
            </a:r>
            <a:r>
              <a:rPr lang="en-US" b="1" dirty="0"/>
              <a:t>nlmixr2 development team</a:t>
            </a:r>
            <a:r>
              <a:rPr lang="en-US" dirty="0"/>
              <a:t>, whose commitment to open science genuinely inspired me.</a:t>
            </a:r>
          </a:p>
          <a:p>
            <a:pPr rtl="0"/>
            <a:r>
              <a:rPr lang="en-US" dirty="0"/>
              <a:t>Thank you to the </a:t>
            </a:r>
            <a:r>
              <a:rPr lang="en-US" b="1" dirty="0"/>
              <a:t>PMX, PKS, and AQS teams</a:t>
            </a:r>
            <a:r>
              <a:rPr lang="en-US" dirty="0"/>
              <a:t>, especially those who shared their career journeys with me, and to the </a:t>
            </a:r>
            <a:r>
              <a:rPr lang="en-US" b="1" dirty="0"/>
              <a:t>talent acquisition team</a:t>
            </a:r>
            <a:r>
              <a:rPr lang="en-US" dirty="0"/>
              <a:t> and my </a:t>
            </a:r>
            <a:r>
              <a:rPr lang="en-US" b="1" dirty="0"/>
              <a:t>fellow interns</a:t>
            </a:r>
            <a:r>
              <a:rPr lang="en-US" dirty="0"/>
              <a:t> for making this internship so memorable.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sz="800"/>
              <a:t>Placeholder for the presentation title  |  Date (Insert → header and footer)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52610-1F1A-48BB-81B3-3167D77B5272}" type="slidenum">
              <a:rPr lang="en-US" smtClean="0"/>
              <a:pPr/>
              <a:t>30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333298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Logo">
            <a:extLst>
              <a:ext uri="{FF2B5EF4-FFF2-40B4-BE49-F238E27FC236}">
                <a16:creationId xmlns:a16="http://schemas.microsoft.com/office/drawing/2014/main" id="{572B6447-BD74-E19F-F82F-B6AB6B813F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51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1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dient background">
            <a:extLst>
              <a:ext uri="{FF2B5EF4-FFF2-40B4-BE49-F238E27FC236}">
                <a16:creationId xmlns:a16="http://schemas.microsoft.com/office/drawing/2014/main" id="{92928F57-07A1-1A1B-92F7-6684E21D98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6057900"/>
            <a:ext cx="12192000" cy="8001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E11E6EF-7DEE-709C-8F7C-C05A9D414C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56DCA5C-54BE-B570-7771-24B6F32B86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9CEC8C55-6D9F-A0BC-1D15-F83CA5ED26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5B90D9E-31F6-9A74-2145-A6288C92CE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EE872-17BA-5687-6409-5D696FD2CC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0544A-606F-A954-EFCC-B2A52625FF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9971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5B2D-557F-82D7-1FBB-918B87784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652521A-CD45-F485-9C10-82CE67ACE2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8724D9F6-3E07-EAAB-9C0A-FB3B644A65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1"/>
            <a:ext cx="12192000" cy="3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21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51C14DD-9794-E6F9-AF00-3571E64B89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4" y="726029"/>
            <a:ext cx="10080000" cy="3687997"/>
          </a:xfrm>
        </p:spPr>
        <p:txBody>
          <a:bodyPr anchor="t">
            <a:spAutoFit/>
          </a:bodyPr>
          <a:lstStyle>
            <a:lvl1pPr algn="l">
              <a:lnSpc>
                <a:spcPct val="83000"/>
              </a:lnSpc>
              <a:defRPr sz="96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presentation title (maximum three lines)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DBE46BF-4100-2DC3-ABDE-7C925CA29C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554387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8B367B8-A7CD-7CB8-9517-8197F72C4C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168505" y="4554387"/>
            <a:ext cx="4464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date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AA0FEE-BD89-5565-F585-CC60A499B7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5022439"/>
            <a:ext cx="5472000" cy="184666"/>
          </a:xfrm>
        </p:spPr>
        <p:txBody>
          <a:bodyPr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</p:spTree>
    <p:extLst>
      <p:ext uri="{BB962C8B-B14F-4D97-AF65-F5344CB8AC3E}">
        <p14:creationId xmlns:p14="http://schemas.microsoft.com/office/powerpoint/2010/main" val="2235553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 flipH="1">
            <a:off x="-1" y="2420888"/>
            <a:ext cx="4281056" cy="443711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11" t="-811" r="-811" b="-81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95B2D-557F-82D7-1FBB-918B87784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5" y="2420888"/>
            <a:ext cx="7766945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5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2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>
            <a:off x="0" y="2420888"/>
            <a:ext cx="4281056" cy="4437112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6" y="2420888"/>
            <a:ext cx="7766944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6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4A620D-E72D-0599-539C-16ECD62CD3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</p:spTree>
    <p:extLst>
      <p:ext uri="{BB962C8B-B14F-4D97-AF65-F5344CB8AC3E}">
        <p14:creationId xmlns:p14="http://schemas.microsoft.com/office/powerpoint/2010/main" val="271817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slide with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dient background">
            <a:extLst>
              <a:ext uri="{FF2B5EF4-FFF2-40B4-BE49-F238E27FC236}">
                <a16:creationId xmlns:a16="http://schemas.microsoft.com/office/drawing/2014/main" id="{7129C899-CA72-B0BF-E98C-9CCD2CE9E8B9}"/>
              </a:ext>
            </a:extLst>
          </p:cNvPr>
          <p:cNvSpPr/>
          <p:nvPr userDrawn="1"/>
        </p:nvSpPr>
        <p:spPr bwMode="hidden">
          <a:xfrm flipH="1">
            <a:off x="615" y="2420888"/>
            <a:ext cx="4280440" cy="4437112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noProof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16517-6E31-5EB2-9E14-48277588B5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4" y="470856"/>
            <a:ext cx="324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Edit Name Surname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8C8A5A2-EC78-EC54-A690-5119D6E64A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935992" y="470856"/>
            <a:ext cx="2088000" cy="369332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 algn="r"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Edit date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6ED980B-9D65-A198-AE5E-5981B5E212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1" y="938908"/>
            <a:ext cx="5472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4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4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subtitle, speaker info, function name, field of research, etc.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30DD2D3B-1714-F49A-B6C1-3FDB1CE0D9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425055" y="2420888"/>
            <a:ext cx="7766945" cy="4437112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7" name="Rectangle orange">
            <a:extLst>
              <a:ext uri="{FF2B5EF4-FFF2-40B4-BE49-F238E27FC236}">
                <a16:creationId xmlns:a16="http://schemas.microsoft.com/office/drawing/2014/main" id="{812F2B87-FA36-EC70-E097-2108BCF02D3B}"/>
              </a:ext>
            </a:extLst>
          </p:cNvPr>
          <p:cNvSpPr/>
          <p:nvPr userDrawn="1"/>
        </p:nvSpPr>
        <p:spPr bwMode="gray">
          <a:xfrm>
            <a:off x="4281055" y="1844824"/>
            <a:ext cx="144000" cy="57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9" name="Logo">
            <a:extLst>
              <a:ext uri="{FF2B5EF4-FFF2-40B4-BE49-F238E27FC236}">
                <a16:creationId xmlns:a16="http://schemas.microsoft.com/office/drawing/2014/main" id="{E1618CDF-9C19-3C90-0476-C964BD896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DBD3AB-8D5C-9430-21B5-DB44408225B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51385" y="3429000"/>
            <a:ext cx="3384607" cy="1532727"/>
          </a:xfrm>
        </p:spPr>
        <p:txBody>
          <a:bodyPr wrap="square" anchor="t">
            <a:spAutoFit/>
          </a:bodyPr>
          <a:lstStyle>
            <a:lvl1pPr algn="l">
              <a:lnSpc>
                <a:spcPct val="83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 (max. three lines)</a:t>
            </a:r>
          </a:p>
        </p:txBody>
      </p:sp>
    </p:spTree>
    <p:extLst>
      <p:ext uri="{BB962C8B-B14F-4D97-AF65-F5344CB8AC3E}">
        <p14:creationId xmlns:p14="http://schemas.microsoft.com/office/powerpoint/2010/main" val="143343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85" userDrawn="1">
          <p15:clr>
            <a:srgbClr val="FBAE40"/>
          </p15:clr>
        </p15:guide>
        <p15:guide id="3" pos="379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able of conte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table of contents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35F424A1-9BB3-B324-997B-7DA2CBB4B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FF5F6786-619A-37D6-0082-EDF4316174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CA8EA4-F7B2-6078-77B7-8F2AB8EFAB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03412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77D9958F-D7E9-E341-64EF-0414563D58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359696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806D21-D8B0-D169-3BEA-BE646E92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1E53736-3FEA-0BB6-0AEC-B1FB5B19F9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611724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BF6F1D10-A4CD-E6DC-2DE0-E4703326DA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6168008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8EB2553-2FBB-C46C-B935-78FBAF6AAD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168008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4CDD227-79BA-3E0A-A169-54BDF73EDD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20036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EFC52AE-56A9-D690-BC97-D54E2DB805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8976320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45BFC4-DD57-EE1C-86D1-53BBE74E9E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976320" y="465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FA44FE0D-01E5-CFDE-EB9B-8D1C77A8F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228348" y="465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pic>
        <p:nvPicPr>
          <p:cNvPr id="27" name="Logo">
            <a:extLst>
              <a:ext uri="{FF2B5EF4-FFF2-40B4-BE49-F238E27FC236}">
                <a16:creationId xmlns:a16="http://schemas.microsoft.com/office/drawing/2014/main" id="{6CB62FDA-7C32-F694-6DE6-E1D01DA97A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81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able of conte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Edit table of contents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35F424A1-9BB3-B324-997B-7DA2CBB4B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FF5F6786-619A-37D6-0082-EDF4316174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8CA8EA4-F7B2-6078-77B7-8F2AB8EFAB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03412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77D9958F-D7E9-E341-64EF-0414563D58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359696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806D21-D8B0-D169-3BEA-BE646E92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1E53736-3FEA-0BB6-0AEC-B1FB5B19F9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611724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BF6F1D10-A4CD-E6DC-2DE0-E4703326DA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6168008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8EB2553-2FBB-C46C-B935-78FBAF6AAD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168008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4CDD227-79BA-3E0A-A169-54BDF73EDD1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420036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8EFC52AE-56A9-D690-BC97-D54E2DB805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8976320" y="1844824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45BFC4-DD57-EE1C-86D1-53BBE74E9E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8976320" y="3213136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FA44FE0D-01E5-CFDE-EB9B-8D1C77A8FE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228348" y="3213136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87E83465-E936-9562-7382-58B2C6BC3AC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 bwMode="gray">
          <a:xfrm>
            <a:off x="551384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E294DF-F384-A74E-EE39-69C112F65F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51384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3654B84-E40B-FCB1-3724-1DABC8B173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803384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26F7F342-6CB9-4537-438D-BA9E5446D5C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359696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586DED-D6C9-416B-DE95-E998EB5207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359696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CB2BFA5B-027E-0A7B-FD2A-AAC3CBC9749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611724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29" name="Picture Placeholder 7">
            <a:extLst>
              <a:ext uri="{FF2B5EF4-FFF2-40B4-BE49-F238E27FC236}">
                <a16:creationId xmlns:a16="http://schemas.microsoft.com/office/drawing/2014/main" id="{0F726FBF-CB4A-AF8D-5B1E-DCD4213344B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gray">
          <a:xfrm>
            <a:off x="6168008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D0D834FA-1583-AE1B-9B41-FD20F66F22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6168008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D640CFF1-EE63-44B9-98DB-23D254A8FD2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6420036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EAC21E38-8163-B540-E913-991D48522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8976320" y="3933056"/>
            <a:ext cx="2664000" cy="122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1F29D8D5-6E5E-8B9E-0128-955D7E46C2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8976320" y="5301368"/>
            <a:ext cx="216000" cy="184666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0X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841AE9E9-C6DA-13DA-947A-F29639F258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9228348" y="5301368"/>
            <a:ext cx="2412000" cy="396000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chapter headline (maximum two lines)</a:t>
            </a:r>
          </a:p>
        </p:txBody>
      </p:sp>
      <p:pic>
        <p:nvPicPr>
          <p:cNvPr id="33" name="Logo">
            <a:extLst>
              <a:ext uri="{FF2B5EF4-FFF2-40B4-BE49-F238E27FC236}">
                <a16:creationId xmlns:a16="http://schemas.microsoft.com/office/drawing/2014/main" id="{7D38B19B-8E1F-2476-5E13-10CCDB1136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74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26664"/>
            <a:ext cx="11088000" cy="914096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Agenda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0A9B968-2C0B-3E87-C3F8-5A609C6918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47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 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95B531DC-EDFA-F406-F1A3-7CCD05D7950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3735" t="784" r="487" b="784"/>
          <a:stretch>
            <a:fillRect/>
          </a:stretch>
        </p:blipFill>
        <p:spPr bwMode="hidden">
          <a:xfrm>
            <a:off x="11641138" y="1"/>
            <a:ext cx="555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10440000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Click to edit section name (maximum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320988"/>
            <a:ext cx="10440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70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2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 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10440000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Click to edit section name (maximum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320988"/>
            <a:ext cx="10440000" cy="369332"/>
          </a:xfrm>
          <a:prstGeom prst="rect">
            <a:avLst/>
          </a:prstGeom>
        </p:spPr>
        <p:txBody>
          <a:bodyPr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319D055-168E-C9A6-4B8C-59B80F8FA4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878"/>
          <a:stretch>
            <a:fillRect/>
          </a:stretch>
        </p:blipFill>
        <p:spPr>
          <a:xfrm flipH="1">
            <a:off x="11641138" y="0"/>
            <a:ext cx="558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47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Section Divi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C55B-C320-BCEE-F065-D9048F6029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12676"/>
            <a:ext cx="4926549" cy="2528962"/>
          </a:xfrm>
        </p:spPr>
        <p:txBody>
          <a:bodyPr anchor="t"/>
          <a:lstStyle>
            <a:lvl1pPr>
              <a:lnSpc>
                <a:spcPct val="83000"/>
              </a:lnSpc>
              <a:defRPr sz="6600"/>
            </a:lvl1pPr>
          </a:lstStyle>
          <a:p>
            <a:r>
              <a:rPr lang="en-US" noProof="0"/>
              <a:t>X. Section name (max. three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656E0B2-AAD7-833E-F127-94C389D99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51384" y="3593291"/>
            <a:ext cx="507262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2pPr>
            <a:lvl3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3pPr>
            <a:lvl4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4pPr>
            <a:lvl5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5pPr>
            <a:lvl6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6pPr>
            <a:lvl7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7pPr>
            <a:lvl8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8pPr>
            <a:lvl9pPr marL="216000" indent="-216000">
              <a:spcBef>
                <a:spcPts val="800"/>
              </a:spcBef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optional subpoint(s)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4CA65FF8-CA33-78E1-DB61-531BB02E1E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5F7C4CC-8B8D-1C83-BF94-876E28A352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65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95" userDrawn="1">
          <p15:clr>
            <a:srgbClr val="FBAE40"/>
          </p15:clr>
        </p15:guide>
        <p15:guide id="3" pos="388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1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11088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4620EFA-9440-BC50-A006-004423448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6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(One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473179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3179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B4620EFA-9440-BC50-A006-004423448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1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B420C-8A57-5FE0-A3B3-87E196E65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68008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3044E95F-CA3F-13A8-2786-33924D4D7A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20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153" userDrawn="1">
          <p15:clr>
            <a:srgbClr val="9FCC3B"/>
          </p15:clr>
        </p15:guide>
        <p15:guide id="14" pos="6244" userDrawn="1">
          <p15:clr>
            <a:srgbClr val="9FCC3B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ext (three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11088000" cy="415498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3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B420C-8A57-5FE0-A3B3-87E196E65D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95800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1804F57-3A4A-9DF7-253D-B1D02A1E5C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040216" y="1844824"/>
            <a:ext cx="3600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E285D2F7-CECB-F944-A2C5-B4FE6727F6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58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 userDrawn="1">
          <p15:clr>
            <a:srgbClr val="FBAE40"/>
          </p15:clr>
        </p15:guide>
        <p15:guide id="2" pos="3885" userDrawn="1">
          <p15:clr>
            <a:srgbClr val="FBAE40"/>
          </p15:clr>
        </p15:guide>
        <p15:guide id="3" pos="2615" userDrawn="1">
          <p15:clr>
            <a:srgbClr val="9FCC3B"/>
          </p15:clr>
        </p15:guide>
        <p15:guide id="4" pos="2706" userDrawn="1">
          <p15:clr>
            <a:srgbClr val="9FCC3B"/>
          </p15:clr>
        </p15:guide>
        <p15:guide id="5" pos="4974" userDrawn="1">
          <p15:clr>
            <a:srgbClr val="9FCC3B"/>
          </p15:clr>
        </p15:guide>
        <p15:guide id="6" pos="5065" userDrawn="1">
          <p15:clr>
            <a:srgbClr val="9FCC3B"/>
          </p15:clr>
        </p15:guide>
        <p15:guide id="7" pos="2026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1527" userDrawn="1">
          <p15:clr>
            <a:srgbClr val="9FCC3B"/>
          </p15:clr>
        </p15:guide>
        <p15:guide id="12" pos="1436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imag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69120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569120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DF71F51-0B3A-FA94-83C0-0892861AA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9912350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44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imag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DF71F51-0B3A-FA94-83C0-0892861AA2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58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two images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0" y="350100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778B60-B2B6-2C1B-6489-97359DB625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9912350" y="6301888"/>
            <a:ext cx="1691980" cy="25283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2DDFF32-ABCB-33C4-9D6C-A673B4B53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569120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09FD615-2E6A-9A47-5949-05F77046EE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569120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289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153" userDrawn="1">
          <p15:clr>
            <a:srgbClr val="9FCC3B"/>
          </p15:clr>
        </p15:guide>
        <p15:guide id="14" pos="6244" userDrawn="1">
          <p15:clr>
            <a:srgbClr val="9FCC3B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two images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072018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072018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168008" y="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168008" y="3501000"/>
            <a:ext cx="6023992" cy="3357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2BC9066-B5D9-AF6D-6531-C5B70B0F4B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87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153" userDrawn="1">
          <p15:clr>
            <a:srgbClr val="9FCC3B"/>
          </p15:clr>
        </p15:guide>
        <p15:guide id="14" pos="6244" userDrawn="1">
          <p15:clr>
            <a:srgbClr val="9FCC3B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wo images,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6023992" cy="31788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572822B-059A-B7AD-0BBE-CC9F10D80A8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168008" y="0"/>
            <a:ext cx="6023992" cy="31788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3717032"/>
            <a:ext cx="5472000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168008" y="3717032"/>
            <a:ext cx="5472000" cy="2340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F1CE46F8-E5F0-79EC-BCFD-07B38471E42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pPr algn="l"/>
            <a:endParaRPr lang="en-US" noProof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132686C-3404-59C2-A915-D1BF3E01084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C98B57A-3555-40BA-AB17-E55AA71BD4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2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153" userDrawn="1">
          <p15:clr>
            <a:srgbClr val="9FCC3B"/>
          </p15:clr>
        </p15:guide>
        <p15:guide id="14" pos="6244" userDrawn="1">
          <p15:clr>
            <a:srgbClr val="9FCC3B"/>
          </p15:clr>
        </p15:guide>
        <p15:guide id="15" orient="horz" pos="2341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61E2592-C1EF-3D9B-8998-9CBE468D2E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214862B1-1BEA-07E1-834B-64536F34BB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51384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FDE0631-BFE0-D7CB-B38E-9800DAD94A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51384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625D5CD-EB13-7B23-8CE8-72C1140C3D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95800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9D56707-D9C5-867A-9B10-EEE16F55F40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4295800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618DCF02-18F0-F413-650A-1BBBB77FE2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295800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0B06B7A-FFCC-5BC2-0870-633DD5EE80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040216" y="1844824"/>
            <a:ext cx="3600000" cy="276999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caption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8F0C17C-68B4-7D82-079D-FE5525B2C86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8040216" y="2240868"/>
            <a:ext cx="3600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C875757-40AA-FFE0-19F9-4B08BD4DB8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040216" y="5049180"/>
            <a:ext cx="3600000" cy="1008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2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Full image  (name and posi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D3568213-EF68-936E-27E2-B491177E3D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-600" y="0"/>
            <a:ext cx="121932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CE8921B-3DA6-94DA-A776-DD044CCFAE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51384" y="5264626"/>
            <a:ext cx="2398193" cy="792666"/>
          </a:xfrm>
          <a:solidFill>
            <a:schemeClr val="bg1"/>
          </a:solidFill>
        </p:spPr>
        <p:txBody>
          <a:bodyPr wrap="none" lIns="108000" tIns="133200" rIns="108000" bIns="169200" anchor="b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69105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Media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1">
            <a:extLst>
              <a:ext uri="{FF2B5EF4-FFF2-40B4-BE49-F238E27FC236}">
                <a16:creationId xmlns:a16="http://schemas.microsoft.com/office/drawing/2014/main" id="{CBB6E684-2097-3EE4-C891-8AFA7D49DEA4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 bwMode="gray">
          <a:xfrm>
            <a:off x="-600" y="0"/>
            <a:ext cx="121932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9570896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 Key message 1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dient background">
            <a:extLst>
              <a:ext uri="{FF2B5EF4-FFF2-40B4-BE49-F238E27FC236}">
                <a16:creationId xmlns:a16="http://schemas.microsoft.com/office/drawing/2014/main" id="{8D74D201-83D3-6FD9-8655-C4045985B1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11641138" y="0"/>
            <a:ext cx="555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8559"/>
            <a:ext cx="10440000" cy="4904676"/>
          </a:xfrm>
        </p:spPr>
        <p:txBody>
          <a:bodyPr>
            <a:spAutoFit/>
          </a:bodyPr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31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Key message 2 (gradi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9266D735-8620-C437-0FB3-0FE9AE77E0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05247"/>
            <a:ext cx="10440000" cy="1692515"/>
          </a:xfrm>
        </p:spPr>
        <p:txBody>
          <a:bodyPr/>
          <a:lstStyle>
            <a:lvl1pPr>
              <a:lnSpc>
                <a:spcPct val="83000"/>
              </a:lnSpc>
              <a:defRPr sz="6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5C384BCF-9353-711D-04BF-7AF1446ED0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61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 message 1 (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803874-3F49-6B30-F1BA-029CAB9E94C7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21362"/>
            <a:ext cx="10440000" cy="4904676"/>
          </a:xfrm>
        </p:spPr>
        <p:txBody>
          <a:bodyPr>
            <a:spAutoFit/>
          </a:bodyPr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57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 message 2 (gre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1CC37E-F977-0808-8FE2-EBFB981F74D1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505247"/>
            <a:ext cx="10440000" cy="1692515"/>
          </a:xfrm>
        </p:spPr>
        <p:txBody>
          <a:bodyPr/>
          <a:lstStyle>
            <a:lvl1pPr>
              <a:lnSpc>
                <a:spcPct val="83000"/>
              </a:lnSpc>
              <a:defRPr sz="6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key message (can be several lines long)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5C384BCF-9353-711D-04BF-7AF1446ED0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48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 (Background Grey)">
            <a:extLst>
              <a:ext uri="{FF2B5EF4-FFF2-40B4-BE49-F238E27FC236}">
                <a16:creationId xmlns:a16="http://schemas.microsoft.com/office/drawing/2014/main" id="{F56792E5-C6B9-EC9B-17EE-7D7E78258F0A}"/>
              </a:ext>
            </a:extLst>
          </p:cNvPr>
          <p:cNvSpPr/>
          <p:nvPr userDrawn="1"/>
        </p:nvSpPr>
        <p:spPr bwMode="gray">
          <a:xfrm>
            <a:off x="6168008" y="512676"/>
            <a:ext cx="5472000" cy="554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472000" cy="83099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2A6871A-3127-1574-ACDE-16A7A0E550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84" y="1844824"/>
            <a:ext cx="5472000" cy="421200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E0B544B-42EB-16A3-0EBF-8006B62CA0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528008" y="836712"/>
            <a:ext cx="4752000" cy="1846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 noProof="0"/>
              <a:t>Click to edit chart 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A94ADB8-8BB9-7BA9-B6D8-7500FFA90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528008" y="1052736"/>
            <a:ext cx="4752000" cy="18466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unit of value</a:t>
            </a:r>
          </a:p>
        </p:txBody>
      </p:sp>
      <p:sp>
        <p:nvSpPr>
          <p:cNvPr id="12" name="Chart Placeholder 1">
            <a:extLst>
              <a:ext uri="{FF2B5EF4-FFF2-40B4-BE49-F238E27FC236}">
                <a16:creationId xmlns:a16="http://schemas.microsoft.com/office/drawing/2014/main" id="{6F45CE3C-CE03-F84F-458B-8EB30D44E2C2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6527521" y="1340768"/>
            <a:ext cx="4752975" cy="4140000"/>
          </a:xfrm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chart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1429D25-4756-CAC6-F902-90E7E3E788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528008" y="5589530"/>
            <a:ext cx="4752000" cy="107722"/>
          </a:xfrm>
        </p:spPr>
        <p:txBody>
          <a:bodyPr anchor="b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700" b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7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7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footnote/source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78DAF8DC-04B4-6F33-FDF5-0EC9726FA8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pPr algn="l"/>
            <a:endParaRPr lang="en-US" noProof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8CC90698-5AC9-14B7-D67A-08FAA7A9C01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268BFFB-23FF-B2EF-20B1-9397D5C51E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1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26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 userDrawn="1">
          <p15:clr>
            <a:srgbClr val="9FCC3B"/>
          </p15:clr>
        </p15:guide>
        <p15:guide id="12" pos="1527" userDrawn="1">
          <p15:clr>
            <a:srgbClr val="9FCC3B"/>
          </p15:clr>
        </p15:guide>
        <p15:guide id="13" pos="6244" userDrawn="1">
          <p15:clr>
            <a:srgbClr val="9FCC3B"/>
          </p15:clr>
        </p15:guide>
        <p15:guide id="14" pos="6153" userDrawn="1">
          <p15:clr>
            <a:srgbClr val="9FCC3B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9DD3A440-1CA9-B6A2-DB83-4AED31D076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551384" y="1844824"/>
            <a:ext cx="2687116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021D8988-0F40-25F1-D7E7-AD2B2BD5BE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BF10AE8-C121-8442-377B-88627C9560A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359696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5885C9B-BDFD-3544-8568-29E1331A42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59696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15ECF1-9C67-32ED-D4D3-DDFE8EE0FA8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168008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9C6BBFC-28AE-9E58-2344-AD9D8C100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168008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FE697D5E-1E96-8C69-B935-640772D9971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 bwMode="gray">
          <a:xfrm>
            <a:off x="8976320" y="1844824"/>
            <a:ext cx="2664000" cy="2664000"/>
          </a:xfrm>
          <a:solidFill>
            <a:schemeClr val="bg2"/>
          </a:solidFill>
        </p:spPr>
        <p:txBody>
          <a:bodyPr bIns="720000" anchor="ctr"/>
          <a:lstStyle>
            <a:lvl1pPr algn="ctr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99907E-A59A-265E-C3BE-FF36FAD57D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976320" y="4653136"/>
            <a:ext cx="2664000" cy="1404764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Name Surname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3BCB6BD-118A-9D0A-8BE7-284C24A9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 noProof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63D64732-4FCA-425B-942A-F3C6B65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EDD9F3E-8BFD-4E3C-98D1-767322780FDD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F156D71-E0B5-D6E1-661C-545C3C90E2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79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pos="2615">
          <p15:clr>
            <a:srgbClr val="9FCC3B"/>
          </p15:clr>
        </p15:guide>
        <p15:guide id="4" pos="2706">
          <p15:clr>
            <a:srgbClr val="9FCC3B"/>
          </p15:clr>
        </p15:guide>
        <p15:guide id="5" pos="4974">
          <p15:clr>
            <a:srgbClr val="9FCC3B"/>
          </p15:clr>
        </p15:guide>
        <p15:guide id="6" pos="5065">
          <p15:clr>
            <a:srgbClr val="9FCC3B"/>
          </p15:clr>
        </p15:guide>
        <p15:guide id="7" pos="2040" userDrawn="1">
          <p15:clr>
            <a:srgbClr val="FBAE40"/>
          </p15:clr>
        </p15:guide>
        <p15:guide id="8" pos="2116">
          <p15:clr>
            <a:srgbClr val="FBAE40"/>
          </p15:clr>
        </p15:guide>
        <p15:guide id="9" pos="5564">
          <p15:clr>
            <a:srgbClr val="FBAE40"/>
          </p15:clr>
        </p15:guide>
        <p15:guide id="10" pos="5654">
          <p15:clr>
            <a:srgbClr val="FBAE40"/>
          </p15:clr>
        </p15:guide>
        <p15:guide id="11" pos="1436">
          <p15:clr>
            <a:srgbClr val="9FCC3B"/>
          </p15:clr>
        </p15:guide>
        <p15:guide id="12" pos="1527">
          <p15:clr>
            <a:srgbClr val="9FCC3B"/>
          </p15:clr>
        </p15:guide>
        <p15:guide id="13" pos="6244">
          <p15:clr>
            <a:srgbClr val="9FCC3B"/>
          </p15:clr>
        </p15:guide>
        <p15:guide id="14" pos="6153">
          <p15:clr>
            <a:srgbClr val="9FCC3B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79F1196-D343-C4C6-E6C1-0481148364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7C11606-5708-5AF1-A745-7C48C94318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8" name="Gradient background">
            <a:extLst>
              <a:ext uri="{FF2B5EF4-FFF2-40B4-BE49-F238E27FC236}">
                <a16:creationId xmlns:a16="http://schemas.microsoft.com/office/drawing/2014/main" id="{C5FA1B03-9A8B-0B3A-DF97-DDA924BDB59D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3735" t="784" r="487" b="784"/>
          <a:stretch>
            <a:fillRect/>
          </a:stretch>
        </p:blipFill>
        <p:spPr bwMode="hidden">
          <a:xfrm>
            <a:off x="11641138" y="1"/>
            <a:ext cx="555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86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EBA909-1CBA-C07A-6241-B3E5C730CC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592B1CA-9888-E4D0-38AA-72644C82C1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878"/>
          <a:stretch>
            <a:fillRect/>
          </a:stretch>
        </p:blipFill>
        <p:spPr>
          <a:xfrm flipH="1">
            <a:off x="11641138" y="0"/>
            <a:ext cx="558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18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EE5160-7157-FD00-72DD-B0C1659617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7ABF2EA-E0E1-5E97-F9DF-0A25325C6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747514"/>
            <a:ext cx="10440000" cy="3687997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closing statement (max. three lines)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238B284-6E1F-DB98-291C-B688B697E4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12224" y="4508884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71B56941-9CB9-1B31-EE5C-90530DC680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11641138" y="0"/>
            <a:ext cx="555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6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53C5D2-2DA0-43FA-4736-78C3F7AAAC1F}"/>
              </a:ext>
            </a:extLst>
          </p:cNvPr>
          <p:cNvSpPr/>
          <p:nvPr userDrawn="1"/>
        </p:nvSpPr>
        <p:spPr>
          <a:xfrm>
            <a:off x="1076" y="0"/>
            <a:ext cx="121909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5D50F-1D29-0A8C-7D2F-39C35FCEA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915" y="745103"/>
            <a:ext cx="10440000" cy="1226170"/>
          </a:xfrm>
        </p:spPr>
        <p:txBody>
          <a:bodyPr/>
          <a:lstStyle>
            <a:lvl1pPr>
              <a:lnSpc>
                <a:spcPct val="83000"/>
              </a:lnSpc>
              <a:defRPr sz="9600" spc="-60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Q&amp;A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5EBA909-1CBA-C07A-6241-B3E5C730CC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51394" y="2872882"/>
            <a:ext cx="3528000" cy="764312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200"/>
              </a:spcBef>
              <a:buFont typeface="Arial" panose="020B0604020202020204" pitchFamily="34" charset="0"/>
              <a:buNone/>
              <a:defRPr sz="2400" b="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200"/>
              </a:spcBef>
              <a:buNone/>
              <a:defRPr sz="24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C21BD91-F5A5-C766-343C-9E9AF3E574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gray">
          <a:xfrm>
            <a:off x="551394" y="6301888"/>
            <a:ext cx="1691980" cy="252837"/>
          </a:xfrm>
          <a:prstGeom prst="rect">
            <a:avLst/>
          </a:prstGeom>
        </p:spPr>
      </p:pic>
      <p:pic>
        <p:nvPicPr>
          <p:cNvPr id="4" name="Gradient background">
            <a:extLst>
              <a:ext uri="{FF2B5EF4-FFF2-40B4-BE49-F238E27FC236}">
                <a16:creationId xmlns:a16="http://schemas.microsoft.com/office/drawing/2014/main" id="{B71C6042-1A08-DE22-F443-2471CE7EBC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hidden">
          <a:xfrm>
            <a:off x="0" y="1"/>
            <a:ext cx="12192000" cy="3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18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692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 (Soft White)">
            <a:extLst>
              <a:ext uri="{FF2B5EF4-FFF2-40B4-BE49-F238E27FC236}">
                <a16:creationId xmlns:a16="http://schemas.microsoft.com/office/drawing/2014/main" id="{AA716554-F91F-95C6-1065-438A52A6D658}"/>
              </a:ext>
            </a:extLst>
          </p:cNvPr>
          <p:cNvSpPr/>
          <p:nvPr userDrawn="1"/>
        </p:nvSpPr>
        <p:spPr bwMode="hidden">
          <a:xfrm>
            <a:off x="-60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CD9D9-86A4-E818-1FE4-D228D5CDB0B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51384" y="476672"/>
            <a:ext cx="11088000" cy="4154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35B76263-23BE-7BB5-2901-CB7111507685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551384" y="1844824"/>
            <a:ext cx="11088000" cy="421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D872605-B8A3-4560-D1E5-773A17639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168008" y="6433635"/>
            <a:ext cx="4824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algn="l"/>
            <a:endParaRPr lang="en-US" noProof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8CE6BD9B-B3F1-1D85-5718-E7D48314B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52584" y="6433635"/>
            <a:ext cx="288032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DD9F3E-8BFD-4E3C-98D1-767322780FD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5564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49" r:id="rId2"/>
    <p:sldLayoutId id="2147483684" r:id="rId3"/>
    <p:sldLayoutId id="2147483685" r:id="rId4"/>
    <p:sldLayoutId id="2147483671" r:id="rId5"/>
    <p:sldLayoutId id="2147483688" r:id="rId6"/>
    <p:sldLayoutId id="2147483689" r:id="rId7"/>
    <p:sldLayoutId id="2147483672" r:id="rId8"/>
    <p:sldLayoutId id="2147483673" r:id="rId9"/>
    <p:sldLayoutId id="2147483697" r:id="rId10"/>
    <p:sldLayoutId id="2147483651" r:id="rId11"/>
    <p:sldLayoutId id="2147483691" r:id="rId12"/>
    <p:sldLayoutId id="2147483679" r:id="rId13"/>
    <p:sldLayoutId id="2147483654" r:id="rId14"/>
    <p:sldLayoutId id="2147483655" r:id="rId15"/>
    <p:sldLayoutId id="2147483706" r:id="rId16"/>
    <p:sldLayoutId id="2147483657" r:id="rId17"/>
    <p:sldLayoutId id="2147483658" r:id="rId18"/>
    <p:sldLayoutId id="2147483704" r:id="rId19"/>
    <p:sldLayoutId id="2147483659" r:id="rId20"/>
    <p:sldLayoutId id="2147483705" r:id="rId21"/>
    <p:sldLayoutId id="2147483660" r:id="rId22"/>
    <p:sldLayoutId id="2147483661" r:id="rId23"/>
    <p:sldLayoutId id="2147483683" r:id="rId24"/>
    <p:sldLayoutId id="2147483663" r:id="rId25"/>
    <p:sldLayoutId id="2147483662" r:id="rId26"/>
    <p:sldLayoutId id="2147483665" r:id="rId27"/>
    <p:sldLayoutId id="2147483666" r:id="rId28"/>
    <p:sldLayoutId id="2147483693" r:id="rId29"/>
    <p:sldLayoutId id="2147483694" r:id="rId30"/>
    <p:sldLayoutId id="2147483669" r:id="rId31"/>
    <p:sldLayoutId id="2147483682" r:id="rId32"/>
    <p:sldLayoutId id="2147483680" r:id="rId33"/>
    <p:sldLayoutId id="2147483695" r:id="rId34"/>
    <p:sldLayoutId id="2147483696" r:id="rId35"/>
    <p:sldLayoutId id="2147483703" r:id="rId3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62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4.svg"/><Relationship Id="rId1" Type="http://schemas.openxmlformats.org/officeDocument/2006/relationships/slideLayout" Target="../slideLayouts/slideLayout15.xml"/><Relationship Id="rId11" Type="http://schemas.openxmlformats.org/officeDocument/2006/relationships/image" Target="../media/image44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9" Type="http://schemas.openxmlformats.org/officeDocument/2006/relationships/image" Target="../media/image340.png"/><Relationship Id="rId1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svg"/><Relationship Id="rId11" Type="http://schemas.openxmlformats.org/officeDocument/2006/relationships/image" Target="../media/image450.png"/><Relationship Id="rId5" Type="http://schemas.openxmlformats.org/officeDocument/2006/relationships/image" Target="../media/image18.svg"/><Relationship Id="rId10" Type="http://schemas.openxmlformats.org/officeDocument/2006/relationships/image" Target="../media/image440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0.png"/><Relationship Id="rId4" Type="http://schemas.openxmlformats.org/officeDocument/2006/relationships/image" Target="../media/image3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8096" y="946724"/>
            <a:ext cx="9994392" cy="1231106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strike="noStrike" cap="none" dirty="0">
                <a:latin typeface="Arial"/>
                <a:cs typeface="Arial"/>
                <a:sym typeface="Arial"/>
              </a:rPr>
              <a:t>Automated Covariate-Model Building for Population PK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609600" y="2580345"/>
            <a:ext cx="10972800" cy="430887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Arial"/>
                <a:cs typeface="Arial"/>
                <a:sym typeface="Arial"/>
              </a:rPr>
              <a:t>N</a:t>
            </a:r>
            <a:r>
              <a:rPr sz="2800" b="1" i="0" u="none" strike="noStrike" cap="none" dirty="0">
                <a:latin typeface="Arial"/>
                <a:cs typeface="Arial"/>
                <a:sym typeface="Arial"/>
              </a:rPr>
              <a:t>lmixr2 Ecosystem vs. NONMEM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488038" y="3130591"/>
            <a:ext cx="10972800" cy="276999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00" b="0" i="1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Traditional SCM and cutting-edge VAE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3919728" y="3963993"/>
            <a:ext cx="4352544" cy="1195199"/>
          </a:xfrm>
        </p:spPr>
        <p:txBody>
          <a:bodyPr/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Presenter: Yaping Liu</a:t>
            </a:r>
            <a:r>
              <a:rPr sz="1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  </a:t>
            </a:r>
            <a:r>
              <a:rPr lang="en-US" sz="1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(PMX intern)</a:t>
            </a: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Manager: Matt Fidler</a:t>
            </a: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Date: 08/18/2026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6CBEB4-400B-0293-80E7-BD67C51C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C6EAF-C8FF-F5E1-9349-5FCAC505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2</a:t>
            </a:fld>
            <a:endParaRPr lang="en-US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484837-1A58-4E58-D560-DD5CA02239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96" t="10960" r="19888" b="15306"/>
          <a:stretch>
            <a:fillRect/>
          </a:stretch>
        </p:blipFill>
        <p:spPr>
          <a:xfrm>
            <a:off x="7023788" y="4086499"/>
            <a:ext cx="3656473" cy="21949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6F2A0D-5A81-393B-C6F5-CEA3D02C339C}"/>
              </a:ext>
            </a:extLst>
          </p:cNvPr>
          <p:cNvSpPr txBox="1"/>
          <p:nvPr/>
        </p:nvSpPr>
        <p:spPr>
          <a:xfrm>
            <a:off x="6033468" y="3534216"/>
            <a:ext cx="6097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4. Cautious interpretation &amp; domain knowledge 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DD85BC-F656-59E4-C19E-E7A6CCA59B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30"/>
          <a:stretch>
            <a:fillRect/>
          </a:stretch>
        </p:blipFill>
        <p:spPr>
          <a:xfrm>
            <a:off x="673398" y="1218704"/>
            <a:ext cx="4807845" cy="23238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B22EB5-E400-C4C9-C70B-A01244319FFE}"/>
              </a:ext>
            </a:extLst>
          </p:cNvPr>
          <p:cNvSpPr txBox="1"/>
          <p:nvPr/>
        </p:nvSpPr>
        <p:spPr>
          <a:xfrm>
            <a:off x="616765" y="485921"/>
            <a:ext cx="46611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1. Covariate selection matters for dose optimization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C93C9F-CB44-6B8B-3BC9-E44712FD4309}"/>
              </a:ext>
            </a:extLst>
          </p:cNvPr>
          <p:cNvSpPr txBox="1"/>
          <p:nvPr/>
        </p:nvSpPr>
        <p:spPr>
          <a:xfrm>
            <a:off x="6396608" y="485921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/>
              <a:t>2. Benchmark nlmixr2 vs. NONMEM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817352B-93C0-C657-68FD-B3896601EC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390"/>
          <a:stretch>
            <a:fillRect/>
          </a:stretch>
        </p:blipFill>
        <p:spPr>
          <a:xfrm>
            <a:off x="6767392" y="919314"/>
            <a:ext cx="4023803" cy="236721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511866B-8F83-949C-EADA-29B7B80DBB68}"/>
              </a:ext>
            </a:extLst>
          </p:cNvPr>
          <p:cNvSpPr txBox="1"/>
          <p:nvPr/>
        </p:nvSpPr>
        <p:spPr>
          <a:xfrm>
            <a:off x="673398" y="3567499"/>
            <a:ext cx="6093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/>
              <a:t>3. nlmixr2 matches NONMEM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572745-01B3-4568-B25E-425F780B3FC9}"/>
              </a:ext>
            </a:extLst>
          </p:cNvPr>
          <p:cNvGrpSpPr/>
          <p:nvPr/>
        </p:nvGrpSpPr>
        <p:grpSpPr>
          <a:xfrm>
            <a:off x="981048" y="4582099"/>
            <a:ext cx="2359653" cy="1253427"/>
            <a:chOff x="673399" y="4218139"/>
            <a:chExt cx="2359653" cy="125342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F36A783-4ED5-BE91-D606-829546EC2498}"/>
                </a:ext>
              </a:extLst>
            </p:cNvPr>
            <p:cNvGrpSpPr/>
            <p:nvPr/>
          </p:nvGrpSpPr>
          <p:grpSpPr>
            <a:xfrm>
              <a:off x="673399" y="4336485"/>
              <a:ext cx="1700670" cy="1104215"/>
              <a:chOff x="978880" y="4441197"/>
              <a:chExt cx="1543152" cy="100194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334CCB0-3A8B-5791-188D-09DD8DA97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8880" y="4761983"/>
                <a:ext cx="1543152" cy="68115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E1BCCC2-33CC-23CB-93D0-01D4E94C18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3205" y="4441197"/>
                <a:ext cx="1410776" cy="348277"/>
              </a:xfrm>
              <a:prstGeom prst="rect">
                <a:avLst/>
              </a:prstGeom>
            </p:spPr>
          </p:pic>
        </p:grpSp>
        <p:pic>
          <p:nvPicPr>
            <p:cNvPr id="17" name="Graphic 16" descr="Bullseye with solid fill">
              <a:extLst>
                <a:ext uri="{FF2B5EF4-FFF2-40B4-BE49-F238E27FC236}">
                  <a16:creationId xmlns:a16="http://schemas.microsoft.com/office/drawing/2014/main" id="{4B60FB34-9357-6F66-CC35-8334F9D7FF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14529" y="4218139"/>
              <a:ext cx="618523" cy="618523"/>
            </a:xfrm>
            <a:prstGeom prst="rect">
              <a:avLst/>
            </a:prstGeom>
          </p:spPr>
        </p:pic>
        <p:pic>
          <p:nvPicPr>
            <p:cNvPr id="23" name="Graphic 22" descr="Stopwatch 75% with solid fill">
              <a:extLst>
                <a:ext uri="{FF2B5EF4-FFF2-40B4-BE49-F238E27FC236}">
                  <a16:creationId xmlns:a16="http://schemas.microsoft.com/office/drawing/2014/main" id="{566C48E3-2F5C-E467-C412-73590E908C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14529" y="4853043"/>
              <a:ext cx="618523" cy="618523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740A30B-76E6-C2B2-19B7-12008D7BE911}"/>
              </a:ext>
            </a:extLst>
          </p:cNvPr>
          <p:cNvGrpSpPr/>
          <p:nvPr/>
        </p:nvGrpSpPr>
        <p:grpSpPr>
          <a:xfrm>
            <a:off x="3705575" y="4412427"/>
            <a:ext cx="2074117" cy="1576389"/>
            <a:chOff x="3222667" y="4048037"/>
            <a:chExt cx="2074117" cy="15763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BFC2F1E-4094-D391-08C2-BC9EC2401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20395" y="4048037"/>
              <a:ext cx="1576389" cy="1576389"/>
            </a:xfrm>
            <a:prstGeom prst="rect">
              <a:avLst/>
            </a:prstGeom>
          </p:spPr>
        </p:pic>
        <p:pic>
          <p:nvPicPr>
            <p:cNvPr id="21" name="Graphic 20" descr="Stopwatch 25% with solid fill">
              <a:extLst>
                <a:ext uri="{FF2B5EF4-FFF2-40B4-BE49-F238E27FC236}">
                  <a16:creationId xmlns:a16="http://schemas.microsoft.com/office/drawing/2014/main" id="{5B0E6820-7966-91C5-EEE6-4C1546DD33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22667" y="4849442"/>
              <a:ext cx="625723" cy="625723"/>
            </a:xfrm>
            <a:prstGeom prst="rect">
              <a:avLst/>
            </a:prstGeom>
          </p:spPr>
        </p:pic>
        <p:pic>
          <p:nvPicPr>
            <p:cNvPr id="25" name="Graphic 24" descr="Bullseye with solid fill">
              <a:extLst>
                <a:ext uri="{FF2B5EF4-FFF2-40B4-BE49-F238E27FC236}">
                  <a16:creationId xmlns:a16="http://schemas.microsoft.com/office/drawing/2014/main" id="{DDB2D4C8-0DA9-BAE7-6E84-FE30DF72A8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229867" y="4218140"/>
              <a:ext cx="618523" cy="618523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FF79E0-40D0-103C-AA6B-57B05B148DC5}"/>
              </a:ext>
            </a:extLst>
          </p:cNvPr>
          <p:cNvGrpSpPr/>
          <p:nvPr/>
        </p:nvGrpSpPr>
        <p:grpSpPr>
          <a:xfrm>
            <a:off x="3001378" y="4629698"/>
            <a:ext cx="1048451" cy="1174962"/>
            <a:chOff x="2532763" y="4218139"/>
            <a:chExt cx="1048451" cy="11749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6B70CE9-BF81-4587-1269-DEC6D23FCCA3}"/>
                    </a:ext>
                  </a:extLst>
                </p:cNvPr>
                <p:cNvSpPr txBox="1"/>
                <p:nvPr/>
              </p:nvSpPr>
              <p:spPr>
                <a:xfrm>
                  <a:off x="2532763" y="4218139"/>
                  <a:ext cx="101101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solidFill>
                              <a:srgbClr val="4D4D4D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  <a:sym typeface="Arial"/>
                          </a:rPr>
                          <m:t>≈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6B70CE9-BF81-4587-1269-DEC6D23FC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763" y="4218139"/>
                  <a:ext cx="1011018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C553FF7-065C-B627-A25A-AA7085D63150}"/>
                    </a:ext>
                  </a:extLst>
                </p:cNvPr>
                <p:cNvSpPr txBox="1"/>
                <p:nvPr/>
              </p:nvSpPr>
              <p:spPr>
                <a:xfrm>
                  <a:off x="2570196" y="4931436"/>
                  <a:ext cx="101101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rgbClr val="4D4D4D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  <a:sym typeface="Arial"/>
                          </a:rPr>
                          <m:t>&gt;</m:t>
                        </m:r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C553FF7-065C-B627-A25A-AA7085D63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196" y="4931436"/>
                  <a:ext cx="1011018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DC4CF08-8687-427E-7479-EFE7F858BC9A}"/>
              </a:ext>
            </a:extLst>
          </p:cNvPr>
          <p:cNvSpPr txBox="1"/>
          <p:nvPr/>
        </p:nvSpPr>
        <p:spPr>
          <a:xfrm>
            <a:off x="149980" y="47891"/>
            <a:ext cx="6246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0460A9"/>
                </a:solidFill>
                <a:latin typeface="Arial"/>
                <a:cs typeface="Arial"/>
              </a:rPr>
              <a:t>Roadmap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11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044B-5A2C-15EA-A27D-6D9B6803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4718013-A1DC-E0D1-C833-136F9C4CDE80}"/>
              </a:ext>
            </a:extLst>
          </p:cNvPr>
          <p:cNvGrpSpPr/>
          <p:nvPr/>
        </p:nvGrpSpPr>
        <p:grpSpPr>
          <a:xfrm>
            <a:off x="2622788" y="6130000"/>
            <a:ext cx="8733555" cy="560000"/>
            <a:chOff x="880000" y="5195331"/>
            <a:chExt cx="9400001" cy="560000"/>
          </a:xfrm>
        </p:grpSpPr>
        <p:sp>
          <p:nvSpPr>
            <p:cNvPr id="90" name="pill90">
              <a:extLst>
                <a:ext uri="{FF2B5EF4-FFF2-40B4-BE49-F238E27FC236}">
                  <a16:creationId xmlns:a16="http://schemas.microsoft.com/office/drawing/2014/main" id="{9B4C9BEF-761A-9CFA-8996-F8D42A8D3C1F}"/>
                </a:ext>
              </a:extLst>
            </p:cNvPr>
            <p:cNvSpPr/>
            <p:nvPr/>
          </p:nvSpPr>
          <p:spPr>
            <a:xfrm>
              <a:off x="323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2 Methods</a:t>
              </a:r>
            </a:p>
          </p:txBody>
        </p:sp>
        <p:sp>
          <p:nvSpPr>
            <p:cNvPr id="91" name="pill91">
              <a:extLst>
                <a:ext uri="{FF2B5EF4-FFF2-40B4-BE49-F238E27FC236}">
                  <a16:creationId xmlns:a16="http://schemas.microsoft.com/office/drawing/2014/main" id="{5F05F5B0-AB0C-F471-7AEF-47375C16D45B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Arial"/>
                  <a:cs typeface="Arial"/>
                </a:rPr>
                <a:t>1 Background</a:t>
              </a:r>
            </a:p>
          </p:txBody>
        </p:sp>
        <p:sp>
          <p:nvSpPr>
            <p:cNvPr id="92" name="pill92">
              <a:extLst>
                <a:ext uri="{FF2B5EF4-FFF2-40B4-BE49-F238E27FC236}">
                  <a16:creationId xmlns:a16="http://schemas.microsoft.com/office/drawing/2014/main" id="{564F15FB-B979-647B-CCCE-B63552B2B0B0}"/>
                </a:ext>
              </a:extLst>
            </p:cNvPr>
            <p:cNvSpPr/>
            <p:nvPr/>
          </p:nvSpPr>
          <p:spPr>
            <a:xfrm>
              <a:off x="558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3  Results</a:t>
              </a:r>
            </a:p>
          </p:txBody>
        </p:sp>
        <p:sp>
          <p:nvSpPr>
            <p:cNvPr id="93" name="pill93">
              <a:extLst>
                <a:ext uri="{FF2B5EF4-FFF2-40B4-BE49-F238E27FC236}">
                  <a16:creationId xmlns:a16="http://schemas.microsoft.com/office/drawing/2014/main" id="{230F480C-33C6-55C3-03D1-48EE25486E56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4  Discussion</a:t>
              </a:r>
            </a:p>
          </p:txBody>
        </p:sp>
      </p:grpSp>
      <p:sp>
        <p:nvSpPr>
          <p:cNvPr id="960" name="slidenum_fn">
            <a:extLst>
              <a:ext uri="{FF2B5EF4-FFF2-40B4-BE49-F238E27FC236}">
                <a16:creationId xmlns:a16="http://schemas.microsoft.com/office/drawing/2014/main" id="{4B24A7D4-1B4D-7CB2-E7E0-68394A363648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67AF961B-FA85-46B2-8462-1AA7770D0F78}" type="slidenum">
              <a:rPr lang="en-US" sz="1000">
                <a:solidFill>
                  <a:srgbClr val="8A8A8A"/>
                </a:solidFill>
                <a:latin typeface="Arial"/>
              </a:rPr>
              <a:t>3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731C03-49E1-B5D1-0301-AD7435C9F8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30"/>
          <a:stretch>
            <a:fillRect/>
          </a:stretch>
        </p:blipFill>
        <p:spPr>
          <a:xfrm>
            <a:off x="984232" y="747451"/>
            <a:ext cx="9738990" cy="470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7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6CAF-2FC2-7AA7-5B85-AD00AE75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1E94F8BF-DB8A-FF20-FC29-A27F1AB44724}"/>
              </a:ext>
            </a:extLst>
          </p:cNvPr>
          <p:cNvSpPr txBox="1"/>
          <p:nvPr/>
        </p:nvSpPr>
        <p:spPr>
          <a:xfrm>
            <a:off x="340876" y="386073"/>
            <a:ext cx="11094720" cy="6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400" b="1" dirty="0">
                <a:solidFill>
                  <a:srgbClr val="0460A9"/>
                </a:solidFill>
                <a:latin typeface="Arial"/>
                <a:cs typeface="Arial"/>
              </a:rPr>
              <a:t>Population PK explains why drug exposure differs between patients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6A2179-9834-AC1F-7E90-62161EC65A92}"/>
              </a:ext>
            </a:extLst>
          </p:cNvPr>
          <p:cNvSpPr txBox="1"/>
          <p:nvPr/>
        </p:nvSpPr>
        <p:spPr>
          <a:xfrm>
            <a:off x="5695791" y="6051985"/>
            <a:ext cx="6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https://pub.towardsai.net/from-probability-to-loss-how-mle-builds-machine-learning-part-1-52fe0efa43a9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8A044F0-FFB9-2FCA-6C44-30424F0C10D2}"/>
              </a:ext>
            </a:extLst>
          </p:cNvPr>
          <p:cNvGrpSpPr/>
          <p:nvPr/>
        </p:nvGrpSpPr>
        <p:grpSpPr>
          <a:xfrm>
            <a:off x="527159" y="1331259"/>
            <a:ext cx="5568841" cy="4195482"/>
            <a:chOff x="534805" y="1141201"/>
            <a:chExt cx="5251071" cy="4283037"/>
          </a:xfrm>
        </p:grpSpPr>
        <p:sp>
          <p:nvSpPr>
            <p:cNvPr id="10" name="lead">
              <a:extLst>
                <a:ext uri="{FF2B5EF4-FFF2-40B4-BE49-F238E27FC236}">
                  <a16:creationId xmlns:a16="http://schemas.microsoft.com/office/drawing/2014/main" id="{ECF9F3F7-C509-A5EB-2BC8-7C26B5805FE1}"/>
                </a:ext>
              </a:extLst>
            </p:cNvPr>
            <p:cNvSpPr txBox="1"/>
            <p:nvPr/>
          </p:nvSpPr>
          <p:spPr>
            <a:xfrm>
              <a:off x="1593338" y="1407175"/>
              <a:ext cx="3470792" cy="39543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>
                <a:lnSpc>
                  <a:spcPct val="106000"/>
                </a:lnSpc>
              </a:pPr>
              <a:r>
                <a:rPr lang="en-US" sz="2000" b="0" i="0" dirty="0">
                  <a:solidFill>
                    <a:srgbClr val="3C3C3C"/>
                  </a:solidFill>
                  <a:latin typeface="Arial"/>
                  <a:cs typeface="Arial"/>
                </a:rPr>
                <a:t>N</a:t>
              </a:r>
              <a:r>
                <a:rPr lang="en-US" altLang="zh-CN" sz="2000" b="0" i="0" dirty="0">
                  <a:solidFill>
                    <a:srgbClr val="3C3C3C"/>
                  </a:solidFill>
                  <a:latin typeface="Arial"/>
                  <a:cs typeface="Arial"/>
                </a:rPr>
                <a:t>onlinear Mixed effect Models</a:t>
              </a:r>
              <a:endParaRPr lang="en-US" sz="2000" dirty="0">
                <a:solidFill>
                  <a:srgbClr val="3C3C3C"/>
                </a:solidFill>
                <a:latin typeface="Arial"/>
                <a:cs typeface="Arial"/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66DE0267-78A9-D1E8-A339-A6EE09A4375E}"/>
                </a:ext>
              </a:extLst>
            </p:cNvPr>
            <p:cNvSpPr/>
            <p:nvPr/>
          </p:nvSpPr>
          <p:spPr>
            <a:xfrm>
              <a:off x="534805" y="1141201"/>
              <a:ext cx="5251071" cy="4283037"/>
            </a:xfrm>
            <a:prstGeom prst="round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lIns="108000" tIns="108000" rIns="108000" bIns="108000" rtlCol="0" anchor="t"/>
            <a:lstStyle/>
            <a:p>
              <a:pPr marL="180000" indent="-180000" algn="l">
                <a:spcBef>
                  <a:spcPts val="800"/>
                </a:spcBef>
                <a:buFont typeface="Arial" panose="020B0604020202020204" pitchFamily="34" charset="0"/>
                <a:buChar char="•"/>
              </a:pPr>
              <a:endParaRPr lang="en-US" sz="1600" dirty="0" err="1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18E5AAA-DFCB-132D-FA7A-FA1780C79FB7}"/>
              </a:ext>
            </a:extLst>
          </p:cNvPr>
          <p:cNvGrpSpPr/>
          <p:nvPr/>
        </p:nvGrpSpPr>
        <p:grpSpPr>
          <a:xfrm>
            <a:off x="6409853" y="1326774"/>
            <a:ext cx="5066115" cy="4195482"/>
            <a:chOff x="6409853" y="1326774"/>
            <a:chExt cx="5066115" cy="419548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4E10678-3A76-2DE5-99A6-40EBB5D0D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71107" y="2058318"/>
              <a:ext cx="4244185" cy="3289243"/>
            </a:xfrm>
            <a:prstGeom prst="rect">
              <a:avLst/>
            </a:prstGeom>
          </p:spPr>
        </p:pic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DDBF15E-478D-2AEC-300D-CFF1B80CB14F}"/>
                </a:ext>
              </a:extLst>
            </p:cNvPr>
            <p:cNvGrpSpPr/>
            <p:nvPr/>
          </p:nvGrpSpPr>
          <p:grpSpPr>
            <a:xfrm>
              <a:off x="6409853" y="1326774"/>
              <a:ext cx="5066115" cy="4195482"/>
              <a:chOff x="6410606" y="1194125"/>
              <a:chExt cx="4884924" cy="657017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F5105A9-D303-B08A-10CC-53A0CD5BAAC3}"/>
                  </a:ext>
                </a:extLst>
              </p:cNvPr>
              <p:cNvGrpSpPr/>
              <p:nvPr/>
            </p:nvGrpSpPr>
            <p:grpSpPr>
              <a:xfrm>
                <a:off x="6542680" y="1242754"/>
                <a:ext cx="4661352" cy="395430"/>
                <a:chOff x="6393201" y="1054963"/>
                <a:chExt cx="5402454" cy="395430"/>
              </a:xfrm>
            </p:grpSpPr>
            <p:sp>
              <p:nvSpPr>
                <p:cNvPr id="59" name="lead">
                  <a:extLst>
                    <a:ext uri="{FF2B5EF4-FFF2-40B4-BE49-F238E27FC236}">
                      <a16:creationId xmlns:a16="http://schemas.microsoft.com/office/drawing/2014/main" id="{7F6A32F2-A000-99B8-00CA-246354CE07A9}"/>
                    </a:ext>
                  </a:extLst>
                </p:cNvPr>
                <p:cNvSpPr txBox="1"/>
                <p:nvPr/>
              </p:nvSpPr>
              <p:spPr>
                <a:xfrm>
                  <a:off x="6393201" y="1054963"/>
                  <a:ext cx="5402454" cy="39543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/>
                <a:lstStyle/>
                <a:p>
                  <a:pPr>
                    <a:lnSpc>
                      <a:spcPct val="106000"/>
                    </a:lnSpc>
                  </a:pPr>
                  <a:r>
                    <a:rPr lang="en-US" sz="2000" b="0" i="0" dirty="0">
                      <a:solidFill>
                        <a:srgbClr val="3C3C3C"/>
                      </a:solidFill>
                      <a:latin typeface="Arial"/>
                      <a:cs typeface="Arial"/>
                    </a:rPr>
                    <a:t>Max(likelihood)        Min(objective function)</a:t>
                  </a:r>
                  <a:endParaRPr lang="en-US" sz="2000" dirty="0">
                    <a:solidFill>
                      <a:srgbClr val="3C3C3C"/>
                    </a:solidFill>
                    <a:latin typeface="Arial"/>
                    <a:cs typeface="Arial"/>
                  </a:endParaRPr>
                </a:p>
              </p:txBody>
            </p: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5CE93AE8-8316-5871-FAD0-861579FA06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58033" y="1082545"/>
                  <a:ext cx="360662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C3D2AF18-D033-824C-F2CB-39AE9125D3B3}"/>
                  </a:ext>
                </a:extLst>
              </p:cNvPr>
              <p:cNvSpPr/>
              <p:nvPr/>
            </p:nvSpPr>
            <p:spPr>
              <a:xfrm>
                <a:off x="6410606" y="1194125"/>
                <a:ext cx="4884924" cy="657017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lIns="108000" tIns="108000" rIns="108000" bIns="108000" rtlCol="0" anchor="t"/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endParaRPr lang="en-US" dirty="0" err="1"/>
              </a:p>
            </p:txBody>
          </p:sp>
        </p:grpSp>
      </p:grpSp>
      <p:sp>
        <p:nvSpPr>
          <p:cNvPr id="960" name="slidenum_fn">
            <a:extLst>
              <a:ext uri="{FF2B5EF4-FFF2-40B4-BE49-F238E27FC236}">
                <a16:creationId xmlns:a16="http://schemas.microsoft.com/office/drawing/2014/main" id="{E74B50C6-469F-A496-2A74-2CD94D9CED15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79787F28-600E-4634-B20F-1F527FB9D626}" type="slidenum">
              <a:rPr lang="en-US" sz="1000">
                <a:solidFill>
                  <a:srgbClr val="8A8A8A"/>
                </a:solidFill>
                <a:latin typeface="Arial"/>
              </a:rPr>
              <a:t>4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FF5A011-5CB0-E770-457E-7A33A8DEB0A6}"/>
              </a:ext>
            </a:extLst>
          </p:cNvPr>
          <p:cNvGrpSpPr/>
          <p:nvPr/>
        </p:nvGrpSpPr>
        <p:grpSpPr>
          <a:xfrm>
            <a:off x="1236488" y="2883990"/>
            <a:ext cx="4747207" cy="1957351"/>
            <a:chOff x="1236488" y="2883990"/>
            <a:chExt cx="4747207" cy="1957351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DBCD7F0-18FC-AB81-AE9C-577C156D4E54}"/>
                </a:ext>
              </a:extLst>
            </p:cNvPr>
            <p:cNvSpPr/>
            <p:nvPr/>
          </p:nvSpPr>
          <p:spPr>
            <a:xfrm>
              <a:off x="1236488" y="2992809"/>
              <a:ext cx="1229375" cy="1848532"/>
            </a:xfrm>
            <a:custGeom>
              <a:avLst/>
              <a:gdLst>
                <a:gd name="csX0" fmla="*/ 6178 w 1118286"/>
                <a:gd name="csY0" fmla="*/ 0 h 1890584"/>
                <a:gd name="csX1" fmla="*/ 166816 w 1118286"/>
                <a:gd name="csY1" fmla="*/ 864973 h 1890584"/>
                <a:gd name="csX2" fmla="*/ 1118286 w 1118286"/>
                <a:gd name="csY2" fmla="*/ 1890584 h 1890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18286" h="1890584">
                  <a:moveTo>
                    <a:pt x="6178" y="0"/>
                  </a:moveTo>
                  <a:cubicBezTo>
                    <a:pt x="-6179" y="274938"/>
                    <a:pt x="-18535" y="549876"/>
                    <a:pt x="166816" y="864973"/>
                  </a:cubicBezTo>
                  <a:cubicBezTo>
                    <a:pt x="352167" y="1180070"/>
                    <a:pt x="922637" y="1830860"/>
                    <a:pt x="1118286" y="1890584"/>
                  </a:cubicBezTo>
                </a:path>
              </a:pathLst>
            </a:custGeom>
            <a:ln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7F865AA-FB93-CA57-5A96-07275A287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2307" t="16671" r="23168" b="14072"/>
            <a:stretch>
              <a:fillRect/>
            </a:stretch>
          </p:blipFill>
          <p:spPr>
            <a:xfrm flipH="1">
              <a:off x="5595931" y="2883990"/>
              <a:ext cx="387764" cy="1054989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A88B6B4-A46C-B92F-16ED-218B9290A8DB}"/>
              </a:ext>
            </a:extLst>
          </p:cNvPr>
          <p:cNvGrpSpPr/>
          <p:nvPr/>
        </p:nvGrpSpPr>
        <p:grpSpPr>
          <a:xfrm>
            <a:off x="1265412" y="2854650"/>
            <a:ext cx="3860910" cy="1283702"/>
            <a:chOff x="1265412" y="2854650"/>
            <a:chExt cx="3860910" cy="1283702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E8CB5D2-CB26-27AA-2840-4BEBB104CCD5}"/>
                </a:ext>
              </a:extLst>
            </p:cNvPr>
            <p:cNvSpPr/>
            <p:nvPr/>
          </p:nvSpPr>
          <p:spPr>
            <a:xfrm>
              <a:off x="1265412" y="2930483"/>
              <a:ext cx="3000084" cy="1207869"/>
            </a:xfrm>
            <a:custGeom>
              <a:avLst/>
              <a:gdLst>
                <a:gd name="csX0" fmla="*/ 0 w 1816443"/>
                <a:gd name="csY0" fmla="*/ 0 h 1025611"/>
                <a:gd name="csX1" fmla="*/ 531340 w 1816443"/>
                <a:gd name="csY1" fmla="*/ 630195 h 1025611"/>
                <a:gd name="csX2" fmla="*/ 1816443 w 1816443"/>
                <a:gd name="csY2" fmla="*/ 1025611 h 10256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816443" h="1025611">
                  <a:moveTo>
                    <a:pt x="0" y="0"/>
                  </a:moveTo>
                  <a:cubicBezTo>
                    <a:pt x="114300" y="229630"/>
                    <a:pt x="228600" y="459260"/>
                    <a:pt x="531340" y="630195"/>
                  </a:cubicBezTo>
                  <a:cubicBezTo>
                    <a:pt x="834080" y="801130"/>
                    <a:pt x="1325261" y="913370"/>
                    <a:pt x="1816443" y="1025611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0502D83-918C-8C53-D42D-4C7BE2DB6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0934" t="14165" r="62159" b="15467"/>
            <a:stretch>
              <a:fillRect/>
            </a:stretch>
          </p:blipFill>
          <p:spPr>
            <a:xfrm>
              <a:off x="4684580" y="2854650"/>
              <a:ext cx="441742" cy="1049111"/>
            </a:xfrm>
            <a:prstGeom prst="rect">
              <a:avLst/>
            </a:prstGeom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0489189-89F9-80E7-965E-17D068993142}"/>
              </a:ext>
            </a:extLst>
          </p:cNvPr>
          <p:cNvGrpSpPr/>
          <p:nvPr/>
        </p:nvGrpSpPr>
        <p:grpSpPr>
          <a:xfrm>
            <a:off x="2363142" y="2271416"/>
            <a:ext cx="2821148" cy="2688021"/>
            <a:chOff x="2363142" y="2271416"/>
            <a:chExt cx="2821148" cy="2688021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D4B0682-1235-E30D-214A-0854371360D8}"/>
                </a:ext>
              </a:extLst>
            </p:cNvPr>
            <p:cNvCxnSpPr>
              <a:cxnSpLocks/>
            </p:cNvCxnSpPr>
            <p:nvPr/>
          </p:nvCxnSpPr>
          <p:spPr>
            <a:xfrm>
              <a:off x="2392411" y="2271416"/>
              <a:ext cx="0" cy="2688021"/>
            </a:xfrm>
            <a:prstGeom prst="line">
              <a:avLst/>
            </a:prstGeom>
            <a:ln w="19050" cap="flat" cmpd="sng" algn="ctr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C577269-7C48-C38F-2513-AB8A791796A1}"/>
                </a:ext>
              </a:extLst>
            </p:cNvPr>
            <p:cNvSpPr txBox="1"/>
            <p:nvPr/>
          </p:nvSpPr>
          <p:spPr>
            <a:xfrm>
              <a:off x="2480367" y="3047379"/>
              <a:ext cx="19294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/>
                <a:t>Residual variability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D39A872-6DD7-7D7E-4696-3669DFA49397}"/>
                </a:ext>
              </a:extLst>
            </p:cNvPr>
            <p:cNvSpPr txBox="1"/>
            <p:nvPr/>
          </p:nvSpPr>
          <p:spPr>
            <a:xfrm>
              <a:off x="2553875" y="4092952"/>
              <a:ext cx="263041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/>
                <a:t>Inter-individual variability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80FF123-D848-779A-6353-F1E528B21126}"/>
                </a:ext>
              </a:extLst>
            </p:cNvPr>
            <p:cNvSpPr/>
            <p:nvPr/>
          </p:nvSpPr>
          <p:spPr>
            <a:xfrm>
              <a:off x="2363142" y="3491359"/>
              <a:ext cx="111953" cy="10796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marL="180000" indent="-180000" algn="l">
                <a:spcBef>
                  <a:spcPts val="800"/>
                </a:spcBef>
                <a:buFont typeface="Arial" panose="020B0604020202020204" pitchFamily="34" charset="0"/>
                <a:buChar char="•"/>
              </a:pPr>
              <a:endParaRPr lang="en-US" dirty="0" err="1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FF71F4-9865-61E6-1D9F-C3FFBBBA4289}"/>
              </a:ext>
            </a:extLst>
          </p:cNvPr>
          <p:cNvGrpSpPr/>
          <p:nvPr/>
        </p:nvGrpSpPr>
        <p:grpSpPr>
          <a:xfrm>
            <a:off x="635724" y="2564635"/>
            <a:ext cx="5244547" cy="2814341"/>
            <a:chOff x="635724" y="2564635"/>
            <a:chExt cx="5244547" cy="281434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1F3C828-2117-3515-B05E-86957A788D82}"/>
                </a:ext>
              </a:extLst>
            </p:cNvPr>
            <p:cNvGrpSpPr/>
            <p:nvPr/>
          </p:nvGrpSpPr>
          <p:grpSpPr>
            <a:xfrm>
              <a:off x="635724" y="2564635"/>
              <a:ext cx="4905126" cy="2814341"/>
              <a:chOff x="635724" y="2564635"/>
              <a:chExt cx="4905126" cy="2814341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A39A5AA8-AE9A-347E-BF6F-3404CC7143F6}"/>
                  </a:ext>
                </a:extLst>
              </p:cNvPr>
              <p:cNvGrpSpPr/>
              <p:nvPr/>
            </p:nvGrpSpPr>
            <p:grpSpPr>
              <a:xfrm>
                <a:off x="635724" y="2564635"/>
                <a:ext cx="3703200" cy="2814341"/>
                <a:chOff x="635724" y="2564635"/>
                <a:chExt cx="3017809" cy="281434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4B0AD2F-CBBC-5414-F1E8-1757B66B7B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56631" y="2564635"/>
                  <a:ext cx="0" cy="2382788"/>
                </a:xfrm>
                <a:prstGeom prst="line">
                  <a:avLst/>
                </a:prstGeom>
                <a:ln/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0969E257-0FE6-2FC7-CD6F-A179440417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56631" y="4947423"/>
                  <a:ext cx="2696902" cy="12014"/>
                </a:xfrm>
                <a:prstGeom prst="line">
                  <a:avLst/>
                </a:prstGeom>
                <a:ln/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9822CC9-BD22-7DCB-1799-B66635B0CB19}"/>
                    </a:ext>
                  </a:extLst>
                </p:cNvPr>
                <p:cNvSpPr txBox="1"/>
                <p:nvPr/>
              </p:nvSpPr>
              <p:spPr>
                <a:xfrm>
                  <a:off x="1779373" y="5101977"/>
                  <a:ext cx="147045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800"/>
                    </a:spcBef>
                  </a:pPr>
                  <a:r>
                    <a:rPr lang="en-US" b="1" dirty="0"/>
                    <a:t>Time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BC1F755-B639-1018-0CAC-D5EAF256B2DA}"/>
                    </a:ext>
                  </a:extLst>
                </p:cNvPr>
                <p:cNvSpPr txBox="1"/>
                <p:nvPr/>
              </p:nvSpPr>
              <p:spPr>
                <a:xfrm>
                  <a:off x="635724" y="3529638"/>
                  <a:ext cx="22601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800"/>
                    </a:spcBef>
                  </a:pPr>
                  <a:r>
                    <a:rPr lang="en-US" b="1" dirty="0"/>
                    <a:t>C</a:t>
                  </a: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F71C2D17-C4FB-E224-6623-343B05BAFE57}"/>
                  </a:ext>
                </a:extLst>
              </p:cNvPr>
              <p:cNvGrpSpPr/>
              <p:nvPr/>
            </p:nvGrpSpPr>
            <p:grpSpPr>
              <a:xfrm>
                <a:off x="1256659" y="2924147"/>
                <a:ext cx="4284191" cy="1676036"/>
                <a:chOff x="1256659" y="2924147"/>
                <a:chExt cx="4284191" cy="1676036"/>
              </a:xfrm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556C6C65-294D-0D07-F9E3-5B1C13C06B36}"/>
                    </a:ext>
                  </a:extLst>
                </p:cNvPr>
                <p:cNvSpPr/>
                <p:nvPr/>
              </p:nvSpPr>
              <p:spPr>
                <a:xfrm>
                  <a:off x="1256659" y="2938507"/>
                  <a:ext cx="2791879" cy="1661676"/>
                </a:xfrm>
                <a:custGeom>
                  <a:avLst/>
                  <a:gdLst>
                    <a:gd name="csX0" fmla="*/ 0 w 2075935"/>
                    <a:gd name="csY0" fmla="*/ 0 h 1680519"/>
                    <a:gd name="csX1" fmla="*/ 494270 w 2075935"/>
                    <a:gd name="csY1" fmla="*/ 1186248 h 1680519"/>
                    <a:gd name="csX2" fmla="*/ 2075935 w 2075935"/>
                    <a:gd name="csY2" fmla="*/ 1680519 h 16805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2075935" h="1680519">
                      <a:moveTo>
                        <a:pt x="0" y="0"/>
                      </a:moveTo>
                      <a:cubicBezTo>
                        <a:pt x="74140" y="453081"/>
                        <a:pt x="148281" y="906162"/>
                        <a:pt x="494270" y="1186248"/>
                      </a:cubicBezTo>
                      <a:cubicBezTo>
                        <a:pt x="840259" y="1466335"/>
                        <a:pt x="1886465" y="1587843"/>
                        <a:pt x="2075935" y="1680519"/>
                      </a:cubicBezTo>
                    </a:path>
                  </a:pathLst>
                </a:custGeom>
                <a:ln/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BDE41A92-BC83-761C-E087-0FC77705AC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53086" y="2924147"/>
                  <a:ext cx="387764" cy="979614"/>
                </a:xfrm>
                <a:prstGeom prst="rect">
                  <a:avLst/>
                </a:prstGeom>
              </p:spPr>
            </p:pic>
          </p:grp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D9E27-F722-C1DB-CFA5-3E613401BEC4}"/>
                </a:ext>
              </a:extLst>
            </p:cNvPr>
            <p:cNvSpPr txBox="1"/>
            <p:nvPr/>
          </p:nvSpPr>
          <p:spPr>
            <a:xfrm>
              <a:off x="4943008" y="4594360"/>
              <a:ext cx="93726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/>
                <a:t>BW~CL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372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535658" y="246140"/>
            <a:ext cx="7522493" cy="99992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The right covariates turn patient traits into Safer, more effective doses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9AB0E7-7A94-6B92-87B9-B4FEB7D274F6}"/>
              </a:ext>
            </a:extLst>
          </p:cNvPr>
          <p:cNvGrpSpPr/>
          <p:nvPr/>
        </p:nvGrpSpPr>
        <p:grpSpPr>
          <a:xfrm>
            <a:off x="628526" y="1565487"/>
            <a:ext cx="5118801" cy="4504910"/>
            <a:chOff x="628526" y="1565487"/>
            <a:chExt cx="5118801" cy="450491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86EB00-9CBB-B77E-10F2-64EA0CA57D17}"/>
                </a:ext>
              </a:extLst>
            </p:cNvPr>
            <p:cNvGrpSpPr/>
            <p:nvPr/>
          </p:nvGrpSpPr>
          <p:grpSpPr>
            <a:xfrm>
              <a:off x="628526" y="1565487"/>
              <a:ext cx="5118801" cy="4504910"/>
              <a:chOff x="628526" y="1565487"/>
              <a:chExt cx="5118801" cy="4504910"/>
            </a:xfrm>
          </p:grpSpPr>
          <p:sp>
            <p:nvSpPr>
              <p:cNvPr id="20" name="wcard"/>
              <p:cNvSpPr/>
              <p:nvPr/>
            </p:nvSpPr>
            <p:spPr>
              <a:xfrm>
                <a:off x="628526" y="1565487"/>
                <a:ext cx="5118801" cy="4504910"/>
              </a:xfrm>
              <a:prstGeom prst="roundRect">
                <a:avLst>
                  <a:gd name="adj" fmla="val 5000"/>
                </a:avLst>
              </a:prstGeom>
              <a:solidFill>
                <a:srgbClr val="F4F7FB"/>
              </a:solidFill>
              <a:ln w="9525">
                <a:solidFill>
                  <a:srgbClr val="D6E2F0"/>
                </a:solidFill>
              </a:ln>
            </p:spPr>
            <p:txBody>
              <a:bodyPr wrap="square" lIns="228600" tIns="137160" rIns="228600" bIns="137160" anchor="t"/>
              <a:lstStyle/>
              <a:p>
                <a:pPr>
                  <a:buNone/>
                </a:pPr>
                <a:endParaRPr lang="en-US"/>
              </a:p>
            </p:txBody>
          </p:sp>
          <p:sp>
            <p:nvSpPr>
              <p:cNvPr id="23" name="wtext"/>
              <p:cNvSpPr txBox="1"/>
              <p:nvPr/>
            </p:nvSpPr>
            <p:spPr>
              <a:xfrm>
                <a:off x="1030334" y="1579054"/>
                <a:ext cx="4191290" cy="152520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marL="0" algn="l">
                  <a:lnSpc>
                    <a:spcPct val="106000"/>
                  </a:lnSpc>
                  <a:spcBef>
                    <a:spcPts val="0"/>
                  </a:spcBef>
                  <a:spcAft>
                    <a:spcPts val="500"/>
                  </a:spcAft>
                  <a:buNone/>
                </a:pPr>
                <a:r>
                  <a:rPr lang="en-US" sz="2400" b="1" i="0" dirty="0">
                    <a:solidFill>
                      <a:schemeClr val="bg1">
                        <a:lumMod val="25000"/>
                      </a:schemeClr>
                    </a:solidFill>
                    <a:latin typeface="Arial"/>
                    <a:cs typeface="Arial"/>
                  </a:rPr>
                  <a:t>Example — Warfarin</a:t>
                </a:r>
              </a:p>
              <a:p>
                <a:pPr marL="285750" indent="-285750">
                  <a:lnSpc>
                    <a:spcPct val="106000"/>
                  </a:lnSpc>
                  <a:spcAft>
                    <a:spcPts val="46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5A5A5A"/>
                    </a:solidFill>
                    <a:cs typeface="Arial"/>
                  </a:rPr>
                  <a:t>Narrow therapeutic narrow-therapeutic-index anticoagulant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DA9DB7C-D60A-8EBD-DD87-C867852F1A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4693" y="3982038"/>
              <a:ext cx="2946859" cy="533593"/>
            </a:xfrm>
            <a:prstGeom prst="line">
              <a:avLst/>
            </a:prstGeom>
            <a:ln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99282956-0252-CC71-F13C-1A998FBD5A22}"/>
                </a:ext>
              </a:extLst>
            </p:cNvPr>
            <p:cNvSpPr/>
            <p:nvPr/>
          </p:nvSpPr>
          <p:spPr>
            <a:xfrm>
              <a:off x="2991379" y="4234775"/>
              <a:ext cx="545566" cy="451162"/>
            </a:xfrm>
            <a:prstGeom prst="triangle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marL="180000" indent="-180000" algn="l">
                <a:spcBef>
                  <a:spcPts val="800"/>
                </a:spcBef>
                <a:buFont typeface="Arial" panose="020B0604020202020204" pitchFamily="34" charset="0"/>
                <a:buChar char="•"/>
              </a:pPr>
              <a:endParaRPr lang="en-US" dirty="0" err="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C55C81-7538-7221-B327-2BFCD6E3D94A}"/>
                </a:ext>
              </a:extLst>
            </p:cNvPr>
            <p:cNvSpPr txBox="1"/>
            <p:nvPr/>
          </p:nvSpPr>
          <p:spPr>
            <a:xfrm>
              <a:off x="4208959" y="3426419"/>
              <a:ext cx="1114808" cy="3051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C</a:t>
              </a:r>
              <a:r>
                <a:rPr lang="en-US" altLang="zh-CN" b="1" dirty="0">
                  <a:solidFill>
                    <a:srgbClr val="C00000"/>
                  </a:solidFill>
                </a:rPr>
                <a:t>lotting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8A1D81C-CF3A-B658-34F7-74F4FE29E4CC}"/>
                </a:ext>
              </a:extLst>
            </p:cNvPr>
            <p:cNvGrpSpPr/>
            <p:nvPr/>
          </p:nvGrpSpPr>
          <p:grpSpPr>
            <a:xfrm>
              <a:off x="962394" y="3684458"/>
              <a:ext cx="1584596" cy="488409"/>
              <a:chOff x="3880372" y="3234723"/>
              <a:chExt cx="1584596" cy="488409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24E8F0-4811-2169-A7F6-EF195758F13C}"/>
                  </a:ext>
                </a:extLst>
              </p:cNvPr>
              <p:cNvSpPr txBox="1"/>
              <p:nvPr/>
            </p:nvSpPr>
            <p:spPr>
              <a:xfrm>
                <a:off x="3994876" y="3417997"/>
                <a:ext cx="1470092" cy="305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 B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leeding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8719982-1979-644A-2F34-3B32E1334966}"/>
                  </a:ext>
                </a:extLst>
              </p:cNvPr>
              <p:cNvGrpSpPr/>
              <p:nvPr/>
            </p:nvGrpSpPr>
            <p:grpSpPr>
              <a:xfrm>
                <a:off x="3880372" y="3234725"/>
                <a:ext cx="453358" cy="192557"/>
                <a:chOff x="4087248" y="3866651"/>
                <a:chExt cx="453358" cy="244650"/>
              </a:xfrm>
              <a:solidFill>
                <a:srgbClr val="002060"/>
              </a:solidFill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877A1A09-15E1-EA0C-A929-EBC336600086}"/>
                    </a:ext>
                  </a:extLst>
                </p:cNvPr>
                <p:cNvSpPr/>
                <p:nvPr/>
              </p:nvSpPr>
              <p:spPr>
                <a:xfrm>
                  <a:off x="4087248" y="3866651"/>
                  <a:ext cx="453358" cy="24465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t"/>
                <a:lstStyle/>
                <a:p>
                  <a:pPr marL="180000" indent="-180000" algn="l">
                    <a:spcBef>
                      <a:spcPts val="800"/>
                    </a:spcBef>
                    <a:buFont typeface="Arial" panose="020B0604020202020204" pitchFamily="34" charset="0"/>
                    <a:buChar char="•"/>
                  </a:pPr>
                  <a:endParaRPr lang="en-US" dirty="0" err="1"/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9C6CDCBD-7066-5707-2653-1ABCCA342539}"/>
                    </a:ext>
                  </a:extLst>
                </p:cNvPr>
                <p:cNvCxnSpPr>
                  <a:cxnSpLocks/>
                  <a:stCxn id="13" idx="0"/>
                  <a:endCxn id="13" idx="4"/>
                </p:cNvCxnSpPr>
                <p:nvPr/>
              </p:nvCxnSpPr>
              <p:spPr>
                <a:xfrm>
                  <a:off x="4313927" y="3866651"/>
                  <a:ext cx="0" cy="244650"/>
                </a:xfrm>
                <a:prstGeom prst="line">
                  <a:avLst/>
                </a:prstGeom>
                <a:grpFill/>
                <a:ln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7AE7EA7-D799-AB95-E8FB-AC2DFD3F1AD8}"/>
                  </a:ext>
                </a:extLst>
              </p:cNvPr>
              <p:cNvGrpSpPr/>
              <p:nvPr/>
            </p:nvGrpSpPr>
            <p:grpSpPr>
              <a:xfrm>
                <a:off x="4393730" y="3235180"/>
                <a:ext cx="453358" cy="192557"/>
                <a:chOff x="4087248" y="3866652"/>
                <a:chExt cx="453358" cy="244650"/>
              </a:xfrm>
              <a:solidFill>
                <a:srgbClr val="002060"/>
              </a:solidFill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59672A5D-35F6-34D5-E57C-2EF6155D7490}"/>
                    </a:ext>
                  </a:extLst>
                </p:cNvPr>
                <p:cNvSpPr/>
                <p:nvPr/>
              </p:nvSpPr>
              <p:spPr>
                <a:xfrm>
                  <a:off x="4087248" y="3866652"/>
                  <a:ext cx="453358" cy="24465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t"/>
                <a:lstStyle/>
                <a:p>
                  <a:pPr marL="180000" indent="-180000" algn="l">
                    <a:spcBef>
                      <a:spcPts val="800"/>
                    </a:spcBef>
                    <a:buFont typeface="Arial" panose="020B0604020202020204" pitchFamily="34" charset="0"/>
                    <a:buChar char="•"/>
                  </a:pPr>
                  <a:endParaRPr lang="en-US" dirty="0" err="1"/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7C7577B-50E0-B63B-4626-0635DAB71822}"/>
                    </a:ext>
                  </a:extLst>
                </p:cNvPr>
                <p:cNvCxnSpPr>
                  <a:cxnSpLocks/>
                  <a:stCxn id="19" idx="0"/>
                  <a:endCxn id="19" idx="4"/>
                </p:cNvCxnSpPr>
                <p:nvPr/>
              </p:nvCxnSpPr>
              <p:spPr>
                <a:xfrm>
                  <a:off x="4313927" y="3866652"/>
                  <a:ext cx="0" cy="244650"/>
                </a:xfrm>
                <a:prstGeom prst="line">
                  <a:avLst/>
                </a:prstGeom>
                <a:grpFill/>
                <a:ln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798649D-7B40-1EF0-46FA-78DF1398ADEF}"/>
                  </a:ext>
                </a:extLst>
              </p:cNvPr>
              <p:cNvGrpSpPr/>
              <p:nvPr/>
            </p:nvGrpSpPr>
            <p:grpSpPr>
              <a:xfrm>
                <a:off x="4899157" y="3234723"/>
                <a:ext cx="453358" cy="192557"/>
                <a:chOff x="4079318" y="3858387"/>
                <a:chExt cx="453358" cy="244650"/>
              </a:xfrm>
              <a:solidFill>
                <a:srgbClr val="002060"/>
              </a:solidFill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E09D0D41-2FBA-82C3-9E94-5A820D9F262B}"/>
                    </a:ext>
                  </a:extLst>
                </p:cNvPr>
                <p:cNvSpPr/>
                <p:nvPr/>
              </p:nvSpPr>
              <p:spPr>
                <a:xfrm>
                  <a:off x="4079318" y="3858387"/>
                  <a:ext cx="453358" cy="24465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t"/>
                <a:lstStyle/>
                <a:p>
                  <a:pPr marL="180000" indent="-180000" algn="l">
                    <a:spcBef>
                      <a:spcPts val="800"/>
                    </a:spcBef>
                    <a:buFont typeface="Arial" panose="020B0604020202020204" pitchFamily="34" charset="0"/>
                    <a:buChar char="•"/>
                  </a:pPr>
                  <a:endParaRPr lang="en-US" dirty="0" err="1"/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A0B9FE70-1DA4-F383-2E51-6296DD1003A0}"/>
                    </a:ext>
                  </a:extLst>
                </p:cNvPr>
                <p:cNvCxnSpPr>
                  <a:cxnSpLocks/>
                  <a:stCxn id="26" idx="0"/>
                  <a:endCxn id="26" idx="4"/>
                </p:cNvCxnSpPr>
                <p:nvPr/>
              </p:nvCxnSpPr>
              <p:spPr>
                <a:xfrm>
                  <a:off x="4305997" y="3858387"/>
                  <a:ext cx="0" cy="244650"/>
                </a:xfrm>
                <a:prstGeom prst="line">
                  <a:avLst/>
                </a:prstGeom>
                <a:grpFill/>
                <a:ln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F1EDA8A-DB64-67F0-5E52-5AEC0411FC40}"/>
                </a:ext>
              </a:extLst>
            </p:cNvPr>
            <p:cNvGrpSpPr/>
            <p:nvPr/>
          </p:nvGrpSpPr>
          <p:grpSpPr>
            <a:xfrm>
              <a:off x="4478824" y="3211260"/>
              <a:ext cx="480937" cy="204271"/>
              <a:chOff x="4087906" y="3735679"/>
              <a:chExt cx="453358" cy="244650"/>
            </a:xfrm>
            <a:solidFill>
              <a:srgbClr val="002060"/>
            </a:solidFill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509D01B-3E11-FEC6-EC71-FA935E15E0E6}"/>
                  </a:ext>
                </a:extLst>
              </p:cNvPr>
              <p:cNvSpPr/>
              <p:nvPr/>
            </p:nvSpPr>
            <p:spPr>
              <a:xfrm>
                <a:off x="4087906" y="3735679"/>
                <a:ext cx="453358" cy="2446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endParaRPr lang="en-US" dirty="0" err="1"/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F6C8A0D-A275-2B42-6B05-34DFBBF2D0FA}"/>
                  </a:ext>
                </a:extLst>
              </p:cNvPr>
              <p:cNvCxnSpPr>
                <a:cxnSpLocks/>
                <a:stCxn id="29" idx="0"/>
                <a:endCxn id="29" idx="4"/>
              </p:cNvCxnSpPr>
              <p:nvPr/>
            </p:nvCxnSpPr>
            <p:spPr>
              <a:xfrm>
                <a:off x="4314585" y="3735679"/>
                <a:ext cx="0" cy="244650"/>
              </a:xfrm>
              <a:prstGeom prst="line">
                <a:avLst/>
              </a:prstGeom>
              <a:grpFill/>
              <a:ln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47" name="Right Bracket 46">
              <a:extLst>
                <a:ext uri="{FF2B5EF4-FFF2-40B4-BE49-F238E27FC236}">
                  <a16:creationId xmlns:a16="http://schemas.microsoft.com/office/drawing/2014/main" id="{5C68A955-5D80-20CD-CAEA-D40B69FE1F74}"/>
                </a:ext>
              </a:extLst>
            </p:cNvPr>
            <p:cNvSpPr/>
            <p:nvPr/>
          </p:nvSpPr>
          <p:spPr>
            <a:xfrm rot="5400000">
              <a:off x="4553526" y="2858171"/>
              <a:ext cx="130589" cy="1716478"/>
            </a:xfrm>
            <a:prstGeom prst="rightBracket">
              <a:avLst/>
            </a:prstGeom>
            <a:ln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ight Bracket 48">
              <a:extLst>
                <a:ext uri="{FF2B5EF4-FFF2-40B4-BE49-F238E27FC236}">
                  <a16:creationId xmlns:a16="http://schemas.microsoft.com/office/drawing/2014/main" id="{5674F5CB-C8A7-3F77-1E91-6DEE96818455}"/>
                </a:ext>
              </a:extLst>
            </p:cNvPr>
            <p:cNvSpPr/>
            <p:nvPr/>
          </p:nvSpPr>
          <p:spPr>
            <a:xfrm rot="5400000">
              <a:off x="1671277" y="3339901"/>
              <a:ext cx="130589" cy="1716478"/>
            </a:xfrm>
            <a:prstGeom prst="rightBracket">
              <a:avLst/>
            </a:prstGeom>
            <a:ln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5F42AC2F-8F8A-803B-9D7C-A5A7AEE2EB0A}"/>
                </a:ext>
              </a:extLst>
            </p:cNvPr>
            <p:cNvCxnSpPr>
              <a:cxnSpLocks/>
            </p:cNvCxnSpPr>
            <p:nvPr/>
          </p:nvCxnSpPr>
          <p:spPr>
            <a:xfrm>
              <a:off x="1759545" y="4259375"/>
              <a:ext cx="0" cy="262305"/>
            </a:xfrm>
            <a:prstGeom prst="line">
              <a:avLst/>
            </a:prstGeom>
            <a:ln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4C1B9B0-108C-BC63-0725-5DB2784DAE6A}"/>
                </a:ext>
              </a:extLst>
            </p:cNvPr>
            <p:cNvCxnSpPr>
              <a:cxnSpLocks/>
            </p:cNvCxnSpPr>
            <p:nvPr/>
          </p:nvCxnSpPr>
          <p:spPr>
            <a:xfrm>
              <a:off x="4701552" y="3792435"/>
              <a:ext cx="0" cy="207871"/>
            </a:xfrm>
            <a:prstGeom prst="line">
              <a:avLst/>
            </a:prstGeom>
            <a:ln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22B422B-8FB2-3DF6-868D-95B195D36035}"/>
                </a:ext>
              </a:extLst>
            </p:cNvPr>
            <p:cNvSpPr txBox="1"/>
            <p:nvPr/>
          </p:nvSpPr>
          <p:spPr>
            <a:xfrm>
              <a:off x="1042708" y="4997942"/>
              <a:ext cx="4059097" cy="6587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 sz="1800" b="0" i="0" dirty="0">
                  <a:solidFill>
                    <a:srgbClr val="5A5A5A"/>
                  </a:solidFill>
                  <a:latin typeface="Arial"/>
                  <a:cs typeface="Arial"/>
                </a:rPr>
                <a:t>CYP2C9 genotype, age, </a:t>
              </a:r>
              <a:r>
                <a:rPr lang="en-US" sz="1800" dirty="0">
                  <a:solidFill>
                    <a:srgbClr val="5A5A5A"/>
                  </a:solidFill>
                  <a:latin typeface="Arial"/>
                  <a:cs typeface="Arial"/>
                </a:rPr>
                <a:t>weight</a:t>
              </a:r>
              <a:r>
                <a:rPr lang="en-US" dirty="0">
                  <a:solidFill>
                    <a:srgbClr val="5A5A5A"/>
                  </a:solidFill>
                  <a:latin typeface="Arial"/>
                  <a:cs typeface="Arial"/>
                </a:rPr>
                <a:t>,</a:t>
              </a:r>
              <a:r>
                <a:rPr lang="en-US" sz="1800" dirty="0">
                  <a:solidFill>
                    <a:srgbClr val="5A5A5A"/>
                  </a:solidFill>
                  <a:latin typeface="Arial"/>
                  <a:cs typeface="Arial"/>
                </a:rPr>
                <a:t> </a:t>
              </a:r>
              <a:r>
                <a:rPr lang="en-US" altLang="zh-CN" sz="1800" dirty="0">
                  <a:solidFill>
                    <a:srgbClr val="5A5A5A"/>
                  </a:solidFill>
                  <a:latin typeface="Arial"/>
                  <a:cs typeface="Arial"/>
                </a:rPr>
                <a:t>comedication</a:t>
              </a:r>
              <a:endParaRPr lang="en-US" sz="1800" b="0" i="0" dirty="0">
                <a:solidFill>
                  <a:srgbClr val="5A5A5A"/>
                </a:solidFill>
                <a:latin typeface="Arial"/>
                <a:cs typeface="Arial"/>
              </a:endParaRPr>
            </a:p>
          </p:txBody>
        </p: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718466D9-923E-4FD3-BC6E-66332D976B9E}" type="slidenum">
              <a:rPr lang="en-US" sz="1000">
                <a:solidFill>
                  <a:srgbClr val="8A8A8A"/>
                </a:solidFill>
                <a:latin typeface="Arial"/>
              </a:rPr>
              <a:t>5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BAD2B65-08E6-9A16-962F-2D5CA7D04794}"/>
              </a:ext>
            </a:extLst>
          </p:cNvPr>
          <p:cNvGrpSpPr/>
          <p:nvPr/>
        </p:nvGrpSpPr>
        <p:grpSpPr>
          <a:xfrm>
            <a:off x="6501573" y="1565487"/>
            <a:ext cx="5203321" cy="4295000"/>
            <a:chOff x="6190000" y="1520000"/>
            <a:chExt cx="5430000" cy="4520000"/>
          </a:xfrm>
        </p:grpSpPr>
        <p:cxnSp>
          <p:nvCxnSpPr>
            <p:cNvPr id="30" name="c30"/>
            <p:cNvCxnSpPr/>
            <p:nvPr/>
          </p:nvCxnSpPr>
          <p:spPr>
            <a:xfrm>
              <a:off x="6650000" y="1980000"/>
              <a:ext cx="400000" cy="1200000"/>
            </a:xfrm>
            <a:prstGeom prst="curvedConnector3">
              <a:avLst/>
            </a:prstGeom>
            <a:ln w="38100" cap="rnd">
              <a:solidFill>
                <a:srgbClr val="E8590C"/>
              </a:solidFill>
            </a:ln>
          </p:spPr>
        </p:cxnSp>
        <p:cxnSp>
          <p:nvCxnSpPr>
            <p:cNvPr id="31" name="c31"/>
            <p:cNvCxnSpPr/>
            <p:nvPr/>
          </p:nvCxnSpPr>
          <p:spPr>
            <a:xfrm flipH="1">
              <a:off x="6650000" y="3180000"/>
              <a:ext cx="400000" cy="1200000"/>
            </a:xfrm>
            <a:prstGeom prst="curvedConnector3">
              <a:avLst/>
            </a:prstGeom>
            <a:ln w="38100" cap="rnd">
              <a:solidFill>
                <a:srgbClr val="E8590C"/>
              </a:solidFill>
            </a:ln>
          </p:spPr>
        </p:cxnSp>
        <p:cxnSp>
          <p:nvCxnSpPr>
            <p:cNvPr id="32" name="c32"/>
            <p:cNvCxnSpPr/>
            <p:nvPr/>
          </p:nvCxnSpPr>
          <p:spPr>
            <a:xfrm>
              <a:off x="6650000" y="4380000"/>
              <a:ext cx="400000" cy="1200000"/>
            </a:xfrm>
            <a:prstGeom prst="curvedConnector3">
              <a:avLst/>
            </a:prstGeom>
            <a:ln w="38100" cap="rnd">
              <a:solidFill>
                <a:srgbClr val="E8590C"/>
              </a:solidFill>
            </a:ln>
          </p:spPr>
        </p:cxnSp>
        <p:sp>
          <p:nvSpPr>
            <p:cNvPr id="33" name="appc0"/>
            <p:cNvSpPr/>
            <p:nvPr/>
          </p:nvSpPr>
          <p:spPr>
            <a:xfrm>
              <a:off x="6190000" y="1520000"/>
              <a:ext cx="920000" cy="92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8590C"/>
              </a:solidFill>
            </a:ln>
          </p:spPr>
          <p:txBody>
            <a:bodyPr/>
            <a:lstStyle/>
            <a:p>
              <a:pPr>
                <a:buNone/>
              </a:pPr>
              <a:endParaRPr lang="en-US" sz="2400"/>
            </a:p>
          </p:txBody>
        </p:sp>
        <p:pic>
          <p:nvPicPr>
            <p:cNvPr id="34" name="appi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5000" y="1745000"/>
              <a:ext cx="470000" cy="470000"/>
            </a:xfrm>
            <a:prstGeom prst="rect">
              <a:avLst/>
            </a:prstGeom>
          </p:spPr>
        </p:pic>
        <p:sp>
          <p:nvSpPr>
            <p:cNvPr id="35" name="lab0"/>
            <p:cNvSpPr txBox="1"/>
            <p:nvPr/>
          </p:nvSpPr>
          <p:spPr>
            <a:xfrm>
              <a:off x="7340000" y="1650000"/>
              <a:ext cx="4280000" cy="66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marL="0" algn="l">
                <a:lnSpc>
                  <a:spcPct val="106000"/>
                </a:lnSpc>
                <a:spcBef>
                  <a:spcPts val="0"/>
                </a:spcBef>
                <a:spcAft>
                  <a:spcPts val="180"/>
                </a:spcAft>
                <a:buNone/>
              </a:pPr>
              <a:r>
                <a:rPr lang="en-US" sz="2000" b="1" i="0" dirty="0">
                  <a:solidFill>
                    <a:srgbClr val="3C3C3C"/>
                  </a:solidFill>
                  <a:latin typeface="Arial"/>
                  <a:cs typeface="Arial"/>
                </a:rPr>
                <a:t>Dose optimization</a:t>
              </a:r>
            </a:p>
          </p:txBody>
        </p:sp>
        <p:sp>
          <p:nvSpPr>
            <p:cNvPr id="36" name="appc1"/>
            <p:cNvSpPr/>
            <p:nvPr/>
          </p:nvSpPr>
          <p:spPr>
            <a:xfrm>
              <a:off x="6590000" y="2720000"/>
              <a:ext cx="920000" cy="92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8590C"/>
              </a:solidFill>
            </a:ln>
          </p:spPr>
          <p:txBody>
            <a:bodyPr/>
            <a:lstStyle/>
            <a:p>
              <a:pPr>
                <a:buNone/>
              </a:pPr>
              <a:endParaRPr lang="en-US" sz="2400"/>
            </a:p>
          </p:txBody>
        </p:sp>
        <p:pic>
          <p:nvPicPr>
            <p:cNvPr id="37" name="appi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15000" y="2945000"/>
              <a:ext cx="470000" cy="470000"/>
            </a:xfrm>
            <a:prstGeom prst="rect">
              <a:avLst/>
            </a:prstGeom>
          </p:spPr>
        </p:pic>
        <p:sp>
          <p:nvSpPr>
            <p:cNvPr id="38" name="lab1"/>
            <p:cNvSpPr txBox="1"/>
            <p:nvPr/>
          </p:nvSpPr>
          <p:spPr>
            <a:xfrm>
              <a:off x="7740000" y="2850000"/>
              <a:ext cx="3880000" cy="66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marL="0" algn="l">
                <a:lnSpc>
                  <a:spcPct val="106000"/>
                </a:lnSpc>
                <a:spcBef>
                  <a:spcPts val="0"/>
                </a:spcBef>
                <a:spcAft>
                  <a:spcPts val="180"/>
                </a:spcAft>
                <a:buNone/>
              </a:pPr>
              <a:r>
                <a:rPr lang="en-US" sz="2000" b="1" i="0" dirty="0">
                  <a:solidFill>
                    <a:srgbClr val="3C3C3C"/>
                  </a:solidFill>
                  <a:latin typeface="Arial"/>
                  <a:cs typeface="Arial"/>
                </a:rPr>
                <a:t>Clinical trial design</a:t>
              </a:r>
            </a:p>
          </p:txBody>
        </p:sp>
        <p:sp>
          <p:nvSpPr>
            <p:cNvPr id="39" name="appc2"/>
            <p:cNvSpPr/>
            <p:nvPr/>
          </p:nvSpPr>
          <p:spPr>
            <a:xfrm>
              <a:off x="6190000" y="3920000"/>
              <a:ext cx="920000" cy="92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8590C"/>
              </a:solidFill>
            </a:ln>
          </p:spPr>
          <p:txBody>
            <a:bodyPr/>
            <a:lstStyle/>
            <a:p>
              <a:pPr>
                <a:buNone/>
              </a:pPr>
              <a:endParaRPr lang="en-US" sz="2400"/>
            </a:p>
          </p:txBody>
        </p:sp>
        <p:pic>
          <p:nvPicPr>
            <p:cNvPr id="40" name="appi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15000" y="4145000"/>
              <a:ext cx="470000" cy="470000"/>
            </a:xfrm>
            <a:prstGeom prst="rect">
              <a:avLst/>
            </a:prstGeom>
          </p:spPr>
        </p:pic>
        <p:sp>
          <p:nvSpPr>
            <p:cNvPr id="41" name="lab2"/>
            <p:cNvSpPr txBox="1"/>
            <p:nvPr/>
          </p:nvSpPr>
          <p:spPr>
            <a:xfrm>
              <a:off x="7340000" y="4050000"/>
              <a:ext cx="4280000" cy="66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marL="0" algn="l">
                <a:lnSpc>
                  <a:spcPct val="106000"/>
                </a:lnSpc>
                <a:spcBef>
                  <a:spcPts val="0"/>
                </a:spcBef>
                <a:spcAft>
                  <a:spcPts val="180"/>
                </a:spcAft>
                <a:buNone/>
              </a:pPr>
              <a:r>
                <a:rPr lang="en-US" sz="2000" b="1" i="0" dirty="0">
                  <a:solidFill>
                    <a:srgbClr val="3C3C3C"/>
                  </a:solidFill>
                  <a:latin typeface="Arial"/>
                  <a:cs typeface="Arial"/>
                </a:rPr>
                <a:t>Special-population labeling</a:t>
              </a:r>
            </a:p>
          </p:txBody>
        </p:sp>
        <p:sp>
          <p:nvSpPr>
            <p:cNvPr id="42" name="appc3"/>
            <p:cNvSpPr/>
            <p:nvPr/>
          </p:nvSpPr>
          <p:spPr>
            <a:xfrm>
              <a:off x="6590000" y="5120000"/>
              <a:ext cx="920000" cy="920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8590C"/>
              </a:solidFill>
            </a:ln>
          </p:spPr>
          <p:txBody>
            <a:bodyPr/>
            <a:lstStyle/>
            <a:p>
              <a:pPr>
                <a:buNone/>
              </a:pPr>
              <a:endParaRPr lang="en-US" sz="2400"/>
            </a:p>
          </p:txBody>
        </p:sp>
        <p:pic>
          <p:nvPicPr>
            <p:cNvPr id="43" name="appi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5000" y="5345000"/>
              <a:ext cx="470000" cy="470000"/>
            </a:xfrm>
            <a:prstGeom prst="rect">
              <a:avLst/>
            </a:prstGeom>
          </p:spPr>
        </p:pic>
        <p:sp>
          <p:nvSpPr>
            <p:cNvPr id="44" name="lab3"/>
            <p:cNvSpPr txBox="1"/>
            <p:nvPr/>
          </p:nvSpPr>
          <p:spPr>
            <a:xfrm>
              <a:off x="7740000" y="5250000"/>
              <a:ext cx="3880000" cy="66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marL="0" algn="l">
                <a:lnSpc>
                  <a:spcPct val="106000"/>
                </a:lnSpc>
                <a:spcBef>
                  <a:spcPts val="0"/>
                </a:spcBef>
                <a:spcAft>
                  <a:spcPts val="180"/>
                </a:spcAft>
                <a:buNone/>
              </a:pPr>
              <a:r>
                <a:rPr lang="en-US" sz="2000" b="1" i="0" dirty="0">
                  <a:solidFill>
                    <a:srgbClr val="3C3C3C"/>
                  </a:solidFill>
                  <a:latin typeface="Arial"/>
                  <a:cs typeface="Arial"/>
                </a:rPr>
                <a:t>Regulatory submissions</a:t>
              </a:r>
              <a:endParaRPr lang="en-US" sz="2000" b="1" dirty="0">
                <a:solidFill>
                  <a:srgbClr val="3C3C3C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8B8B6A8-CC01-5F22-7C3A-B692F87442B3}"/>
              </a:ext>
            </a:extLst>
          </p:cNvPr>
          <p:cNvSpPr txBox="1"/>
          <p:nvPr/>
        </p:nvSpPr>
        <p:spPr>
          <a:xfrm>
            <a:off x="8329568" y="6433720"/>
            <a:ext cx="33004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bg1">
                    <a:lumMod val="25000"/>
                  </a:schemeClr>
                </a:solidFill>
              </a:rPr>
              <a:t>Br J Clin </a:t>
            </a:r>
            <a:r>
              <a:rPr lang="fr-FR" sz="1000" dirty="0" err="1">
                <a:solidFill>
                  <a:schemeClr val="bg1">
                    <a:lumMod val="25000"/>
                  </a:schemeClr>
                </a:solidFill>
              </a:rPr>
              <a:t>Pharmacol</a:t>
            </a:r>
            <a:r>
              <a:rPr lang="fr-FR" sz="1000" dirty="0">
                <a:solidFill>
                  <a:schemeClr val="bg1">
                    <a:lumMod val="25000"/>
                  </a:schemeClr>
                </a:solidFill>
              </a:rPr>
              <a:t>. 2012;73(1):66-76. </a:t>
            </a:r>
            <a:endParaRPr lang="en-US" sz="1000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27CFC-D054-0212-BE4B-FDA44EFC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6</a:t>
            </a:fld>
            <a:endParaRPr lang="en-US" noProof="0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817A2BD1-303D-F1DB-067C-DD68EF0EC18E}"/>
              </a:ext>
            </a:extLst>
          </p:cNvPr>
          <p:cNvSpPr txBox="1"/>
          <p:nvPr/>
        </p:nvSpPr>
        <p:spPr>
          <a:xfrm>
            <a:off x="401880" y="141568"/>
            <a:ext cx="11094720" cy="10019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T</a:t>
            </a:r>
            <a:r>
              <a:rPr lang="en-US" altLang="zh-CN" sz="2800" b="1" dirty="0">
                <a:solidFill>
                  <a:srgbClr val="0460A9"/>
                </a:solidFill>
                <a:latin typeface="Arial"/>
                <a:cs typeface="Arial"/>
              </a:rPr>
              <a:t>raditional </a:t>
            </a:r>
            <a:r>
              <a:rPr lang="en-US" sz="2800" b="1" dirty="0">
                <a:solidFill>
                  <a:srgbClr val="0460A9"/>
                </a:solidFill>
                <a:cs typeface="Arial"/>
              </a:rPr>
              <a:t>stepwise methods </a:t>
            </a: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are FDA-ready, </a:t>
            </a:r>
          </a:p>
          <a:p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with advanced methods emerging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768BA9-61B2-F3BF-CD61-316024E62C92}"/>
              </a:ext>
            </a:extLst>
          </p:cNvPr>
          <p:cNvGrpSpPr/>
          <p:nvPr/>
        </p:nvGrpSpPr>
        <p:grpSpPr>
          <a:xfrm>
            <a:off x="1749252" y="1771912"/>
            <a:ext cx="9547629" cy="3483963"/>
            <a:chOff x="1749252" y="1771912"/>
            <a:chExt cx="9547629" cy="348396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A3AF09-0DE3-3049-1742-6868A4788580}"/>
                </a:ext>
              </a:extLst>
            </p:cNvPr>
            <p:cNvGrpSpPr/>
            <p:nvPr/>
          </p:nvGrpSpPr>
          <p:grpSpPr>
            <a:xfrm>
              <a:off x="1749252" y="1771912"/>
              <a:ext cx="9547629" cy="2711607"/>
              <a:chOff x="1749252" y="1771912"/>
              <a:chExt cx="9547629" cy="2711607"/>
            </a:xfrm>
          </p:grpSpPr>
          <p:pic>
            <p:nvPicPr>
              <p:cNvPr id="10" name="Picture 9" descr="What is MonolixSuite? | MonolixSuite Documentation">
                <a:extLst>
                  <a:ext uri="{FF2B5EF4-FFF2-40B4-BE49-F238E27FC236}">
                    <a16:creationId xmlns:a16="http://schemas.microsoft.com/office/drawing/2014/main" id="{FC941CD6-5AE7-1098-A1B2-D5612342F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43029" y="1833947"/>
                <a:ext cx="1053852" cy="1195537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1EA3A7B-DD67-480A-4BC7-8241B09FB0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83151" y="2920650"/>
                <a:ext cx="1562869" cy="1562869"/>
              </a:xfrm>
              <a:prstGeom prst="rect">
                <a:avLst/>
              </a:prstGeom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C3A3892-3301-13A7-3C77-C4AD505AB9C6}"/>
                  </a:ext>
                </a:extLst>
              </p:cNvPr>
              <p:cNvGrpSpPr/>
              <p:nvPr/>
            </p:nvGrpSpPr>
            <p:grpSpPr>
              <a:xfrm>
                <a:off x="8101142" y="2026205"/>
                <a:ext cx="1764881" cy="1001942"/>
                <a:chOff x="8826167" y="2487612"/>
                <a:chExt cx="2525037" cy="1442704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42D4EE16-AFD5-E8F5-4F98-922CF45028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26167" y="2949516"/>
                  <a:ext cx="2525037" cy="980800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FC0B2D40-0734-DA33-09F0-4A7C25544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89035" y="2487612"/>
                  <a:ext cx="2308431" cy="501487"/>
                </a:xfrm>
                <a:prstGeom prst="rect">
                  <a:avLst/>
                </a:prstGeom>
              </p:spPr>
            </p:pic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BC14EBF-81B0-6F12-1199-8F0EA9683B6A}"/>
                  </a:ext>
                </a:extLst>
              </p:cNvPr>
              <p:cNvGrpSpPr/>
              <p:nvPr/>
            </p:nvGrpSpPr>
            <p:grpSpPr>
              <a:xfrm>
                <a:off x="1749252" y="1771912"/>
                <a:ext cx="5626469" cy="1991141"/>
                <a:chOff x="1749252" y="1771912"/>
                <a:chExt cx="5626469" cy="1991141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E15FE86-3776-53EB-8EB9-A7A025002D4C}"/>
                    </a:ext>
                  </a:extLst>
                </p:cNvPr>
                <p:cNvSpPr/>
                <p:nvPr/>
              </p:nvSpPr>
              <p:spPr>
                <a:xfrm>
                  <a:off x="1749252" y="2702314"/>
                  <a:ext cx="1764881" cy="538000"/>
                </a:xfrm>
                <a:prstGeom prst="rect">
                  <a:avLst/>
                </a:prstGeom>
                <a:solidFill>
                  <a:srgbClr val="0460A9">
                    <a:alpha val="50000"/>
                  </a:srgb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t"/>
                <a:lstStyle/>
                <a:p>
                  <a:pPr algn="ctr">
                    <a:spcBef>
                      <a:spcPts val="800"/>
                    </a:spcBef>
                  </a:pPr>
                  <a:r>
                    <a:rPr lang="en-US" sz="2000" dirty="0"/>
                    <a:t>T</a:t>
                  </a:r>
                  <a:r>
                    <a:rPr lang="en-US" altLang="zh-CN" sz="2000" dirty="0"/>
                    <a:t>raditional </a:t>
                  </a:r>
                  <a:endParaRPr lang="en-US" sz="2000" dirty="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5E7203C-FFB9-364B-6013-83EA54DD05F4}"/>
                    </a:ext>
                  </a:extLst>
                </p:cNvPr>
                <p:cNvSpPr/>
                <p:nvPr/>
              </p:nvSpPr>
              <p:spPr>
                <a:xfrm>
                  <a:off x="4039777" y="2019455"/>
                  <a:ext cx="1434104" cy="568555"/>
                </a:xfrm>
                <a:prstGeom prst="rect">
                  <a:avLst/>
                </a:prstGeom>
                <a:solidFill>
                  <a:srgbClr val="C9D9F9"/>
                </a:solidFill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108000" tIns="108000" rIns="108000" bIns="108000" rtlCol="0" anchor="t"/>
                <a:lstStyle/>
                <a:p>
                  <a:pPr algn="ctr">
                    <a:spcBef>
                      <a:spcPts val="800"/>
                    </a:spcBef>
                  </a:pPr>
                  <a:r>
                    <a:rPr lang="en-US" sz="2000" dirty="0"/>
                    <a:t>S</a:t>
                  </a:r>
                  <a:r>
                    <a:rPr lang="en-US" altLang="zh-CN" sz="2000" dirty="0"/>
                    <a:t>tepwise </a:t>
                  </a:r>
                  <a:endParaRPr lang="en-US" sz="2000" dirty="0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4FC9415E-84B4-D0AE-3F2D-2B630193F7E0}"/>
                    </a:ext>
                  </a:extLst>
                </p:cNvPr>
                <p:cNvSpPr/>
                <p:nvPr/>
              </p:nvSpPr>
              <p:spPr>
                <a:xfrm>
                  <a:off x="4039777" y="3240315"/>
                  <a:ext cx="1461399" cy="522738"/>
                </a:xfrm>
                <a:prstGeom prst="rect">
                  <a:avLst/>
                </a:prstGeom>
                <a:solidFill>
                  <a:srgbClr val="C9D9F9"/>
                </a:solidFill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108000" tIns="108000" rIns="108000" bIns="108000" rtlCol="0" anchor="t"/>
                <a:lstStyle/>
                <a:p>
                  <a:pPr algn="ctr">
                    <a:spcBef>
                      <a:spcPts val="800"/>
                    </a:spcBef>
                  </a:pPr>
                  <a:r>
                    <a:rPr lang="en-US" sz="2000" dirty="0"/>
                    <a:t>F</a:t>
                  </a:r>
                  <a:r>
                    <a:rPr lang="en-US" altLang="zh-CN" sz="2000" dirty="0"/>
                    <a:t>ull model</a:t>
                  </a:r>
                  <a:endParaRPr lang="en-US" sz="2000" dirty="0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5E3DEDA-4A58-07BB-0773-AE5FE1DC2DCB}"/>
                    </a:ext>
                  </a:extLst>
                </p:cNvPr>
                <p:cNvSpPr/>
                <p:nvPr/>
              </p:nvSpPr>
              <p:spPr>
                <a:xfrm>
                  <a:off x="6031416" y="3282055"/>
                  <a:ext cx="1344305" cy="464377"/>
                </a:xfrm>
                <a:prstGeom prst="rect">
                  <a:avLst/>
                </a:prstGeom>
                <a:solidFill>
                  <a:srgbClr val="C9D9F9"/>
                </a:solidFill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108000" tIns="108000" rIns="108000" bIns="108000" rtlCol="0" anchor="t"/>
                <a:lstStyle/>
                <a:p>
                  <a:pPr algn="ctr">
                    <a:spcBef>
                      <a:spcPts val="800"/>
                    </a:spcBef>
                  </a:pPr>
                  <a:r>
                    <a:rPr lang="en-US" sz="2000" dirty="0"/>
                    <a:t>FREM</a:t>
                  </a:r>
                </a:p>
              </p:txBody>
            </p: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72EC6F06-546E-3FBD-136F-524234B0EC6F}"/>
                    </a:ext>
                  </a:extLst>
                </p:cNvPr>
                <p:cNvCxnSpPr>
                  <a:cxnSpLocks/>
                  <a:stCxn id="17" idx="3"/>
                  <a:endCxn id="21" idx="1"/>
                </p:cNvCxnSpPr>
                <p:nvPr/>
              </p:nvCxnSpPr>
              <p:spPr>
                <a:xfrm flipV="1">
                  <a:off x="3514133" y="2303733"/>
                  <a:ext cx="525644" cy="667581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F8F802F5-0C91-321E-EF43-E72CD3B8DDD9}"/>
                    </a:ext>
                  </a:extLst>
                </p:cNvPr>
                <p:cNvCxnSpPr>
                  <a:cxnSpLocks/>
                  <a:stCxn id="17" idx="3"/>
                  <a:endCxn id="23" idx="1"/>
                </p:cNvCxnSpPr>
                <p:nvPr/>
              </p:nvCxnSpPr>
              <p:spPr>
                <a:xfrm>
                  <a:off x="3514133" y="2971314"/>
                  <a:ext cx="525644" cy="53037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2F7E5E1-FCB0-492D-66B2-8C5CA094CEF2}"/>
                    </a:ext>
                  </a:extLst>
                </p:cNvPr>
                <p:cNvGrpSpPr/>
                <p:nvPr/>
              </p:nvGrpSpPr>
              <p:grpSpPr>
                <a:xfrm>
                  <a:off x="5653702" y="1771912"/>
                  <a:ext cx="1722019" cy="1095978"/>
                  <a:chOff x="5118141" y="1525983"/>
                  <a:chExt cx="1722019" cy="109597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76140F9D-400E-0B62-C80E-82C857A1A9F9}"/>
                      </a:ext>
                    </a:extLst>
                  </p:cNvPr>
                  <p:cNvSpPr/>
                  <p:nvPr/>
                </p:nvSpPr>
                <p:spPr>
                  <a:xfrm>
                    <a:off x="5495855" y="1525983"/>
                    <a:ext cx="1344305" cy="464377"/>
                  </a:xfrm>
                  <a:prstGeom prst="rect">
                    <a:avLst/>
                  </a:prstGeom>
                  <a:solidFill>
                    <a:srgbClr val="C9D9F9"/>
                  </a:solidFill>
                  <a:ln/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108000" tIns="108000" rIns="108000" bIns="108000" rtlCol="0" anchor="t"/>
                  <a:lstStyle/>
                  <a:p>
                    <a:pPr algn="ctr">
                      <a:spcBef>
                        <a:spcPts val="800"/>
                      </a:spcBef>
                    </a:pPr>
                    <a:r>
                      <a:rPr lang="en-US" sz="2000" b="1" dirty="0"/>
                      <a:t>SCM</a:t>
                    </a:r>
                  </a:p>
                </p:txBody>
              </p:sp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E45CE828-AF68-A0ED-C159-EE3F4E48CD7A}"/>
                      </a:ext>
                    </a:extLst>
                  </p:cNvPr>
                  <p:cNvSpPr/>
                  <p:nvPr/>
                </p:nvSpPr>
                <p:spPr>
                  <a:xfrm>
                    <a:off x="5495855" y="2157584"/>
                    <a:ext cx="1344305" cy="464377"/>
                  </a:xfrm>
                  <a:prstGeom prst="rect">
                    <a:avLst/>
                  </a:prstGeom>
                  <a:solidFill>
                    <a:srgbClr val="C9D9F9"/>
                  </a:solidFill>
                  <a:ln/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lIns="108000" tIns="108000" rIns="108000" bIns="108000" rtlCol="0" anchor="t"/>
                  <a:lstStyle/>
                  <a:p>
                    <a:pPr algn="ctr">
                      <a:spcBef>
                        <a:spcPts val="800"/>
                      </a:spcBef>
                    </a:pPr>
                    <a:r>
                      <a:rPr lang="en-US" sz="2000" dirty="0"/>
                      <a:t>COSSAC</a:t>
                    </a:r>
                  </a:p>
                </p:txBody>
              </p:sp>
              <p:sp>
                <p:nvSpPr>
                  <p:cNvPr id="55" name="Left Brace 54">
                    <a:extLst>
                      <a:ext uri="{FF2B5EF4-FFF2-40B4-BE49-F238E27FC236}">
                        <a16:creationId xmlns:a16="http://schemas.microsoft.com/office/drawing/2014/main" id="{BA6BB2A0-B629-FCB3-9F3D-C00B03059F9C}"/>
                      </a:ext>
                    </a:extLst>
                  </p:cNvPr>
                  <p:cNvSpPr/>
                  <p:nvPr/>
                </p:nvSpPr>
                <p:spPr>
                  <a:xfrm>
                    <a:off x="5118141" y="1618175"/>
                    <a:ext cx="197892" cy="879255"/>
                  </a:xfrm>
                  <a:prstGeom prst="leftBrac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/>
                  </a:p>
                </p:txBody>
              </p:sp>
            </p:grp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989803E8-8413-FF53-7C4D-89251627CA24}"/>
                    </a:ext>
                  </a:extLst>
                </p:cNvPr>
                <p:cNvCxnSpPr/>
                <p:nvPr/>
              </p:nvCxnSpPr>
              <p:spPr>
                <a:xfrm>
                  <a:off x="5578409" y="3501684"/>
                  <a:ext cx="34801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02C4092-FF1A-CBA1-C6EF-2DD9B59B5471}"/>
                </a:ext>
              </a:extLst>
            </p:cNvPr>
            <p:cNvGrpSpPr/>
            <p:nvPr/>
          </p:nvGrpSpPr>
          <p:grpSpPr>
            <a:xfrm>
              <a:off x="1749252" y="4159897"/>
              <a:ext cx="6331352" cy="1095978"/>
              <a:chOff x="1749252" y="4159897"/>
              <a:chExt cx="6331352" cy="109597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621A3A0-7A86-CF06-BBAB-434281DBDC8E}"/>
                  </a:ext>
                </a:extLst>
              </p:cNvPr>
              <p:cNvSpPr/>
              <p:nvPr/>
            </p:nvSpPr>
            <p:spPr>
              <a:xfrm>
                <a:off x="1749252" y="4438886"/>
                <a:ext cx="4111335" cy="53800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r>
                  <a:rPr lang="en-US" sz="2000" dirty="0"/>
                  <a:t>Emerg</a:t>
                </a:r>
                <a:r>
                  <a:rPr lang="en-US" altLang="zh-CN" sz="2000" dirty="0"/>
                  <a:t>ing </a:t>
                </a:r>
                <a:r>
                  <a:rPr lang="en-US" sz="2000" dirty="0"/>
                  <a:t>Machine/Deep learning</a:t>
                </a:r>
              </a:p>
              <a:p>
                <a:pPr algn="ctr">
                  <a:spcBef>
                    <a:spcPts val="800"/>
                  </a:spcBef>
                </a:pPr>
                <a:r>
                  <a:rPr lang="en-US" sz="2000" dirty="0"/>
                  <a:t> 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F03C6006-ACA7-A862-22E2-6774521BE70F}"/>
                  </a:ext>
                </a:extLst>
              </p:cNvPr>
              <p:cNvGrpSpPr/>
              <p:nvPr/>
            </p:nvGrpSpPr>
            <p:grpSpPr>
              <a:xfrm>
                <a:off x="6038240" y="4159897"/>
                <a:ext cx="2042364" cy="1095978"/>
                <a:chOff x="5118141" y="1525983"/>
                <a:chExt cx="2042364" cy="1095978"/>
              </a:xfrm>
            </p:grpSpPr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D2303907-9342-F859-56F4-934D2CFD71BB}"/>
                    </a:ext>
                  </a:extLst>
                </p:cNvPr>
                <p:cNvSpPr/>
                <p:nvPr/>
              </p:nvSpPr>
              <p:spPr>
                <a:xfrm>
                  <a:off x="5493686" y="1525983"/>
                  <a:ext cx="1666819" cy="464377"/>
                </a:xfrm>
                <a:prstGeom prst="rect">
                  <a:avLst/>
                </a:prstGeom>
                <a:solidFill>
                  <a:schemeClr val="bg2"/>
                </a:solidFill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108000" tIns="108000" rIns="108000" bIns="108000" rtlCol="0" anchor="t"/>
                <a:lstStyle/>
                <a:p>
                  <a:pPr algn="ctr">
                    <a:spcBef>
                      <a:spcPts val="800"/>
                    </a:spcBef>
                  </a:pPr>
                  <a:r>
                    <a:rPr lang="en-US" altLang="zh-CN" sz="2000" dirty="0"/>
                    <a:t>RF</a:t>
                  </a:r>
                  <a:endParaRPr lang="en-US" sz="2000" dirty="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90AAF06D-D0CE-843C-7034-F8CF9E8802FE}"/>
                    </a:ext>
                  </a:extLst>
                </p:cNvPr>
                <p:cNvSpPr/>
                <p:nvPr/>
              </p:nvSpPr>
              <p:spPr>
                <a:xfrm>
                  <a:off x="5495855" y="2157584"/>
                  <a:ext cx="1664650" cy="464377"/>
                </a:xfrm>
                <a:prstGeom prst="rect">
                  <a:avLst/>
                </a:prstGeom>
                <a:solidFill>
                  <a:schemeClr val="tx1">
                    <a:lumMod val="10000"/>
                    <a:lumOff val="90000"/>
                  </a:schemeClr>
                </a:solidFill>
                <a:ln/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lIns="108000" tIns="108000" rIns="108000" bIns="108000" rtlCol="0" anchor="t"/>
                <a:lstStyle/>
                <a:p>
                  <a:pPr algn="ctr">
                    <a:spcBef>
                      <a:spcPts val="800"/>
                    </a:spcBef>
                  </a:pPr>
                  <a:r>
                    <a:rPr lang="en-US" sz="2000" b="1" dirty="0"/>
                    <a:t>VAE</a:t>
                  </a:r>
                </a:p>
              </p:txBody>
            </p:sp>
            <p:sp>
              <p:nvSpPr>
                <p:cNvPr id="62" name="Left Brace 61">
                  <a:extLst>
                    <a:ext uri="{FF2B5EF4-FFF2-40B4-BE49-F238E27FC236}">
                      <a16:creationId xmlns:a16="http://schemas.microsoft.com/office/drawing/2014/main" id="{EBFFC6F7-F1C9-61AE-105B-E0504020C61A}"/>
                    </a:ext>
                  </a:extLst>
                </p:cNvPr>
                <p:cNvSpPr/>
                <p:nvPr/>
              </p:nvSpPr>
              <p:spPr>
                <a:xfrm>
                  <a:off x="5118141" y="1618175"/>
                  <a:ext cx="197892" cy="879255"/>
                </a:xfrm>
                <a:prstGeom prst="leftBrac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51637A5-E608-2E9C-F408-C7E8244EE3C8}"/>
              </a:ext>
            </a:extLst>
          </p:cNvPr>
          <p:cNvGrpSpPr/>
          <p:nvPr/>
        </p:nvGrpSpPr>
        <p:grpSpPr>
          <a:xfrm>
            <a:off x="4479538" y="6253114"/>
            <a:ext cx="7161078" cy="440989"/>
            <a:chOff x="4032136" y="6417011"/>
            <a:chExt cx="7161078" cy="4409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4759C13-CBB5-A14D-7805-44466B5A7ABE}"/>
                </a:ext>
              </a:extLst>
            </p:cNvPr>
            <p:cNvSpPr txBox="1"/>
            <p:nvPr/>
          </p:nvSpPr>
          <p:spPr>
            <a:xfrm>
              <a:off x="6617307" y="6417011"/>
              <a:ext cx="436221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25000"/>
                    </a:schemeClr>
                  </a:solidFill>
                </a:rPr>
                <a:t>Journal of Pharmacokinetics and Pharmacodynamics 34 (2007): 485–517.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1C09FF-69B9-E5DB-57D2-95AC8F60127C}"/>
                </a:ext>
              </a:extLst>
            </p:cNvPr>
            <p:cNvSpPr txBox="1"/>
            <p:nvPr/>
          </p:nvSpPr>
          <p:spPr>
            <a:xfrm>
              <a:off x="4032136" y="6607507"/>
              <a:ext cx="31174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25000"/>
                    </a:schemeClr>
                  </a:solidFill>
                </a:rPr>
                <a:t>Pharmaceutical Research 15 (1998): 1463–1468.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B07DED-9B32-8853-6F14-1EBEEDB2439C}"/>
                </a:ext>
              </a:extLst>
            </p:cNvPr>
            <p:cNvSpPr txBox="1"/>
            <p:nvPr/>
          </p:nvSpPr>
          <p:spPr>
            <a:xfrm>
              <a:off x="6913599" y="6611779"/>
              <a:ext cx="427961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25000"/>
                    </a:schemeClr>
                  </a:solidFill>
                </a:rPr>
                <a:t>CPT: Pharmacometrics &amp; Systems Pharmacology, 2025; 14:621–639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D2C48B3-3FFE-DF54-3959-BE3B7F11BDD9}"/>
              </a:ext>
            </a:extLst>
          </p:cNvPr>
          <p:cNvSpPr txBox="1"/>
          <p:nvPr/>
        </p:nvSpPr>
        <p:spPr>
          <a:xfrm>
            <a:off x="3348218" y="6252891"/>
            <a:ext cx="38139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25000"/>
                  </a:schemeClr>
                </a:solidFill>
              </a:rPr>
              <a:t>CPT Pharmacometrics Syst </a:t>
            </a:r>
            <a:r>
              <a:rPr lang="en-US" sz="1000" dirty="0" err="1">
                <a:solidFill>
                  <a:schemeClr val="bg1">
                    <a:lumMod val="25000"/>
                  </a:schemeClr>
                </a:solidFill>
              </a:rPr>
              <a:t>Pharmacol</a:t>
            </a:r>
            <a:r>
              <a:rPr lang="en-US" sz="1000" dirty="0">
                <a:solidFill>
                  <a:schemeClr val="bg1">
                    <a:lumMod val="25000"/>
                  </a:schemeClr>
                </a:solidFill>
              </a:rPr>
              <a:t>. 2025;14(12):2232-2243. </a:t>
            </a:r>
          </a:p>
        </p:txBody>
      </p:sp>
    </p:spTree>
    <p:extLst>
      <p:ext uri="{BB962C8B-B14F-4D97-AF65-F5344CB8AC3E}">
        <p14:creationId xmlns:p14="http://schemas.microsoft.com/office/powerpoint/2010/main" val="11743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456485" y="306261"/>
            <a:ext cx="11279029" cy="64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0460A9"/>
                </a:solidFill>
                <a:latin typeface="Arial"/>
                <a:cs typeface="Arial"/>
              </a:rPr>
              <a:t>SCM builds the model by adding, then pruning, covariates one at a time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5461BC-FA0A-DADE-7C20-F36DAC8678CB}"/>
              </a:ext>
            </a:extLst>
          </p:cNvPr>
          <p:cNvGrpSpPr/>
          <p:nvPr/>
        </p:nvGrpSpPr>
        <p:grpSpPr>
          <a:xfrm>
            <a:off x="656650" y="776319"/>
            <a:ext cx="10248644" cy="2013613"/>
            <a:chOff x="616638" y="1207434"/>
            <a:chExt cx="11026722" cy="3112566"/>
          </a:xfrm>
        </p:grpSpPr>
        <p:sp>
          <p:nvSpPr>
            <p:cNvPr id="20" name="base"/>
            <p:cNvSpPr/>
            <p:nvPr/>
          </p:nvSpPr>
          <p:spPr>
            <a:xfrm>
              <a:off x="616638" y="2890000"/>
              <a:ext cx="1433362" cy="1180001"/>
            </a:xfrm>
            <a:prstGeom prst="rect">
              <a:avLst/>
            </a:prstGeom>
            <a:solidFill>
              <a:srgbClr val="DCE9F7"/>
            </a:solidFill>
            <a:ln w="15875">
              <a:solidFill>
                <a:srgbClr val="2E6DB4"/>
              </a:solidFill>
            </a:ln>
          </p:spPr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Base model</a:t>
              </a:r>
            </a:p>
          </p:txBody>
        </p:sp>
        <p:sp>
          <p:nvSpPr>
            <p:cNvPr id="21" name="add"/>
            <p:cNvSpPr/>
            <p:nvPr/>
          </p:nvSpPr>
          <p:spPr>
            <a:xfrm>
              <a:off x="2410000" y="2890000"/>
              <a:ext cx="1650000" cy="1180000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Add the most significant </a:t>
              </a:r>
            </a:p>
            <a:p>
              <a:pPr marL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candidate</a:t>
              </a:r>
            </a:p>
          </p:txBody>
        </p:sp>
        <p:sp>
          <p:nvSpPr>
            <p:cNvPr id="22" name="lrt"/>
            <p:cNvSpPr/>
            <p:nvPr/>
          </p:nvSpPr>
          <p:spPr>
            <a:xfrm>
              <a:off x="4404999" y="2640000"/>
              <a:ext cx="1695001" cy="1680000"/>
            </a:xfrm>
            <a:prstGeom prst="diamond">
              <a:avLst/>
            </a:prstGeom>
            <a:solidFill>
              <a:srgbClr val="ED9B33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LRT</a:t>
              </a:r>
            </a:p>
            <a:p>
              <a:pPr marL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p &lt; 0.05?</a:t>
              </a:r>
            </a:p>
          </p:txBody>
        </p:sp>
        <p:sp>
          <p:nvSpPr>
            <p:cNvPr id="23" name="rem"/>
            <p:cNvSpPr/>
            <p:nvPr/>
          </p:nvSpPr>
          <p:spPr>
            <a:xfrm>
              <a:off x="6511680" y="2890000"/>
              <a:ext cx="1650000" cy="1180000"/>
            </a:xfrm>
            <a:prstGeom prst="rect">
              <a:avLst/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0460A9"/>
                  </a:solidFill>
                  <a:latin typeface="Arial"/>
                  <a:cs typeface="Arial"/>
                </a:rPr>
                <a:t>Remove weakest</a:t>
              </a:r>
            </a:p>
          </p:txBody>
        </p:sp>
        <p:sp>
          <p:nvSpPr>
            <p:cNvPr id="24" name="pv"/>
            <p:cNvSpPr/>
            <p:nvPr/>
          </p:nvSpPr>
          <p:spPr>
            <a:xfrm>
              <a:off x="8440000" y="2640000"/>
              <a:ext cx="1680000" cy="1680000"/>
            </a:xfrm>
            <a:prstGeom prst="diamond">
              <a:avLst/>
            </a:prstGeom>
            <a:solidFill>
              <a:srgbClr val="ED9B33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3C3C3C"/>
                  </a:solidFill>
                  <a:latin typeface="Arial"/>
                  <a:cs typeface="Arial"/>
                </a:rPr>
                <a:t>p &gt; 0.01?</a:t>
              </a:r>
            </a:p>
          </p:txBody>
        </p:sp>
        <p:sp>
          <p:nvSpPr>
            <p:cNvPr id="25" name="fin"/>
            <p:cNvSpPr/>
            <p:nvPr/>
          </p:nvSpPr>
          <p:spPr>
            <a:xfrm>
              <a:off x="10513360" y="2950494"/>
              <a:ext cx="1130000" cy="105901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wrap="square" lIns="45720" tIns="27432" rIns="45720" bIns="27432" anchor="ctr"/>
            <a:lstStyle/>
            <a:p>
              <a:pPr marL="0" algn="ctr">
                <a:lnSpc>
                  <a:spcPct val="100000"/>
                </a:lnSpc>
                <a:spcAft>
                  <a:spcPts val="30"/>
                </a:spcAft>
                <a:buNone/>
              </a:pPr>
              <a:r>
                <a:rPr lang="en-US" sz="1600" b="1" i="0" dirty="0">
                  <a:solidFill>
                    <a:srgbClr val="FFFFFF"/>
                  </a:solidFill>
                  <a:latin typeface="Arial"/>
                  <a:cs typeface="Arial"/>
                </a:rPr>
                <a:t>Final</a:t>
              </a:r>
            </a:p>
            <a:p>
              <a:pPr marL="0" algn="ctr">
                <a:lnSpc>
                  <a:spcPct val="100000"/>
                </a:lnSpc>
                <a:spcAft>
                  <a:spcPts val="0"/>
                </a:spcAft>
                <a:buNone/>
              </a:pPr>
              <a:r>
                <a:rPr lang="en-US" sz="1600" b="1" i="0" dirty="0">
                  <a:solidFill>
                    <a:srgbClr val="FFFFFF"/>
                  </a:solidFill>
                  <a:latin typeface="Arial"/>
                  <a:cs typeface="Arial"/>
                </a:rPr>
                <a:t>model</a:t>
              </a:r>
            </a:p>
          </p:txBody>
        </p:sp>
        <p:cxnSp>
          <p:nvCxnSpPr>
            <p:cNvPr id="30" name="a30"/>
            <p:cNvCxnSpPr>
              <a:cxnSpLocks/>
            </p:cNvCxnSpPr>
            <p:nvPr/>
          </p:nvCxnSpPr>
          <p:spPr>
            <a:xfrm>
              <a:off x="2050000" y="3480000"/>
              <a:ext cx="36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cxnSp>
          <p:nvCxnSpPr>
            <p:cNvPr id="31" name="a31"/>
            <p:cNvCxnSpPr>
              <a:cxnSpLocks/>
            </p:cNvCxnSpPr>
            <p:nvPr/>
          </p:nvCxnSpPr>
          <p:spPr>
            <a:xfrm>
              <a:off x="4060000" y="3480000"/>
              <a:ext cx="36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cxnSp>
          <p:nvCxnSpPr>
            <p:cNvPr id="32" name="a32"/>
            <p:cNvCxnSpPr>
              <a:cxnSpLocks/>
            </p:cNvCxnSpPr>
            <p:nvPr/>
          </p:nvCxnSpPr>
          <p:spPr>
            <a:xfrm>
              <a:off x="6100000" y="3480000"/>
              <a:ext cx="33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cxnSp>
          <p:nvCxnSpPr>
            <p:cNvPr id="33" name="a33"/>
            <p:cNvCxnSpPr>
              <a:cxnSpLocks/>
            </p:cNvCxnSpPr>
            <p:nvPr/>
          </p:nvCxnSpPr>
          <p:spPr>
            <a:xfrm>
              <a:off x="8155000" y="3479999"/>
              <a:ext cx="36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cxnSp>
          <p:nvCxnSpPr>
            <p:cNvPr id="34" name="a34"/>
            <p:cNvCxnSpPr>
              <a:cxnSpLocks/>
            </p:cNvCxnSpPr>
            <p:nvPr/>
          </p:nvCxnSpPr>
          <p:spPr>
            <a:xfrm>
              <a:off x="10120000" y="3480000"/>
              <a:ext cx="330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sp>
          <p:nvSpPr>
            <p:cNvPr id="35" name="nomore"/>
            <p:cNvSpPr txBox="1"/>
            <p:nvPr/>
          </p:nvSpPr>
          <p:spPr>
            <a:xfrm>
              <a:off x="5750000" y="3120000"/>
              <a:ext cx="1150000" cy="3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E8590C"/>
                  </a:solidFill>
                  <a:latin typeface="Arial"/>
                  <a:cs typeface="Arial"/>
                </a:rPr>
                <a:t>No</a:t>
              </a:r>
            </a:p>
          </p:txBody>
        </p:sp>
        <p:sp>
          <p:nvSpPr>
            <p:cNvPr id="36" name="no"/>
            <p:cNvSpPr txBox="1"/>
            <p:nvPr/>
          </p:nvSpPr>
          <p:spPr>
            <a:xfrm>
              <a:off x="9870000" y="3120000"/>
              <a:ext cx="900000" cy="3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E8590C"/>
                  </a:solidFill>
                  <a:latin typeface="Arial"/>
                  <a:cs typeface="Arial"/>
                </a:rPr>
                <a:t>No</a:t>
              </a:r>
            </a:p>
          </p:txBody>
        </p:sp>
        <p:cxnSp>
          <p:nvCxnSpPr>
            <p:cNvPr id="40" name="a40"/>
            <p:cNvCxnSpPr>
              <a:cxnSpLocks/>
            </p:cNvCxnSpPr>
            <p:nvPr/>
          </p:nvCxnSpPr>
          <p:spPr>
            <a:xfrm flipV="1">
              <a:off x="5260000" y="2160000"/>
              <a:ext cx="0" cy="480000"/>
            </a:xfrm>
            <a:prstGeom prst="straightConnector1">
              <a:avLst/>
            </a:prstGeom>
            <a:ln w="19050" cap="rnd">
              <a:solidFill>
                <a:srgbClr val="4D4D4D"/>
              </a:solidFill>
            </a:ln>
          </p:spPr>
        </p:cxnSp>
        <p:cxnSp>
          <p:nvCxnSpPr>
            <p:cNvPr id="41" name="a41"/>
            <p:cNvCxnSpPr>
              <a:cxnSpLocks/>
            </p:cNvCxnSpPr>
            <p:nvPr/>
          </p:nvCxnSpPr>
          <p:spPr>
            <a:xfrm flipH="1">
              <a:off x="3235000" y="2160000"/>
              <a:ext cx="2025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</a:ln>
          </p:spPr>
        </p:cxnSp>
        <p:cxnSp>
          <p:nvCxnSpPr>
            <p:cNvPr id="42" name="a42"/>
            <p:cNvCxnSpPr>
              <a:cxnSpLocks/>
            </p:cNvCxnSpPr>
            <p:nvPr/>
          </p:nvCxnSpPr>
          <p:spPr>
            <a:xfrm>
              <a:off x="3235000" y="2160000"/>
              <a:ext cx="0" cy="73000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sp>
          <p:nvSpPr>
            <p:cNvPr id="43" name="y1"/>
            <p:cNvSpPr txBox="1"/>
            <p:nvPr/>
          </p:nvSpPr>
          <p:spPr>
            <a:xfrm>
              <a:off x="2935000" y="1800000"/>
              <a:ext cx="2400000" cy="3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E8590C"/>
                  </a:solidFill>
                  <a:latin typeface="Arial"/>
                  <a:cs typeface="Arial"/>
                </a:rPr>
                <a:t>Yes (add, repeat)</a:t>
              </a:r>
            </a:p>
          </p:txBody>
        </p:sp>
        <p:cxnSp>
          <p:nvCxnSpPr>
            <p:cNvPr id="44" name="a44"/>
            <p:cNvCxnSpPr>
              <a:cxnSpLocks/>
            </p:cNvCxnSpPr>
            <p:nvPr/>
          </p:nvCxnSpPr>
          <p:spPr>
            <a:xfrm flipV="1">
              <a:off x="9280000" y="2160000"/>
              <a:ext cx="0" cy="480000"/>
            </a:xfrm>
            <a:prstGeom prst="straightConnector1">
              <a:avLst/>
            </a:prstGeom>
            <a:ln w="19050" cap="rnd">
              <a:solidFill>
                <a:srgbClr val="4D4D4D"/>
              </a:solidFill>
            </a:ln>
          </p:spPr>
        </p:cxnSp>
        <p:cxnSp>
          <p:nvCxnSpPr>
            <p:cNvPr id="45" name="a45"/>
            <p:cNvCxnSpPr>
              <a:cxnSpLocks/>
            </p:cNvCxnSpPr>
            <p:nvPr/>
          </p:nvCxnSpPr>
          <p:spPr>
            <a:xfrm flipH="1">
              <a:off x="7255000" y="2160000"/>
              <a:ext cx="2025000" cy="0"/>
            </a:xfrm>
            <a:prstGeom prst="straightConnector1">
              <a:avLst/>
            </a:prstGeom>
            <a:ln w="19050" cap="rnd">
              <a:solidFill>
                <a:srgbClr val="4D4D4D"/>
              </a:solidFill>
            </a:ln>
          </p:spPr>
        </p:cxnSp>
        <p:cxnSp>
          <p:nvCxnSpPr>
            <p:cNvPr id="46" name="a46"/>
            <p:cNvCxnSpPr>
              <a:cxnSpLocks/>
            </p:cNvCxnSpPr>
            <p:nvPr/>
          </p:nvCxnSpPr>
          <p:spPr>
            <a:xfrm>
              <a:off x="7255000" y="2160000"/>
              <a:ext cx="0" cy="730000"/>
            </a:xfrm>
            <a:prstGeom prst="straightConnector1">
              <a:avLst/>
            </a:prstGeom>
            <a:ln w="19050" cap="rnd">
              <a:solidFill>
                <a:srgbClr val="4D4D4D"/>
              </a:solidFill>
              <a:tailEnd type="triangle" w="med" len="med"/>
            </a:ln>
          </p:spPr>
        </p:cxnSp>
        <p:sp>
          <p:nvSpPr>
            <p:cNvPr id="47" name="y2"/>
            <p:cNvSpPr txBox="1"/>
            <p:nvPr/>
          </p:nvSpPr>
          <p:spPr>
            <a:xfrm>
              <a:off x="6955000" y="1800000"/>
              <a:ext cx="2400000" cy="30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E8590C"/>
                  </a:solidFill>
                  <a:latin typeface="Arial"/>
                  <a:cs typeface="Arial"/>
                </a:rPr>
                <a:t>Yes (remove, repeat)</a:t>
              </a:r>
            </a:p>
          </p:txBody>
        </p:sp>
        <p:sp>
          <p:nvSpPr>
            <p:cNvPr id="48" name="fwd"/>
            <p:cNvSpPr txBox="1"/>
            <p:nvPr/>
          </p:nvSpPr>
          <p:spPr>
            <a:xfrm>
              <a:off x="2300000" y="1207434"/>
              <a:ext cx="3520000" cy="579996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2000" b="1" i="0" dirty="0">
                  <a:latin typeface="Arial"/>
                  <a:cs typeface="Arial"/>
                </a:rPr>
                <a:t>Forward inclusion</a:t>
              </a:r>
            </a:p>
          </p:txBody>
        </p:sp>
        <p:sp>
          <p:nvSpPr>
            <p:cNvPr id="49" name="bwd"/>
            <p:cNvSpPr txBox="1"/>
            <p:nvPr/>
          </p:nvSpPr>
          <p:spPr>
            <a:xfrm>
              <a:off x="6134346" y="1238671"/>
              <a:ext cx="3520000" cy="459999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ctr">
                <a:lnSpc>
                  <a:spcPct val="100000"/>
                </a:lnSpc>
                <a:spcAft>
                  <a:spcPts val="40"/>
                </a:spcAft>
                <a:buNone/>
              </a:pPr>
              <a:r>
                <a:rPr lang="en-US" sz="2000" b="1" dirty="0">
                  <a:latin typeface="Arial"/>
                  <a:cs typeface="Arial"/>
                </a:rPr>
                <a:t>Backward elimination</a:t>
              </a:r>
            </a:p>
          </p:txBody>
        </p: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149AD619-3637-4849-B618-E29C888D376F}" type="slidenum">
              <a:rPr lang="en-US" sz="1000">
                <a:solidFill>
                  <a:srgbClr val="8A8A8A"/>
                </a:solidFill>
                <a:latin typeface="Arial"/>
              </a:rPr>
              <a:t>7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D6864-10CB-3A5F-144B-A9E5F72EC7A8}"/>
              </a:ext>
            </a:extLst>
          </p:cNvPr>
          <p:cNvSpPr txBox="1"/>
          <p:nvPr/>
        </p:nvSpPr>
        <p:spPr>
          <a:xfrm>
            <a:off x="8800618" y="6522889"/>
            <a:ext cx="31174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Pharmaceutical Research 15 (1998): 1463–1468.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96ED000-5ADE-C94A-071C-BE6CF7AD2B66}"/>
              </a:ext>
            </a:extLst>
          </p:cNvPr>
          <p:cNvSpPr txBox="1"/>
          <p:nvPr/>
        </p:nvSpPr>
        <p:spPr>
          <a:xfrm>
            <a:off x="398869" y="3137173"/>
            <a:ext cx="11372896" cy="90338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0460A9"/>
                </a:solidFill>
                <a:latin typeface="Arial"/>
                <a:cs typeface="Arial"/>
              </a:rPr>
              <a:t>VAE can estimate population parameters and covariate effects in a single run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25D741-039E-85EF-AE79-F6DBBAA95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749" y="3557678"/>
            <a:ext cx="6319869" cy="25240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48640" y="411480"/>
            <a:ext cx="11076432" cy="77724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We benchmark nlmixr2's SCM and VAE against the NONMEM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1448930" y="2426448"/>
            <a:ext cx="9433477" cy="1778372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To </a:t>
            </a:r>
            <a:r>
              <a:rPr lang="en-US" sz="28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e</a:t>
            </a:r>
            <a:r>
              <a:rPr lang="en-US" sz="2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valuate the </a:t>
            </a:r>
            <a:r>
              <a:rPr lang="en-US" sz="2800" b="0" i="0" u="sng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operating characteristics</a:t>
            </a:r>
            <a:r>
              <a:rPr lang="en-US" sz="2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 of </a:t>
            </a:r>
            <a:br>
              <a:rPr lang="en-US" sz="2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</a:br>
            <a:r>
              <a:rPr lang="en-US" sz="2800" b="0" i="0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traditional (i.e., SCM) and novel (i.e., VAE) covariate </a:t>
            </a:r>
            <a:r>
              <a:rPr lang="en-US" sz="2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model building methods</a:t>
            </a:r>
            <a:r>
              <a:rPr lang="en-US" sz="28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 in the open-source </a:t>
            </a:r>
            <a:r>
              <a:rPr lang="en-US" sz="2800" b="0" u="sng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nlmixr2 ecosystem</a:t>
            </a:r>
            <a:r>
              <a:rPr lang="en-US" sz="28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, benchmarking against </a:t>
            </a:r>
            <a:r>
              <a:rPr lang="en-US" sz="2800" b="0" u="sng" dirty="0" err="1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PsN</a:t>
            </a:r>
            <a:r>
              <a:rPr lang="en-US" sz="2800" b="0" u="sng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-NONMEM-SCM</a:t>
            </a:r>
            <a:r>
              <a:rPr lang="en-US" sz="28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. </a:t>
            </a:r>
            <a:endParaRPr lang="en-US" sz="2800" b="0" i="0" u="none" strike="noStrike" cap="none" dirty="0">
              <a:solidFill>
                <a:srgbClr val="4D4D4D">
                  <a:alpha val="100000"/>
                </a:srgb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B47BCB5-3412-A994-0799-31C58A72C060}"/>
              </a:ext>
            </a:extLst>
          </p:cNvPr>
          <p:cNvSpPr/>
          <p:nvPr/>
        </p:nvSpPr>
        <p:spPr>
          <a:xfrm>
            <a:off x="527159" y="1741714"/>
            <a:ext cx="10733024" cy="278232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948379-4AFD-CFB6-54D6-9A5D39E36501}"/>
              </a:ext>
            </a:extLst>
          </p:cNvPr>
          <p:cNvSpPr/>
          <p:nvPr/>
        </p:nvSpPr>
        <p:spPr>
          <a:xfrm>
            <a:off x="679559" y="1894114"/>
            <a:ext cx="10733024" cy="278232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1600" dirty="0" err="1"/>
          </a:p>
        </p:txBody>
      </p: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F2B9F23C-9380-4743-941F-EF61421D9CF9}" type="slidenum">
              <a:rPr lang="en-US" sz="1000">
                <a:solidFill>
                  <a:srgbClr val="8A8A8A"/>
                </a:solidFill>
                <a:latin typeface="Arial"/>
              </a:rPr>
              <a:t>8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6CED729-8863-02C8-E132-D50A8231F870}"/>
              </a:ext>
            </a:extLst>
          </p:cNvPr>
          <p:cNvGrpSpPr/>
          <p:nvPr/>
        </p:nvGrpSpPr>
        <p:grpSpPr>
          <a:xfrm>
            <a:off x="2426503" y="6116559"/>
            <a:ext cx="9147714" cy="573441"/>
            <a:chOff x="880000" y="5136559"/>
            <a:chExt cx="9400000" cy="573441"/>
          </a:xfrm>
        </p:grpSpPr>
        <p:sp>
          <p:nvSpPr>
            <p:cNvPr id="90" name="pill90"/>
            <p:cNvSpPr/>
            <p:nvPr/>
          </p:nvSpPr>
          <p:spPr>
            <a:xfrm>
              <a:off x="880000" y="5136559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1  Background</a:t>
              </a:r>
            </a:p>
          </p:txBody>
        </p:sp>
        <p:sp>
          <p:nvSpPr>
            <p:cNvPr id="91" name="pill91"/>
            <p:cNvSpPr/>
            <p:nvPr/>
          </p:nvSpPr>
          <p:spPr>
            <a:xfrm>
              <a:off x="323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Arial"/>
                  <a:cs typeface="Arial"/>
                </a:rPr>
                <a:t>2  Methods</a:t>
              </a:r>
            </a:p>
          </p:txBody>
        </p:sp>
        <p:sp>
          <p:nvSpPr>
            <p:cNvPr id="92" name="pill92"/>
            <p:cNvSpPr/>
            <p:nvPr/>
          </p:nvSpPr>
          <p:spPr>
            <a:xfrm>
              <a:off x="5580000" y="5136559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3  Results</a:t>
              </a:r>
            </a:p>
          </p:txBody>
        </p:sp>
        <p:sp>
          <p:nvSpPr>
            <p:cNvPr id="93" name="pill93"/>
            <p:cNvSpPr/>
            <p:nvPr/>
          </p:nvSpPr>
          <p:spPr>
            <a:xfrm>
              <a:off x="793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4  Discussion</a:t>
              </a:r>
            </a:p>
          </p:txBody>
        </p: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67AF961B-FA85-46B2-8462-1AA7770D0F78}" type="slidenum">
              <a:rPr lang="en-US" sz="1000">
                <a:solidFill>
                  <a:srgbClr val="8A8A8A"/>
                </a:solidFill>
                <a:latin typeface="Arial"/>
              </a:rPr>
              <a:t>9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68F526-283A-2036-482D-E02A0C9DA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5" b="13390"/>
          <a:stretch>
            <a:fillRect/>
          </a:stretch>
        </p:blipFill>
        <p:spPr>
          <a:xfrm>
            <a:off x="1146340" y="168001"/>
            <a:ext cx="9111236" cy="554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9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88620" y="269934"/>
            <a:ext cx="11064240" cy="387798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Identical simulated data feeds all three workflows for a fair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388620" y="959521"/>
            <a:ext cx="3108960" cy="60415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pic>
        <p:nvPicPr>
          <p:cNvPr id="19" name="Graphic 18" descr="Arrow Right with solid fill">
            <a:extLst>
              <a:ext uri="{FF2B5EF4-FFF2-40B4-BE49-F238E27FC236}">
                <a16:creationId xmlns:a16="http://schemas.microsoft.com/office/drawing/2014/main" id="{A158E076-3170-E92B-6C20-909F0AA62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7379" y="1667876"/>
            <a:ext cx="754023" cy="86308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3EEAAF9-207E-A326-9232-B4AC0794C842}"/>
              </a:ext>
            </a:extLst>
          </p:cNvPr>
          <p:cNvSpPr txBox="1"/>
          <p:nvPr/>
        </p:nvSpPr>
        <p:spPr>
          <a:xfrm>
            <a:off x="1436717" y="958215"/>
            <a:ext cx="10127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14FB9-2E73-E789-D61C-D909BD514285}"/>
              </a:ext>
            </a:extLst>
          </p:cNvPr>
          <p:cNvSpPr txBox="1"/>
          <p:nvPr/>
        </p:nvSpPr>
        <p:spPr>
          <a:xfrm>
            <a:off x="5742432" y="958215"/>
            <a:ext cx="4931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6F1C17-083D-1EB4-6639-41039548987D}"/>
              </a:ext>
            </a:extLst>
          </p:cNvPr>
          <p:cNvSpPr txBox="1"/>
          <p:nvPr/>
        </p:nvSpPr>
        <p:spPr>
          <a:xfrm>
            <a:off x="9656064" y="958215"/>
            <a:ext cx="6289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dirty="0"/>
          </a:p>
        </p:txBody>
      </p:sp>
      <p:pic>
        <p:nvPicPr>
          <p:cNvPr id="27" name="Graphic 26" descr="Arrow Right with solid fill">
            <a:extLst>
              <a:ext uri="{FF2B5EF4-FFF2-40B4-BE49-F238E27FC236}">
                <a16:creationId xmlns:a16="http://schemas.microsoft.com/office/drawing/2014/main" id="{E40E70F7-EFA1-BC3A-F373-BDD178737C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941" y="1630896"/>
            <a:ext cx="754023" cy="8630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027949B-0DC2-9A9C-0BB4-BF7B40845D8A}"/>
              </a:ext>
            </a:extLst>
          </p:cNvPr>
          <p:cNvGrpSpPr/>
          <p:nvPr/>
        </p:nvGrpSpPr>
        <p:grpSpPr>
          <a:xfrm>
            <a:off x="781057" y="1520850"/>
            <a:ext cx="2846322" cy="3913086"/>
            <a:chOff x="781057" y="1464493"/>
            <a:chExt cx="2846322" cy="414574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1F254F8-F1C9-D444-E02D-207A3B6EE83D}"/>
                </a:ext>
              </a:extLst>
            </p:cNvPr>
            <p:cNvSpPr/>
            <p:nvPr/>
          </p:nvSpPr>
          <p:spPr>
            <a:xfrm>
              <a:off x="781057" y="1464493"/>
              <a:ext cx="2846322" cy="1134496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algn="ctr">
                <a:spcBef>
                  <a:spcPts val="800"/>
                </a:spcBef>
              </a:pPr>
              <a:r>
                <a:rPr lang="en-US" sz="2400" dirty="0"/>
                <a:t>Simulate </a:t>
              </a:r>
            </a:p>
            <a:p>
              <a:pPr algn="ctr">
                <a:spcBef>
                  <a:spcPts val="800"/>
                </a:spcBef>
              </a:pPr>
              <a:r>
                <a:rPr lang="en-US" sz="2400" dirty="0"/>
                <a:t>virtual population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A8D618B-139C-E76C-64EE-9492707D023C}"/>
                </a:ext>
              </a:extLst>
            </p:cNvPr>
            <p:cNvGrpSpPr/>
            <p:nvPr/>
          </p:nvGrpSpPr>
          <p:grpSpPr>
            <a:xfrm>
              <a:off x="953618" y="2904116"/>
              <a:ext cx="2111297" cy="1667095"/>
              <a:chOff x="953618" y="2904116"/>
              <a:chExt cx="2111297" cy="1667095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3DC2133-EB54-4BB3-6884-62888E2BE831}"/>
                  </a:ext>
                </a:extLst>
              </p:cNvPr>
              <p:cNvGrpSpPr/>
              <p:nvPr/>
            </p:nvGrpSpPr>
            <p:grpSpPr>
              <a:xfrm>
                <a:off x="1383147" y="2904116"/>
                <a:ext cx="1322132" cy="927327"/>
                <a:chOff x="1383147" y="2904116"/>
                <a:chExt cx="1322132" cy="927327"/>
              </a:xfrm>
            </p:grpSpPr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F2E0A2D-D95B-7EC2-68FD-7304BCBF089A}"/>
                    </a:ext>
                  </a:extLst>
                </p:cNvPr>
                <p:cNvSpPr txBox="1"/>
                <p:nvPr/>
              </p:nvSpPr>
              <p:spPr>
                <a:xfrm>
                  <a:off x="1397000" y="2904116"/>
                  <a:ext cx="13082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b="0" i="0" u="none" strike="noStrike" cap="none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NHANES</a:t>
                  </a:r>
                  <a:endParaRPr lang="en-US" sz="3200" dirty="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B6A88E0-BCBB-603D-BCE4-11EE07E084FA}"/>
                    </a:ext>
                  </a:extLst>
                </p:cNvPr>
                <p:cNvSpPr txBox="1"/>
                <p:nvPr/>
              </p:nvSpPr>
              <p:spPr>
                <a:xfrm>
                  <a:off x="1383147" y="3431333"/>
                  <a:ext cx="118565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000" b="0" i="0" u="none" strike="noStrike" cap="none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+</a:t>
                  </a:r>
                  <a:endParaRPr lang="en-US" sz="3200" dirty="0"/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6971BDA-21EF-40B2-8333-CBF75935F6A7}"/>
                  </a:ext>
                </a:extLst>
              </p:cNvPr>
              <p:cNvSpPr txBox="1"/>
              <p:nvPr/>
            </p:nvSpPr>
            <p:spPr>
              <a:xfrm>
                <a:off x="953618" y="3863325"/>
                <a:ext cx="211129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True </a:t>
                </a:r>
                <a:r>
                  <a:rPr lang="en-US" sz="2000" dirty="0" err="1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PopPK</a:t>
                </a:r>
                <a:r>
                  <a:rPr lang="en-US" sz="2000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 </a:t>
                </a:r>
              </a:p>
              <a:p>
                <a:pPr algn="ctr"/>
                <a:r>
                  <a:rPr lang="en-US" sz="2000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Full model </a:t>
                </a:r>
                <a:endParaRPr lang="en-US" sz="2000" dirty="0"/>
              </a:p>
            </p:txBody>
          </p:sp>
        </p:grpSp>
        <p:pic>
          <p:nvPicPr>
            <p:cNvPr id="39" name="Graphic 38" descr="Group of people outline">
              <a:extLst>
                <a:ext uri="{FF2B5EF4-FFF2-40B4-BE49-F238E27FC236}">
                  <a16:creationId xmlns:a16="http://schemas.microsoft.com/office/drawing/2014/main" id="{9EE7EFEF-06E6-CADA-2B22-F283E12759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74" y="4772941"/>
              <a:ext cx="914400" cy="837293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9C219A4-14BF-4BD5-2D17-9400F7C00E18}"/>
              </a:ext>
            </a:extLst>
          </p:cNvPr>
          <p:cNvGrpSpPr/>
          <p:nvPr/>
        </p:nvGrpSpPr>
        <p:grpSpPr>
          <a:xfrm>
            <a:off x="6870731" y="4181597"/>
            <a:ext cx="1600857" cy="986652"/>
            <a:chOff x="4283358" y="4002342"/>
            <a:chExt cx="1139126" cy="86654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B44F1A8-C2AE-34D2-96F5-DA012FA2A9F3}"/>
                </a:ext>
              </a:extLst>
            </p:cNvPr>
            <p:cNvGrpSpPr/>
            <p:nvPr/>
          </p:nvGrpSpPr>
          <p:grpSpPr>
            <a:xfrm>
              <a:off x="4283358" y="4530583"/>
              <a:ext cx="1139126" cy="338307"/>
              <a:chOff x="4181441" y="3205257"/>
              <a:chExt cx="1139126" cy="373164"/>
            </a:xfrm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B7CBA8F2-7D8A-CD30-0FD7-9FCD307AFC44}"/>
                  </a:ext>
                </a:extLst>
              </p:cNvPr>
              <p:cNvSpPr/>
              <p:nvPr/>
            </p:nvSpPr>
            <p:spPr>
              <a:xfrm>
                <a:off x="4181441" y="3205257"/>
                <a:ext cx="1035335" cy="368118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lIns="108000" tIns="108000" rIns="108000" bIns="108000" rtlCol="0" anchor="t"/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endParaRPr lang="en-US" dirty="0" err="1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B59941B-4EE2-1B9E-FBEC-3EEFFF6A80E2}"/>
                  </a:ext>
                </a:extLst>
              </p:cNvPr>
              <p:cNvSpPr txBox="1"/>
              <p:nvPr/>
            </p:nvSpPr>
            <p:spPr>
              <a:xfrm>
                <a:off x="4285232" y="3221958"/>
                <a:ext cx="1035335" cy="3564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 err="1"/>
                  <a:t>Nonmem</a:t>
                </a:r>
                <a:endParaRPr lang="en-US" dirty="0"/>
              </a:p>
            </p:txBody>
          </p:sp>
        </p:grp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C7809BE-04AE-1F33-931D-B5089C6058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5351" y="4012708"/>
              <a:ext cx="614802" cy="2461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380EA2A-1738-B32B-2D8E-5AEFBBB1F2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11625" y="4039579"/>
              <a:ext cx="5690" cy="507222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FA5BDC1-9AD0-C1B2-9C9E-0C4E2FB78D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6502" y="4002342"/>
              <a:ext cx="3651" cy="540958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D7096FC-2A92-527A-4B9B-DD21A9AA66B5}"/>
              </a:ext>
            </a:extLst>
          </p:cNvPr>
          <p:cNvGrpSpPr/>
          <p:nvPr/>
        </p:nvGrpSpPr>
        <p:grpSpPr>
          <a:xfrm>
            <a:off x="4080997" y="1520849"/>
            <a:ext cx="3121209" cy="4072707"/>
            <a:chOff x="4080997" y="1464493"/>
            <a:chExt cx="3121209" cy="431485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079FEEE-D71B-5FBA-D730-8C8978C71239}"/>
                </a:ext>
              </a:extLst>
            </p:cNvPr>
            <p:cNvSpPr/>
            <p:nvPr/>
          </p:nvSpPr>
          <p:spPr>
            <a:xfrm>
              <a:off x="4485591" y="1464493"/>
              <a:ext cx="2716615" cy="120845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algn="ctr">
                <a:spcBef>
                  <a:spcPts val="800"/>
                </a:spcBef>
              </a:pPr>
              <a:r>
                <a:rPr lang="en-US" sz="2400" dirty="0"/>
                <a:t>Build </a:t>
              </a:r>
            </a:p>
            <a:p>
              <a:pPr algn="ctr">
                <a:spcBef>
                  <a:spcPts val="800"/>
                </a:spcBef>
              </a:pPr>
              <a:r>
                <a:rPr lang="en-US" sz="2400" dirty="0"/>
                <a:t>covariate models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C194AA-36A6-9B3D-3A8E-BEC598999AE5}"/>
                </a:ext>
              </a:extLst>
            </p:cNvPr>
            <p:cNvSpPr txBox="1"/>
            <p:nvPr/>
          </p:nvSpPr>
          <p:spPr>
            <a:xfrm>
              <a:off x="4943986" y="2831129"/>
              <a:ext cx="159689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Base model</a:t>
              </a:r>
              <a:endParaRPr lang="en-US" sz="2000" dirty="0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77A4F9D-8DC9-F464-6DAD-7B123D50CFF8}"/>
                </a:ext>
              </a:extLst>
            </p:cNvPr>
            <p:cNvCxnSpPr>
              <a:cxnSpLocks/>
            </p:cNvCxnSpPr>
            <p:nvPr/>
          </p:nvCxnSpPr>
          <p:spPr>
            <a:xfrm>
              <a:off x="5742432" y="3286642"/>
              <a:ext cx="0" cy="20914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8EC9A01-BA26-F1AC-F4C0-CB3A232CDAF5}"/>
                </a:ext>
              </a:extLst>
            </p:cNvPr>
            <p:cNvSpPr txBox="1"/>
            <p:nvPr/>
          </p:nvSpPr>
          <p:spPr>
            <a:xfrm>
              <a:off x="4865365" y="5379236"/>
              <a:ext cx="202083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Winner model</a:t>
              </a:r>
              <a:endParaRPr lang="en-US" sz="2000" dirty="0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3F43599D-E9BC-4463-309A-1D721EF66062}"/>
                </a:ext>
              </a:extLst>
            </p:cNvPr>
            <p:cNvSpPr/>
            <p:nvPr/>
          </p:nvSpPr>
          <p:spPr>
            <a:xfrm rot="5225484" flipH="1">
              <a:off x="4983868" y="4052815"/>
              <a:ext cx="837793" cy="674267"/>
            </a:xfrm>
            <a:prstGeom prst="arc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D63BE9B-0F47-41A1-45B5-628C832227AE}"/>
                </a:ext>
              </a:extLst>
            </p:cNvPr>
            <p:cNvSpPr txBox="1"/>
            <p:nvPr/>
          </p:nvSpPr>
          <p:spPr>
            <a:xfrm>
              <a:off x="4080997" y="3739977"/>
              <a:ext cx="13795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covariates</a:t>
              </a:r>
              <a:endParaRPr lang="en-US" sz="20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82C9714-3523-E8C4-E3FA-C4C8BB9AFA7E}"/>
              </a:ext>
            </a:extLst>
          </p:cNvPr>
          <p:cNvGrpSpPr/>
          <p:nvPr/>
        </p:nvGrpSpPr>
        <p:grpSpPr>
          <a:xfrm>
            <a:off x="6449122" y="3398190"/>
            <a:ext cx="1918567" cy="1258256"/>
            <a:chOff x="6449122" y="3341833"/>
            <a:chExt cx="1918567" cy="1333067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112EBE3-17C9-2135-6CC3-F30B3B280595}"/>
                </a:ext>
              </a:extLst>
            </p:cNvPr>
            <p:cNvGrpSpPr/>
            <p:nvPr/>
          </p:nvGrpSpPr>
          <p:grpSpPr>
            <a:xfrm>
              <a:off x="6873419" y="3341833"/>
              <a:ext cx="1494270" cy="1333067"/>
              <a:chOff x="4291641" y="3471588"/>
              <a:chExt cx="1063282" cy="1074126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D2DBE0-D55D-E264-CA21-07048C93BCD1}"/>
                  </a:ext>
                </a:extLst>
              </p:cNvPr>
              <p:cNvSpPr txBox="1"/>
              <p:nvPr/>
            </p:nvSpPr>
            <p:spPr>
              <a:xfrm>
                <a:off x="4540657" y="4204774"/>
                <a:ext cx="725373" cy="340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SCM</a:t>
                </a:r>
                <a:endParaRPr lang="en-US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1A2468-1E86-5590-0C18-932B76F5DF9E}"/>
                  </a:ext>
                </a:extLst>
              </p:cNvPr>
              <p:cNvSpPr txBox="1"/>
              <p:nvPr/>
            </p:nvSpPr>
            <p:spPr>
              <a:xfrm>
                <a:off x="4543013" y="3855595"/>
                <a:ext cx="680878" cy="340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VAE</a:t>
                </a:r>
                <a:endParaRPr lang="en-US" dirty="0"/>
              </a:p>
            </p:txBody>
          </p: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C5EEF150-D7A1-787C-4F8C-6435B360AE90}"/>
                  </a:ext>
                </a:extLst>
              </p:cNvPr>
              <p:cNvGrpSpPr/>
              <p:nvPr/>
            </p:nvGrpSpPr>
            <p:grpSpPr>
              <a:xfrm>
                <a:off x="4291641" y="3471588"/>
                <a:ext cx="1063282" cy="1024722"/>
                <a:chOff x="4291641" y="3471588"/>
                <a:chExt cx="1063282" cy="1024722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A6023836-585F-9977-CA1B-3C3E0D5B3ADB}"/>
                    </a:ext>
                  </a:extLst>
                </p:cNvPr>
                <p:cNvGrpSpPr/>
                <p:nvPr/>
              </p:nvGrpSpPr>
              <p:grpSpPr>
                <a:xfrm>
                  <a:off x="4291641" y="3471588"/>
                  <a:ext cx="1063282" cy="340939"/>
                  <a:chOff x="4190857" y="3327240"/>
                  <a:chExt cx="1063282" cy="376067"/>
                </a:xfrm>
              </p:grpSpPr>
              <p:sp>
                <p:nvSpPr>
                  <p:cNvPr id="68" name="Rectangle: Rounded Corners 67">
                    <a:extLst>
                      <a:ext uri="{FF2B5EF4-FFF2-40B4-BE49-F238E27FC236}">
                        <a16:creationId xmlns:a16="http://schemas.microsoft.com/office/drawing/2014/main" id="{7C9E31D7-26C6-037F-6F17-57F381A3C4C2}"/>
                      </a:ext>
                    </a:extLst>
                  </p:cNvPr>
                  <p:cNvSpPr/>
                  <p:nvPr/>
                </p:nvSpPr>
                <p:spPr>
                  <a:xfrm>
                    <a:off x="4190857" y="3332253"/>
                    <a:ext cx="1035336" cy="359304"/>
                  </a:xfrm>
                  <a:prstGeom prst="round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lIns="108000" tIns="108000" rIns="108000" bIns="108000" rtlCol="0" anchor="t"/>
                  <a:lstStyle/>
                  <a:p>
                    <a:pPr marL="180000" indent="-180000" algn="l">
                      <a:spcBef>
                        <a:spcPts val="800"/>
                      </a:spcBef>
                      <a:buFont typeface="Arial" panose="020B0604020202020204" pitchFamily="34" charset="0"/>
                      <a:buChar char="•"/>
                    </a:pPr>
                    <a:endParaRPr lang="en-US" dirty="0" err="1"/>
                  </a:p>
                </p:txBody>
              </p:sp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23A34781-1B7F-9CAF-EA99-C0E412B17DE3}"/>
                      </a:ext>
                    </a:extLst>
                  </p:cNvPr>
                  <p:cNvSpPr txBox="1"/>
                  <p:nvPr/>
                </p:nvSpPr>
                <p:spPr>
                  <a:xfrm>
                    <a:off x="4349032" y="3327240"/>
                    <a:ext cx="905107" cy="37606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4D4D4D">
                            <a:alpha val="100000"/>
                          </a:srgbClr>
                        </a:solidFill>
                        <a:latin typeface="+mj-lt"/>
                        <a:cs typeface="Arial"/>
                        <a:sym typeface="Arial"/>
                      </a:rPr>
                      <a:t>Nlmixr2</a:t>
                    </a:r>
                    <a:endParaRPr lang="en-US" dirty="0"/>
                  </a:p>
                </p:txBody>
              </p:sp>
            </p:grp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3B519C93-5ACB-CE5E-FD99-623076CD5F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9318" y="3806889"/>
                  <a:ext cx="0" cy="685465"/>
                </a:xfrm>
                <a:prstGeom prst="line">
                  <a:avLst/>
                </a:prstGeom>
                <a:ln w="19050" cap="flat" cmpd="sng" algn="ctr">
                  <a:solidFill>
                    <a:schemeClr val="accent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BFBAAAB3-20AF-B39D-3798-C94CCFC48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23891" y="3808149"/>
                  <a:ext cx="0" cy="688161"/>
                </a:xfrm>
                <a:prstGeom prst="line">
                  <a:avLst/>
                </a:prstGeom>
                <a:ln w="19050" cap="flat" cmpd="sng" algn="ctr">
                  <a:solidFill>
                    <a:schemeClr val="accent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81342043-7DD3-391F-957A-45EC9224CB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5432" y="4496310"/>
                  <a:ext cx="828459" cy="0"/>
                </a:xfrm>
                <a:prstGeom prst="line">
                  <a:avLst/>
                </a:prstGeom>
                <a:ln w="19050" cap="flat" cmpd="sng" algn="ctr">
                  <a:solidFill>
                    <a:schemeClr val="accent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11BF530-D885-C958-BEB3-5B9AC41CA78B}"/>
                </a:ext>
              </a:extLst>
            </p:cNvPr>
            <p:cNvCxnSpPr/>
            <p:nvPr/>
          </p:nvCxnSpPr>
          <p:spPr>
            <a:xfrm flipH="1">
              <a:off x="6449122" y="4283732"/>
              <a:ext cx="54106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903C4A0C-239E-4743-A766-4B7790CED072}" type="slidenum">
              <a:rPr lang="en-US" sz="1000">
                <a:solidFill>
                  <a:srgbClr val="8A8A8A"/>
                </a:solidFill>
                <a:latin typeface="Arial"/>
              </a:rPr>
              <a:t>10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E817D5-BC60-ED6D-2321-876F2DED8C43}"/>
              </a:ext>
            </a:extLst>
          </p:cNvPr>
          <p:cNvGrpSpPr/>
          <p:nvPr/>
        </p:nvGrpSpPr>
        <p:grpSpPr>
          <a:xfrm>
            <a:off x="8021699" y="1483870"/>
            <a:ext cx="3668781" cy="4281556"/>
            <a:chOff x="8021699" y="1483870"/>
            <a:chExt cx="3668781" cy="428155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A4814FB-9A23-B5F1-13B3-9DD1B38A050E}"/>
                </a:ext>
              </a:extLst>
            </p:cNvPr>
            <p:cNvGrpSpPr/>
            <p:nvPr/>
          </p:nvGrpSpPr>
          <p:grpSpPr>
            <a:xfrm>
              <a:off x="8021699" y="1483870"/>
              <a:ext cx="3668781" cy="3825028"/>
              <a:chOff x="8021699" y="1427513"/>
              <a:chExt cx="3668781" cy="4052448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05E5BB5-9A1C-D122-DCB3-DD66B0C4D28F}"/>
                  </a:ext>
                </a:extLst>
              </p:cNvPr>
              <p:cNvSpPr/>
              <p:nvPr/>
            </p:nvSpPr>
            <p:spPr>
              <a:xfrm>
                <a:off x="8021699" y="1427513"/>
                <a:ext cx="3668781" cy="1208455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r>
                  <a:rPr lang="en-US" sz="2400" dirty="0"/>
                  <a:t>Evaluate </a:t>
                </a:r>
              </a:p>
              <a:p>
                <a:pPr algn="ctr">
                  <a:spcBef>
                    <a:spcPts val="800"/>
                  </a:spcBef>
                </a:pPr>
                <a:r>
                  <a:rPr lang="en-US" sz="2400" dirty="0"/>
                  <a:t>operating characteristics 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F49A598-E804-677E-CB91-63A5235CB7E3}"/>
                  </a:ext>
                </a:extLst>
              </p:cNvPr>
              <p:cNvSpPr txBox="1"/>
              <p:nvPr/>
            </p:nvSpPr>
            <p:spPr>
              <a:xfrm>
                <a:off x="8507703" y="2808252"/>
                <a:ext cx="29358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0" i="0" u="none" strike="noStrike" cap="none" dirty="0">
                    <a:solidFill>
                      <a:srgbClr val="4D4D4D">
                        <a:alpha val="100000"/>
                      </a:srgbClr>
                    </a:solidFill>
                    <a:latin typeface="+mj-lt"/>
                    <a:cs typeface="Arial"/>
                    <a:sym typeface="Arial"/>
                  </a:rPr>
                  <a:t>Winner vs. True model</a:t>
                </a:r>
                <a:endParaRPr lang="en-US" sz="2000" dirty="0"/>
              </a:p>
            </p:txBody>
          </p: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E763D792-3905-1F89-0E30-A804E08DDBD2}"/>
                  </a:ext>
                </a:extLst>
              </p:cNvPr>
              <p:cNvGrpSpPr/>
              <p:nvPr/>
            </p:nvGrpSpPr>
            <p:grpSpPr>
              <a:xfrm>
                <a:off x="9048662" y="3428999"/>
                <a:ext cx="1836541" cy="2050962"/>
                <a:chOff x="9256191" y="3392138"/>
                <a:chExt cx="1836541" cy="1592761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7E040765-5E7B-9A12-55BC-2439C09425D7}"/>
                    </a:ext>
                  </a:extLst>
                </p:cNvPr>
                <p:cNvGrpSpPr/>
                <p:nvPr/>
              </p:nvGrpSpPr>
              <p:grpSpPr>
                <a:xfrm>
                  <a:off x="9495831" y="3392138"/>
                  <a:ext cx="1596901" cy="1592761"/>
                  <a:chOff x="9556415" y="3363020"/>
                  <a:chExt cx="1596901" cy="1592761"/>
                </a:xfrm>
              </p:grpSpPr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14A30C52-21C8-1987-B4D3-983BDE3253ED}"/>
                      </a:ext>
                    </a:extLst>
                  </p:cNvPr>
                  <p:cNvSpPr txBox="1"/>
                  <p:nvPr/>
                </p:nvSpPr>
                <p:spPr>
                  <a:xfrm>
                    <a:off x="9556427" y="3363020"/>
                    <a:ext cx="1596889" cy="32919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srgbClr val="4D4D4D">
                            <a:alpha val="100000"/>
                          </a:srgbClr>
                        </a:solidFill>
                        <a:latin typeface="+mj-lt"/>
                        <a:cs typeface="Arial"/>
                        <a:sym typeface="Arial"/>
                      </a:rPr>
                      <a:t>Reliability</a:t>
                    </a:r>
                    <a:endParaRPr lang="en-US" sz="2000" dirty="0"/>
                  </a:p>
                </p:txBody>
              </p:sp>
              <p:sp>
                <p:nvSpPr>
                  <p:cNvPr id="111" name="TextBox 110">
                    <a:extLst>
                      <a:ext uri="{FF2B5EF4-FFF2-40B4-BE49-F238E27FC236}">
                        <a16:creationId xmlns:a16="http://schemas.microsoft.com/office/drawing/2014/main" id="{CAEFBDA1-D6A5-FDE2-B053-3E94C4F230AB}"/>
                      </a:ext>
                    </a:extLst>
                  </p:cNvPr>
                  <p:cNvSpPr txBox="1"/>
                  <p:nvPr/>
                </p:nvSpPr>
                <p:spPr>
                  <a:xfrm>
                    <a:off x="9556427" y="3761998"/>
                    <a:ext cx="1596889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srgbClr val="4D4D4D">
                            <a:alpha val="100000"/>
                          </a:srgbClr>
                        </a:solidFill>
                        <a:latin typeface="+mj-lt"/>
                        <a:cs typeface="Arial"/>
                        <a:sym typeface="Arial"/>
                      </a:rPr>
                      <a:t>Power</a:t>
                    </a:r>
                    <a:endParaRPr lang="en-US" sz="2000" dirty="0"/>
                  </a:p>
                </p:txBody>
              </p: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8482B3E5-92E6-035A-93D2-32DF530B536D}"/>
                      </a:ext>
                    </a:extLst>
                  </p:cNvPr>
                  <p:cNvSpPr txBox="1"/>
                  <p:nvPr/>
                </p:nvSpPr>
                <p:spPr>
                  <a:xfrm>
                    <a:off x="9556427" y="4117820"/>
                    <a:ext cx="1596889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srgbClr val="4D4D4D">
                            <a:alpha val="100000"/>
                          </a:srgbClr>
                        </a:solidFill>
                        <a:latin typeface="+mj-lt"/>
                        <a:cs typeface="Arial"/>
                        <a:sym typeface="Arial"/>
                      </a:rPr>
                      <a:t>Accuracy</a:t>
                    </a:r>
                    <a:endParaRPr lang="en-US" sz="2000" dirty="0"/>
                  </a:p>
                </p:txBody>
              </p:sp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B464CAF8-0011-4F11-F26E-5CE197114AB7}"/>
                      </a:ext>
                    </a:extLst>
                  </p:cNvPr>
                  <p:cNvSpPr txBox="1"/>
                  <p:nvPr/>
                </p:nvSpPr>
                <p:spPr>
                  <a:xfrm>
                    <a:off x="9556415" y="4555671"/>
                    <a:ext cx="1596889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dirty="0">
                        <a:solidFill>
                          <a:srgbClr val="4D4D4D">
                            <a:alpha val="100000"/>
                          </a:srgbClr>
                        </a:solidFill>
                        <a:latin typeface="+mj-lt"/>
                        <a:cs typeface="Arial"/>
                        <a:sym typeface="Arial"/>
                      </a:rPr>
                      <a:t>Efficiency </a:t>
                    </a:r>
                    <a:endParaRPr lang="en-US" sz="2000" dirty="0"/>
                  </a:p>
                </p:txBody>
              </p:sp>
            </p:grpSp>
            <p:sp>
              <p:nvSpPr>
                <p:cNvPr id="123" name="Left Brace 122">
                  <a:extLst>
                    <a:ext uri="{FF2B5EF4-FFF2-40B4-BE49-F238E27FC236}">
                      <a16:creationId xmlns:a16="http://schemas.microsoft.com/office/drawing/2014/main" id="{485474A5-B2E8-31D8-966E-62A73365238D}"/>
                    </a:ext>
                  </a:extLst>
                </p:cNvPr>
                <p:cNvSpPr/>
                <p:nvPr/>
              </p:nvSpPr>
              <p:spPr>
                <a:xfrm>
                  <a:off x="9256191" y="3505533"/>
                  <a:ext cx="234229" cy="1365970"/>
                </a:xfrm>
                <a:prstGeom prst="leftBrace">
                  <a:avLst/>
                </a:prstGeom>
                <a:ln/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32" name="Straight Arrow Connector 131">
                <a:extLst>
                  <a:ext uri="{FF2B5EF4-FFF2-40B4-BE49-F238E27FC236}">
                    <a16:creationId xmlns:a16="http://schemas.microsoft.com/office/drawing/2014/main" id="{C1B16C22-FDBA-4841-C6F8-533983D95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2765" y="4290130"/>
                <a:ext cx="60278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1AE35F-3840-2F72-40AB-18646C630053}"/>
                </a:ext>
              </a:extLst>
            </p:cNvPr>
            <p:cNvSpPr txBox="1"/>
            <p:nvPr/>
          </p:nvSpPr>
          <p:spPr>
            <a:xfrm>
              <a:off x="8618814" y="5365316"/>
              <a:ext cx="29358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Paired </a:t>
              </a: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S</a:t>
              </a:r>
              <a:r>
                <a:rPr lang="en-US" sz="2000" b="0" i="0" u="none" strike="noStrike" cap="none" dirty="0">
                  <a:solidFill>
                    <a:srgbClr val="4D4D4D">
                      <a:alpha val="100000"/>
                    </a:srgbClr>
                  </a:solidFill>
                  <a:latin typeface="+mj-lt"/>
                  <a:cs typeface="Arial"/>
                  <a:sym typeface="Arial"/>
                </a:rPr>
                <a:t>tatistical Test</a:t>
              </a:r>
              <a:endParaRPr 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B6B146-CB69-A642-22A5-4E45C6B3C5BD}"/>
              </a:ext>
            </a:extLst>
          </p:cNvPr>
          <p:cNvSpPr txBox="1"/>
          <p:nvPr/>
        </p:nvSpPr>
        <p:spPr>
          <a:xfrm>
            <a:off x="798515" y="5850974"/>
            <a:ext cx="1130121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dirty="0"/>
              <a:t>3 sample size * 2 model parameterization* 16 scenarios * 100 datasets * 3 workflows = 28,800 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31B1-1EF9-2B13-A85D-9FE74797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238ACE-EE14-B1E2-A1F6-6D419E060E0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05430" y="350397"/>
            <a:ext cx="11986570" cy="530377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Simulate virtual populations with realistic covariate correlation &amp; PK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CA498B-AA64-2E03-D652-2B86AEA79631}"/>
              </a:ext>
            </a:extLst>
          </p:cNvPr>
          <p:cNvSpPr txBox="1"/>
          <p:nvPr/>
        </p:nvSpPr>
        <p:spPr>
          <a:xfrm>
            <a:off x="1138422" y="5291940"/>
            <a:ext cx="506977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lang="en-US" dirty="0"/>
              <a:t>Cohort, Dataset, ID, </a:t>
            </a:r>
            <a:r>
              <a:rPr lang="en-US" sz="1800" dirty="0" err="1">
                <a:solidFill>
                  <a:srgbClr val="0070C0"/>
                </a:solidFill>
              </a:rPr>
              <a:t>Wt</a:t>
            </a:r>
            <a:r>
              <a:rPr lang="en-US" sz="1800" dirty="0"/>
              <a:t>, BMI,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CrCL</a:t>
            </a:r>
            <a:r>
              <a:rPr lang="en-US" dirty="0">
                <a:solidFill>
                  <a:srgbClr val="0070C0"/>
                </a:solidFill>
              </a:rPr>
              <a:t>,</a:t>
            </a:r>
            <a:r>
              <a:rPr lang="en-US" sz="1800" dirty="0">
                <a:solidFill>
                  <a:srgbClr val="0070C0"/>
                </a:solidFill>
              </a:rPr>
              <a:t> Sex</a:t>
            </a:r>
            <a:r>
              <a:rPr lang="en-US" sz="1800" dirty="0"/>
              <a:t>, Race</a:t>
            </a:r>
          </a:p>
        </p:txBody>
      </p:sp>
      <p:sp>
        <p:nvSpPr>
          <p:cNvPr id="960" name="slidenum_fn">
            <a:extLst>
              <a:ext uri="{FF2B5EF4-FFF2-40B4-BE49-F238E27FC236}">
                <a16:creationId xmlns:a16="http://schemas.microsoft.com/office/drawing/2014/main" id="{6DAD9612-44B6-0091-C9B2-1CC199AEBFD9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A06962F7-92B1-4A68-836E-B5017DB5262B}" type="slidenum">
              <a:rPr lang="en-US" sz="1000">
                <a:solidFill>
                  <a:srgbClr val="8A8A8A"/>
                </a:solidFill>
                <a:latin typeface="Arial"/>
              </a:rPr>
              <a:t>11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963" name="Group 962">
            <a:extLst>
              <a:ext uri="{FF2B5EF4-FFF2-40B4-BE49-F238E27FC236}">
                <a16:creationId xmlns:a16="http://schemas.microsoft.com/office/drawing/2014/main" id="{0206340C-3E6C-58DE-2C51-7728C4A67914}"/>
              </a:ext>
            </a:extLst>
          </p:cNvPr>
          <p:cNvGrpSpPr/>
          <p:nvPr/>
        </p:nvGrpSpPr>
        <p:grpSpPr>
          <a:xfrm>
            <a:off x="1926879" y="1580115"/>
            <a:ext cx="1683957" cy="1068043"/>
            <a:chOff x="1041980" y="1832512"/>
            <a:chExt cx="1683957" cy="106804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16C952-1628-EF00-D72F-A3EF20826835}"/>
                </a:ext>
              </a:extLst>
            </p:cNvPr>
            <p:cNvSpPr txBox="1"/>
            <p:nvPr/>
          </p:nvSpPr>
          <p:spPr>
            <a:xfrm>
              <a:off x="1041980" y="1832512"/>
              <a:ext cx="168395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800"/>
                </a:spcBef>
              </a:pPr>
              <a:r>
                <a:rPr lang="en-US" sz="2000" dirty="0"/>
                <a:t>NHANES 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6002E0E-FCDF-9F56-3E98-0803D88C3393}"/>
                </a:ext>
              </a:extLst>
            </p:cNvPr>
            <p:cNvGrpSpPr/>
            <p:nvPr/>
          </p:nvGrpSpPr>
          <p:grpSpPr>
            <a:xfrm>
              <a:off x="1224243" y="2142013"/>
              <a:ext cx="1389829" cy="758542"/>
              <a:chOff x="804464" y="1789985"/>
              <a:chExt cx="1675398" cy="914400"/>
            </a:xfrm>
          </p:grpSpPr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369A394D-1CD0-179C-E3FB-E47896F78D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04464" y="178998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1" name="Graphic 30" descr="Braille outline">
                <a:extLst>
                  <a:ext uri="{FF2B5EF4-FFF2-40B4-BE49-F238E27FC236}">
                    <a16:creationId xmlns:a16="http://schemas.microsoft.com/office/drawing/2014/main" id="{A1526DC6-4081-0A57-628F-AA4926BE87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565462" y="1789985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66" name="Group 965">
            <a:extLst>
              <a:ext uri="{FF2B5EF4-FFF2-40B4-BE49-F238E27FC236}">
                <a16:creationId xmlns:a16="http://schemas.microsoft.com/office/drawing/2014/main" id="{2763FFD5-B0BB-9067-4B4F-DBDE0902A89A}"/>
              </a:ext>
            </a:extLst>
          </p:cNvPr>
          <p:cNvGrpSpPr/>
          <p:nvPr/>
        </p:nvGrpSpPr>
        <p:grpSpPr>
          <a:xfrm>
            <a:off x="1649994" y="3484457"/>
            <a:ext cx="2706334" cy="1266348"/>
            <a:chOff x="780619" y="3682522"/>
            <a:chExt cx="2706334" cy="1266348"/>
          </a:xfrm>
        </p:grpSpPr>
        <p:grpSp>
          <p:nvGrpSpPr>
            <p:cNvPr id="965" name="Group 964">
              <a:extLst>
                <a:ext uri="{FF2B5EF4-FFF2-40B4-BE49-F238E27FC236}">
                  <a16:creationId xmlns:a16="http://schemas.microsoft.com/office/drawing/2014/main" id="{1A84E4CA-652D-C799-E656-2AD5B0070028}"/>
                </a:ext>
              </a:extLst>
            </p:cNvPr>
            <p:cNvGrpSpPr/>
            <p:nvPr/>
          </p:nvGrpSpPr>
          <p:grpSpPr>
            <a:xfrm>
              <a:off x="928058" y="3682522"/>
              <a:ext cx="2558895" cy="921984"/>
              <a:chOff x="928058" y="3547651"/>
              <a:chExt cx="2558895" cy="921984"/>
            </a:xfrm>
          </p:grpSpPr>
          <p:pic>
            <p:nvPicPr>
              <p:cNvPr id="6" name="Graphic 5" descr="Braille outline">
                <a:extLst>
                  <a:ext uri="{FF2B5EF4-FFF2-40B4-BE49-F238E27FC236}">
                    <a16:creationId xmlns:a16="http://schemas.microsoft.com/office/drawing/2014/main" id="{7EC8A664-91F9-A3E6-3BC3-E6221E506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12901" y="3547651"/>
                <a:ext cx="791576" cy="810436"/>
              </a:xfrm>
              <a:prstGeom prst="rect">
                <a:avLst/>
              </a:prstGeom>
            </p:spPr>
          </p:pic>
          <p:pic>
            <p:nvPicPr>
              <p:cNvPr id="25" name="Graphic 24" descr="Braille outline">
                <a:extLst>
                  <a:ext uri="{FF2B5EF4-FFF2-40B4-BE49-F238E27FC236}">
                    <a16:creationId xmlns:a16="http://schemas.microsoft.com/office/drawing/2014/main" id="{FDEF2A9F-5F18-7247-93EB-EA0634493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54359" y="3547651"/>
                <a:ext cx="791576" cy="810436"/>
              </a:xfrm>
              <a:prstGeom prst="rect">
                <a:avLst/>
              </a:prstGeom>
            </p:spPr>
          </p:pic>
          <p:pic>
            <p:nvPicPr>
              <p:cNvPr id="38" name="Graphic 37" descr="Braille outline">
                <a:extLst>
                  <a:ext uri="{FF2B5EF4-FFF2-40B4-BE49-F238E27FC236}">
                    <a16:creationId xmlns:a16="http://schemas.microsoft.com/office/drawing/2014/main" id="{7BDC0A94-6C4C-5408-F0A8-2C16F53D9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497744" y="3547651"/>
                <a:ext cx="791576" cy="810436"/>
              </a:xfrm>
              <a:prstGeom prst="rect">
                <a:avLst/>
              </a:prstGeom>
            </p:spPr>
          </p:pic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3B8ACD8-89E8-4FAC-924D-A11EF8BAEA39}"/>
                  </a:ext>
                </a:extLst>
              </p:cNvPr>
              <p:cNvSpPr txBox="1"/>
              <p:nvPr/>
            </p:nvSpPr>
            <p:spPr>
              <a:xfrm>
                <a:off x="928058" y="4169573"/>
                <a:ext cx="955901" cy="300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N= 300</a:t>
                </a:r>
                <a:endParaRPr lang="en-US" sz="24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9F907D7-E2BD-6D58-3C9E-B63A9CF97701}"/>
                  </a:ext>
                </a:extLst>
              </p:cNvPr>
              <p:cNvSpPr txBox="1"/>
              <p:nvPr/>
            </p:nvSpPr>
            <p:spPr>
              <a:xfrm>
                <a:off x="1739476" y="4169574"/>
                <a:ext cx="791576" cy="300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N= 80</a:t>
                </a:r>
                <a:endParaRPr lang="en-US" sz="24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2BC6041-98B4-CE59-BD30-CC8CC5F815FF}"/>
                  </a:ext>
                </a:extLst>
              </p:cNvPr>
              <p:cNvSpPr txBox="1"/>
              <p:nvPr/>
            </p:nvSpPr>
            <p:spPr>
              <a:xfrm>
                <a:off x="2531052" y="4149035"/>
                <a:ext cx="955901" cy="300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N= 40</a:t>
                </a:r>
                <a:endParaRPr lang="en-US" sz="2400" dirty="0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951E66E-C90C-EA06-0CF5-F7A27173C243}"/>
                </a:ext>
              </a:extLst>
            </p:cNvPr>
            <p:cNvSpPr txBox="1"/>
            <p:nvPr/>
          </p:nvSpPr>
          <p:spPr>
            <a:xfrm>
              <a:off x="780619" y="4579538"/>
              <a:ext cx="27007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|</a:t>
              </a:r>
              <a:r>
                <a:rPr lang="en-US" dirty="0" err="1"/>
                <a:t>delta_correlation</a:t>
              </a:r>
              <a:r>
                <a:rPr lang="en-US" dirty="0"/>
                <a:t>| &lt; 0.05</a:t>
              </a:r>
              <a:endParaRPr lang="en-US" sz="28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8F2B46FC-662A-12A8-7936-849C33B6CDE5}"/>
              </a:ext>
            </a:extLst>
          </p:cNvPr>
          <p:cNvSpPr txBox="1"/>
          <p:nvPr/>
        </p:nvSpPr>
        <p:spPr>
          <a:xfrm>
            <a:off x="1206756" y="1249494"/>
            <a:ext cx="10127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1"/>
                </a:solidFill>
              </a:rPr>
              <a:t>1</a:t>
            </a:r>
          </a:p>
        </p:txBody>
      </p:sp>
      <p:grpSp>
        <p:nvGrpSpPr>
          <p:cNvPr id="964" name="Group 963">
            <a:extLst>
              <a:ext uri="{FF2B5EF4-FFF2-40B4-BE49-F238E27FC236}">
                <a16:creationId xmlns:a16="http://schemas.microsoft.com/office/drawing/2014/main" id="{69D98C5C-71B9-815A-D599-767983600A71}"/>
              </a:ext>
            </a:extLst>
          </p:cNvPr>
          <p:cNvGrpSpPr/>
          <p:nvPr/>
        </p:nvGrpSpPr>
        <p:grpSpPr>
          <a:xfrm>
            <a:off x="1800115" y="2847599"/>
            <a:ext cx="2347043" cy="466406"/>
            <a:chOff x="899939" y="2974225"/>
            <a:chExt cx="2347043" cy="46640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4DA11AE-90C3-1DE1-0F2E-A3846D81DEF5}"/>
                </a:ext>
              </a:extLst>
            </p:cNvPr>
            <p:cNvCxnSpPr>
              <a:cxnSpLocks/>
            </p:cNvCxnSpPr>
            <p:nvPr/>
          </p:nvCxnSpPr>
          <p:spPr>
            <a:xfrm>
              <a:off x="1981162" y="2999825"/>
              <a:ext cx="0" cy="44080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A7BB10-359A-177C-7F86-75A7EC3B8D46}"/>
                </a:ext>
              </a:extLst>
            </p:cNvPr>
            <p:cNvSpPr txBox="1"/>
            <p:nvPr/>
          </p:nvSpPr>
          <p:spPr>
            <a:xfrm>
              <a:off x="1981162" y="2974225"/>
              <a:ext cx="1265820" cy="382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Bootstrap</a:t>
              </a:r>
              <a:endParaRPr lang="en-US" sz="2800" dirty="0"/>
            </a:p>
          </p:txBody>
        </p:sp>
        <p:sp>
          <p:nvSpPr>
            <p:cNvPr id="961" name="TextBox 960">
              <a:extLst>
                <a:ext uri="{FF2B5EF4-FFF2-40B4-BE49-F238E27FC236}">
                  <a16:creationId xmlns:a16="http://schemas.microsoft.com/office/drawing/2014/main" id="{FD397C29-EC49-48B4-ACB6-F138080E9B37}"/>
                </a:ext>
              </a:extLst>
            </p:cNvPr>
            <p:cNvSpPr txBox="1"/>
            <p:nvPr/>
          </p:nvSpPr>
          <p:spPr>
            <a:xfrm>
              <a:off x="899939" y="2987561"/>
              <a:ext cx="1265820" cy="3822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</a:t>
              </a:r>
              <a:r>
                <a:rPr lang="en-US" altLang="zh-CN" dirty="0"/>
                <a:t>tratified</a:t>
              </a:r>
              <a:endParaRPr lang="en-US" sz="2800" dirty="0"/>
            </a:p>
          </p:txBody>
        </p:sp>
      </p:grpSp>
      <p:cxnSp>
        <p:nvCxnSpPr>
          <p:cNvPr id="967" name="Straight Arrow Connector 966">
            <a:extLst>
              <a:ext uri="{FF2B5EF4-FFF2-40B4-BE49-F238E27FC236}">
                <a16:creationId xmlns:a16="http://schemas.microsoft.com/office/drawing/2014/main" id="{FA850AA2-7C86-3A00-1A15-14D1EC896538}"/>
              </a:ext>
            </a:extLst>
          </p:cNvPr>
          <p:cNvCxnSpPr>
            <a:cxnSpLocks/>
          </p:cNvCxnSpPr>
          <p:nvPr/>
        </p:nvCxnSpPr>
        <p:spPr>
          <a:xfrm>
            <a:off x="2843685" y="4921948"/>
            <a:ext cx="0" cy="3393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85" name="Group 984">
            <a:extLst>
              <a:ext uri="{FF2B5EF4-FFF2-40B4-BE49-F238E27FC236}">
                <a16:creationId xmlns:a16="http://schemas.microsoft.com/office/drawing/2014/main" id="{049FA4FA-4C50-5A09-9BF7-56D0C02D00D8}"/>
              </a:ext>
            </a:extLst>
          </p:cNvPr>
          <p:cNvGrpSpPr/>
          <p:nvPr/>
        </p:nvGrpSpPr>
        <p:grpSpPr>
          <a:xfrm>
            <a:off x="7345066" y="1240393"/>
            <a:ext cx="2765925" cy="1518960"/>
            <a:chOff x="5338721" y="1401955"/>
            <a:chExt cx="2765925" cy="15189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07C94F-B23B-4C19-D3E5-DAC2B04A5BA8}"/>
                </a:ext>
              </a:extLst>
            </p:cNvPr>
            <p:cNvSpPr/>
            <p:nvPr/>
          </p:nvSpPr>
          <p:spPr>
            <a:xfrm>
              <a:off x="6962460" y="2002181"/>
              <a:ext cx="889866" cy="574320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lIns="108000" tIns="108000" rIns="108000" bIns="108000" rtlCol="0" anchor="t"/>
            <a:lstStyle/>
            <a:p>
              <a:pPr marL="180000" indent="-180000" algn="l">
                <a:spcBef>
                  <a:spcPts val="800"/>
                </a:spcBef>
                <a:buFont typeface="Arial" panose="020B0604020202020204" pitchFamily="34" charset="0"/>
                <a:buChar char="•"/>
              </a:pPr>
              <a:endParaRPr lang="en-US" dirty="0" err="1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DA1300A-26A5-1879-5AF3-0C0746227320}"/>
                </a:ext>
              </a:extLst>
            </p:cNvPr>
            <p:cNvCxnSpPr>
              <a:cxnSpLocks/>
            </p:cNvCxnSpPr>
            <p:nvPr/>
          </p:nvCxnSpPr>
          <p:spPr>
            <a:xfrm>
              <a:off x="7364284" y="1687677"/>
              <a:ext cx="0" cy="2275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26A8CDD-96B0-815D-0DED-3316A3B88A12}"/>
                </a:ext>
              </a:extLst>
            </p:cNvPr>
            <p:cNvSpPr txBox="1"/>
            <p:nvPr/>
          </p:nvSpPr>
          <p:spPr>
            <a:xfrm>
              <a:off x="7200140" y="2195664"/>
              <a:ext cx="613317" cy="2194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 err="1"/>
                <a:t>Vc</a:t>
              </a:r>
              <a:endParaRPr lang="en-US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A49E5CC-E635-0F45-F3FB-E44F7F550BCF}"/>
                </a:ext>
              </a:extLst>
            </p:cNvPr>
            <p:cNvCxnSpPr>
              <a:cxnSpLocks/>
            </p:cNvCxnSpPr>
            <p:nvPr/>
          </p:nvCxnSpPr>
          <p:spPr>
            <a:xfrm>
              <a:off x="7356044" y="2639250"/>
              <a:ext cx="8240" cy="2614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B683109-0E93-E561-B95D-868783E275A5}"/>
                </a:ext>
              </a:extLst>
            </p:cNvPr>
            <p:cNvSpPr txBox="1"/>
            <p:nvPr/>
          </p:nvSpPr>
          <p:spPr>
            <a:xfrm>
              <a:off x="7491329" y="1687677"/>
              <a:ext cx="613317" cy="2194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/>
                <a:t>Ka</a:t>
              </a:r>
            </a:p>
          </p:txBody>
        </p:sp>
        <p:grpSp>
          <p:nvGrpSpPr>
            <p:cNvPr id="984" name="Group 983">
              <a:extLst>
                <a:ext uri="{FF2B5EF4-FFF2-40B4-BE49-F238E27FC236}">
                  <a16:creationId xmlns:a16="http://schemas.microsoft.com/office/drawing/2014/main" id="{DF67D2E3-87D6-DF58-2B90-974F9F7025AA}"/>
                </a:ext>
              </a:extLst>
            </p:cNvPr>
            <p:cNvGrpSpPr/>
            <p:nvPr/>
          </p:nvGrpSpPr>
          <p:grpSpPr>
            <a:xfrm>
              <a:off x="5338721" y="2020495"/>
              <a:ext cx="1761174" cy="574320"/>
              <a:chOff x="5000523" y="1843963"/>
              <a:chExt cx="1761174" cy="574320"/>
            </a:xfrm>
          </p:grpSpPr>
          <p:grpSp>
            <p:nvGrpSpPr>
              <p:cNvPr id="982" name="Group 981">
                <a:extLst>
                  <a:ext uri="{FF2B5EF4-FFF2-40B4-BE49-F238E27FC236}">
                    <a16:creationId xmlns:a16="http://schemas.microsoft.com/office/drawing/2014/main" id="{9CB23045-40F7-458E-7DB6-D40DE9CDC338}"/>
                  </a:ext>
                </a:extLst>
              </p:cNvPr>
              <p:cNvGrpSpPr/>
              <p:nvPr/>
            </p:nvGrpSpPr>
            <p:grpSpPr>
              <a:xfrm>
                <a:off x="5000523" y="1843963"/>
                <a:ext cx="874104" cy="574320"/>
                <a:chOff x="8807250" y="1975963"/>
                <a:chExt cx="1144859" cy="57432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8930C4C-16B5-7126-8502-405535E67607}"/>
                    </a:ext>
                  </a:extLst>
                </p:cNvPr>
                <p:cNvSpPr/>
                <p:nvPr/>
              </p:nvSpPr>
              <p:spPr>
                <a:xfrm>
                  <a:off x="8807250" y="1975963"/>
                  <a:ext cx="1144859" cy="57432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 lIns="108000" tIns="108000" rIns="108000" bIns="108000" rtlCol="0" anchor="t"/>
                <a:lstStyle/>
                <a:p>
                  <a:pPr marL="180000" indent="-180000" algn="l">
                    <a:spcBef>
                      <a:spcPts val="800"/>
                    </a:spcBef>
                    <a:buFont typeface="Arial" panose="020B0604020202020204" pitchFamily="34" charset="0"/>
                    <a:buChar char="•"/>
                  </a:pPr>
                  <a:endParaRPr lang="en-US" dirty="0" err="1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217D7AD-C60A-1030-C271-1415993D9626}"/>
                    </a:ext>
                  </a:extLst>
                </p:cNvPr>
                <p:cNvSpPr txBox="1"/>
                <p:nvPr/>
              </p:nvSpPr>
              <p:spPr>
                <a:xfrm>
                  <a:off x="9138457" y="2141517"/>
                  <a:ext cx="613317" cy="219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800"/>
                    </a:spcBef>
                  </a:pPr>
                  <a:r>
                    <a:rPr lang="en-US" dirty="0" err="1"/>
                    <a:t>Vp</a:t>
                  </a:r>
                  <a:endParaRPr lang="en-US" dirty="0"/>
                </a:p>
              </p:txBody>
            </p:sp>
          </p:grpSp>
          <p:grpSp>
            <p:nvGrpSpPr>
              <p:cNvPr id="983" name="Group 982">
                <a:extLst>
                  <a:ext uri="{FF2B5EF4-FFF2-40B4-BE49-F238E27FC236}">
                    <a16:creationId xmlns:a16="http://schemas.microsoft.com/office/drawing/2014/main" id="{DC790EE1-E5AF-5E53-68E6-0DFEB6FA0926}"/>
                  </a:ext>
                </a:extLst>
              </p:cNvPr>
              <p:cNvGrpSpPr/>
              <p:nvPr/>
            </p:nvGrpSpPr>
            <p:grpSpPr>
              <a:xfrm>
                <a:off x="5934070" y="1969757"/>
                <a:ext cx="827627" cy="299000"/>
                <a:chOff x="8075650" y="2128638"/>
                <a:chExt cx="827627" cy="299000"/>
              </a:xfrm>
            </p:grpSpPr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86FFEBD4-F91B-FFA2-C201-DF6AFF0D9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18064" y="2128638"/>
                  <a:ext cx="495157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5BAE8773-CF77-5E2B-E0DD-2DF9221187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75650" y="2427638"/>
                  <a:ext cx="559873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4CE4380-8919-8B37-BDFC-A19876669EA4}"/>
                    </a:ext>
                  </a:extLst>
                </p:cNvPr>
                <p:cNvSpPr txBox="1"/>
                <p:nvPr/>
              </p:nvSpPr>
              <p:spPr>
                <a:xfrm>
                  <a:off x="8289960" y="2141917"/>
                  <a:ext cx="613317" cy="219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800"/>
                    </a:spcBef>
                  </a:pPr>
                  <a:r>
                    <a:rPr lang="en-US" dirty="0"/>
                    <a:t>Q</a:t>
                  </a:r>
                </a:p>
              </p:txBody>
            </p:sp>
          </p:grp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C36EC06-AAD9-B0C4-280E-F314ADF08068}"/>
                </a:ext>
              </a:extLst>
            </p:cNvPr>
            <p:cNvSpPr txBox="1"/>
            <p:nvPr/>
          </p:nvSpPr>
          <p:spPr>
            <a:xfrm>
              <a:off x="7487981" y="2630036"/>
              <a:ext cx="535155" cy="2908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/>
                <a:t>CL</a:t>
              </a:r>
            </a:p>
          </p:txBody>
        </p:sp>
        <p:sp>
          <p:nvSpPr>
            <p:cNvPr id="969" name="TextBox 968">
              <a:extLst>
                <a:ext uri="{FF2B5EF4-FFF2-40B4-BE49-F238E27FC236}">
                  <a16:creationId xmlns:a16="http://schemas.microsoft.com/office/drawing/2014/main" id="{FFF48199-0DED-0E58-EB4D-2AB7E127287E}"/>
                </a:ext>
              </a:extLst>
            </p:cNvPr>
            <p:cNvSpPr txBox="1"/>
            <p:nvPr/>
          </p:nvSpPr>
          <p:spPr>
            <a:xfrm>
              <a:off x="7100734" y="1401955"/>
              <a:ext cx="613317" cy="2194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/>
                <a:t>Dose</a:t>
              </a:r>
            </a:p>
          </p:txBody>
        </p:sp>
      </p:grpSp>
      <p:sp>
        <p:nvSpPr>
          <p:cNvPr id="981" name="TextBox 980">
            <a:extLst>
              <a:ext uri="{FF2B5EF4-FFF2-40B4-BE49-F238E27FC236}">
                <a16:creationId xmlns:a16="http://schemas.microsoft.com/office/drawing/2014/main" id="{8E42F2A9-83C9-B952-743B-F881A1E57164}"/>
              </a:ext>
            </a:extLst>
          </p:cNvPr>
          <p:cNvSpPr txBox="1"/>
          <p:nvPr/>
        </p:nvSpPr>
        <p:spPr>
          <a:xfrm>
            <a:off x="6071464" y="1249494"/>
            <a:ext cx="10127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accent1"/>
                </a:solidFill>
              </a:rPr>
              <a:t>2</a:t>
            </a:r>
          </a:p>
        </p:txBody>
      </p:sp>
      <p:grpSp>
        <p:nvGrpSpPr>
          <p:cNvPr id="993" name="Group 992">
            <a:extLst>
              <a:ext uri="{FF2B5EF4-FFF2-40B4-BE49-F238E27FC236}">
                <a16:creationId xmlns:a16="http://schemas.microsoft.com/office/drawing/2014/main" id="{098F2D3B-02C5-7387-D4A8-84834E1BA20D}"/>
              </a:ext>
            </a:extLst>
          </p:cNvPr>
          <p:cNvGrpSpPr/>
          <p:nvPr/>
        </p:nvGrpSpPr>
        <p:grpSpPr>
          <a:xfrm>
            <a:off x="4964479" y="3492765"/>
            <a:ext cx="1431536" cy="1768514"/>
            <a:chOff x="4586288" y="3546366"/>
            <a:chExt cx="1371600" cy="1741680"/>
          </a:xfrm>
        </p:grpSpPr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310F4CA0-58B4-CE14-22A3-AEED13A8E97F}"/>
                </a:ext>
              </a:extLst>
            </p:cNvPr>
            <p:cNvCxnSpPr/>
            <p:nvPr/>
          </p:nvCxnSpPr>
          <p:spPr>
            <a:xfrm flipV="1">
              <a:off x="4586288" y="3546366"/>
              <a:ext cx="0" cy="17416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Arrow Connector 991">
              <a:extLst>
                <a:ext uri="{FF2B5EF4-FFF2-40B4-BE49-F238E27FC236}">
                  <a16:creationId xmlns:a16="http://schemas.microsoft.com/office/drawing/2014/main" id="{8C405790-082E-8795-16C5-CBE065215641}"/>
                </a:ext>
              </a:extLst>
            </p:cNvPr>
            <p:cNvCxnSpPr/>
            <p:nvPr/>
          </p:nvCxnSpPr>
          <p:spPr>
            <a:xfrm>
              <a:off x="4586288" y="3546366"/>
              <a:ext cx="13716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8" name="Group 997">
            <a:extLst>
              <a:ext uri="{FF2B5EF4-FFF2-40B4-BE49-F238E27FC236}">
                <a16:creationId xmlns:a16="http://schemas.microsoft.com/office/drawing/2014/main" id="{D81DFA5D-43B4-58CF-E05D-BB5B6B4A9D7E}"/>
              </a:ext>
            </a:extLst>
          </p:cNvPr>
          <p:cNvGrpSpPr/>
          <p:nvPr/>
        </p:nvGrpSpPr>
        <p:grpSpPr>
          <a:xfrm>
            <a:off x="6714583" y="4958136"/>
            <a:ext cx="4181407" cy="717286"/>
            <a:chOff x="6277184" y="5100634"/>
            <a:chExt cx="4181407" cy="71728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1E80B0-9BE1-E5E6-245F-C2A285163459}"/>
                </a:ext>
              </a:extLst>
            </p:cNvPr>
            <p:cNvSpPr txBox="1"/>
            <p:nvPr/>
          </p:nvSpPr>
          <p:spPr>
            <a:xfrm>
              <a:off x="6277184" y="5448588"/>
              <a:ext cx="4181407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>
                <a:spcBef>
                  <a:spcPts val="800"/>
                </a:spcBef>
              </a:pPr>
              <a:r>
                <a:rPr lang="en-US" dirty="0"/>
                <a:t>Scenario, Time, Dose, Concentration</a:t>
              </a:r>
            </a:p>
          </p:txBody>
        </p:sp>
        <p:cxnSp>
          <p:nvCxnSpPr>
            <p:cNvPr id="995" name="Straight Arrow Connector 994">
              <a:extLst>
                <a:ext uri="{FF2B5EF4-FFF2-40B4-BE49-F238E27FC236}">
                  <a16:creationId xmlns:a16="http://schemas.microsoft.com/office/drawing/2014/main" id="{27E03525-9B90-2428-89AD-FEE198C5B23A}"/>
                </a:ext>
              </a:extLst>
            </p:cNvPr>
            <p:cNvCxnSpPr>
              <a:cxnSpLocks/>
            </p:cNvCxnSpPr>
            <p:nvPr/>
          </p:nvCxnSpPr>
          <p:spPr>
            <a:xfrm>
              <a:off x="8350363" y="5100634"/>
              <a:ext cx="0" cy="2550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70700CD-C07A-2BAD-C94C-ACA1216CCD1A}"/>
              </a:ext>
            </a:extLst>
          </p:cNvPr>
          <p:cNvSpPr txBox="1"/>
          <p:nvPr/>
        </p:nvSpPr>
        <p:spPr>
          <a:xfrm>
            <a:off x="7827990" y="6380645"/>
            <a:ext cx="34720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dirty="0">
                <a:solidFill>
                  <a:schemeClr val="bg1">
                    <a:lumMod val="25000"/>
                  </a:schemeClr>
                </a:solidFill>
              </a:rPr>
              <a:t>J </a:t>
            </a:r>
            <a:r>
              <a:rPr lang="en-US" sz="1050" b="0" dirty="0" err="1">
                <a:solidFill>
                  <a:schemeClr val="bg1">
                    <a:lumMod val="25000"/>
                  </a:schemeClr>
                </a:solidFill>
              </a:rPr>
              <a:t>Pharmacokinet</a:t>
            </a:r>
            <a:r>
              <a:rPr lang="en-US" sz="1050" b="0" dirty="0">
                <a:solidFill>
                  <a:schemeClr val="bg1">
                    <a:lumMod val="25000"/>
                  </a:schemeClr>
                </a:solidFill>
              </a:rPr>
              <a:t> </a:t>
            </a:r>
            <a:r>
              <a:rPr lang="en-US" sz="1050" b="0" dirty="0" err="1">
                <a:solidFill>
                  <a:schemeClr val="bg1">
                    <a:lumMod val="25000"/>
                  </a:schemeClr>
                </a:solidFill>
              </a:rPr>
              <a:t>Pharmacodyn</a:t>
            </a:r>
            <a:r>
              <a:rPr lang="en-US" sz="1050" b="0" dirty="0">
                <a:solidFill>
                  <a:schemeClr val="bg1">
                    <a:lumMod val="25000"/>
                  </a:schemeClr>
                </a:solidFill>
              </a:rPr>
              <a:t>. 2019;46(3):273-285. </a:t>
            </a:r>
            <a:endParaRPr lang="en-US" sz="1200" dirty="0">
              <a:solidFill>
                <a:schemeClr val="bg1">
                  <a:lumMod val="2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DF12EA-EFD7-D7AC-DA60-A1A4485B8E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4220" y="2752029"/>
            <a:ext cx="3127083" cy="215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8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9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12895" y="232886"/>
            <a:ext cx="11064240" cy="775597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Design 16 scenarios with easy </a:t>
            </a:r>
            <a:r>
              <a:rPr lang="zh-CN" altLang="en-US" sz="2800" b="1" dirty="0">
                <a:solidFill>
                  <a:srgbClr val="0460A9"/>
                </a:solidFill>
                <a:latin typeface="Arial"/>
                <a:cs typeface="Arial"/>
              </a:rPr>
              <a:t>→ </a:t>
            </a:r>
            <a:r>
              <a:rPr lang="en-US" altLang="zh-CN" sz="2800" dirty="0">
                <a:solidFill>
                  <a:srgbClr val="0460A9"/>
                </a:solidFill>
                <a:latin typeface="Arial"/>
                <a:cs typeface="Arial"/>
              </a:rPr>
              <a:t>complex covariate effects from the overall covariate space</a:t>
            </a:r>
            <a:endParaRPr lang="en-US" sz="2800" b="1" dirty="0">
              <a:solidFill>
                <a:srgbClr val="0460A9"/>
              </a:solidFill>
              <a:latin typeface="Arial"/>
              <a:cs typeface="Arial"/>
            </a:endParaRPr>
          </a:p>
        </p:txBody>
      </p: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F088BF29-56BA-4C96-9148-AF5D956366D1}" type="slidenum">
              <a:rPr lang="en-US" sz="1000">
                <a:solidFill>
                  <a:srgbClr val="8A8A8A"/>
                </a:solidFill>
                <a:latin typeface="Arial"/>
              </a:rPr>
              <a:t>12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993" name="Group 992">
            <a:extLst>
              <a:ext uri="{FF2B5EF4-FFF2-40B4-BE49-F238E27FC236}">
                <a16:creationId xmlns:a16="http://schemas.microsoft.com/office/drawing/2014/main" id="{6EF62B28-F8E4-D375-23BD-F8F98BBB9E99}"/>
              </a:ext>
            </a:extLst>
          </p:cNvPr>
          <p:cNvGrpSpPr/>
          <p:nvPr/>
        </p:nvGrpSpPr>
        <p:grpSpPr>
          <a:xfrm>
            <a:off x="652495" y="1306697"/>
            <a:ext cx="3293288" cy="4271961"/>
            <a:chOff x="-3089670" y="1655206"/>
            <a:chExt cx="3230627" cy="332885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172CD7-53E7-19CC-9C58-DACC6759ACFA}"/>
                </a:ext>
              </a:extLst>
            </p:cNvPr>
            <p:cNvSpPr txBox="1"/>
            <p:nvPr/>
          </p:nvSpPr>
          <p:spPr>
            <a:xfrm>
              <a:off x="-2968002" y="1655206"/>
              <a:ext cx="310895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sz="2000" b="1" dirty="0"/>
                <a:t>Overall covariate space</a:t>
              </a:r>
            </a:p>
          </p:txBody>
        </p:sp>
        <p:grpSp>
          <p:nvGrpSpPr>
            <p:cNvPr id="990" name="Group 989">
              <a:extLst>
                <a:ext uri="{FF2B5EF4-FFF2-40B4-BE49-F238E27FC236}">
                  <a16:creationId xmlns:a16="http://schemas.microsoft.com/office/drawing/2014/main" id="{2CAC4DFB-15AB-7E79-982D-5F23B3892C60}"/>
                </a:ext>
              </a:extLst>
            </p:cNvPr>
            <p:cNvGrpSpPr/>
            <p:nvPr/>
          </p:nvGrpSpPr>
          <p:grpSpPr>
            <a:xfrm>
              <a:off x="-3089670" y="2132207"/>
              <a:ext cx="1464125" cy="1930192"/>
              <a:chOff x="4386428" y="1823760"/>
              <a:chExt cx="1497550" cy="2112129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0A5192A-AD82-630F-92F9-BC452DCD64DB}"/>
                  </a:ext>
                </a:extLst>
              </p:cNvPr>
              <p:cNvSpPr/>
              <p:nvPr/>
            </p:nvSpPr>
            <p:spPr>
              <a:xfrm>
                <a:off x="4734211" y="2300795"/>
                <a:ext cx="860498" cy="424450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dirty="0" err="1"/>
                  <a:t>Wt</a:t>
                </a:r>
                <a:endParaRPr lang="en-US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DEE4D179-279C-BB6D-7DC0-4BAECD8A165D}"/>
                  </a:ext>
                </a:extLst>
              </p:cNvPr>
              <p:cNvSpPr/>
              <p:nvPr/>
            </p:nvSpPr>
            <p:spPr>
              <a:xfrm>
                <a:off x="4739594" y="2813224"/>
                <a:ext cx="860496" cy="42445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dirty="0"/>
                  <a:t>BMI</a:t>
                </a: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655D504F-E8E3-0DFF-4504-F770E14DFAE9}"/>
                  </a:ext>
                </a:extLst>
              </p:cNvPr>
              <p:cNvSpPr/>
              <p:nvPr/>
            </p:nvSpPr>
            <p:spPr>
              <a:xfrm>
                <a:off x="4733558" y="3325652"/>
                <a:ext cx="860497" cy="424450"/>
              </a:xfrm>
              <a:prstGeom prst="roundRect">
                <a:avLst/>
              </a:prstGeom>
              <a:solidFill>
                <a:srgbClr val="048C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dirty="0"/>
                  <a:t>CrCl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5C3D4C9-4667-0FBF-CDFF-5E1C57EB9D34}"/>
                  </a:ext>
                </a:extLst>
              </p:cNvPr>
              <p:cNvSpPr txBox="1"/>
              <p:nvPr/>
            </p:nvSpPr>
            <p:spPr>
              <a:xfrm>
                <a:off x="4690972" y="1972042"/>
                <a:ext cx="11930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Power 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599CB8E5-D9C0-1557-F8C0-B142D4046446}"/>
                  </a:ext>
                </a:extLst>
              </p:cNvPr>
              <p:cNvSpPr/>
              <p:nvPr/>
            </p:nvSpPr>
            <p:spPr>
              <a:xfrm>
                <a:off x="4386428" y="1823760"/>
                <a:ext cx="1490290" cy="2112129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lIns="108000" tIns="108000" rIns="108000" bIns="108000" rtlCol="0" anchor="t"/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endParaRPr lang="en-US" dirty="0" err="1"/>
              </a:p>
            </p:txBody>
          </p:sp>
        </p:grpSp>
        <p:grpSp>
          <p:nvGrpSpPr>
            <p:cNvPr id="991" name="Group 990">
              <a:extLst>
                <a:ext uri="{FF2B5EF4-FFF2-40B4-BE49-F238E27FC236}">
                  <a16:creationId xmlns:a16="http://schemas.microsoft.com/office/drawing/2014/main" id="{4D00ED46-D9F5-30AF-2860-0C4BA0F6909C}"/>
                </a:ext>
              </a:extLst>
            </p:cNvPr>
            <p:cNvGrpSpPr/>
            <p:nvPr/>
          </p:nvGrpSpPr>
          <p:grpSpPr>
            <a:xfrm>
              <a:off x="-1546571" y="2123177"/>
              <a:ext cx="1391494" cy="1930192"/>
              <a:chOff x="5962951" y="1823760"/>
              <a:chExt cx="1391494" cy="2103099"/>
            </a:xfrm>
          </p:grpSpPr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25FE5648-FD57-9E70-9E8D-D752D352DA9B}"/>
                  </a:ext>
                </a:extLst>
              </p:cNvPr>
              <p:cNvSpPr/>
              <p:nvPr/>
            </p:nvSpPr>
            <p:spPr>
              <a:xfrm>
                <a:off x="6321334" y="3256123"/>
                <a:ext cx="884368" cy="476976"/>
              </a:xfrm>
              <a:prstGeom prst="triangle">
                <a:avLst>
                  <a:gd name="adj" fmla="val 53299"/>
                </a:avLst>
              </a:prstGeom>
              <a:solidFill>
                <a:srgbClr val="048C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endParaRPr lang="en-US" dirty="0" err="1">
                  <a:solidFill>
                    <a:srgbClr val="048CFC"/>
                  </a:solidFill>
                </a:endParaRP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1851AA92-CD2E-8591-9C17-E9CEC43BCFCC}"/>
                  </a:ext>
                </a:extLst>
              </p:cNvPr>
              <p:cNvGrpSpPr/>
              <p:nvPr/>
            </p:nvGrpSpPr>
            <p:grpSpPr>
              <a:xfrm>
                <a:off x="6285056" y="2210754"/>
                <a:ext cx="1069388" cy="485955"/>
                <a:chOff x="4672014" y="2350444"/>
                <a:chExt cx="953362" cy="626923"/>
              </a:xfrm>
            </p:grpSpPr>
            <p:sp>
              <p:nvSpPr>
                <p:cNvPr id="29" name="Isosceles Triangle 28">
                  <a:extLst>
                    <a:ext uri="{FF2B5EF4-FFF2-40B4-BE49-F238E27FC236}">
                      <a16:creationId xmlns:a16="http://schemas.microsoft.com/office/drawing/2014/main" id="{31FD95FC-9757-68EC-691A-E565A5A42761}"/>
                    </a:ext>
                  </a:extLst>
                </p:cNvPr>
                <p:cNvSpPr/>
                <p:nvPr/>
              </p:nvSpPr>
              <p:spPr>
                <a:xfrm>
                  <a:off x="4672014" y="2350444"/>
                  <a:ext cx="725300" cy="626923"/>
                </a:xfrm>
                <a:prstGeom prst="triangle">
                  <a:avLst/>
                </a:prstGeom>
                <a:solidFill>
                  <a:schemeClr val="accent1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t"/>
                <a:lstStyle/>
                <a:p>
                  <a:pPr marL="180000" indent="-180000" algn="l">
                    <a:lnSpc>
                      <a:spcPts val="1800"/>
                    </a:lnSpc>
                    <a:buFont typeface="Arial" panose="020B0604020202020204" pitchFamily="34" charset="0"/>
                    <a:buChar char="•"/>
                  </a:pPr>
                  <a:endParaRPr lang="en-US" dirty="0" err="1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FCFFC82-AE78-6099-1A48-BD90B5968F91}"/>
                    </a:ext>
                  </a:extLst>
                </p:cNvPr>
                <p:cNvSpPr txBox="1"/>
                <p:nvPr/>
              </p:nvSpPr>
              <p:spPr>
                <a:xfrm>
                  <a:off x="4900076" y="2605278"/>
                  <a:ext cx="725300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spcBef>
                      <a:spcPts val="800"/>
                    </a:spcBef>
                  </a:pPr>
                  <a:r>
                    <a:rPr lang="en-US" dirty="0" err="1">
                      <a:solidFill>
                        <a:schemeClr val="bg1"/>
                      </a:solidFill>
                    </a:rPr>
                    <a:t>Wt</a:t>
                  </a:r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D336EAFF-2B77-818B-ADB4-9763C70F7CDC}"/>
                  </a:ext>
                </a:extLst>
              </p:cNvPr>
              <p:cNvGrpSpPr/>
              <p:nvPr/>
            </p:nvGrpSpPr>
            <p:grpSpPr>
              <a:xfrm>
                <a:off x="6325815" y="2729661"/>
                <a:ext cx="983616" cy="485955"/>
                <a:chOff x="4672014" y="2340697"/>
                <a:chExt cx="879511" cy="626923"/>
              </a:xfrm>
            </p:grpSpPr>
            <p:sp>
              <p:nvSpPr>
                <p:cNvPr id="39" name="Isosceles Triangle 38">
                  <a:extLst>
                    <a:ext uri="{FF2B5EF4-FFF2-40B4-BE49-F238E27FC236}">
                      <a16:creationId xmlns:a16="http://schemas.microsoft.com/office/drawing/2014/main" id="{888872FF-65D8-F6FC-8C74-E953A4B86BC4}"/>
                    </a:ext>
                  </a:extLst>
                </p:cNvPr>
                <p:cNvSpPr/>
                <p:nvPr/>
              </p:nvSpPr>
              <p:spPr>
                <a:xfrm>
                  <a:off x="4672014" y="2340697"/>
                  <a:ext cx="725300" cy="626923"/>
                </a:xfrm>
                <a:prstGeom prst="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t"/>
                <a:lstStyle/>
                <a:p>
                  <a:pPr marL="180000" indent="-180000" algn="l">
                    <a:spcBef>
                      <a:spcPts val="800"/>
                    </a:spcBef>
                    <a:buFont typeface="Arial" panose="020B0604020202020204" pitchFamily="34" charset="0"/>
                    <a:buChar char="•"/>
                  </a:pPr>
                  <a:endParaRPr lang="en-US" dirty="0" err="1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A544126-4329-4919-52D6-5C081298CF37}"/>
                    </a:ext>
                  </a:extLst>
                </p:cNvPr>
                <p:cNvSpPr txBox="1"/>
                <p:nvPr/>
              </p:nvSpPr>
              <p:spPr>
                <a:xfrm>
                  <a:off x="4826225" y="2634591"/>
                  <a:ext cx="725300" cy="31492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lnSpc>
                      <a:spcPts val="1800"/>
                    </a:lnSpc>
                  </a:pPr>
                  <a:r>
                    <a:rPr lang="en-US" dirty="0">
                      <a:solidFill>
                        <a:schemeClr val="bg1"/>
                      </a:solidFill>
                    </a:rPr>
                    <a:t>BMI</a:t>
                  </a: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D718820-D5AA-8E6F-92B0-D10B2AEC524F}"/>
                  </a:ext>
                </a:extLst>
              </p:cNvPr>
              <p:cNvSpPr txBox="1"/>
              <p:nvPr/>
            </p:nvSpPr>
            <p:spPr>
              <a:xfrm>
                <a:off x="6190726" y="3445649"/>
                <a:ext cx="1126534" cy="34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dirty="0">
                    <a:solidFill>
                      <a:schemeClr val="bg1"/>
                    </a:solidFill>
                  </a:rPr>
                  <a:t>CrCl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4FCB679-6B94-22E2-9315-9FA75095CAB9}"/>
                  </a:ext>
                </a:extLst>
              </p:cNvPr>
              <p:cNvSpPr txBox="1"/>
              <p:nvPr/>
            </p:nvSpPr>
            <p:spPr>
              <a:xfrm>
                <a:off x="6045031" y="1919172"/>
                <a:ext cx="11265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Linear</a:t>
                </a: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D208289E-FFE1-607F-6802-9F6C04E949E2}"/>
                  </a:ext>
                </a:extLst>
              </p:cNvPr>
              <p:cNvSpPr/>
              <p:nvPr/>
            </p:nvSpPr>
            <p:spPr>
              <a:xfrm>
                <a:off x="5962951" y="1823760"/>
                <a:ext cx="1391494" cy="2103099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lIns="108000" tIns="108000" rIns="108000" bIns="108000" rtlCol="0" anchor="t"/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endParaRPr lang="en-US" dirty="0" err="1"/>
              </a:p>
            </p:txBody>
          </p:sp>
        </p:grpSp>
        <p:grpSp>
          <p:nvGrpSpPr>
            <p:cNvPr id="992" name="Group 991">
              <a:extLst>
                <a:ext uri="{FF2B5EF4-FFF2-40B4-BE49-F238E27FC236}">
                  <a16:creationId xmlns:a16="http://schemas.microsoft.com/office/drawing/2014/main" id="{7135C857-CF92-6644-27DF-38BBDB91ED40}"/>
                </a:ext>
              </a:extLst>
            </p:cNvPr>
            <p:cNvGrpSpPr/>
            <p:nvPr/>
          </p:nvGrpSpPr>
          <p:grpSpPr>
            <a:xfrm>
              <a:off x="-3089670" y="4096777"/>
              <a:ext cx="2959794" cy="887287"/>
              <a:chOff x="4516541" y="4596314"/>
              <a:chExt cx="2837904" cy="887287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C1404E-5457-4C9D-4A1F-52115C84ED27}"/>
                  </a:ext>
                </a:extLst>
              </p:cNvPr>
              <p:cNvSpPr txBox="1"/>
              <p:nvPr/>
            </p:nvSpPr>
            <p:spPr>
              <a:xfrm>
                <a:off x="5168312" y="4637252"/>
                <a:ext cx="143133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Categorical</a:t>
                </a: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F3534FE7-2878-024B-61A5-A08BAD5CBEBE}"/>
                  </a:ext>
                </a:extLst>
              </p:cNvPr>
              <p:cNvSpPr/>
              <p:nvPr/>
            </p:nvSpPr>
            <p:spPr>
              <a:xfrm>
                <a:off x="4516541" y="4596314"/>
                <a:ext cx="2837904" cy="887287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lIns="108000" tIns="108000" rIns="108000" bIns="108000" rtlCol="0" anchor="t"/>
              <a:lstStyle/>
              <a:p>
                <a:pPr marL="180000" indent="-180000" algn="l">
                  <a:spcBef>
                    <a:spcPts val="800"/>
                  </a:spcBef>
                  <a:buFont typeface="Arial" panose="020B0604020202020204" pitchFamily="34" charset="0"/>
                  <a:buChar char="•"/>
                </a:pPr>
                <a:endParaRPr lang="en-US" dirty="0" err="1"/>
              </a:p>
            </p:txBody>
          </p:sp>
          <p:sp>
            <p:nvSpPr>
              <p:cNvPr id="971" name="Rectangle 970">
                <a:extLst>
                  <a:ext uri="{FF2B5EF4-FFF2-40B4-BE49-F238E27FC236}">
                    <a16:creationId xmlns:a16="http://schemas.microsoft.com/office/drawing/2014/main" id="{B6046426-4A0C-788B-78D5-9252AD8D43EF}"/>
                  </a:ext>
                </a:extLst>
              </p:cNvPr>
              <p:cNvSpPr/>
              <p:nvPr/>
            </p:nvSpPr>
            <p:spPr>
              <a:xfrm>
                <a:off x="4915384" y="4974784"/>
                <a:ext cx="769843" cy="42324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Race</a:t>
                </a:r>
              </a:p>
              <a:p>
                <a:pPr algn="l">
                  <a:spcBef>
                    <a:spcPts val="800"/>
                  </a:spcBef>
                </a:pPr>
                <a:endParaRPr lang="en-US" dirty="0" err="1"/>
              </a:p>
            </p:txBody>
          </p:sp>
          <p:sp>
            <p:nvSpPr>
              <p:cNvPr id="973" name="Rectangle 972">
                <a:extLst>
                  <a:ext uri="{FF2B5EF4-FFF2-40B4-BE49-F238E27FC236}">
                    <a16:creationId xmlns:a16="http://schemas.microsoft.com/office/drawing/2014/main" id="{B8601E1F-B51B-7B56-F3F2-8AD5F59C1B49}"/>
                  </a:ext>
                </a:extLst>
              </p:cNvPr>
              <p:cNvSpPr/>
              <p:nvPr/>
            </p:nvSpPr>
            <p:spPr>
              <a:xfrm>
                <a:off x="6084070" y="4981431"/>
                <a:ext cx="769843" cy="409523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r>
                  <a:rPr lang="en-US" dirty="0"/>
                  <a:t>Sex</a:t>
                </a:r>
              </a:p>
              <a:p>
                <a:pPr algn="ctr">
                  <a:spcBef>
                    <a:spcPts val="800"/>
                  </a:spcBef>
                </a:pPr>
                <a:endParaRPr lang="en-US" dirty="0" err="1"/>
              </a:p>
            </p:txBody>
          </p:sp>
        </p:grpSp>
      </p:grpSp>
      <p:grpSp>
        <p:nvGrpSpPr>
          <p:cNvPr id="1002" name="Group 1001">
            <a:extLst>
              <a:ext uri="{FF2B5EF4-FFF2-40B4-BE49-F238E27FC236}">
                <a16:creationId xmlns:a16="http://schemas.microsoft.com/office/drawing/2014/main" id="{BF95EDDF-48A2-BCF7-297B-135605F961F4}"/>
              </a:ext>
            </a:extLst>
          </p:cNvPr>
          <p:cNvGrpSpPr/>
          <p:nvPr/>
        </p:nvGrpSpPr>
        <p:grpSpPr>
          <a:xfrm>
            <a:off x="4091883" y="2422890"/>
            <a:ext cx="2974791" cy="2755435"/>
            <a:chOff x="4022124" y="2422889"/>
            <a:chExt cx="2974791" cy="2755435"/>
          </a:xfrm>
        </p:grpSpPr>
        <p:grpSp>
          <p:nvGrpSpPr>
            <p:cNvPr id="994" name="Group 993">
              <a:extLst>
                <a:ext uri="{FF2B5EF4-FFF2-40B4-BE49-F238E27FC236}">
                  <a16:creationId xmlns:a16="http://schemas.microsoft.com/office/drawing/2014/main" id="{C993AC13-FFC1-5003-44B5-787902E6C8DD}"/>
                </a:ext>
              </a:extLst>
            </p:cNvPr>
            <p:cNvGrpSpPr/>
            <p:nvPr/>
          </p:nvGrpSpPr>
          <p:grpSpPr>
            <a:xfrm>
              <a:off x="4022124" y="2422889"/>
              <a:ext cx="2974791" cy="1743724"/>
              <a:chOff x="3644728" y="2507673"/>
              <a:chExt cx="2974791" cy="174372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F6A0D7D-FBCF-C71E-EAD9-80142EB9E63E}"/>
                  </a:ext>
                </a:extLst>
              </p:cNvPr>
              <p:cNvSpPr/>
              <p:nvPr/>
            </p:nvSpPr>
            <p:spPr>
              <a:xfrm>
                <a:off x="4086656" y="2827959"/>
                <a:ext cx="2532863" cy="1125511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r>
                  <a:rPr lang="en-US" sz="2000" dirty="0"/>
                  <a:t>B</a:t>
                </a:r>
                <a:r>
                  <a:rPr lang="en-US" altLang="zh-CN" sz="2000" dirty="0"/>
                  <a:t>ase Model (No covariate)</a:t>
                </a:r>
                <a:endParaRPr lang="en-US" sz="2000" dirty="0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6BD6B9B9-057C-3A98-9F02-DF43B2A29094}"/>
                  </a:ext>
                </a:extLst>
              </p:cNvPr>
              <p:cNvSpPr/>
              <p:nvPr/>
            </p:nvSpPr>
            <p:spPr>
              <a:xfrm>
                <a:off x="3644728" y="2507673"/>
                <a:ext cx="745092" cy="745092"/>
              </a:xfrm>
              <a:prstGeom prst="ellipse">
                <a:avLst/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l">
                  <a:spcBef>
                    <a:spcPts val="800"/>
                  </a:spcBef>
                </a:pPr>
                <a:r>
                  <a:rPr lang="en-US" sz="2000" dirty="0" err="1">
                    <a:solidFill>
                      <a:schemeClr val="bg1"/>
                    </a:solidFill>
                  </a:rPr>
                  <a:t>V</a:t>
                </a:r>
                <a:r>
                  <a:rPr lang="en-US" altLang="zh-CN" sz="2000" dirty="0" err="1">
                    <a:solidFill>
                      <a:schemeClr val="bg1"/>
                    </a:solidFill>
                  </a:rPr>
                  <a:t>c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390D61C-8311-350A-7879-A545E1CE40D3}"/>
                  </a:ext>
                </a:extLst>
              </p:cNvPr>
              <p:cNvSpPr/>
              <p:nvPr/>
            </p:nvSpPr>
            <p:spPr>
              <a:xfrm>
                <a:off x="3690262" y="3506305"/>
                <a:ext cx="779776" cy="745092"/>
              </a:xfrm>
              <a:prstGeom prst="ellipse">
                <a:avLst/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>
                  <a:spcBef>
                    <a:spcPts val="800"/>
                  </a:spcBef>
                </a:pPr>
                <a:r>
                  <a:rPr lang="en-US" sz="2000" dirty="0">
                    <a:solidFill>
                      <a:schemeClr val="bg1"/>
                    </a:solidFill>
                  </a:rPr>
                  <a:t>CL</a:t>
                </a:r>
              </a:p>
            </p:txBody>
          </p:sp>
        </p:grpSp>
        <p:sp>
          <p:nvSpPr>
            <p:cNvPr id="985" name="TextBox 984">
              <a:extLst>
                <a:ext uri="{FF2B5EF4-FFF2-40B4-BE49-F238E27FC236}">
                  <a16:creationId xmlns:a16="http://schemas.microsoft.com/office/drawing/2014/main" id="{A785CD27-4058-1766-01F6-5DBC125C7153}"/>
                </a:ext>
              </a:extLst>
            </p:cNvPr>
            <p:cNvSpPr txBox="1"/>
            <p:nvPr/>
          </p:nvSpPr>
          <p:spPr>
            <a:xfrm>
              <a:off x="4847434" y="4614067"/>
              <a:ext cx="1398988" cy="5642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 b="1" dirty="0"/>
                <a:t>Scenario 1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 b="1" dirty="0"/>
                <a:t>(Easiest)</a:t>
              </a:r>
            </a:p>
          </p:txBody>
        </p: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id="{C7DCF15A-2AF7-53E2-14E2-1E816FE2F590}"/>
              </a:ext>
            </a:extLst>
          </p:cNvPr>
          <p:cNvGrpSpPr/>
          <p:nvPr/>
        </p:nvGrpSpPr>
        <p:grpSpPr>
          <a:xfrm>
            <a:off x="7994384" y="2255166"/>
            <a:ext cx="3460377" cy="2890087"/>
            <a:chOff x="8024126" y="2206475"/>
            <a:chExt cx="3605874" cy="2890087"/>
          </a:xfrm>
        </p:grpSpPr>
        <p:grpSp>
          <p:nvGrpSpPr>
            <p:cNvPr id="997" name="Group 996">
              <a:extLst>
                <a:ext uri="{FF2B5EF4-FFF2-40B4-BE49-F238E27FC236}">
                  <a16:creationId xmlns:a16="http://schemas.microsoft.com/office/drawing/2014/main" id="{B6A3B384-686F-9368-BFC0-1149203ED559}"/>
                </a:ext>
              </a:extLst>
            </p:cNvPr>
            <p:cNvGrpSpPr/>
            <p:nvPr/>
          </p:nvGrpSpPr>
          <p:grpSpPr>
            <a:xfrm>
              <a:off x="8024126" y="2206475"/>
              <a:ext cx="3605874" cy="2046276"/>
              <a:chOff x="7962414" y="2329991"/>
              <a:chExt cx="3605874" cy="2046276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5777C82-61F8-C07D-9BE2-8F768CAFCA69}"/>
                  </a:ext>
                </a:extLst>
              </p:cNvPr>
              <p:cNvSpPr/>
              <p:nvPr/>
            </p:nvSpPr>
            <p:spPr>
              <a:xfrm>
                <a:off x="7962414" y="2810377"/>
                <a:ext cx="2532863" cy="1125511"/>
              </a:xfrm>
              <a:prstGeom prst="ellips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endParaRPr lang="en-US" sz="2000" dirty="0"/>
              </a:p>
            </p:txBody>
          </p:sp>
          <p:sp>
            <p:nvSpPr>
              <p:cNvPr id="961" name="Oval 960">
                <a:extLst>
                  <a:ext uri="{FF2B5EF4-FFF2-40B4-BE49-F238E27FC236}">
                    <a16:creationId xmlns:a16="http://schemas.microsoft.com/office/drawing/2014/main" id="{965F9FF0-AAF4-B9D5-13E9-3D6B42A29EDC}"/>
                  </a:ext>
                </a:extLst>
              </p:cNvPr>
              <p:cNvSpPr/>
              <p:nvPr/>
            </p:nvSpPr>
            <p:spPr>
              <a:xfrm>
                <a:off x="10112359" y="2587266"/>
                <a:ext cx="782411" cy="745092"/>
              </a:xfrm>
              <a:prstGeom prst="ellipse">
                <a:avLst/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l">
                  <a:spcBef>
                    <a:spcPts val="800"/>
                  </a:spcBef>
                </a:pPr>
                <a:r>
                  <a:rPr lang="en-US" sz="2000" dirty="0" err="1">
                    <a:solidFill>
                      <a:schemeClr val="bg1"/>
                    </a:solidFill>
                  </a:rPr>
                  <a:t>V</a:t>
                </a:r>
                <a:r>
                  <a:rPr lang="en-US" altLang="zh-CN" sz="2000" dirty="0" err="1">
                    <a:solidFill>
                      <a:schemeClr val="bg1"/>
                    </a:solidFill>
                  </a:rPr>
                  <a:t>c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62" name="Oval 961">
                <a:extLst>
                  <a:ext uri="{FF2B5EF4-FFF2-40B4-BE49-F238E27FC236}">
                    <a16:creationId xmlns:a16="http://schemas.microsoft.com/office/drawing/2014/main" id="{D667EF84-1742-9A18-7183-CB81FDB93A3A}"/>
                  </a:ext>
                </a:extLst>
              </p:cNvPr>
              <p:cNvSpPr/>
              <p:nvPr/>
            </p:nvSpPr>
            <p:spPr>
              <a:xfrm>
                <a:off x="10148742" y="3467454"/>
                <a:ext cx="887442" cy="745092"/>
              </a:xfrm>
              <a:prstGeom prst="ellipse">
                <a:avLst/>
              </a:prstGeom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>
                  <a:spcBef>
                    <a:spcPts val="800"/>
                  </a:spcBef>
                </a:pPr>
                <a:r>
                  <a:rPr lang="en-US" sz="2000" dirty="0">
                    <a:solidFill>
                      <a:schemeClr val="bg1"/>
                    </a:solidFill>
                  </a:rPr>
                  <a:t>CL</a:t>
                </a:r>
              </a:p>
            </p:txBody>
          </p:sp>
          <p:sp>
            <p:nvSpPr>
              <p:cNvPr id="964" name="TextBox 963">
                <a:extLst>
                  <a:ext uri="{FF2B5EF4-FFF2-40B4-BE49-F238E27FC236}">
                    <a16:creationId xmlns:a16="http://schemas.microsoft.com/office/drawing/2014/main" id="{2F0D08A5-7D71-C694-634C-57080E1D8410}"/>
                  </a:ext>
                </a:extLst>
              </p:cNvPr>
              <p:cNvSpPr txBox="1"/>
              <p:nvPr/>
            </p:nvSpPr>
            <p:spPr>
              <a:xfrm>
                <a:off x="8051755" y="3166084"/>
                <a:ext cx="25328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800"/>
                  </a:spcBef>
                </a:pPr>
                <a:r>
                  <a:rPr lang="en-US" sz="2000" dirty="0">
                    <a:solidFill>
                      <a:schemeClr val="bg1"/>
                    </a:solidFill>
                  </a:rPr>
                  <a:t>F</a:t>
                </a:r>
                <a:r>
                  <a:rPr lang="en-US" altLang="zh-CN" sz="2000" dirty="0">
                    <a:solidFill>
                      <a:schemeClr val="bg1"/>
                    </a:solidFill>
                  </a:rPr>
                  <a:t>ull Model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75" name="Rectangle: Rounded Corners 974">
                <a:extLst>
                  <a:ext uri="{FF2B5EF4-FFF2-40B4-BE49-F238E27FC236}">
                    <a16:creationId xmlns:a16="http://schemas.microsoft.com/office/drawing/2014/main" id="{81DF16EC-1619-A221-3B68-750ADCBB0EB5}"/>
                  </a:ext>
                </a:extLst>
              </p:cNvPr>
              <p:cNvSpPr/>
              <p:nvPr/>
            </p:nvSpPr>
            <p:spPr>
              <a:xfrm>
                <a:off x="9585521" y="2329991"/>
                <a:ext cx="680741" cy="484355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r>
                  <a:rPr lang="en-US" dirty="0" err="1"/>
                  <a:t>Wt</a:t>
                </a:r>
                <a:endParaRPr lang="en-US" dirty="0"/>
              </a:p>
            </p:txBody>
          </p:sp>
          <p:sp>
            <p:nvSpPr>
              <p:cNvPr id="977" name="Rectangle 976">
                <a:extLst>
                  <a:ext uri="{FF2B5EF4-FFF2-40B4-BE49-F238E27FC236}">
                    <a16:creationId xmlns:a16="http://schemas.microsoft.com/office/drawing/2014/main" id="{F0A9E853-F186-66B3-AF9E-EC8FE47F122F}"/>
                  </a:ext>
                </a:extLst>
              </p:cNvPr>
              <p:cNvSpPr/>
              <p:nvPr/>
            </p:nvSpPr>
            <p:spPr>
              <a:xfrm>
                <a:off x="10685629" y="2353291"/>
                <a:ext cx="679600" cy="44330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r>
                  <a:rPr lang="en-US" dirty="0"/>
                  <a:t>Sex</a:t>
                </a:r>
              </a:p>
              <a:p>
                <a:pPr algn="ctr">
                  <a:spcBef>
                    <a:spcPts val="800"/>
                  </a:spcBef>
                </a:pPr>
                <a:endParaRPr lang="en-US" dirty="0" err="1"/>
              </a:p>
            </p:txBody>
          </p:sp>
          <p:sp>
            <p:nvSpPr>
              <p:cNvPr id="981" name="Rectangle: Rounded Corners 980">
                <a:extLst>
                  <a:ext uri="{FF2B5EF4-FFF2-40B4-BE49-F238E27FC236}">
                    <a16:creationId xmlns:a16="http://schemas.microsoft.com/office/drawing/2014/main" id="{AC2AD735-689C-E6EE-0E5E-8F5056075B2D}"/>
                  </a:ext>
                </a:extLst>
              </p:cNvPr>
              <p:cNvSpPr/>
              <p:nvPr/>
            </p:nvSpPr>
            <p:spPr>
              <a:xfrm>
                <a:off x="9656374" y="3891912"/>
                <a:ext cx="679994" cy="484355"/>
              </a:xfrm>
              <a:prstGeom prst="round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r>
                  <a:rPr lang="en-US" dirty="0" err="1"/>
                  <a:t>Wt</a:t>
                </a:r>
                <a:endParaRPr lang="en-US" dirty="0"/>
              </a:p>
            </p:txBody>
          </p:sp>
          <p:sp>
            <p:nvSpPr>
              <p:cNvPr id="983" name="Rectangle: Rounded Corners 982">
                <a:extLst>
                  <a:ext uri="{FF2B5EF4-FFF2-40B4-BE49-F238E27FC236}">
                    <a16:creationId xmlns:a16="http://schemas.microsoft.com/office/drawing/2014/main" id="{FC132E53-6FC3-748A-155D-7151BC6AF31C}"/>
                  </a:ext>
                </a:extLst>
              </p:cNvPr>
              <p:cNvSpPr/>
              <p:nvPr/>
            </p:nvSpPr>
            <p:spPr>
              <a:xfrm>
                <a:off x="10808288" y="3884339"/>
                <a:ext cx="760000" cy="484355"/>
              </a:xfrm>
              <a:prstGeom prst="roundRect">
                <a:avLst/>
              </a:prstGeom>
              <a:solidFill>
                <a:srgbClr val="048C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t"/>
              <a:lstStyle/>
              <a:p>
                <a:pPr algn="ctr">
                  <a:spcBef>
                    <a:spcPts val="800"/>
                  </a:spcBef>
                </a:pPr>
                <a:r>
                  <a:rPr lang="en-US" dirty="0"/>
                  <a:t>CrC</a:t>
                </a:r>
                <a:r>
                  <a:rPr lang="en-US" altLang="zh-CN" dirty="0"/>
                  <a:t>l</a:t>
                </a:r>
                <a:endParaRPr lang="en-US" dirty="0"/>
              </a:p>
            </p:txBody>
          </p:sp>
        </p:grpSp>
        <p:sp>
          <p:nvSpPr>
            <p:cNvPr id="996" name="TextBox 995">
              <a:extLst>
                <a:ext uri="{FF2B5EF4-FFF2-40B4-BE49-F238E27FC236}">
                  <a16:creationId xmlns:a16="http://schemas.microsoft.com/office/drawing/2014/main" id="{D3439EC4-A904-A559-77F0-FE5C0B346D05}"/>
                </a:ext>
              </a:extLst>
            </p:cNvPr>
            <p:cNvSpPr txBox="1"/>
            <p:nvPr/>
          </p:nvSpPr>
          <p:spPr>
            <a:xfrm>
              <a:off x="8555688" y="4532305"/>
              <a:ext cx="2090642" cy="5642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 b="1" dirty="0"/>
                <a:t>Scenario 16</a:t>
              </a:r>
            </a:p>
            <a:p>
              <a:pPr algn="ctr">
                <a:lnSpc>
                  <a:spcPts val="2160"/>
                </a:lnSpc>
              </a:pPr>
              <a:r>
                <a:rPr lang="en-US" sz="2000" b="1" dirty="0"/>
                <a:t>(Most complex)</a:t>
              </a:r>
            </a:p>
          </p:txBody>
        </p:sp>
      </p:grpSp>
      <p:grpSp>
        <p:nvGrpSpPr>
          <p:cNvPr id="1003" name="Group 1002">
            <a:extLst>
              <a:ext uri="{FF2B5EF4-FFF2-40B4-BE49-F238E27FC236}">
                <a16:creationId xmlns:a16="http://schemas.microsoft.com/office/drawing/2014/main" id="{3EE49DDF-409E-3206-DBDD-8CF5636E8A03}"/>
              </a:ext>
            </a:extLst>
          </p:cNvPr>
          <p:cNvGrpSpPr/>
          <p:nvPr/>
        </p:nvGrpSpPr>
        <p:grpSpPr>
          <a:xfrm>
            <a:off x="6693032" y="2926386"/>
            <a:ext cx="1384419" cy="2119206"/>
            <a:chOff x="6584678" y="2918053"/>
            <a:chExt cx="1678962" cy="2119206"/>
          </a:xfrm>
        </p:grpSpPr>
        <p:pic>
          <p:nvPicPr>
            <p:cNvPr id="999" name="Graphic 998" descr="Arrow Right with solid fill">
              <a:extLst>
                <a:ext uri="{FF2B5EF4-FFF2-40B4-BE49-F238E27FC236}">
                  <a16:creationId xmlns:a16="http://schemas.microsoft.com/office/drawing/2014/main" id="{4BD0DE86-9DD7-4112-81B5-B9E76CBBEA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49597" y="2918053"/>
              <a:ext cx="761456" cy="761456"/>
            </a:xfrm>
            <a:prstGeom prst="rect">
              <a:avLst/>
            </a:prstGeom>
          </p:spPr>
        </p:pic>
        <p:sp>
          <p:nvSpPr>
            <p:cNvPr id="1001" name="TextBox 1000">
              <a:extLst>
                <a:ext uri="{FF2B5EF4-FFF2-40B4-BE49-F238E27FC236}">
                  <a16:creationId xmlns:a16="http://schemas.microsoft.com/office/drawing/2014/main" id="{DBCCC858-4E46-FA3F-1EF8-D24949068B10}"/>
                </a:ext>
              </a:extLst>
            </p:cNvPr>
            <p:cNvSpPr txBox="1"/>
            <p:nvPr/>
          </p:nvSpPr>
          <p:spPr>
            <a:xfrm>
              <a:off x="6584678" y="4755130"/>
              <a:ext cx="1678962" cy="28212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2160"/>
                </a:lnSpc>
              </a:pPr>
              <a:r>
                <a:rPr lang="en-US" sz="2000" b="1" dirty="0"/>
                <a:t>Sc</a:t>
              </a:r>
              <a:r>
                <a:rPr lang="en-US" altLang="zh-CN" sz="2000" b="1" dirty="0"/>
                <a:t>n</a:t>
              </a:r>
              <a:r>
                <a:rPr lang="en-US" sz="2000" b="1" dirty="0"/>
                <a:t>2-15</a:t>
              </a:r>
            </a:p>
          </p:txBody>
        </p:sp>
      </p:grpSp>
      <p:sp>
        <p:nvSpPr>
          <p:cNvPr id="1006" name="TextBox 1005">
            <a:extLst>
              <a:ext uri="{FF2B5EF4-FFF2-40B4-BE49-F238E27FC236}">
                <a16:creationId xmlns:a16="http://schemas.microsoft.com/office/drawing/2014/main" id="{84FA3864-7BDB-3713-E1F3-0B604885CA85}"/>
              </a:ext>
            </a:extLst>
          </p:cNvPr>
          <p:cNvSpPr txBox="1"/>
          <p:nvPr/>
        </p:nvSpPr>
        <p:spPr>
          <a:xfrm>
            <a:off x="485792" y="5613651"/>
            <a:ext cx="3318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(16 combinations in total)</a:t>
            </a:r>
          </a:p>
        </p:txBody>
      </p:sp>
      <p:pic>
        <p:nvPicPr>
          <p:cNvPr id="1008" name="Graphic 1007" descr="Add with solid fill">
            <a:extLst>
              <a:ext uri="{FF2B5EF4-FFF2-40B4-BE49-F238E27FC236}">
                <a16:creationId xmlns:a16="http://schemas.microsoft.com/office/drawing/2014/main" id="{3F1748DC-4F11-E10E-4FCB-300F6594C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00000">
            <a:off x="3580190" y="3002090"/>
            <a:ext cx="633284" cy="6332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66A75E-C40B-F716-DE37-F8B1CD67BEF0}"/>
              </a:ext>
            </a:extLst>
          </p:cNvPr>
          <p:cNvSpPr txBox="1"/>
          <p:nvPr/>
        </p:nvSpPr>
        <p:spPr>
          <a:xfrm>
            <a:off x="7827990" y="6380645"/>
            <a:ext cx="34720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dirty="0">
                <a:solidFill>
                  <a:schemeClr val="bg1">
                    <a:lumMod val="25000"/>
                  </a:schemeClr>
                </a:solidFill>
              </a:rPr>
              <a:t>J </a:t>
            </a:r>
            <a:r>
              <a:rPr lang="en-US" sz="1050" b="0" dirty="0" err="1">
                <a:solidFill>
                  <a:schemeClr val="bg1">
                    <a:lumMod val="25000"/>
                  </a:schemeClr>
                </a:solidFill>
              </a:rPr>
              <a:t>Pharmacokinet</a:t>
            </a:r>
            <a:r>
              <a:rPr lang="en-US" sz="1050" b="0" dirty="0">
                <a:solidFill>
                  <a:schemeClr val="bg1">
                    <a:lumMod val="25000"/>
                  </a:schemeClr>
                </a:solidFill>
              </a:rPr>
              <a:t> </a:t>
            </a:r>
            <a:r>
              <a:rPr lang="en-US" sz="1050" b="0" dirty="0" err="1">
                <a:solidFill>
                  <a:schemeClr val="bg1">
                    <a:lumMod val="25000"/>
                  </a:schemeClr>
                </a:solidFill>
              </a:rPr>
              <a:t>Pharmacodyn</a:t>
            </a:r>
            <a:r>
              <a:rPr lang="en-US" sz="1050" b="0" dirty="0">
                <a:solidFill>
                  <a:schemeClr val="bg1">
                    <a:lumMod val="25000"/>
                  </a:schemeClr>
                </a:solidFill>
              </a:rPr>
              <a:t>. 2019;46(3):273-285. </a:t>
            </a:r>
            <a:endParaRPr lang="en-US" sz="1200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20438" y="258497"/>
            <a:ext cx="11064240" cy="387798"/>
          </a:xfrm>
        </p:spPr>
        <p:txBody>
          <a:bodyPr/>
          <a:lstStyle/>
          <a:p>
            <a:pPr algn="l">
              <a:buNone/>
            </a:pPr>
            <a:r>
              <a:rPr lang="en-US" sz="2800" dirty="0">
                <a:solidFill>
                  <a:srgbClr val="0460A9"/>
                </a:solidFill>
                <a:latin typeface="Arial"/>
                <a:cs typeface="Arial"/>
              </a:rPr>
              <a:t>Set up three workflows for benchmarking </a:t>
            </a:r>
            <a:endParaRPr lang="en-US" sz="2800" b="1" dirty="0">
              <a:solidFill>
                <a:srgbClr val="0460A9"/>
              </a:solidFill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1221B6-ABC3-ADC3-025F-87CC84732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540789"/>
              </p:ext>
            </p:extLst>
          </p:nvPr>
        </p:nvGraphicFramePr>
        <p:xfrm>
          <a:off x="1247596" y="1252728"/>
          <a:ext cx="9523392" cy="438434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380848">
                  <a:extLst>
                    <a:ext uri="{9D8B030D-6E8A-4147-A177-3AD203B41FA5}">
                      <a16:colId xmlns:a16="http://schemas.microsoft.com/office/drawing/2014/main" val="3768908098"/>
                    </a:ext>
                  </a:extLst>
                </a:gridCol>
                <a:gridCol w="2380848">
                  <a:extLst>
                    <a:ext uri="{9D8B030D-6E8A-4147-A177-3AD203B41FA5}">
                      <a16:colId xmlns:a16="http://schemas.microsoft.com/office/drawing/2014/main" val="1444247574"/>
                    </a:ext>
                  </a:extLst>
                </a:gridCol>
                <a:gridCol w="2380848">
                  <a:extLst>
                    <a:ext uri="{9D8B030D-6E8A-4147-A177-3AD203B41FA5}">
                      <a16:colId xmlns:a16="http://schemas.microsoft.com/office/drawing/2014/main" val="3505329722"/>
                    </a:ext>
                  </a:extLst>
                </a:gridCol>
                <a:gridCol w="2380848">
                  <a:extLst>
                    <a:ext uri="{9D8B030D-6E8A-4147-A177-3AD203B41FA5}">
                      <a16:colId xmlns:a16="http://schemas.microsoft.com/office/drawing/2014/main" val="1557763212"/>
                    </a:ext>
                  </a:extLst>
                </a:gridCol>
              </a:tblGrid>
              <a:tr h="39235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Nlmixr2-SCM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PsN</a:t>
                      </a: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-SCM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Nlmixr2-VAE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88623"/>
                  </a:ext>
                </a:extLst>
              </a:tr>
              <a:tr h="68661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lincmt</a:t>
                      </a: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 (analytic)</a:t>
                      </a:r>
                    </a:p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ADVAN4 (analytic)</a:t>
                      </a:r>
                    </a:p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ADVAN13 (ODE)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lincmt</a:t>
                      </a: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 (analytic)</a:t>
                      </a:r>
                    </a:p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037938"/>
                  </a:ext>
                </a:extLst>
              </a:tr>
              <a:tr h="39235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Estimator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FOCEI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FOCEI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VAE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346027"/>
                  </a:ext>
                </a:extLst>
              </a:tr>
              <a:tr h="9486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Convergence-related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Sigdig</a:t>
                      </a: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 =4</a:t>
                      </a:r>
                    </a:p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Tol=1e-6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Atol=1e-8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Sigdig</a:t>
                      </a: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 =4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Tol=1e-6</a:t>
                      </a:r>
                    </a:p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Atol=1e-8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Sigdig</a:t>
                      </a: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 =4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Tol=1e-6</a:t>
                      </a:r>
                    </a:p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Atol=1e-8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46076"/>
                  </a:ext>
                </a:extLst>
              </a:tr>
              <a:tr h="68661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LRT criteria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cap="none" dirty="0">
                          <a:solidFill>
                            <a:schemeClr val="bg1">
                              <a:lumMod val="10000"/>
                            </a:schemeClr>
                          </a:solidFill>
                          <a:sym typeface="Arial"/>
                        </a:rPr>
                        <a:t>Forward p&lt;0.05 / Backward p&lt;0.01</a:t>
                      </a:r>
                      <a:endParaRPr lang="en-US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u="none" strike="noStrike" cap="none" dirty="0">
                          <a:solidFill>
                            <a:schemeClr val="bg1">
                              <a:lumMod val="10000"/>
                            </a:schemeClr>
                          </a:solidFill>
                          <a:sym typeface="Arial"/>
                        </a:rPr>
                        <a:t>Forward p&lt;0.05/ Backward p&lt;0.01</a:t>
                      </a:r>
                      <a:endParaRPr lang="en-US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N.A.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110273"/>
                  </a:ext>
                </a:extLst>
              </a:tr>
              <a:tr h="39235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Warm Start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N.A.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N.A.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237394"/>
                  </a:ext>
                </a:extLst>
              </a:tr>
              <a:tr h="88538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Parallelism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HPCE/CPU core =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HPCE/CPU core =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>
                            <a:lumMod val="10000"/>
                          </a:schemeClr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HPCE/CPU core =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674293"/>
                  </a:ext>
                </a:extLst>
              </a:tr>
            </a:tbl>
          </a:graphicData>
        </a:graphic>
      </p:graphicFrame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BA9AAAE4-34A3-4ED1-A002-C1E36D25B782}" type="slidenum">
              <a:rPr lang="en-US" sz="1000">
                <a:solidFill>
                  <a:srgbClr val="8A8A8A"/>
                </a:solidFill>
                <a:latin typeface="Arial"/>
              </a:rPr>
              <a:t>13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BB96F-C53A-A8A9-8E8C-5CDBC706068F}"/>
              </a:ext>
            </a:extLst>
          </p:cNvPr>
          <p:cNvSpPr txBox="1"/>
          <p:nvPr/>
        </p:nvSpPr>
        <p:spPr>
          <a:xfrm>
            <a:off x="1247596" y="57010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>
                    <a:lumMod val="10000"/>
                  </a:schemeClr>
                </a:solidFill>
              </a:rPr>
              <a:t>N.A., not applicable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48640" y="411480"/>
            <a:ext cx="11064240" cy="387798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Four operating characteristics score every method</a:t>
            </a:r>
          </a:p>
        </p:txBody>
      </p: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11A797E3-A50A-4C80-9B6B-5BAF1C54AD0C}" type="slidenum">
              <a:rPr lang="en-US" sz="1000">
                <a:solidFill>
                  <a:srgbClr val="8A8A8A"/>
                </a:solidFill>
                <a:latin typeface="Arial"/>
              </a:rPr>
              <a:t>14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610543C-E52B-554E-CBBE-017AD66C317A}"/>
              </a:ext>
            </a:extLst>
          </p:cNvPr>
          <p:cNvGrpSpPr/>
          <p:nvPr/>
        </p:nvGrpSpPr>
        <p:grpSpPr>
          <a:xfrm>
            <a:off x="7446752" y="1266094"/>
            <a:ext cx="4745248" cy="4431922"/>
            <a:chOff x="7430676" y="1319464"/>
            <a:chExt cx="4745248" cy="4431922"/>
          </a:xfrm>
        </p:grpSpPr>
        <p:sp>
          <p:nvSpPr>
            <p:cNvPr id="23" name="c1">
              <a:extLst>
                <a:ext uri="{FF2B5EF4-FFF2-40B4-BE49-F238E27FC236}">
                  <a16:creationId xmlns:a16="http://schemas.microsoft.com/office/drawing/2014/main" id="{76927121-0505-402E-FDA6-184A0FFEC502}"/>
                </a:ext>
              </a:extLst>
            </p:cNvPr>
            <p:cNvSpPr/>
            <p:nvPr/>
          </p:nvSpPr>
          <p:spPr>
            <a:xfrm>
              <a:off x="7845789" y="1319464"/>
              <a:ext cx="4218548" cy="4431922"/>
            </a:xfrm>
            <a:prstGeom prst="roundRect">
              <a:avLst>
                <a:gd name="adj" fmla="val 6000"/>
              </a:avLst>
            </a:prstGeom>
            <a:solidFill>
              <a:srgbClr val="FFF4EF"/>
            </a:solidFill>
            <a:ln w="9525"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/>
            <a:lstStyle/>
            <a:p>
              <a:pPr>
                <a:buNone/>
              </a:pPr>
              <a:endParaRPr lang="en-US" dirty="0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2EE4FB5-C106-A6FC-E624-8ED976E1E5F2}"/>
                </a:ext>
              </a:extLst>
            </p:cNvPr>
            <p:cNvGrpSpPr/>
            <p:nvPr/>
          </p:nvGrpSpPr>
          <p:grpSpPr>
            <a:xfrm>
              <a:off x="7430676" y="1528634"/>
              <a:ext cx="4560449" cy="1289351"/>
              <a:chOff x="1228639" y="1760000"/>
              <a:chExt cx="4560449" cy="1289351"/>
            </a:xfrm>
          </p:grpSpPr>
          <p:sp>
            <p:nvSpPr>
              <p:cNvPr id="8" name="t0">
                <a:extLst>
                  <a:ext uri="{FF2B5EF4-FFF2-40B4-BE49-F238E27FC236}">
                    <a16:creationId xmlns:a16="http://schemas.microsoft.com/office/drawing/2014/main" id="{98613C4C-FCF5-10D2-98BB-F301D29C0CB8}"/>
                  </a:ext>
                </a:extLst>
              </p:cNvPr>
              <p:cNvSpPr txBox="1"/>
              <p:nvPr/>
            </p:nvSpPr>
            <p:spPr>
              <a:xfrm>
                <a:off x="1228639" y="1760000"/>
                <a:ext cx="4519075" cy="38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/>
              <a:lstStyle/>
              <a:p>
                <a:pPr marL="342900" indent="-342900" algn="ctr">
                  <a:lnSpc>
                    <a:spcPct val="102000"/>
                  </a:lnSpc>
                  <a:spcAft>
                    <a:spcPts val="140"/>
                  </a:spcAft>
                  <a:buFont typeface="Wingdings" panose="05000000000000000000" pitchFamily="2" charset="2"/>
                  <a:buChar char="Ø"/>
                </a:pPr>
                <a:r>
                  <a:rPr lang="en-US" sz="2000" i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Arial"/>
                    <a:cs typeface="Arial"/>
                  </a:rPr>
                  <a:t>Primary statistical test</a:t>
                </a:r>
              </a:p>
              <a:p>
                <a:pPr marL="0" algn="ctr">
                  <a:lnSpc>
                    <a:spcPct val="102000"/>
                  </a:lnSpc>
                  <a:spcAft>
                    <a:spcPts val="140"/>
                  </a:spcAft>
                  <a:buNone/>
                </a:pPr>
                <a:r>
                  <a:rPr lang="en-US" sz="2000" b="1" i="0" dirty="0">
                    <a:solidFill>
                      <a:srgbClr val="0460A9"/>
                    </a:solidFill>
                    <a:latin typeface="Arial"/>
                    <a:cs typeface="Arial"/>
                  </a:rPr>
                  <a:t>paired mixed-effects model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1787244A-A997-55B5-0DC1-3BAF538A016D}"/>
                      </a:ext>
                    </a:extLst>
                  </p:cNvPr>
                  <p:cNvSpPr txBox="1"/>
                  <p:nvPr/>
                </p:nvSpPr>
                <p:spPr>
                  <a:xfrm>
                    <a:off x="1570540" y="2464576"/>
                    <a:ext cx="4218548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 sz="1500">
                        <a:solidFill>
                          <a:srgbClr val="33475B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~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𝑜𝑑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US" sz="1600" b="0" i="1" dirty="0">
                      <a:latin typeface="Cambria Math" panose="02040503050406030204" pitchFamily="18" charset="0"/>
                    </a:endParaRPr>
                  </a:p>
                  <a:p>
                    <a:pPr algn="ctr">
                      <a:defRPr sz="1500">
                        <a:solidFill>
                          <a:srgbClr val="33475B"/>
                        </a:solidFill>
                      </a:defRP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𝑠𝑐𝑒𝑛𝑎𝑟𝑖𝑜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𝑠𝑐𝑒𝑛𝑎𝑟𝑖𝑜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𝑑𝑎𝑡𝑎𝑠𝑒𝑡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oMath>
                      </m:oMathPara>
                    </a14:m>
                    <a:endParaRPr lang="en-US" sz="1600" dirty="0">
                      <a:solidFill>
                        <a:srgbClr val="33475B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1787244A-A997-55B5-0DC1-3BAF538A01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70540" y="2464576"/>
                    <a:ext cx="4218548" cy="58477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F61F06C-8191-8B2E-8C65-1A4BD14F0CE2}"/>
                    </a:ext>
                  </a:extLst>
                </p:cNvPr>
                <p:cNvSpPr txBox="1"/>
                <p:nvPr/>
              </p:nvSpPr>
              <p:spPr>
                <a:xfrm>
                  <a:off x="7964851" y="2978257"/>
                  <a:ext cx="4211073" cy="12611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140"/>
                    </a:spcAft>
                  </a:pPr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a14:m>
                  <a:r>
                    <a:rPr lang="en-US" sz="1600" dirty="0">
                      <a:solidFill>
                        <a:srgbClr val="3C3C3C"/>
                      </a:solidFill>
                      <a:cs typeface="Arial"/>
                    </a:rPr>
                    <a:t>Raw binary (0,1) per dataset replicate</a:t>
                  </a:r>
                </a:p>
                <a:p>
                  <a:pPr>
                    <a:lnSpc>
                      <a:spcPct val="120000"/>
                    </a:lnSpc>
                    <a:spcAft>
                      <a:spcPts val="140"/>
                    </a:spcAft>
                  </a:pPr>
                  <a:r>
                    <a:rPr lang="en-US" sz="1600" b="1" i="0" dirty="0">
                      <a:latin typeface="Arial"/>
                      <a:cs typeface="Arial"/>
                    </a:rPr>
                    <a:t>Method</a:t>
                  </a:r>
                  <a:r>
                    <a:rPr lang="en-US" sz="1600" b="0" i="0" dirty="0">
                      <a:latin typeface="Arial"/>
                      <a:cs typeface="Arial"/>
                    </a:rPr>
                    <a:t>:</a:t>
                  </a:r>
                  <a:r>
                    <a:rPr lang="en-US" sz="1600" dirty="0">
                      <a:cs typeface="Arial"/>
                    </a:rPr>
                    <a:t> </a:t>
                  </a:r>
                  <a:r>
                    <a:rPr lang="en-US" sz="1600" dirty="0">
                      <a:solidFill>
                        <a:srgbClr val="3C3C3C"/>
                      </a:solidFill>
                      <a:cs typeface="Arial"/>
                    </a:rPr>
                    <a:t>Two-level factor </a:t>
                  </a:r>
                  <a:br>
                    <a:rPr lang="en-US" sz="1600" dirty="0">
                      <a:solidFill>
                        <a:srgbClr val="3C3C3C"/>
                      </a:solidFill>
                      <a:cs typeface="Arial"/>
                    </a:rPr>
                  </a:br>
                  <a:r>
                    <a:rPr lang="en-US" sz="1400" dirty="0">
                      <a:solidFill>
                        <a:srgbClr val="3C3C3C"/>
                      </a:solidFill>
                      <a:cs typeface="Arial"/>
                    </a:rPr>
                    <a:t>(ref= NONMEM, test=nlmixr2scm/VAE)</a:t>
                  </a:r>
                </a:p>
                <a:p>
                  <a:pPr>
                    <a:lnSpc>
                      <a:spcPct val="120000"/>
                    </a:lnSpc>
                    <a:spcAft>
                      <a:spcPts val="140"/>
                    </a:spcAft>
                  </a:pPr>
                  <a14:m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3C3C3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 </m:t>
                      </m:r>
                      <m:sSup>
                        <m:sSupPr>
                          <m:ctrlPr>
                            <a:rPr lang="en-US" sz="1600" b="1" i="1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solidFill>
                                <a:srgbClr val="3C3C3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𝒆</m:t>
                          </m:r>
                        </m:e>
                        <m:sup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3C3C3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rgbClr val="3C3C3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rgbClr val="3C3C3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𝒎𝒆𝒕𝒉𝒐𝒅</m:t>
                              </m:r>
                            </m:sub>
                          </m:sSub>
                        </m:sup>
                      </m:sSup>
                    </m:oMath>
                  </a14:m>
                  <a:r>
                    <a:rPr lang="en-US" sz="1600" b="1" i="0" dirty="0">
                      <a:solidFill>
                        <a:srgbClr val="3C3C3C"/>
                      </a:solidFill>
                      <a:latin typeface="Arial"/>
                      <a:cs typeface="Arial"/>
                    </a:rPr>
                    <a:t>: </a:t>
                  </a:r>
                  <a:r>
                    <a:rPr lang="en-US" sz="1600" dirty="0">
                      <a:solidFill>
                        <a:srgbClr val="3C3C3C"/>
                      </a:solidFill>
                      <a:latin typeface="Arial"/>
                      <a:cs typeface="Arial"/>
                    </a:rPr>
                    <a:t>Odds-ratio of test over NONMEM</a:t>
                  </a:r>
                  <a:endParaRPr lang="en-US" sz="1600" b="1" i="0" dirty="0">
                    <a:solidFill>
                      <a:srgbClr val="3C3C3C"/>
                    </a:solidFill>
                    <a:latin typeface="Arial"/>
                    <a:cs typeface="Arial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F61F06C-8191-8B2E-8C65-1A4BD14F0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851" y="2978257"/>
                  <a:ext cx="4211073" cy="1261114"/>
                </a:xfrm>
                <a:prstGeom prst="rect">
                  <a:avLst/>
                </a:prstGeom>
                <a:blipFill>
                  <a:blip r:embed="rId9"/>
                  <a:stretch>
                    <a:fillRect l="-870" b="-48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1">
              <a:extLst>
                <a:ext uri="{FF2B5EF4-FFF2-40B4-BE49-F238E27FC236}">
                  <a16:creationId xmlns:a16="http://schemas.microsoft.com/office/drawing/2014/main" id="{6DEE07DA-0FB7-F668-4E3E-F1A10F31FD26}"/>
                </a:ext>
              </a:extLst>
            </p:cNvPr>
            <p:cNvSpPr txBox="1"/>
            <p:nvPr/>
          </p:nvSpPr>
          <p:spPr>
            <a:xfrm>
              <a:off x="7994041" y="4523640"/>
              <a:ext cx="4015959" cy="37581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342900" indent="-342900" algn="ctr">
                <a:lnSpc>
                  <a:spcPct val="102000"/>
                </a:lnSpc>
                <a:spcAft>
                  <a:spcPts val="140"/>
                </a:spcAft>
                <a:buFont typeface="Wingdings" panose="05000000000000000000" pitchFamily="2" charset="2"/>
                <a:buChar char="Ø"/>
              </a:pPr>
              <a:r>
                <a:rPr lang="en-US" sz="20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/>
                  <a:cs typeface="Arial"/>
                </a:rPr>
                <a:t>Fallback: exact </a:t>
              </a:r>
              <a:r>
                <a:rPr lang="en-US" sz="200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/>
                  <a:cs typeface="Arial"/>
                </a:rPr>
                <a:t>McNemarTest</a:t>
              </a:r>
              <a:endPara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cs typeface="Arial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FD9C8AC-BFB4-F6AA-7E06-C27D3DCD4F4B}"/>
                </a:ext>
              </a:extLst>
            </p:cNvPr>
            <p:cNvSpPr txBox="1"/>
            <p:nvPr/>
          </p:nvSpPr>
          <p:spPr>
            <a:xfrm>
              <a:off x="8157121" y="4899450"/>
              <a:ext cx="3722429" cy="6272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l">
                <a:lnSpc>
                  <a:spcPct val="106000"/>
                </a:lnSpc>
                <a:spcAft>
                  <a:spcPts val="140"/>
                </a:spcAft>
                <a:buNone/>
              </a:pPr>
              <a:r>
                <a:rPr lang="en-US" sz="1700" dirty="0">
                  <a:solidFill>
                    <a:srgbClr val="3C3C3C"/>
                  </a:solidFill>
                  <a:latin typeface="Arial"/>
                  <a:cs typeface="Arial"/>
                </a:rPr>
                <a:t>U</a:t>
              </a:r>
              <a:r>
                <a:rPr lang="en-US" sz="1700" b="0" i="0" dirty="0">
                  <a:solidFill>
                    <a:srgbClr val="3C3C3C"/>
                  </a:solidFill>
                  <a:latin typeface="Arial"/>
                  <a:cs typeface="Arial"/>
                </a:rPr>
                <a:t>nder ceiling / separation (e.g., Convergence rates pinned at 100%)</a:t>
              </a:r>
              <a:endParaRPr lang="en-US" sz="1700" dirty="0">
                <a:solidFill>
                  <a:srgbClr val="3C3C3C"/>
                </a:solidFill>
                <a:cs typeface="Arial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1F0495-7321-D1E0-DD7C-509B2B4B8742}"/>
              </a:ext>
            </a:extLst>
          </p:cNvPr>
          <p:cNvGrpSpPr/>
          <p:nvPr/>
        </p:nvGrpSpPr>
        <p:grpSpPr>
          <a:xfrm>
            <a:off x="452876" y="1331262"/>
            <a:ext cx="3031184" cy="4301586"/>
            <a:chOff x="452876" y="1331262"/>
            <a:chExt cx="3031184" cy="430158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F3D46F-8299-F7B8-5C3B-D5281DAEFE53}"/>
                </a:ext>
              </a:extLst>
            </p:cNvPr>
            <p:cNvGrpSpPr/>
            <p:nvPr/>
          </p:nvGrpSpPr>
          <p:grpSpPr>
            <a:xfrm>
              <a:off x="452876" y="1331262"/>
              <a:ext cx="3031184" cy="4301586"/>
              <a:chOff x="626101" y="1163982"/>
              <a:chExt cx="3055349" cy="4301586"/>
            </a:xfrm>
          </p:grpSpPr>
          <p:sp>
            <p:nvSpPr>
              <p:cNvPr id="7" name="c0">
                <a:extLst>
                  <a:ext uri="{FF2B5EF4-FFF2-40B4-BE49-F238E27FC236}">
                    <a16:creationId xmlns:a16="http://schemas.microsoft.com/office/drawing/2014/main" id="{430BD8B3-E947-F2B5-5461-85B0842F665E}"/>
                  </a:ext>
                </a:extLst>
              </p:cNvPr>
              <p:cNvSpPr/>
              <p:nvPr/>
            </p:nvSpPr>
            <p:spPr>
              <a:xfrm>
                <a:off x="626101" y="1163982"/>
                <a:ext cx="3055349" cy="4301586"/>
              </a:xfrm>
              <a:prstGeom prst="roundRect">
                <a:avLst>
                  <a:gd name="adj" fmla="val 6000"/>
                </a:avLst>
              </a:prstGeom>
              <a:solidFill>
                <a:srgbClr val="F4F7FB"/>
              </a:solidFill>
              <a:ln w="9525">
                <a:solidFill>
                  <a:srgbClr val="D6E2F0"/>
                </a:solidFill>
              </a:ln>
            </p:spPr>
            <p:txBody>
              <a:bodyPr/>
              <a:lstStyle/>
              <a:p>
                <a:pPr>
                  <a:buNone/>
                </a:pPr>
                <a:endParaRPr lang="en-US"/>
              </a:p>
            </p:txBody>
          </p:sp>
          <p:sp>
            <p:nvSpPr>
              <p:cNvPr id="9" name="n21">
                <a:extLst>
                  <a:ext uri="{FF2B5EF4-FFF2-40B4-BE49-F238E27FC236}">
                    <a16:creationId xmlns:a16="http://schemas.microsoft.com/office/drawing/2014/main" id="{96C84D8F-60BC-8F84-9CA7-BD5D1F5D439C}"/>
                  </a:ext>
                </a:extLst>
              </p:cNvPr>
              <p:cNvSpPr/>
              <p:nvPr/>
            </p:nvSpPr>
            <p:spPr>
              <a:xfrm>
                <a:off x="809958" y="1392432"/>
                <a:ext cx="440000" cy="440000"/>
              </a:xfrm>
              <a:prstGeom prst="ellipse">
                <a:avLst/>
              </a:prstGeom>
              <a:solidFill>
                <a:srgbClr val="0460A9"/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algn="ctr">
                  <a:buNone/>
                </a:pPr>
                <a:r>
                  <a:rPr lang="en-US" sz="1600" b="1" i="0" dirty="0">
                    <a:solidFill>
                      <a:srgbClr val="FFFFFF"/>
                    </a:solidFill>
                    <a:latin typeface="Arial"/>
                    <a:cs typeface="Arial"/>
                  </a:rPr>
                  <a:t>1</a:t>
                </a:r>
              </a:p>
            </p:txBody>
          </p:sp>
          <p:sp>
            <p:nvSpPr>
              <p:cNvPr id="19" name="t1">
                <a:extLst>
                  <a:ext uri="{FF2B5EF4-FFF2-40B4-BE49-F238E27FC236}">
                    <a16:creationId xmlns:a16="http://schemas.microsoft.com/office/drawing/2014/main" id="{6DDC64EA-2C4E-B088-EEBE-3589DB9666EF}"/>
                  </a:ext>
                </a:extLst>
              </p:cNvPr>
              <p:cNvSpPr txBox="1"/>
              <p:nvPr/>
            </p:nvSpPr>
            <p:spPr>
              <a:xfrm>
                <a:off x="1376810" y="1509208"/>
                <a:ext cx="2144112" cy="42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/>
              <a:lstStyle/>
              <a:p>
                <a:pPr marL="0">
                  <a:lnSpc>
                    <a:spcPct val="102000"/>
                  </a:lnSpc>
                  <a:spcAft>
                    <a:spcPts val="40"/>
                  </a:spcAft>
                  <a:buNone/>
                </a:pPr>
                <a:r>
                  <a:rPr lang="en-US" sz="2000" b="1" dirty="0">
                    <a:solidFill>
                      <a:srgbClr val="0460A9"/>
                    </a:solidFill>
                    <a:latin typeface="Arial"/>
                    <a:cs typeface="Arial"/>
                  </a:rPr>
                  <a:t>Model Reliability </a:t>
                </a:r>
                <a:endParaRPr lang="en-US" sz="2000" b="1" i="0" dirty="0">
                  <a:solidFill>
                    <a:srgbClr val="0460A9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1" name="t0">
                <a:extLst>
                  <a:ext uri="{FF2B5EF4-FFF2-40B4-BE49-F238E27FC236}">
                    <a16:creationId xmlns:a16="http://schemas.microsoft.com/office/drawing/2014/main" id="{3CFFBAE6-C219-7F5B-CAB4-FAC52F3F941F}"/>
                  </a:ext>
                </a:extLst>
              </p:cNvPr>
              <p:cNvSpPr txBox="1"/>
              <p:nvPr/>
            </p:nvSpPr>
            <p:spPr>
              <a:xfrm>
                <a:off x="875922" y="2073686"/>
                <a:ext cx="1572944" cy="370817"/>
              </a:xfrm>
              <a:prstGeom prst="rect">
                <a:avLst/>
              </a:prstGeom>
              <a:noFill/>
            </p:spPr>
            <p:txBody>
              <a:bodyPr wrap="square" lIns="0" tIns="0" rIns="0" bIns="0" anchor="t"/>
              <a:lstStyle/>
              <a:p>
                <a:pPr marL="0" algn="l">
                  <a:lnSpc>
                    <a:spcPct val="102000"/>
                  </a:lnSpc>
                  <a:spcAft>
                    <a:spcPts val="40"/>
                  </a:spcAft>
                  <a:buNone/>
                </a:pPr>
                <a:r>
                  <a:rPr lang="en-US" b="1" i="0" dirty="0">
                    <a:solidFill>
                      <a:srgbClr val="0460A9"/>
                    </a:solidFill>
                    <a:latin typeface="Arial"/>
                    <a:cs typeface="Arial"/>
                  </a:rPr>
                  <a:t>Convergence</a:t>
                </a:r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43CA1AA-1E7D-4E75-5DE5-0DCAF2481DAD}"/>
                  </a:ext>
                </a:extLst>
              </p:cNvPr>
              <p:cNvGrpSpPr/>
              <p:nvPr/>
            </p:nvGrpSpPr>
            <p:grpSpPr>
              <a:xfrm>
                <a:off x="769173" y="4053571"/>
                <a:ext cx="2142269" cy="1084175"/>
                <a:chOff x="657855" y="4311139"/>
                <a:chExt cx="2142269" cy="1084175"/>
              </a:xfrm>
            </p:grpSpPr>
            <p:sp>
              <p:nvSpPr>
                <p:cNvPr id="84" name="t0">
                  <a:extLst>
                    <a:ext uri="{FF2B5EF4-FFF2-40B4-BE49-F238E27FC236}">
                      <a16:creationId xmlns:a16="http://schemas.microsoft.com/office/drawing/2014/main" id="{E91A2EC7-6F27-F159-F468-F9C6BC861C64}"/>
                    </a:ext>
                  </a:extLst>
                </p:cNvPr>
                <p:cNvSpPr txBox="1"/>
                <p:nvPr/>
              </p:nvSpPr>
              <p:spPr>
                <a:xfrm>
                  <a:off x="705999" y="4311139"/>
                  <a:ext cx="2094125" cy="52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/>
                <a:lstStyle/>
                <a:p>
                  <a:pPr marL="0" algn="l">
                    <a:lnSpc>
                      <a:spcPct val="102000"/>
                    </a:lnSpc>
                    <a:spcAft>
                      <a:spcPts val="40"/>
                    </a:spcAft>
                    <a:buNone/>
                  </a:pPr>
                  <a:r>
                    <a:rPr lang="en-US" b="1" dirty="0">
                      <a:solidFill>
                        <a:srgbClr val="0460A9"/>
                      </a:solidFill>
                      <a:latin typeface="Arial"/>
                      <a:cs typeface="Arial"/>
                    </a:rPr>
                    <a:t>Condition Number</a:t>
                  </a:r>
                  <a:endParaRPr lang="en-US" b="1" i="0" dirty="0">
                    <a:solidFill>
                      <a:srgbClr val="0460A9"/>
                    </a:solidFill>
                    <a:latin typeface="Arial"/>
                    <a:cs typeface="Arial"/>
                  </a:endParaRP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7B3DB7B5-3469-2E95-9E74-1793F88A42D8}"/>
                    </a:ext>
                  </a:extLst>
                </p:cNvPr>
                <p:cNvSpPr txBox="1"/>
                <p:nvPr/>
              </p:nvSpPr>
              <p:spPr>
                <a:xfrm>
                  <a:off x="657855" y="4697147"/>
                  <a:ext cx="2094125" cy="3347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algn="l">
                    <a:lnSpc>
                      <a:spcPct val="106000"/>
                    </a:lnSpc>
                    <a:spcAft>
                      <a:spcPts val="40"/>
                    </a:spcAft>
                    <a:buNone/>
                  </a:pPr>
                  <a:r>
                    <a:rPr lang="en-US" sz="1600" b="1" dirty="0">
                      <a:solidFill>
                        <a:srgbClr val="5A5A5A"/>
                      </a:solidFill>
                      <a:latin typeface="Arial"/>
                      <a:cs typeface="Arial"/>
                    </a:rPr>
                    <a:t>n</a:t>
                  </a:r>
                  <a:r>
                    <a:rPr lang="en-US" sz="1600" b="1" i="0" dirty="0">
                      <a:solidFill>
                        <a:srgbClr val="5A5A5A"/>
                      </a:solidFill>
                      <a:latin typeface="Arial"/>
                      <a:cs typeface="Arial"/>
                    </a:rPr>
                    <a:t>lmixr2&amp;NONMEM 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B9C1819E-8875-ABCB-9720-C0CD2FD3FB7F}"/>
                    </a:ext>
                  </a:extLst>
                </p:cNvPr>
                <p:cNvSpPr txBox="1"/>
                <p:nvPr/>
              </p:nvSpPr>
              <p:spPr>
                <a:xfrm>
                  <a:off x="745319" y="5056760"/>
                  <a:ext cx="1811428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0" i="0" u="none" strike="noStrike" cap="none" dirty="0">
                      <a:solidFill>
                        <a:srgbClr val="4D4D4D">
                          <a:alpha val="100000"/>
                        </a:srgbClr>
                      </a:solidFill>
                      <a:latin typeface="+mj-lt"/>
                      <a:cs typeface="Arial"/>
                      <a:sym typeface="Arial"/>
                    </a:rPr>
                    <a:t>#CN ≤ 1000</a:t>
                  </a:r>
                  <a:endParaRPr lang="en-US" sz="2400" dirty="0"/>
                </a:p>
              </p:txBody>
            </p:sp>
          </p:grp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8249C75-8112-CA5A-FAD7-18237C137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48970" t="27702"/>
            <a:stretch>
              <a:fillRect/>
            </a:stretch>
          </p:blipFill>
          <p:spPr>
            <a:xfrm>
              <a:off x="700721" y="2695454"/>
              <a:ext cx="2243127" cy="1266799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8CF875A-4763-A464-BEFE-72C88CD7E1BB}"/>
              </a:ext>
            </a:extLst>
          </p:cNvPr>
          <p:cNvGrpSpPr/>
          <p:nvPr/>
        </p:nvGrpSpPr>
        <p:grpSpPr>
          <a:xfrm>
            <a:off x="3621242" y="1331262"/>
            <a:ext cx="4110173" cy="4301586"/>
            <a:chOff x="3621242" y="1331262"/>
            <a:chExt cx="4110173" cy="430158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C31BCBB-BBBF-7E82-89DC-95AC101219F4}"/>
                </a:ext>
              </a:extLst>
            </p:cNvPr>
            <p:cNvGrpSpPr/>
            <p:nvPr/>
          </p:nvGrpSpPr>
          <p:grpSpPr>
            <a:xfrm>
              <a:off x="3621242" y="1331262"/>
              <a:ext cx="4110173" cy="4301586"/>
              <a:chOff x="3568859" y="1331262"/>
              <a:chExt cx="4110173" cy="4301586"/>
            </a:xfrm>
          </p:grpSpPr>
          <p:sp>
            <p:nvSpPr>
              <p:cNvPr id="15" name="c1">
                <a:extLst>
                  <a:ext uri="{FF2B5EF4-FFF2-40B4-BE49-F238E27FC236}">
                    <a16:creationId xmlns:a16="http://schemas.microsoft.com/office/drawing/2014/main" id="{2B7B19A4-AE0D-764F-4204-E30770FF0D01}"/>
                  </a:ext>
                </a:extLst>
              </p:cNvPr>
              <p:cNvSpPr/>
              <p:nvPr/>
            </p:nvSpPr>
            <p:spPr>
              <a:xfrm>
                <a:off x="3568859" y="1331262"/>
                <a:ext cx="4110173" cy="4301586"/>
              </a:xfrm>
              <a:prstGeom prst="roundRect">
                <a:avLst>
                  <a:gd name="adj" fmla="val 6000"/>
                </a:avLst>
              </a:prstGeom>
              <a:solidFill>
                <a:srgbClr val="F4F7FB"/>
              </a:solidFill>
              <a:ln w="9525">
                <a:solidFill>
                  <a:srgbClr val="D6E2F0"/>
                </a:solidFill>
              </a:ln>
            </p:spPr>
            <p:txBody>
              <a:bodyPr/>
              <a:lstStyle/>
              <a:p>
                <a:pPr>
                  <a:buNone/>
                </a:pPr>
                <a:endParaRPr lang="en-US" dirty="0"/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35D2F65E-469B-2398-541D-D74C544E8617}"/>
                  </a:ext>
                </a:extLst>
              </p:cNvPr>
              <p:cNvGrpSpPr/>
              <p:nvPr/>
            </p:nvGrpSpPr>
            <p:grpSpPr>
              <a:xfrm>
                <a:off x="3641057" y="1539701"/>
                <a:ext cx="4033010" cy="2885653"/>
                <a:chOff x="3106515" y="1605302"/>
                <a:chExt cx="4033010" cy="2134513"/>
              </a:xfrm>
            </p:grpSpPr>
            <p:sp>
              <p:nvSpPr>
                <p:cNvPr id="17" name="n25">
                  <a:extLst>
                    <a:ext uri="{FF2B5EF4-FFF2-40B4-BE49-F238E27FC236}">
                      <a16:creationId xmlns:a16="http://schemas.microsoft.com/office/drawing/2014/main" id="{66D82A57-8D45-847C-DB51-54879BB5505C}"/>
                    </a:ext>
                  </a:extLst>
                </p:cNvPr>
                <p:cNvSpPr/>
                <p:nvPr/>
              </p:nvSpPr>
              <p:spPr>
                <a:xfrm>
                  <a:off x="3114001" y="1605302"/>
                  <a:ext cx="616573" cy="436851"/>
                </a:xfrm>
                <a:prstGeom prst="ellipse">
                  <a:avLst/>
                </a:prstGeom>
                <a:solidFill>
                  <a:srgbClr val="0E7C7B"/>
                </a:solidFill>
                <a:ln>
                  <a:noFill/>
                </a:ln>
              </p:spPr>
              <p:txBody>
                <a:bodyPr lIns="0" tIns="0" rIns="0" bIns="0" anchor="ctr"/>
                <a:lstStyle/>
                <a:p>
                  <a:pPr algn="ctr">
                    <a:buNone/>
                  </a:pPr>
                  <a:r>
                    <a:rPr lang="en-US" sz="1600" b="1" i="0" dirty="0">
                      <a:solidFill>
                        <a:srgbClr val="FFFFFF"/>
                      </a:solidFill>
                      <a:latin typeface="Arial"/>
                      <a:cs typeface="Arial"/>
                    </a:rPr>
                    <a:t>2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9F836B7-C157-2FDD-613D-A3B5539256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25741" y="2170757"/>
                      <a:ext cx="3112230" cy="4486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algn="l">
                        <a:spcBef>
                          <a:spcPts val="800"/>
                        </a:spcBef>
                      </a:pPr>
                      <a:r>
                        <a:rPr lang="en-US" sz="2000" dirty="0"/>
                        <a:t>Power =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𝑒𝑥𝑎𝑐𝑡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𝑚𝑎𝑡𝑐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𝑡𝑜𝑡𝑎𝑙</m:t>
                                  </m:r>
                                </m:sub>
                              </m:sSub>
                            </m:den>
                          </m:f>
                        </m:oMath>
                      </a14:m>
                      <a:endParaRPr lang="en-US" sz="2000" dirty="0" err="1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9F836B7-C157-2FDD-613D-A3B5539256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25741" y="2170757"/>
                      <a:ext cx="3112230" cy="448607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4892" t="-202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26D121FB-445E-5DEC-ED62-9963B50061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6515" y="2693512"/>
                      <a:ext cx="2877711" cy="35567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>
                        <a:spcBef>
                          <a:spcPts val="800"/>
                        </a:spcBef>
                      </a:pP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i="0" dirty="0"/>
                                <m:t>Power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𝑀𝑖𝑛𝑆𝑢𝑐</m:t>
                              </m:r>
                            </m:sub>
                          </m:sSub>
                        </m:oMath>
                      </a14:m>
                      <a:r>
                        <a:rPr lang="en-US" sz="2000" dirty="0"/>
                        <a:t> =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𝑒𝑥𝑎𝑐𝑡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𝑚𝑎𝑡𝑐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𝑡𝑜𝑡𝑎𝑙</m:t>
                                  </m:r>
                                </m:sub>
                              </m:sSub>
                            </m:den>
                          </m:f>
                        </m:oMath>
                      </a14:m>
                      <a:endParaRPr lang="en-US" sz="2000" dirty="0" err="1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26D121FB-445E-5DEC-ED62-9963B50061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06515" y="2693512"/>
                      <a:ext cx="2877711" cy="35567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t="-2532" b="-886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B5260B9B-0438-F4B8-689F-EB18912AFD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25741" y="3277208"/>
                      <a:ext cx="2457724" cy="35567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>
                        <a:spcBef>
                          <a:spcPts val="800"/>
                        </a:spcBef>
                      </a:pP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i="0" dirty="0"/>
                                <m:t>Power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𝐶𝑁</m:t>
                              </m:r>
                            </m:sub>
                          </m:sSub>
                        </m:oMath>
                      </a14:m>
                      <a:r>
                        <a:rPr lang="en-US" sz="2000" dirty="0"/>
                        <a:t> =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𝑒𝑥𝑎𝑐𝑡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𝑚𝑎𝑡𝑐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𝑡𝑜𝑡𝑎𝑙</m:t>
                                  </m:r>
                                </m:sub>
                              </m:sSub>
                            </m:den>
                          </m:f>
                        </m:oMath>
                      </a14:m>
                      <a:endParaRPr lang="en-US" sz="2000" dirty="0" err="1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B5260B9B-0438-F4B8-689F-EB18912AFDF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25741" y="3277208"/>
                      <a:ext cx="2457724" cy="35567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t="-2532" b="-101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ACDA4C7B-8882-3F42-E5A9-6DB34D7AE2BB}"/>
                    </a:ext>
                  </a:extLst>
                </p:cNvPr>
                <p:cNvCxnSpPr/>
                <p:nvPr/>
              </p:nvCxnSpPr>
              <p:spPr>
                <a:xfrm>
                  <a:off x="6142564" y="2654680"/>
                  <a:ext cx="0" cy="49303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EE361538-A82C-570B-2E05-DAC0C1E3FE42}"/>
                    </a:ext>
                  </a:extLst>
                </p:cNvPr>
                <p:cNvCxnSpPr/>
                <p:nvPr/>
              </p:nvCxnSpPr>
              <p:spPr>
                <a:xfrm>
                  <a:off x="5758386" y="3246784"/>
                  <a:ext cx="0" cy="49303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1" name="TextBox 70">
                      <a:extLst>
                        <a:ext uri="{FF2B5EF4-FFF2-40B4-BE49-F238E27FC236}">
                          <a16:creationId xmlns:a16="http://schemas.microsoft.com/office/drawing/2014/main" id="{DC2BBBBE-6835-06C0-837A-53DCAB8152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73390" y="2733337"/>
                      <a:ext cx="1066135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𝑀𝑖𝑛𝑆𝑢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71" name="TextBox 70">
                      <a:extLst>
                        <a:ext uri="{FF2B5EF4-FFF2-40B4-BE49-F238E27FC236}">
                          <a16:creationId xmlns:a16="http://schemas.microsoft.com/office/drawing/2014/main" id="{DC2BBBBE-6835-06C0-837A-53DCAB8152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73390" y="2733337"/>
                      <a:ext cx="1066135" cy="338554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TextBox 72">
                      <a:extLst>
                        <a:ext uri="{FF2B5EF4-FFF2-40B4-BE49-F238E27FC236}">
                          <a16:creationId xmlns:a16="http://schemas.microsoft.com/office/drawing/2014/main" id="{F6F14072-CA23-452F-2E79-DCFC70E04B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49825" y="3354026"/>
                      <a:ext cx="1412539" cy="250428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𝐶𝑁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1000</m:t>
                            </m:r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73" name="TextBox 72">
                      <a:extLst>
                        <a:ext uri="{FF2B5EF4-FFF2-40B4-BE49-F238E27FC236}">
                          <a16:creationId xmlns:a16="http://schemas.microsoft.com/office/drawing/2014/main" id="{F6F14072-CA23-452F-2E79-DCFC70E04B9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49825" y="3354026"/>
                      <a:ext cx="1412539" cy="25042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t1">
                  <a:extLst>
                    <a:ext uri="{FF2B5EF4-FFF2-40B4-BE49-F238E27FC236}">
                      <a16:creationId xmlns:a16="http://schemas.microsoft.com/office/drawing/2014/main" id="{7DECBDCD-563E-3EAF-0A8E-7348C9046AD4}"/>
                    </a:ext>
                  </a:extLst>
                </p:cNvPr>
                <p:cNvSpPr txBox="1"/>
                <p:nvPr/>
              </p:nvSpPr>
              <p:spPr>
                <a:xfrm>
                  <a:off x="3810258" y="1676508"/>
                  <a:ext cx="3112231" cy="3083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/>
                <a:lstStyle/>
                <a:p>
                  <a:pPr marL="0">
                    <a:lnSpc>
                      <a:spcPct val="102000"/>
                    </a:lnSpc>
                    <a:spcAft>
                      <a:spcPts val="40"/>
                    </a:spcAft>
                    <a:buNone/>
                  </a:pPr>
                  <a:r>
                    <a:rPr lang="en-US" sz="2000" b="1" i="0" dirty="0">
                      <a:solidFill>
                        <a:srgbClr val="0460A9"/>
                      </a:solidFill>
                      <a:latin typeface="Arial"/>
                      <a:cs typeface="Arial"/>
                    </a:rPr>
                    <a:t>Power (Exact match) </a:t>
                  </a:r>
                </a:p>
              </p:txBody>
            </p:sp>
          </p:grpSp>
        </p:grpSp>
        <p:pic>
          <p:nvPicPr>
            <p:cNvPr id="22" name="Graphic 21" descr="Bullseye with solid fill">
              <a:extLst>
                <a:ext uri="{FF2B5EF4-FFF2-40B4-BE49-F238E27FC236}">
                  <a16:creationId xmlns:a16="http://schemas.microsoft.com/office/drawing/2014/main" id="{37AFD833-5A7E-D0F3-F3F7-139443BF29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758562" y="4499618"/>
              <a:ext cx="973749" cy="97374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E44B5-3B07-6B24-25A0-6A623EE6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15</a:t>
            </a:fld>
            <a:endParaRPr lang="en-US" noProof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2E9247C7-47AD-BE43-8678-2D2196AADAE4}"/>
              </a:ext>
            </a:extLst>
          </p:cNvPr>
          <p:cNvSpPr txBox="1">
            <a:spLocks/>
          </p:cNvSpPr>
          <p:nvPr/>
        </p:nvSpPr>
        <p:spPr bwMode="gray">
          <a:xfrm>
            <a:off x="548640" y="411480"/>
            <a:ext cx="11064240" cy="3877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460A9"/>
                </a:solidFill>
                <a:latin typeface="Arial"/>
                <a:cs typeface="Arial"/>
              </a:rPr>
              <a:t>Four operating characteristics score every method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0F4546-59A1-2F87-BABB-B005C208FD73}"/>
              </a:ext>
            </a:extLst>
          </p:cNvPr>
          <p:cNvGrpSpPr/>
          <p:nvPr/>
        </p:nvGrpSpPr>
        <p:grpSpPr>
          <a:xfrm>
            <a:off x="636664" y="1081377"/>
            <a:ext cx="4511806" cy="4838459"/>
            <a:chOff x="7101074" y="1256306"/>
            <a:chExt cx="4511806" cy="4838459"/>
          </a:xfrm>
        </p:grpSpPr>
        <p:sp>
          <p:nvSpPr>
            <p:cNvPr id="8" name="c3">
              <a:extLst>
                <a:ext uri="{FF2B5EF4-FFF2-40B4-BE49-F238E27FC236}">
                  <a16:creationId xmlns:a16="http://schemas.microsoft.com/office/drawing/2014/main" id="{106E4349-696D-6C1E-69AD-A65E3EF4B748}"/>
                </a:ext>
              </a:extLst>
            </p:cNvPr>
            <p:cNvSpPr/>
            <p:nvPr/>
          </p:nvSpPr>
          <p:spPr>
            <a:xfrm>
              <a:off x="7409258" y="1256306"/>
              <a:ext cx="4203622" cy="3965017"/>
            </a:xfrm>
            <a:prstGeom prst="roundRect">
              <a:avLst>
                <a:gd name="adj" fmla="val 6000"/>
              </a:avLst>
            </a:prstGeom>
            <a:solidFill>
              <a:srgbClr val="F4F7FB"/>
            </a:solidFill>
            <a:ln w="9525">
              <a:solidFill>
                <a:srgbClr val="D6E2F0"/>
              </a:solidFill>
            </a:ln>
          </p:spPr>
          <p:txBody>
            <a:bodyPr/>
            <a:lstStyle/>
            <a:p>
              <a:pPr>
                <a:buNone/>
              </a:pPr>
              <a:endParaRPr lang="en-US"/>
            </a:p>
          </p:txBody>
        </p:sp>
        <p:sp>
          <p:nvSpPr>
            <p:cNvPr id="9" name="n33">
              <a:extLst>
                <a:ext uri="{FF2B5EF4-FFF2-40B4-BE49-F238E27FC236}">
                  <a16:creationId xmlns:a16="http://schemas.microsoft.com/office/drawing/2014/main" id="{F9E8816A-702F-CF8E-F68F-CB20FD4529FF}"/>
                </a:ext>
              </a:extLst>
            </p:cNvPr>
            <p:cNvSpPr/>
            <p:nvPr/>
          </p:nvSpPr>
          <p:spPr>
            <a:xfrm>
              <a:off x="7701818" y="1479894"/>
              <a:ext cx="440000" cy="440000"/>
            </a:xfrm>
            <a:prstGeom prst="ellipse">
              <a:avLst/>
            </a:prstGeom>
            <a:solidFill>
              <a:srgbClr val="0460A9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/>
                  <a:cs typeface="Arial"/>
                </a:rPr>
                <a:t>3</a:t>
              </a:r>
              <a:endParaRPr lang="en-US" sz="1600" b="1" i="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10" name="t3">
              <a:extLst>
                <a:ext uri="{FF2B5EF4-FFF2-40B4-BE49-F238E27FC236}">
                  <a16:creationId xmlns:a16="http://schemas.microsoft.com/office/drawing/2014/main" id="{DB03766F-AA35-E739-1721-84BD4AF2D3DA}"/>
                </a:ext>
              </a:extLst>
            </p:cNvPr>
            <p:cNvSpPr txBox="1"/>
            <p:nvPr/>
          </p:nvSpPr>
          <p:spPr>
            <a:xfrm>
              <a:off x="8515910" y="1576508"/>
              <a:ext cx="2467879" cy="52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 algn="l">
                <a:lnSpc>
                  <a:spcPct val="102000"/>
                </a:lnSpc>
                <a:spcAft>
                  <a:spcPts val="40"/>
                </a:spcAft>
                <a:buNone/>
              </a:pPr>
              <a:r>
                <a:rPr lang="en-US" b="1" i="0" dirty="0">
                  <a:solidFill>
                    <a:srgbClr val="0460A9"/>
                  </a:solidFill>
                  <a:latin typeface="Arial"/>
                  <a:cs typeface="Arial"/>
                </a:rPr>
                <a:t>Estimation accuracy</a:t>
              </a:r>
            </a:p>
          </p:txBody>
        </p:sp>
        <p:sp>
          <p:nvSpPr>
            <p:cNvPr id="11" name="rcap">
              <a:extLst>
                <a:ext uri="{FF2B5EF4-FFF2-40B4-BE49-F238E27FC236}">
                  <a16:creationId xmlns:a16="http://schemas.microsoft.com/office/drawing/2014/main" id="{664CFD1D-FA7D-9C56-13D4-15900718872C}"/>
                </a:ext>
              </a:extLst>
            </p:cNvPr>
            <p:cNvSpPr txBox="1"/>
            <p:nvPr/>
          </p:nvSpPr>
          <p:spPr>
            <a:xfrm>
              <a:off x="7996657" y="2072200"/>
              <a:ext cx="3087879" cy="504488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>
                <a:lnSpc>
                  <a:spcPct val="104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3C3C3C"/>
                  </a:solidFill>
                  <a:latin typeface="Arial"/>
                  <a:cs typeface="Arial"/>
                </a:rPr>
                <a:t>RMRSE — outlier-sensitive</a:t>
              </a:r>
            </a:p>
          </p:txBody>
        </p:sp>
        <p:sp>
          <p:nvSpPr>
            <p:cNvPr id="12" name="mcap">
              <a:extLst>
                <a:ext uri="{FF2B5EF4-FFF2-40B4-BE49-F238E27FC236}">
                  <a16:creationId xmlns:a16="http://schemas.microsoft.com/office/drawing/2014/main" id="{78F64E04-3375-FB8A-778C-7795B704986D}"/>
                </a:ext>
              </a:extLst>
            </p:cNvPr>
            <p:cNvSpPr txBox="1"/>
            <p:nvPr/>
          </p:nvSpPr>
          <p:spPr>
            <a:xfrm>
              <a:off x="8079293" y="3476526"/>
              <a:ext cx="2202866" cy="355682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marL="0">
                <a:lnSpc>
                  <a:spcPct val="104000"/>
                </a:lnSpc>
                <a:spcAft>
                  <a:spcPts val="40"/>
                </a:spcAft>
                <a:buNone/>
              </a:pPr>
              <a:r>
                <a:rPr lang="en-US" sz="1600" b="1" i="0" dirty="0">
                  <a:solidFill>
                    <a:srgbClr val="3C3C3C"/>
                  </a:solidFill>
                  <a:latin typeface="Arial"/>
                  <a:cs typeface="Arial"/>
                </a:rPr>
                <a:t>MARE — robust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C585B0E-48AE-A3A1-253C-D2EA8D402BA4}"/>
                </a:ext>
              </a:extLst>
            </p:cNvPr>
            <p:cNvGrpSpPr/>
            <p:nvPr/>
          </p:nvGrpSpPr>
          <p:grpSpPr>
            <a:xfrm>
              <a:off x="7478712" y="5298901"/>
              <a:ext cx="4107357" cy="795864"/>
              <a:chOff x="7836788" y="4580844"/>
              <a:chExt cx="3927612" cy="795864"/>
            </a:xfrm>
          </p:grpSpPr>
          <p:sp>
            <p:nvSpPr>
              <p:cNvPr id="17" name="c4">
                <a:extLst>
                  <a:ext uri="{FF2B5EF4-FFF2-40B4-BE49-F238E27FC236}">
                    <a16:creationId xmlns:a16="http://schemas.microsoft.com/office/drawing/2014/main" id="{5F828867-B5EB-2AD5-A8A6-FE312851978E}"/>
                  </a:ext>
                </a:extLst>
              </p:cNvPr>
              <p:cNvSpPr/>
              <p:nvPr/>
            </p:nvSpPr>
            <p:spPr>
              <a:xfrm>
                <a:off x="7836788" y="4580844"/>
                <a:ext cx="3927612" cy="795864"/>
              </a:xfrm>
              <a:prstGeom prst="roundRect">
                <a:avLst>
                  <a:gd name="adj" fmla="val 6000"/>
                </a:avLst>
              </a:prstGeom>
              <a:solidFill>
                <a:srgbClr val="F4F7FB"/>
              </a:solidFill>
              <a:ln w="9525">
                <a:solidFill>
                  <a:srgbClr val="D6E2F0"/>
                </a:solidFill>
              </a:ln>
            </p:spPr>
            <p:txBody>
              <a:bodyPr/>
              <a:lstStyle/>
              <a:p>
                <a:pPr>
                  <a:buNone/>
                </a:pPr>
                <a:endParaRPr lang="en-US" dirty="0"/>
              </a:p>
            </p:txBody>
          </p:sp>
          <p:sp>
            <p:nvSpPr>
              <p:cNvPr id="18" name="n37">
                <a:extLst>
                  <a:ext uri="{FF2B5EF4-FFF2-40B4-BE49-F238E27FC236}">
                    <a16:creationId xmlns:a16="http://schemas.microsoft.com/office/drawing/2014/main" id="{D0E76F4B-23E4-7A93-CF82-E5C6B82BD057}"/>
                  </a:ext>
                </a:extLst>
              </p:cNvPr>
              <p:cNvSpPr/>
              <p:nvPr/>
            </p:nvSpPr>
            <p:spPr>
              <a:xfrm>
                <a:off x="7949882" y="4601449"/>
                <a:ext cx="429254" cy="440000"/>
              </a:xfrm>
              <a:prstGeom prst="ellipse">
                <a:avLst/>
              </a:prstGeom>
              <a:solidFill>
                <a:srgbClr val="0E7C7B"/>
              </a:solidFill>
              <a:ln>
                <a:noFill/>
              </a:ln>
            </p:spPr>
            <p:txBody>
              <a:bodyPr lIns="0" tIns="0" rIns="0" bIns="0" anchor="ctr"/>
              <a:lstStyle/>
              <a:p>
                <a:pPr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Arial"/>
                    <a:cs typeface="Arial"/>
                  </a:rPr>
                  <a:t>4</a:t>
                </a:r>
                <a:endParaRPr lang="en-US" sz="1600" b="1" i="0" dirty="0">
                  <a:solidFill>
                    <a:srgbClr val="FFFFFF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9" name="t4">
                <a:extLst>
                  <a:ext uri="{FF2B5EF4-FFF2-40B4-BE49-F238E27FC236}">
                    <a16:creationId xmlns:a16="http://schemas.microsoft.com/office/drawing/2014/main" id="{77706914-73D1-63B6-6A8E-42D9C941DFF9}"/>
                  </a:ext>
                </a:extLst>
              </p:cNvPr>
              <p:cNvSpPr txBox="1"/>
              <p:nvPr/>
            </p:nvSpPr>
            <p:spPr>
              <a:xfrm>
                <a:off x="8625890" y="4700109"/>
                <a:ext cx="1979450" cy="52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/>
              <a:lstStyle/>
              <a:p>
                <a:pPr marL="0" algn="l">
                  <a:lnSpc>
                    <a:spcPct val="102000"/>
                  </a:lnSpc>
                  <a:spcAft>
                    <a:spcPts val="40"/>
                  </a:spcAft>
                  <a:buNone/>
                </a:pPr>
                <a:r>
                  <a:rPr lang="en-US" b="1" i="0" dirty="0">
                    <a:solidFill>
                      <a:srgbClr val="0460A9"/>
                    </a:solidFill>
                    <a:latin typeface="Arial"/>
                    <a:cs typeface="Arial"/>
                  </a:rPr>
                  <a:t>Run-time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E4E750-D540-58B5-9CD4-416E898A84FE}"/>
                  </a:ext>
                </a:extLst>
              </p:cNvPr>
              <p:cNvSpPr txBox="1"/>
              <p:nvPr/>
            </p:nvSpPr>
            <p:spPr>
              <a:xfrm>
                <a:off x="8332067" y="5020844"/>
                <a:ext cx="2405891" cy="334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algn="l">
                  <a:lnSpc>
                    <a:spcPct val="106000"/>
                  </a:lnSpc>
                  <a:spcAft>
                    <a:spcPts val="40"/>
                  </a:spcAft>
                  <a:buNone/>
                </a:pPr>
                <a:r>
                  <a:rPr lang="en-US" sz="1600" b="0" i="0" dirty="0">
                    <a:solidFill>
                      <a:srgbClr val="5A5A5A"/>
                    </a:solidFill>
                    <a:latin typeface="Arial"/>
                    <a:cs typeface="Arial"/>
                  </a:rPr>
                  <a:t>H</a:t>
                </a:r>
                <a:r>
                  <a:rPr lang="en-US" sz="1600" dirty="0">
                    <a:solidFill>
                      <a:srgbClr val="5A5A5A"/>
                    </a:solidFill>
                    <a:latin typeface="Arial"/>
                    <a:cs typeface="Arial"/>
                  </a:rPr>
                  <a:t>PCE CPU core=4</a:t>
                </a:r>
                <a:endParaRPr lang="en-US" sz="1600" b="0" i="0" dirty="0">
                  <a:solidFill>
                    <a:srgbClr val="5A5A5A"/>
                  </a:solidFill>
                  <a:latin typeface="Arial"/>
                  <a:cs typeface="Arial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mrse_eq">
                  <a:extLst>
                    <a:ext uri="{FF2B5EF4-FFF2-40B4-BE49-F238E27FC236}">
                      <a16:creationId xmlns:a16="http://schemas.microsoft.com/office/drawing/2014/main" id="{24EF8916-E4F4-BB93-C9E6-258E89665F31}"/>
                    </a:ext>
                  </a:extLst>
                </p:cNvPr>
                <p:cNvSpPr txBox="1"/>
                <p:nvPr/>
              </p:nvSpPr>
              <p:spPr>
                <a:xfrm>
                  <a:off x="7436069" y="2345536"/>
                  <a:ext cx="4150000" cy="8899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/>
                <a:lstStyle/>
                <a:p>
                  <a:pPr algn="ctr">
                    <a:defRPr sz="1950">
                      <a:solidFill>
                        <a:srgbClr val="33475B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ar-AE" sz="1600" smtClean="0">
                            <a:latin typeface="Cambria Math" panose="02040503050406030204" pitchFamily="18" charset="0"/>
                          </a:rPr>
                          <m:t>𝑅𝑀𝑅𝑆</m:t>
                        </m:r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nary>
                                  <m:naryPr>
                                    <m:chr m:val="∑"/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sty m:val="p"/>
                                        <m:brk m:alnAt="23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brk m:alnAt="23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e>
                                </m:nary>
                              </m:den>
                            </m:f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ar-AE" sz="16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60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ar-AE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ar-AE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ar-AE" sz="160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nor/>
                                                  </m:rPr>
                                                  <a:rPr lang="en-US" sz="1600" i="0">
                                                    <a:latin typeface="+mn-ea"/>
                                                  </a:rPr>
                                                  <m:t>true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ar-AE" sz="160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ar-AE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ar-AE" sz="160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ar-AE" sz="160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  <m:sup>
                                                <m:r>
                                                  <m:rPr>
                                                    <m:nor/>
                                                  </m:rPr>
                                                  <a:rPr lang="en-US" sz="1600" i="0">
                                                    <a:latin typeface="+mn-ea"/>
                                                  </a:rPr>
                                                  <m:t>est</m:t>
                                                </m:r>
                                              </m:sup>
                                            </m:sSubSup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ar-AE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ar-AE" sz="160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nor/>
                                                  </m:rPr>
                                                  <a:rPr lang="en-US" sz="1600" i="0">
                                                    <a:latin typeface="+mn-ea"/>
                                                  </a:rPr>
                                                  <m:t>true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ar-AE" sz="16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rad>
                      </m:oMath>
                    </m:oMathPara>
                  </a14:m>
                  <a:endParaRPr lang="en-US" sz="1600" dirty="0">
                    <a:solidFill>
                      <a:srgbClr val="33475B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4" name="rmrse_eq">
                  <a:extLst>
                    <a:ext uri="{FF2B5EF4-FFF2-40B4-BE49-F238E27FC236}">
                      <a16:creationId xmlns:a16="http://schemas.microsoft.com/office/drawing/2014/main" id="{24EF8916-E4F4-BB93-C9E6-258E89665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6069" y="2345536"/>
                  <a:ext cx="4150000" cy="889971"/>
                </a:xfrm>
                <a:prstGeom prst="rect">
                  <a:avLst/>
                </a:prstGeom>
                <a:blipFill>
                  <a:blip r:embed="rId3"/>
                  <a:stretch>
                    <a:fillRect b="-41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mare_eq">
                  <a:extLst>
                    <a:ext uri="{FF2B5EF4-FFF2-40B4-BE49-F238E27FC236}">
                      <a16:creationId xmlns:a16="http://schemas.microsoft.com/office/drawing/2014/main" id="{17647CE3-CBD9-4891-7129-422A2AE03BE6}"/>
                    </a:ext>
                  </a:extLst>
                </p:cNvPr>
                <p:cNvSpPr txBox="1"/>
                <p:nvPr/>
              </p:nvSpPr>
              <p:spPr>
                <a:xfrm>
                  <a:off x="7436069" y="3799955"/>
                  <a:ext cx="3900000" cy="7489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/>
                <a:lstStyle/>
                <a:p>
                  <a:pPr algn="ctr">
                    <a:defRPr sz="1950">
                      <a:solidFill>
                        <a:srgbClr val="33475B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ar-AE" sz="1600" smtClean="0">
                            <a:latin typeface="Cambria Math" panose="02040503050406030204" pitchFamily="18" charset="0"/>
                          </a:rPr>
                          <m:t>𝑀𝐴𝑅</m:t>
                        </m:r>
                        <m:sSub>
                          <m:sSub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  <m:brk m:alnAt="23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brk m:alnAt="23"/>
                                  </m:rP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ar-AE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600" i="1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ar-AE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sz="16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6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ar-AE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ar-AE" sz="160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ar-AE" sz="160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sz="1600" i="0">
                                            <a:latin typeface="+mn-ea"/>
                                          </a:rPr>
                                          <m:t>est</m:t>
                                        </m:r>
                                      </m:sup>
                                    </m:sSubSup>
                                    <m:r>
                                      <a:rPr lang="ar-AE" sz="16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60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sz="1600" i="0">
                                            <a:latin typeface="+mn-ea"/>
                                          </a:rPr>
                                          <m:t>true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60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nor/>
                                          </m:rPr>
                                          <a:rPr lang="en-US" sz="1600" i="0">
                                            <a:latin typeface="+mn-ea"/>
                                          </a:rPr>
                                          <m:t>true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sz="1600" dirty="0">
                    <a:solidFill>
                      <a:srgbClr val="33475B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5" name="mare_eq">
                  <a:extLst>
                    <a:ext uri="{FF2B5EF4-FFF2-40B4-BE49-F238E27FC236}">
                      <a16:creationId xmlns:a16="http://schemas.microsoft.com/office/drawing/2014/main" id="{17647CE3-CBD9-4891-7129-422A2AE03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6069" y="3799955"/>
                  <a:ext cx="3900000" cy="748993"/>
                </a:xfrm>
                <a:prstGeom prst="rect">
                  <a:avLst/>
                </a:prstGeom>
                <a:blipFill>
                  <a:blip r:embed="rId4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2FE0916-9513-AF7C-CD83-8388E018A976}"/>
                    </a:ext>
                  </a:extLst>
                </p:cNvPr>
                <p:cNvSpPr txBox="1"/>
                <p:nvPr/>
              </p:nvSpPr>
              <p:spPr>
                <a:xfrm>
                  <a:off x="7101074" y="4721248"/>
                  <a:ext cx="4494249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60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𝑒𝑥𝑎𝑐</m:t>
                        </m:r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𝑚𝑎𝑡𝑐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𝑜𝑡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𝑒𝑟𝑤𝑖𝑠𝑒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2FE0916-9513-AF7C-CD83-8388E018A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1074" y="4721248"/>
                  <a:ext cx="4494249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852D93-631A-7EEB-6343-D86A167EE1E6}"/>
              </a:ext>
            </a:extLst>
          </p:cNvPr>
          <p:cNvGrpSpPr/>
          <p:nvPr/>
        </p:nvGrpSpPr>
        <p:grpSpPr>
          <a:xfrm>
            <a:off x="5544240" y="1151249"/>
            <a:ext cx="5633458" cy="4809717"/>
            <a:chOff x="5544240" y="1151249"/>
            <a:chExt cx="5633458" cy="480971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0B68937-0D43-A0E4-56DC-F85CDB3063EA}"/>
                </a:ext>
              </a:extLst>
            </p:cNvPr>
            <p:cNvGrpSpPr/>
            <p:nvPr/>
          </p:nvGrpSpPr>
          <p:grpSpPr>
            <a:xfrm>
              <a:off x="5601928" y="1151249"/>
              <a:ext cx="5457499" cy="4809717"/>
              <a:chOff x="5601928" y="1151249"/>
              <a:chExt cx="5457499" cy="4809717"/>
            </a:xfrm>
          </p:grpSpPr>
          <p:sp>
            <p:nvSpPr>
              <p:cNvPr id="28" name="c1">
                <a:extLst>
                  <a:ext uri="{FF2B5EF4-FFF2-40B4-BE49-F238E27FC236}">
                    <a16:creationId xmlns:a16="http://schemas.microsoft.com/office/drawing/2014/main" id="{4B786386-4E2F-EACE-6BED-BB5451771C2F}"/>
                  </a:ext>
                </a:extLst>
              </p:cNvPr>
              <p:cNvSpPr/>
              <p:nvPr/>
            </p:nvSpPr>
            <p:spPr>
              <a:xfrm>
                <a:off x="5601928" y="1151249"/>
                <a:ext cx="5457499" cy="4809717"/>
              </a:xfrm>
              <a:prstGeom prst="roundRect">
                <a:avLst>
                  <a:gd name="adj" fmla="val 6000"/>
                </a:avLst>
              </a:prstGeom>
              <a:solidFill>
                <a:srgbClr val="FFF4EF"/>
              </a:solidFill>
              <a:ln w="9525">
                <a:solidFill>
                  <a:srgbClr val="FFF4EF"/>
                </a:solidFill>
              </a:ln>
            </p:spPr>
            <p:txBody>
              <a:bodyPr/>
              <a:lstStyle/>
              <a:p>
                <a:pPr>
                  <a:buNone/>
                </a:pPr>
                <a:endParaRPr lang="en-US" dirty="0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B24E8C8-F579-2764-A672-32545EE820E8}"/>
                  </a:ext>
                </a:extLst>
              </p:cNvPr>
              <p:cNvGrpSpPr/>
              <p:nvPr/>
            </p:nvGrpSpPr>
            <p:grpSpPr>
              <a:xfrm>
                <a:off x="5879427" y="1759078"/>
                <a:ext cx="4560449" cy="1289351"/>
                <a:chOff x="1228639" y="1760000"/>
                <a:chExt cx="4560449" cy="1289351"/>
              </a:xfrm>
            </p:grpSpPr>
            <p:sp>
              <p:nvSpPr>
                <p:cNvPr id="22" name="t0">
                  <a:extLst>
                    <a:ext uri="{FF2B5EF4-FFF2-40B4-BE49-F238E27FC236}">
                      <a16:creationId xmlns:a16="http://schemas.microsoft.com/office/drawing/2014/main" id="{9433AD59-6AC4-617F-8178-5460E65CBDB0}"/>
                    </a:ext>
                  </a:extLst>
                </p:cNvPr>
                <p:cNvSpPr txBox="1"/>
                <p:nvPr/>
              </p:nvSpPr>
              <p:spPr>
                <a:xfrm>
                  <a:off x="1228639" y="1760000"/>
                  <a:ext cx="4519075" cy="38000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/>
                <a:lstStyle/>
                <a:p>
                  <a:pPr marL="342900" indent="-342900" algn="ctr">
                    <a:lnSpc>
                      <a:spcPct val="102000"/>
                    </a:lnSpc>
                    <a:spcAft>
                      <a:spcPts val="140"/>
                    </a:spcAft>
                    <a:buFont typeface="Wingdings" panose="05000000000000000000" pitchFamily="2" charset="2"/>
                    <a:buChar char="Ø"/>
                  </a:pPr>
                  <a:r>
                    <a:rPr lang="en-US" sz="2000" i="0" dirty="0">
                      <a:ln w="0"/>
                      <a:solidFill>
                        <a:schemeClr val="accent1"/>
                      </a:solidFill>
                      <a:effectLst>
                        <a:outerShdw blurRad="38100" dist="25400" dir="5400000" algn="ctr" rotWithShape="0">
                          <a:srgbClr val="6E747A">
                            <a:alpha val="43000"/>
                          </a:srgbClr>
                        </a:outerShdw>
                      </a:effectLst>
                      <a:latin typeface="Arial"/>
                      <a:cs typeface="Arial"/>
                    </a:rPr>
                    <a:t>Primary statistical test</a:t>
                  </a:r>
                </a:p>
                <a:p>
                  <a:pPr marL="0" algn="ctr">
                    <a:lnSpc>
                      <a:spcPct val="102000"/>
                    </a:lnSpc>
                    <a:spcAft>
                      <a:spcPts val="140"/>
                    </a:spcAft>
                    <a:buNone/>
                  </a:pPr>
                  <a:r>
                    <a:rPr lang="en-US" sz="2000" b="1" i="0" dirty="0">
                      <a:solidFill>
                        <a:srgbClr val="0460A9"/>
                      </a:solidFill>
                      <a:latin typeface="Arial"/>
                      <a:cs typeface="Arial"/>
                    </a:rPr>
                    <a:t>paired mixed-effects model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FB31057F-5E83-BAE2-3134-E59C5001D2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71674" y="2464576"/>
                      <a:ext cx="4417414" cy="58477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 algn="ctr">
                        <a:defRPr sz="1500">
                          <a:solidFill>
                            <a:srgbClr val="33475B"/>
                          </a:solidFill>
                        </a:defRPr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𝑚𝑒𝑡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𝑜𝑑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en-US" sz="1600" b="0" i="1" dirty="0">
                        <a:latin typeface="Cambria Math" panose="02040503050406030204" pitchFamily="18" charset="0"/>
                      </a:endParaRPr>
                    </a:p>
                    <a:p>
                      <a:pPr algn="ctr">
                        <a:defRPr sz="1500">
                          <a:solidFill>
                            <a:srgbClr val="33475B"/>
                          </a:solidFill>
                        </a:defRPr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𝑠𝑐𝑒𝑛𝑎𝑟𝑖𝑜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+(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𝑠𝑐𝑒𝑛𝑎𝑟𝑖𝑜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𝑑𝑎𝑡𝑎𝑠𝑒𝑡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 </m:t>
                            </m:r>
                          </m:oMath>
                        </m:oMathPara>
                      </a14:m>
                      <a:endParaRPr lang="en-US" sz="1600" dirty="0">
                        <a:solidFill>
                          <a:srgbClr val="33475B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FB31057F-5E83-BAE2-3134-E59C5001D25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71674" y="2464576"/>
                      <a:ext cx="4417414" cy="58477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BCBB9E6-4652-8721-2380-2937BB42D989}"/>
                      </a:ext>
                    </a:extLst>
                  </p:cNvPr>
                  <p:cNvSpPr txBox="1"/>
                  <p:nvPr/>
                </p:nvSpPr>
                <p:spPr>
                  <a:xfrm>
                    <a:off x="5862366" y="3451483"/>
                    <a:ext cx="5112581" cy="141705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  <a:spcAft>
                        <a:spcPts val="140"/>
                      </a:spcAft>
                    </a:pPr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 </m:t>
                        </m:r>
                      </m:oMath>
                    </a14:m>
                    <a:r>
                      <a:rPr lang="en-US" dirty="0">
                        <a:solidFill>
                          <a:srgbClr val="3C3C3C"/>
                        </a:solidFill>
                        <a:cs typeface="Arial"/>
                      </a:rPr>
                      <a:t>Raw </a:t>
                    </a:r>
                    <a:r>
                      <a:rPr lang="en-US" u="sng" dirty="0">
                        <a:solidFill>
                          <a:srgbClr val="3C3C3C"/>
                        </a:solidFill>
                        <a:cs typeface="Arial"/>
                      </a:rPr>
                      <a:t>continuous</a:t>
                    </a:r>
                    <a:r>
                      <a:rPr lang="en-US" dirty="0">
                        <a:solidFill>
                          <a:srgbClr val="3C3C3C"/>
                        </a:solidFill>
                        <a:cs typeface="Arial"/>
                      </a:rPr>
                      <a:t> per dataset replicate</a:t>
                    </a:r>
                  </a:p>
                  <a:p>
                    <a:pPr>
                      <a:lnSpc>
                        <a:spcPct val="120000"/>
                      </a:lnSpc>
                      <a:spcAft>
                        <a:spcPts val="140"/>
                      </a:spcAft>
                    </a:pPr>
                    <a:r>
                      <a:rPr lang="en-US" b="1" i="0" dirty="0">
                        <a:latin typeface="Arial"/>
                        <a:cs typeface="Arial"/>
                      </a:rPr>
                      <a:t>Method</a:t>
                    </a:r>
                    <a:r>
                      <a:rPr lang="en-US" b="0" i="0" dirty="0">
                        <a:latin typeface="Arial"/>
                        <a:cs typeface="Arial"/>
                      </a:rPr>
                      <a:t>:</a:t>
                    </a:r>
                    <a:r>
                      <a:rPr lang="en-US" dirty="0">
                        <a:cs typeface="Arial"/>
                      </a:rPr>
                      <a:t> </a:t>
                    </a:r>
                    <a:r>
                      <a:rPr lang="en-US" dirty="0">
                        <a:solidFill>
                          <a:srgbClr val="3C3C3C"/>
                        </a:solidFill>
                        <a:cs typeface="Arial"/>
                      </a:rPr>
                      <a:t>Two-level factor </a:t>
                    </a:r>
                    <a:br>
                      <a:rPr lang="en-US" dirty="0">
                        <a:solidFill>
                          <a:srgbClr val="3C3C3C"/>
                        </a:solidFill>
                        <a:cs typeface="Arial"/>
                      </a:rPr>
                    </a:br>
                    <a:r>
                      <a:rPr lang="en-US" dirty="0">
                        <a:solidFill>
                          <a:srgbClr val="3C3C3C"/>
                        </a:solidFill>
                        <a:cs typeface="Arial"/>
                      </a:rPr>
                      <a:t>(ref= NONMEM, test=nlmixr2scm/VAE)</a:t>
                    </a:r>
                  </a:p>
                  <a:p>
                    <a:pPr>
                      <a:lnSpc>
                        <a:spcPct val="120000"/>
                      </a:lnSpc>
                      <a:spcAft>
                        <a:spcPts val="140"/>
                      </a:spcAft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1" i="1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𝜷</m:t>
                            </m:r>
                          </m:e>
                          <m:sub>
                            <m:r>
                              <a:rPr lang="en-US" b="1" i="1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  <m:t>𝒎𝒆𝒕𝒉𝒐𝒅</m:t>
                            </m:r>
                          </m:sub>
                        </m:sSub>
                        <m:r>
                          <a:rPr lang="en-US" b="1" i="1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 </m:t>
                        </m:r>
                      </m:oMath>
                    </a14:m>
                    <a:r>
                      <a:rPr lang="en-US" b="1" i="0" dirty="0">
                        <a:solidFill>
                          <a:srgbClr val="3C3C3C"/>
                        </a:solidFill>
                        <a:latin typeface="Arial"/>
                        <a:cs typeface="Arial"/>
                      </a:rPr>
                      <a:t>: </a:t>
                    </a:r>
                    <a:r>
                      <a:rPr lang="en-US" u="sng" dirty="0">
                        <a:solidFill>
                          <a:srgbClr val="3C3C3C"/>
                        </a:solidFill>
                        <a:latin typeface="Arial"/>
                        <a:cs typeface="Arial"/>
                      </a:rPr>
                      <a:t>Mean difference </a:t>
                    </a:r>
                    <a:r>
                      <a:rPr lang="en-US" dirty="0">
                        <a:solidFill>
                          <a:srgbClr val="3C3C3C"/>
                        </a:solidFill>
                        <a:latin typeface="Arial"/>
                        <a:cs typeface="Arial"/>
                      </a:rPr>
                      <a:t>of test from NONMEM</a:t>
                    </a:r>
                    <a:endParaRPr lang="en-US" b="1" i="0" dirty="0">
                      <a:solidFill>
                        <a:srgbClr val="3C3C3C"/>
                      </a:solidFill>
                      <a:latin typeface="Arial"/>
                      <a:cs typeface="Arial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BCBB9E6-4652-8721-2380-2937BB42D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62366" y="3451483"/>
                    <a:ext cx="5112581" cy="141705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074" r="-955" b="-600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BD41083-EAFE-EC17-B082-47CFB235A76E}"/>
                </a:ext>
              </a:extLst>
            </p:cNvPr>
            <p:cNvSpPr txBox="1"/>
            <p:nvPr/>
          </p:nvSpPr>
          <p:spPr>
            <a:xfrm>
              <a:off x="5544240" y="5220509"/>
              <a:ext cx="563345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3C3C3C"/>
                  </a:solidFill>
                  <a:cs typeface="Arial"/>
                </a:rPr>
                <a:t>Practical-equivalence band: </a:t>
              </a:r>
              <a:br>
                <a:rPr lang="en-US" sz="2000" b="1" dirty="0">
                  <a:solidFill>
                    <a:srgbClr val="3C3C3C"/>
                  </a:solidFill>
                  <a:cs typeface="Arial"/>
                </a:rPr>
              </a:br>
              <a:r>
                <a:rPr lang="en-US" sz="2000" dirty="0">
                  <a:solidFill>
                    <a:srgbClr val="3C3C3C"/>
                  </a:solidFill>
                  <a:cs typeface="Arial"/>
                </a:rPr>
                <a:t>relative change over NONMEM &gt;=10%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815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2CF8F08-B693-22E7-376A-685E9790876C}"/>
              </a:ext>
            </a:extLst>
          </p:cNvPr>
          <p:cNvGrpSpPr/>
          <p:nvPr/>
        </p:nvGrpSpPr>
        <p:grpSpPr>
          <a:xfrm>
            <a:off x="2561101" y="6133756"/>
            <a:ext cx="8783534" cy="560000"/>
            <a:chOff x="880000" y="5150000"/>
            <a:chExt cx="9400000" cy="560000"/>
          </a:xfrm>
        </p:grpSpPr>
        <p:sp>
          <p:nvSpPr>
            <p:cNvPr id="90" name="pill90"/>
            <p:cNvSpPr/>
            <p:nvPr/>
          </p:nvSpPr>
          <p:spPr>
            <a:xfrm>
              <a:off x="88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1  Background</a:t>
              </a:r>
            </a:p>
          </p:txBody>
        </p:sp>
        <p:sp>
          <p:nvSpPr>
            <p:cNvPr id="91" name="pill91"/>
            <p:cNvSpPr/>
            <p:nvPr/>
          </p:nvSpPr>
          <p:spPr>
            <a:xfrm>
              <a:off x="323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2  Methods</a:t>
              </a:r>
            </a:p>
          </p:txBody>
        </p:sp>
        <p:sp>
          <p:nvSpPr>
            <p:cNvPr id="92" name="pill92"/>
            <p:cNvSpPr/>
            <p:nvPr/>
          </p:nvSpPr>
          <p:spPr>
            <a:xfrm>
              <a:off x="558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Arial"/>
                  <a:cs typeface="Arial"/>
                </a:rPr>
                <a:t>3  Results</a:t>
              </a:r>
            </a:p>
          </p:txBody>
        </p:sp>
        <p:sp>
          <p:nvSpPr>
            <p:cNvPr id="93" name="pill93"/>
            <p:cNvSpPr/>
            <p:nvPr/>
          </p:nvSpPr>
          <p:spPr>
            <a:xfrm>
              <a:off x="793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4  Discussion</a:t>
              </a:r>
            </a:p>
          </p:txBody>
        </p: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2F397E74-AD83-44B6-A30D-74B3D8FB4C65}" type="slidenum">
              <a:rPr lang="en-US" sz="1000">
                <a:solidFill>
                  <a:srgbClr val="8A8A8A"/>
                </a:solidFill>
                <a:latin typeface="Arial"/>
              </a:rPr>
              <a:t>16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B1A074-DB81-CB1B-F4DF-DDD812868B0A}"/>
              </a:ext>
            </a:extLst>
          </p:cNvPr>
          <p:cNvGrpSpPr/>
          <p:nvPr/>
        </p:nvGrpSpPr>
        <p:grpSpPr>
          <a:xfrm>
            <a:off x="1008582" y="1853993"/>
            <a:ext cx="9914883" cy="2996709"/>
            <a:chOff x="897485" y="1717260"/>
            <a:chExt cx="9914883" cy="299670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C6220BA-618A-906D-3C1F-11F4E6BAC10A}"/>
                </a:ext>
              </a:extLst>
            </p:cNvPr>
            <p:cNvGrpSpPr/>
            <p:nvPr/>
          </p:nvGrpSpPr>
          <p:grpSpPr>
            <a:xfrm>
              <a:off x="897485" y="1717260"/>
              <a:ext cx="9914883" cy="2996709"/>
              <a:chOff x="249236" y="4048898"/>
              <a:chExt cx="5105940" cy="157638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D9A60EC-286D-FEA0-EE90-0B91B1592007}"/>
                  </a:ext>
                </a:extLst>
              </p:cNvPr>
              <p:cNvGrpSpPr/>
              <p:nvPr/>
            </p:nvGrpSpPr>
            <p:grpSpPr>
              <a:xfrm>
                <a:off x="249236" y="4231349"/>
                <a:ext cx="2538468" cy="1253427"/>
                <a:chOff x="249236" y="4231349"/>
                <a:chExt cx="2538468" cy="1253427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E980080A-F10C-6552-AF41-1CC69CC13E29}"/>
                    </a:ext>
                  </a:extLst>
                </p:cNvPr>
                <p:cNvGrpSpPr/>
                <p:nvPr/>
              </p:nvGrpSpPr>
              <p:grpSpPr>
                <a:xfrm>
                  <a:off x="249236" y="4339685"/>
                  <a:ext cx="1945033" cy="1104214"/>
                  <a:chOff x="594003" y="4444099"/>
                  <a:chExt cx="1764881" cy="1001940"/>
                </a:xfrm>
              </p:grpSpPr>
              <p:pic>
                <p:nvPicPr>
                  <p:cNvPr id="12" name="Picture 11">
                    <a:extLst>
                      <a:ext uri="{FF2B5EF4-FFF2-40B4-BE49-F238E27FC236}">
                        <a16:creationId xmlns:a16="http://schemas.microsoft.com/office/drawing/2014/main" id="{A81E2B79-5AFF-0817-C24A-28C0B85243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94003" y="4764884"/>
                    <a:ext cx="1764881" cy="681155"/>
                  </a:xfrm>
                  <a:prstGeom prst="rect">
                    <a:avLst/>
                  </a:prstGeom>
                </p:spPr>
              </p:pic>
              <p:pic>
                <p:nvPicPr>
                  <p:cNvPr id="13" name="Picture 12">
                    <a:extLst>
                      <a:ext uri="{FF2B5EF4-FFF2-40B4-BE49-F238E27FC236}">
                        <a16:creationId xmlns:a16="http://schemas.microsoft.com/office/drawing/2014/main" id="{78104586-60DB-5564-228E-DE522235FF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07840" y="4444099"/>
                    <a:ext cx="1613484" cy="34827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0" name="Graphic 9" descr="Bullseye with solid fill">
                  <a:extLst>
                    <a:ext uri="{FF2B5EF4-FFF2-40B4-BE49-F238E27FC236}">
                      <a16:creationId xmlns:a16="http://schemas.microsoft.com/office/drawing/2014/main" id="{42120117-97DB-FA36-4583-3773D0EF9A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69181" y="4231349"/>
                  <a:ext cx="618523" cy="618523"/>
                </a:xfrm>
                <a:prstGeom prst="rect">
                  <a:avLst/>
                </a:prstGeom>
              </p:spPr>
            </p:pic>
            <p:pic>
              <p:nvPicPr>
                <p:cNvPr id="11" name="Graphic 10" descr="Stopwatch 75% with solid fill">
                  <a:extLst>
                    <a:ext uri="{FF2B5EF4-FFF2-40B4-BE49-F238E27FC236}">
                      <a16:creationId xmlns:a16="http://schemas.microsoft.com/office/drawing/2014/main" id="{8F973D1A-6EF2-1602-8D71-D684DD65D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69181" y="4866253"/>
                  <a:ext cx="618523" cy="618523"/>
                </a:xfrm>
                <a:prstGeom prst="rect">
                  <a:avLst/>
                </a:prstGeom>
              </p:spPr>
            </p:pic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ACE6F113-91A5-7724-58F2-404C44A5C5A5}"/>
                  </a:ext>
                </a:extLst>
              </p:cNvPr>
              <p:cNvGrpSpPr/>
              <p:nvPr/>
            </p:nvGrpSpPr>
            <p:grpSpPr>
              <a:xfrm>
                <a:off x="3164503" y="4048898"/>
                <a:ext cx="2190673" cy="1576389"/>
                <a:chOff x="3293074" y="4048468"/>
                <a:chExt cx="2190673" cy="1576389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E7947783-F5E8-174A-B589-EA7DAAC6F1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07358" y="4048468"/>
                  <a:ext cx="1576389" cy="1576389"/>
                </a:xfrm>
                <a:prstGeom prst="rect">
                  <a:avLst/>
                </a:prstGeom>
              </p:spPr>
            </p:pic>
            <p:pic>
              <p:nvPicPr>
                <p:cNvPr id="7" name="Graphic 6" descr="Stopwatch 25% with solid fill">
                  <a:extLst>
                    <a:ext uri="{FF2B5EF4-FFF2-40B4-BE49-F238E27FC236}">
                      <a16:creationId xmlns:a16="http://schemas.microsoft.com/office/drawing/2014/main" id="{3E868EC1-1E5A-521A-265B-E2C99DE8DC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07995" y="4849442"/>
                  <a:ext cx="625723" cy="625723"/>
                </a:xfrm>
                <a:prstGeom prst="rect">
                  <a:avLst/>
                </a:prstGeom>
              </p:spPr>
            </p:pic>
            <p:pic>
              <p:nvPicPr>
                <p:cNvPr id="8" name="Graphic 7" descr="Bullseye with solid fill">
                  <a:extLst>
                    <a:ext uri="{FF2B5EF4-FFF2-40B4-BE49-F238E27FC236}">
                      <a16:creationId xmlns:a16="http://schemas.microsoft.com/office/drawing/2014/main" id="{7BDFB784-6193-D7AD-006F-51970EDBFC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93074" y="4218140"/>
                  <a:ext cx="618523" cy="618523"/>
                </a:xfrm>
                <a:prstGeom prst="rect">
                  <a:avLst/>
                </a:prstGeom>
              </p:spPr>
            </p:pic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C583CB7-F138-7EB6-4CB9-6BCDA5755BBF}"/>
                    </a:ext>
                  </a:extLst>
                </p:cNvPr>
                <p:cNvSpPr txBox="1"/>
                <p:nvPr/>
              </p:nvSpPr>
              <p:spPr>
                <a:xfrm>
                  <a:off x="3184804" y="2291814"/>
                  <a:ext cx="6097022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1" i="1" smtClean="0">
                            <a:solidFill>
                              <a:srgbClr val="4D4D4D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  <a:sym typeface="Arial"/>
                          </a:rPr>
                          <m:t>≈</m:t>
                        </m:r>
                      </m:oMath>
                    </m:oMathPara>
                  </a14:m>
                  <a:endParaRPr lang="en-US" sz="3600" b="1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C583CB7-F138-7EB6-4CB9-6BCDA5755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4804" y="2291814"/>
                  <a:ext cx="6097022" cy="70788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56CE388-224A-28F1-A08C-51A64882C6B9}"/>
                    </a:ext>
                  </a:extLst>
                </p:cNvPr>
                <p:cNvSpPr txBox="1"/>
                <p:nvPr/>
              </p:nvSpPr>
              <p:spPr>
                <a:xfrm>
                  <a:off x="3236576" y="3480713"/>
                  <a:ext cx="6097022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rgbClr val="4D4D4D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  <a:sym typeface="Arial"/>
                          </a:rPr>
                          <m:t>&gt;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956CE388-224A-28F1-A08C-51A64882C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576" y="3480713"/>
                  <a:ext cx="6097022" cy="70788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6074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467EF-0647-123A-3CB8-C13386CE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17</a:t>
            </a:fld>
            <a:endParaRPr lang="en-US" noProof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9683706-B196-5932-354F-9A0E3E52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24" y="311445"/>
            <a:ext cx="11725951" cy="775597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Simulated datasets retained the correlation structure from </a:t>
            </a:r>
            <a:r>
              <a:rPr lang="en-US" sz="2800" dirty="0">
                <a:solidFill>
                  <a:srgbClr val="0460A9"/>
                </a:solidFill>
                <a:latin typeface="Arial"/>
                <a:cs typeface="Arial"/>
              </a:rPr>
              <a:t>NHAENS</a:t>
            </a:r>
            <a:endParaRPr lang="en-US" sz="2800" b="1" dirty="0">
              <a:solidFill>
                <a:srgbClr val="0460A9"/>
              </a:solidFill>
              <a:latin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81344C-1DE2-4AD0-A7B1-6BEEA686B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480" y="1144920"/>
            <a:ext cx="4393048" cy="4393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41FD95-4082-EE51-DDE5-F68A10410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420" y="1144920"/>
            <a:ext cx="4393048" cy="43930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0FA3E9-705E-0094-E485-08983DFBACAE}"/>
              </a:ext>
            </a:extLst>
          </p:cNvPr>
          <p:cNvSpPr/>
          <p:nvPr/>
        </p:nvSpPr>
        <p:spPr>
          <a:xfrm>
            <a:off x="5981060" y="1459966"/>
            <a:ext cx="1487821" cy="1559859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dirty="0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CB6ACC-FA8E-29C2-0A58-55597A4F9C03}"/>
              </a:ext>
            </a:extLst>
          </p:cNvPr>
          <p:cNvSpPr/>
          <p:nvPr/>
        </p:nvSpPr>
        <p:spPr>
          <a:xfrm>
            <a:off x="1515356" y="1459965"/>
            <a:ext cx="1487821" cy="1559859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1ECAE1-5230-459C-0BAF-2E38A9D52571}"/>
              </a:ext>
            </a:extLst>
          </p:cNvPr>
          <p:cNvSpPr/>
          <p:nvPr/>
        </p:nvSpPr>
        <p:spPr>
          <a:xfrm>
            <a:off x="1515355" y="1459965"/>
            <a:ext cx="2326662" cy="232058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dirty="0" err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1FF53-623D-71F9-E809-E1B2A702FC53}"/>
              </a:ext>
            </a:extLst>
          </p:cNvPr>
          <p:cNvSpPr/>
          <p:nvPr/>
        </p:nvSpPr>
        <p:spPr>
          <a:xfrm>
            <a:off x="5981060" y="1459965"/>
            <a:ext cx="2326662" cy="232058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dirty="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E7CD3-8A57-AFA8-2E46-A56F8E5395DD}"/>
              </a:ext>
            </a:extLst>
          </p:cNvPr>
          <p:cNvSpPr txBox="1"/>
          <p:nvPr/>
        </p:nvSpPr>
        <p:spPr>
          <a:xfrm>
            <a:off x="2600131" y="5668347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Weight and BMI are highly collinear — a selection trap</a:t>
            </a:r>
          </a:p>
        </p:txBody>
      </p:sp>
    </p:spTree>
    <p:extLst>
      <p:ext uri="{BB962C8B-B14F-4D97-AF65-F5344CB8AC3E}">
        <p14:creationId xmlns:p14="http://schemas.microsoft.com/office/powerpoint/2010/main" val="4272469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73436" y="297415"/>
            <a:ext cx="11064240" cy="387798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nlmixr2 SCM converges reliably in both analytic and ODE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1614810" y="5392146"/>
            <a:ext cx="8805332" cy="554267"/>
          </a:xfrm>
        </p:spPr>
        <p:txBody>
          <a:bodyPr/>
          <a:lstStyle/>
          <a:p>
            <a:pPr marL="0" marR="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800" b="0" i="0" u="none" strike="noStrike" cap="none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High convergence rate and condition number &lt;1000 for both analytic and ODE setting</a:t>
            </a:r>
          </a:p>
        </p:txBody>
      </p: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F22BE438-08DB-4305-9AFC-FBC1289C148A}" type="slidenum">
              <a:rPr lang="en-US" sz="1000">
                <a:solidFill>
                  <a:srgbClr val="8A8A8A"/>
                </a:solidFill>
                <a:latin typeface="Arial"/>
              </a:rPr>
              <a:t>18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5775F3-FFB7-1F32-C9E9-666BF6E9D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45" y="1437058"/>
            <a:ext cx="9365022" cy="38561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2026C2-161A-402F-0E64-BC5483FB1F4B}"/>
              </a:ext>
            </a:extLst>
          </p:cNvPr>
          <p:cNvSpPr txBox="1"/>
          <p:nvPr/>
        </p:nvSpPr>
        <p:spPr>
          <a:xfrm>
            <a:off x="5188569" y="1018945"/>
            <a:ext cx="1814861" cy="36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Nlmixr2 SCM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EE9510-AE6B-04B0-18C8-65B7986F4CBA}"/>
              </a:ext>
            </a:extLst>
          </p:cNvPr>
          <p:cNvGrpSpPr/>
          <p:nvPr/>
        </p:nvGrpSpPr>
        <p:grpSpPr>
          <a:xfrm>
            <a:off x="2622788" y="6227064"/>
            <a:ext cx="8733555" cy="462936"/>
            <a:chOff x="880000" y="5195331"/>
            <a:chExt cx="9400001" cy="560000"/>
          </a:xfrm>
        </p:grpSpPr>
        <p:sp>
          <p:nvSpPr>
            <p:cNvPr id="8" name="pill90">
              <a:extLst>
                <a:ext uri="{FF2B5EF4-FFF2-40B4-BE49-F238E27FC236}">
                  <a16:creationId xmlns:a16="http://schemas.microsoft.com/office/drawing/2014/main" id="{E6250C73-ABB6-0EC1-FDC9-2F76A1013B01}"/>
                </a:ext>
              </a:extLst>
            </p:cNvPr>
            <p:cNvSpPr/>
            <p:nvPr/>
          </p:nvSpPr>
          <p:spPr>
            <a:xfrm>
              <a:off x="323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9" name="pill91">
              <a:extLst>
                <a:ext uri="{FF2B5EF4-FFF2-40B4-BE49-F238E27FC236}">
                  <a16:creationId xmlns:a16="http://schemas.microsoft.com/office/drawing/2014/main" id="{B68F1448-C4CC-6E59-11E7-CC3F526F6FE9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0" name="pill92">
              <a:extLst>
                <a:ext uri="{FF2B5EF4-FFF2-40B4-BE49-F238E27FC236}">
                  <a16:creationId xmlns:a16="http://schemas.microsoft.com/office/drawing/2014/main" id="{6F642388-379D-3C58-1B56-8F86B858FA43}"/>
                </a:ext>
              </a:extLst>
            </p:cNvPr>
            <p:cNvSpPr/>
            <p:nvPr/>
          </p:nvSpPr>
          <p:spPr>
            <a:xfrm>
              <a:off x="558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3  Accuracy</a:t>
              </a:r>
            </a:p>
          </p:txBody>
        </p:sp>
        <p:sp>
          <p:nvSpPr>
            <p:cNvPr id="11" name="pill93">
              <a:extLst>
                <a:ext uri="{FF2B5EF4-FFF2-40B4-BE49-F238E27FC236}">
                  <a16:creationId xmlns:a16="http://schemas.microsoft.com/office/drawing/2014/main" id="{0BD42444-8E9E-3DC4-B526-5A43F331AEB2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4E251-4E03-EC00-0562-A05D8F31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6FFB5-DFEF-E7BB-2B74-227D9FDD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19</a:t>
            </a:fld>
            <a:endParaRPr lang="en-US" noProof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5937E69-D8DB-BF2E-F0F7-A958E85284F4}"/>
              </a:ext>
            </a:extLst>
          </p:cNvPr>
          <p:cNvSpPr txBox="1">
            <a:spLocks/>
          </p:cNvSpPr>
          <p:nvPr/>
        </p:nvSpPr>
        <p:spPr bwMode="gray">
          <a:xfrm>
            <a:off x="233680" y="241756"/>
            <a:ext cx="11740984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nlmixr2 matches or exceeds NONMEM on convergence &amp; </a:t>
            </a:r>
            <a:r>
              <a:rPr lang="en-US" sz="2800" b="1" dirty="0" err="1">
                <a:solidFill>
                  <a:srgbClr val="0460A9"/>
                </a:solidFill>
                <a:latin typeface="Arial"/>
                <a:cs typeface="Arial"/>
              </a:rPr>
              <a:t>cov_step</a:t>
            </a:r>
            <a:endParaRPr lang="en-US" sz="2800" b="1" dirty="0">
              <a:solidFill>
                <a:srgbClr val="0460A9"/>
              </a:solidFill>
              <a:latin typeface="Arial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28A45-502A-0751-0A18-C6FB3F025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175" y="994951"/>
            <a:ext cx="9831665" cy="491583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0DE8823-54E3-EA24-29DB-D93A9C071553}"/>
              </a:ext>
            </a:extLst>
          </p:cNvPr>
          <p:cNvGrpSpPr/>
          <p:nvPr/>
        </p:nvGrpSpPr>
        <p:grpSpPr>
          <a:xfrm>
            <a:off x="2622788" y="6233092"/>
            <a:ext cx="8733555" cy="456908"/>
            <a:chOff x="880000" y="5195331"/>
            <a:chExt cx="9400001" cy="560000"/>
          </a:xfrm>
        </p:grpSpPr>
        <p:sp>
          <p:nvSpPr>
            <p:cNvPr id="11" name="pill90">
              <a:extLst>
                <a:ext uri="{FF2B5EF4-FFF2-40B4-BE49-F238E27FC236}">
                  <a16:creationId xmlns:a16="http://schemas.microsoft.com/office/drawing/2014/main" id="{CC7DC97A-431B-39D4-BD78-955BDE644B45}"/>
                </a:ext>
              </a:extLst>
            </p:cNvPr>
            <p:cNvSpPr/>
            <p:nvPr/>
          </p:nvSpPr>
          <p:spPr>
            <a:xfrm>
              <a:off x="323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12" name="pill91">
              <a:extLst>
                <a:ext uri="{FF2B5EF4-FFF2-40B4-BE49-F238E27FC236}">
                  <a16:creationId xmlns:a16="http://schemas.microsoft.com/office/drawing/2014/main" id="{8ADCFB29-F98B-41FD-A13E-EEF85C548B70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3" name="pill92">
              <a:extLst>
                <a:ext uri="{FF2B5EF4-FFF2-40B4-BE49-F238E27FC236}">
                  <a16:creationId xmlns:a16="http://schemas.microsoft.com/office/drawing/2014/main" id="{5890A900-D768-A6E4-9ABB-E9C5D5219A3D}"/>
                </a:ext>
              </a:extLst>
            </p:cNvPr>
            <p:cNvSpPr/>
            <p:nvPr/>
          </p:nvSpPr>
          <p:spPr>
            <a:xfrm>
              <a:off x="558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3  Accuracy</a:t>
              </a:r>
            </a:p>
          </p:txBody>
        </p:sp>
        <p:sp>
          <p:nvSpPr>
            <p:cNvPr id="14" name="pill93">
              <a:extLst>
                <a:ext uri="{FF2B5EF4-FFF2-40B4-BE49-F238E27FC236}">
                  <a16:creationId xmlns:a16="http://schemas.microsoft.com/office/drawing/2014/main" id="{33086998-C74E-714C-CB83-D1424D74C13B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7049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99784" y="339225"/>
            <a:ext cx="11064240" cy="387798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Power rises with sample size and falls with model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B9D77C-DC0A-9E9B-D231-6B5EF379EAD1}"/>
              </a:ext>
            </a:extLst>
          </p:cNvPr>
          <p:cNvGrpSpPr/>
          <p:nvPr/>
        </p:nvGrpSpPr>
        <p:grpSpPr>
          <a:xfrm>
            <a:off x="3675888" y="5486291"/>
            <a:ext cx="5650712" cy="393121"/>
            <a:chOff x="1194698" y="5345612"/>
            <a:chExt cx="5650712" cy="393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ontent Placeholder 3">
                  <a:extLst>
                    <a:ext uri="{FF2B5EF4-FFF2-40B4-BE49-F238E27FC236}">
                      <a16:creationId xmlns:a16="http://schemas.microsoft.com/office/drawing/2014/main" id="{59A5B771-45D2-80F2-1CE6-489196DA3D58}"/>
                    </a:ext>
                  </a:extLst>
                </p:cNvPr>
                <p:cNvSpPr txBox="1">
                  <a:spLocks/>
                </p:cNvSpPr>
                <p:nvPr/>
              </p:nvSpPr>
              <p:spPr bwMode="gray">
                <a:xfrm>
                  <a:off x="1194698" y="5437945"/>
                  <a:ext cx="4450552" cy="300788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t">
                  <a:sp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3000" b="1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>
                    <a:lnSpc>
                      <a:spcPct val="105000"/>
                    </a:lnSpc>
                    <a:spcBef>
                      <a:spcPts val="0"/>
                    </a:spcBef>
                    <a:spcAft>
                      <a:spcPts val="500"/>
                    </a:spcAft>
                  </a:pPr>
                  <a:r>
                    <a:rPr lang="en-US" sz="2000" dirty="0">
                      <a:solidFill>
                        <a:srgbClr val="4D4D4D">
                          <a:alpha val="100000"/>
                        </a:srgbClr>
                      </a:solidFill>
                      <a:latin typeface="+mn-lt"/>
                      <a:cs typeface="Arial"/>
                      <a:sym typeface="Arial"/>
                    </a:rPr>
                    <a:t>Lincmt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4D4D4D">
                              <a:alpha val="10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  <a:sym typeface="Arial"/>
                        </a:rPr>
                        <m:t>≈</m:t>
                      </m:r>
                      <m:r>
                        <a:rPr lang="en-US" sz="2000" b="1" i="0" smtClean="0">
                          <a:solidFill>
                            <a:srgbClr val="4D4D4D">
                              <a:alpha val="100000"/>
                            </a:srgb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  <a:sym typeface="Arial"/>
                        </a:rPr>
                        <m:t> </m:t>
                      </m:r>
                    </m:oMath>
                  </a14:m>
                  <a:r>
                    <a:rPr lang="en-US" sz="2000" dirty="0">
                      <a:solidFill>
                        <a:srgbClr val="4D4D4D">
                          <a:alpha val="100000"/>
                        </a:srgbClr>
                      </a:solidFill>
                      <a:latin typeface="+mn-lt"/>
                      <a:cs typeface="Arial"/>
                      <a:sym typeface="Arial"/>
                    </a:rPr>
                    <a:t>ODE</a:t>
                  </a:r>
                </a:p>
              </p:txBody>
            </p:sp>
          </mc:Choice>
          <mc:Fallback xmlns="">
            <p:sp>
              <p:nvSpPr>
                <p:cNvPr id="9" name="Content Placeholder 3">
                  <a:extLst>
                    <a:ext uri="{FF2B5EF4-FFF2-40B4-BE49-F238E27FC236}">
                      <a16:creationId xmlns:a16="http://schemas.microsoft.com/office/drawing/2014/main" id="{59A5B771-45D2-80F2-1CE6-489196DA3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gray">
                <a:xfrm>
                  <a:off x="1194698" y="5437945"/>
                  <a:ext cx="4450552" cy="300788"/>
                </a:xfrm>
                <a:prstGeom prst="rect">
                  <a:avLst/>
                </a:prstGeom>
                <a:blipFill>
                  <a:blip r:embed="rId3"/>
                  <a:stretch>
                    <a:fillRect l="-3425" t="-28571" b="-53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D1D234-24F5-B414-1A7D-6B366AD8EE13}"/>
                </a:ext>
              </a:extLst>
            </p:cNvPr>
            <p:cNvSpPr txBox="1"/>
            <p:nvPr/>
          </p:nvSpPr>
          <p:spPr>
            <a:xfrm>
              <a:off x="4562417" y="5345612"/>
              <a:ext cx="2282993" cy="393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lang="en-US" sz="2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  <a:sym typeface="Arial"/>
                </a:rPr>
                <a:t>N ↓, Power</a:t>
              </a:r>
              <a:r>
                <a:rPr lang="en-US" sz="2000" b="1" dirty="0">
                  <a:solidFill>
                    <a:srgbClr val="4D4D4D">
                      <a:alpha val="100000"/>
                    </a:srgbClr>
                  </a:solidFill>
                  <a:cs typeface="Arial"/>
                  <a:sym typeface="Arial"/>
                </a:rPr>
                <a:t> ↓</a:t>
              </a:r>
              <a:endParaRPr lang="en-US" sz="2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92F30AAC-6E70-445B-8C47-250AAFA00FD7}" type="slidenum">
              <a:rPr lang="en-US" sz="1000">
                <a:solidFill>
                  <a:srgbClr val="8A8A8A"/>
                </a:solidFill>
                <a:latin typeface="Arial"/>
              </a:rPr>
              <a:t>20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F6E9B-CB57-F644-6176-578DC5818F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371134"/>
            <a:ext cx="10973751" cy="4115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6D046-3B15-9BF5-982F-28B792F83E92}"/>
              </a:ext>
            </a:extLst>
          </p:cNvPr>
          <p:cNvSpPr txBox="1"/>
          <p:nvPr/>
        </p:nvSpPr>
        <p:spPr>
          <a:xfrm>
            <a:off x="5188569" y="1018945"/>
            <a:ext cx="1814861" cy="36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nlmixr2 SCM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B052F-CF2A-0069-B43B-E8F4D7577F7F}"/>
              </a:ext>
            </a:extLst>
          </p:cNvPr>
          <p:cNvGrpSpPr/>
          <p:nvPr/>
        </p:nvGrpSpPr>
        <p:grpSpPr>
          <a:xfrm>
            <a:off x="2622788" y="6208776"/>
            <a:ext cx="8733555" cy="481224"/>
            <a:chOff x="880000" y="5195331"/>
            <a:chExt cx="9400001" cy="560000"/>
          </a:xfrm>
        </p:grpSpPr>
        <p:sp>
          <p:nvSpPr>
            <p:cNvPr id="7" name="pill90">
              <a:extLst>
                <a:ext uri="{FF2B5EF4-FFF2-40B4-BE49-F238E27FC236}">
                  <a16:creationId xmlns:a16="http://schemas.microsoft.com/office/drawing/2014/main" id="{13D4779C-0E3C-09C8-99AB-8EDB40148CEB}"/>
                </a:ext>
              </a:extLst>
            </p:cNvPr>
            <p:cNvSpPr/>
            <p:nvPr/>
          </p:nvSpPr>
          <p:spPr>
            <a:xfrm>
              <a:off x="323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8" name="pill91">
              <a:extLst>
                <a:ext uri="{FF2B5EF4-FFF2-40B4-BE49-F238E27FC236}">
                  <a16:creationId xmlns:a16="http://schemas.microsoft.com/office/drawing/2014/main" id="{82B61B00-0ECA-0FF0-A403-8D0972AFAC01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dirty="0">
                  <a:solidFill>
                    <a:schemeClr val="accent4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0" name="pill92">
              <a:extLst>
                <a:ext uri="{FF2B5EF4-FFF2-40B4-BE49-F238E27FC236}">
                  <a16:creationId xmlns:a16="http://schemas.microsoft.com/office/drawing/2014/main" id="{554F3ADA-499A-ED4E-11A0-41663D2AAC11}"/>
                </a:ext>
              </a:extLst>
            </p:cNvPr>
            <p:cNvSpPr/>
            <p:nvPr/>
          </p:nvSpPr>
          <p:spPr>
            <a:xfrm>
              <a:off x="558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3  Accuracy</a:t>
              </a:r>
            </a:p>
          </p:txBody>
        </p:sp>
        <p:sp>
          <p:nvSpPr>
            <p:cNvPr id="11" name="pill93">
              <a:extLst>
                <a:ext uri="{FF2B5EF4-FFF2-40B4-BE49-F238E27FC236}">
                  <a16:creationId xmlns:a16="http://schemas.microsoft.com/office/drawing/2014/main" id="{9F19B02F-7A2D-FD93-8CE5-6C9D7FE3220F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4F3AB-AE86-A8FB-EE5F-15F49248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088B4-1D40-5512-5929-EF9B8CAC3F3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sp>
        <p:nvSpPr>
          <p:cNvPr id="960" name="slidenum_fn">
            <a:extLst>
              <a:ext uri="{FF2B5EF4-FFF2-40B4-BE49-F238E27FC236}">
                <a16:creationId xmlns:a16="http://schemas.microsoft.com/office/drawing/2014/main" id="{A9A8375B-B139-127B-1A4B-68785C9E255D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92F30AAC-6E70-445B-8C47-250AAFA00FD7}" type="slidenum">
              <a:rPr lang="en-US" sz="1000">
                <a:solidFill>
                  <a:srgbClr val="8A8A8A"/>
                </a:solidFill>
                <a:latin typeface="Arial"/>
              </a:rPr>
              <a:t>21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D13D8D-8227-F60F-48FA-9E84E1862BAA}"/>
              </a:ext>
            </a:extLst>
          </p:cNvPr>
          <p:cNvGrpSpPr/>
          <p:nvPr/>
        </p:nvGrpSpPr>
        <p:grpSpPr>
          <a:xfrm>
            <a:off x="2622788" y="6215218"/>
            <a:ext cx="8733555" cy="474782"/>
            <a:chOff x="880000" y="5195331"/>
            <a:chExt cx="9400001" cy="560000"/>
          </a:xfrm>
        </p:grpSpPr>
        <p:sp>
          <p:nvSpPr>
            <p:cNvPr id="7" name="pill90">
              <a:extLst>
                <a:ext uri="{FF2B5EF4-FFF2-40B4-BE49-F238E27FC236}">
                  <a16:creationId xmlns:a16="http://schemas.microsoft.com/office/drawing/2014/main" id="{6B003A3B-EFA9-925E-D424-3D0F734EF862}"/>
                </a:ext>
              </a:extLst>
            </p:cNvPr>
            <p:cNvSpPr/>
            <p:nvPr/>
          </p:nvSpPr>
          <p:spPr>
            <a:xfrm>
              <a:off x="323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8" name="pill91">
              <a:extLst>
                <a:ext uri="{FF2B5EF4-FFF2-40B4-BE49-F238E27FC236}">
                  <a16:creationId xmlns:a16="http://schemas.microsoft.com/office/drawing/2014/main" id="{6B1D3DBF-65FB-B50F-0199-14C2AFE0E773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dirty="0">
                  <a:solidFill>
                    <a:schemeClr val="accent4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0" name="pill92">
              <a:extLst>
                <a:ext uri="{FF2B5EF4-FFF2-40B4-BE49-F238E27FC236}">
                  <a16:creationId xmlns:a16="http://schemas.microsoft.com/office/drawing/2014/main" id="{D1F3F880-0FD7-1F0A-353A-AFC5D29CFEF3}"/>
                </a:ext>
              </a:extLst>
            </p:cNvPr>
            <p:cNvSpPr/>
            <p:nvPr/>
          </p:nvSpPr>
          <p:spPr>
            <a:xfrm>
              <a:off x="558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3  Accuracy</a:t>
              </a:r>
            </a:p>
          </p:txBody>
        </p:sp>
        <p:sp>
          <p:nvSpPr>
            <p:cNvPr id="11" name="pill93">
              <a:extLst>
                <a:ext uri="{FF2B5EF4-FFF2-40B4-BE49-F238E27FC236}">
                  <a16:creationId xmlns:a16="http://schemas.microsoft.com/office/drawing/2014/main" id="{6555ADB4-DEF5-13D7-AEF6-1D7D6539EC88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9D811A-7849-6150-0D3C-451F0F3D30A0}"/>
              </a:ext>
            </a:extLst>
          </p:cNvPr>
          <p:cNvGrpSpPr/>
          <p:nvPr/>
        </p:nvGrpSpPr>
        <p:grpSpPr>
          <a:xfrm>
            <a:off x="308344" y="943617"/>
            <a:ext cx="9913774" cy="4729225"/>
            <a:chOff x="870065" y="1091267"/>
            <a:chExt cx="10859403" cy="499403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67874D3-2D2F-10C9-C290-9B5C0053D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836"/>
            <a:stretch>
              <a:fillRect/>
            </a:stretch>
          </p:blipFill>
          <p:spPr>
            <a:xfrm>
              <a:off x="870065" y="1091267"/>
              <a:ext cx="10859403" cy="4994032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F71BFC-128B-5AC4-D2C1-C949176A9538}"/>
                </a:ext>
              </a:extLst>
            </p:cNvPr>
            <p:cNvGrpSpPr/>
            <p:nvPr/>
          </p:nvGrpSpPr>
          <p:grpSpPr>
            <a:xfrm>
              <a:off x="4360985" y="2323051"/>
              <a:ext cx="7108876" cy="1477360"/>
              <a:chOff x="4107766" y="2722957"/>
              <a:chExt cx="7108876" cy="147736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338BE5-7891-8B95-1B4C-F771DBB3DC68}"/>
                  </a:ext>
                </a:extLst>
              </p:cNvPr>
              <p:cNvSpPr txBox="1"/>
              <p:nvPr/>
            </p:nvSpPr>
            <p:spPr>
              <a:xfrm>
                <a:off x="4107766" y="2841673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73%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8AD5A6-368C-6213-D282-6E8A8AE96676}"/>
                  </a:ext>
                </a:extLst>
              </p:cNvPr>
              <p:cNvSpPr txBox="1"/>
              <p:nvPr/>
            </p:nvSpPr>
            <p:spPr>
              <a:xfrm>
                <a:off x="4107766" y="3516400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50%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8FD841-2392-87F0-1DBA-C5C14625909F}"/>
                  </a:ext>
                </a:extLst>
              </p:cNvPr>
              <p:cNvSpPr txBox="1"/>
              <p:nvPr/>
            </p:nvSpPr>
            <p:spPr>
              <a:xfrm>
                <a:off x="4107766" y="3923318"/>
                <a:ext cx="6353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23%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F43189-A17C-BE81-3CEE-D183CD9A2CB0}"/>
                  </a:ext>
                </a:extLst>
              </p:cNvPr>
              <p:cNvSpPr txBox="1"/>
              <p:nvPr/>
            </p:nvSpPr>
            <p:spPr>
              <a:xfrm>
                <a:off x="7465257" y="2854436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66%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9FB46A8-29AF-C6FC-6057-2295412C31E3}"/>
                  </a:ext>
                </a:extLst>
              </p:cNvPr>
              <p:cNvSpPr txBox="1"/>
              <p:nvPr/>
            </p:nvSpPr>
            <p:spPr>
              <a:xfrm>
                <a:off x="7549234" y="3462330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45%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2CA131-9164-13EF-1A8A-56C892D8AE19}"/>
                  </a:ext>
                </a:extLst>
              </p:cNvPr>
              <p:cNvSpPr txBox="1"/>
              <p:nvPr/>
            </p:nvSpPr>
            <p:spPr>
              <a:xfrm>
                <a:off x="7625434" y="3793399"/>
                <a:ext cx="6353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23%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5CAA71-7EA0-2D6E-F45E-4857C71F01ED}"/>
                  </a:ext>
                </a:extLst>
              </p:cNvPr>
              <p:cNvSpPr txBox="1"/>
              <p:nvPr/>
            </p:nvSpPr>
            <p:spPr>
              <a:xfrm>
                <a:off x="10428852" y="2722957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58%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E731AA7-1A39-9BF7-C4F1-DB8785403C7C}"/>
                  </a:ext>
                </a:extLst>
              </p:cNvPr>
              <p:cNvSpPr txBox="1"/>
              <p:nvPr/>
            </p:nvSpPr>
            <p:spPr>
              <a:xfrm>
                <a:off x="10428852" y="3185331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33%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C32AB7B-55DB-4FB4-AF9F-75ED6A82645D}"/>
                  </a:ext>
                </a:extLst>
              </p:cNvPr>
              <p:cNvSpPr txBox="1"/>
              <p:nvPr/>
            </p:nvSpPr>
            <p:spPr>
              <a:xfrm>
                <a:off x="10428851" y="3849689"/>
                <a:ext cx="7877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dirty="0"/>
                  <a:t>19%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4C1E1DC-6161-FF55-559D-FE5E2864EAAA}"/>
                </a:ext>
              </a:extLst>
            </p:cNvPr>
            <p:cNvSpPr txBox="1"/>
            <p:nvPr/>
          </p:nvSpPr>
          <p:spPr>
            <a:xfrm>
              <a:off x="4908988" y="1352996"/>
              <a:ext cx="411671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dirty="0"/>
                <a:t>M</a:t>
              </a:r>
              <a:r>
                <a:rPr lang="en-US" altLang="zh-CN" dirty="0"/>
                <a:t>edian of power over 16 scenarios</a:t>
              </a:r>
              <a:endParaRPr lang="en-US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8149B91-8B50-A120-7846-023ADF2AAEC4}"/>
              </a:ext>
            </a:extLst>
          </p:cNvPr>
          <p:cNvSpPr txBox="1"/>
          <p:nvPr/>
        </p:nvSpPr>
        <p:spPr>
          <a:xfrm>
            <a:off x="222637" y="137160"/>
            <a:ext cx="117649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SCM power is </a:t>
            </a:r>
            <a:r>
              <a:rPr lang="en-US" altLang="zh-CN" sz="2800" b="1" dirty="0">
                <a:solidFill>
                  <a:srgbClr val="0460A9"/>
                </a:solidFill>
                <a:latin typeface="Arial"/>
                <a:cs typeface="Arial"/>
              </a:rPr>
              <a:t>comparable</a:t>
            </a: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 across nlmixr2 and NONMEM, and ≥ VAE</a:t>
            </a:r>
          </a:p>
        </p:txBody>
      </p:sp>
      <p:pic>
        <p:nvPicPr>
          <p:cNvPr id="32" name="Graphic 31" descr="Fencing with solid fill">
            <a:extLst>
              <a:ext uri="{FF2B5EF4-FFF2-40B4-BE49-F238E27FC236}">
                <a16:creationId xmlns:a16="http://schemas.microsoft.com/office/drawing/2014/main" id="{27F5FA05-9E34-D827-0E2C-F20B7410E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1578" y="2203818"/>
            <a:ext cx="715188" cy="71518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8DA5BBB-6560-6CC8-B492-7124BB131120}"/>
              </a:ext>
            </a:extLst>
          </p:cNvPr>
          <p:cNvSpPr txBox="1"/>
          <p:nvPr/>
        </p:nvSpPr>
        <p:spPr>
          <a:xfrm>
            <a:off x="10430541" y="2964623"/>
            <a:ext cx="1557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dirty="0"/>
              <a:t>Power &amp; linear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82F9AE-1D4B-FCA1-2A53-E320E7D798A0}"/>
              </a:ext>
            </a:extLst>
          </p:cNvPr>
          <p:cNvSpPr txBox="1"/>
          <p:nvPr/>
        </p:nvSpPr>
        <p:spPr>
          <a:xfrm>
            <a:off x="10606941" y="3290369"/>
            <a:ext cx="1557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dirty="0"/>
              <a:t>BW vs. BMI</a:t>
            </a:r>
          </a:p>
        </p:txBody>
      </p:sp>
    </p:spTree>
    <p:extLst>
      <p:ext uri="{BB962C8B-B14F-4D97-AF65-F5344CB8AC3E}">
        <p14:creationId xmlns:p14="http://schemas.microsoft.com/office/powerpoint/2010/main" val="159807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97590" y="241756"/>
            <a:ext cx="11064240" cy="387798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Covariate-effect errors are low; variance terms are the hard part</a:t>
            </a:r>
          </a:p>
        </p:txBody>
      </p: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E2FC3942-69FF-4770-AF26-D2C1FBB23DBF}" type="slidenum">
              <a:rPr lang="en-US" sz="1000">
                <a:solidFill>
                  <a:srgbClr val="8A8A8A"/>
                </a:solidFill>
                <a:latin typeface="Arial"/>
              </a:rPr>
              <a:t>22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2F88D9-8DE7-B0EF-BC5D-09D8CAD6E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92" y="655563"/>
            <a:ext cx="11090636" cy="455000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9C288F0-14BF-20E3-2696-7846A70FF51F}"/>
              </a:ext>
            </a:extLst>
          </p:cNvPr>
          <p:cNvGrpSpPr/>
          <p:nvPr/>
        </p:nvGrpSpPr>
        <p:grpSpPr>
          <a:xfrm>
            <a:off x="1540962" y="5207024"/>
            <a:ext cx="9920868" cy="727991"/>
            <a:chOff x="1540962" y="5489354"/>
            <a:chExt cx="9920868" cy="72799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3338FB8-0A74-852D-2A36-F940886C6A08}"/>
                </a:ext>
              </a:extLst>
            </p:cNvPr>
            <p:cNvSpPr txBox="1"/>
            <p:nvPr/>
          </p:nvSpPr>
          <p:spPr>
            <a:xfrm>
              <a:off x="6501396" y="5489354"/>
              <a:ext cx="4631238" cy="3931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cs typeface="Arial"/>
                  <a:sym typeface="Arial"/>
                </a:rPr>
                <a:t>N ↓, RMRSE &amp; MARE </a:t>
              </a:r>
              <a:r>
                <a:rPr lang="zh-CN" altLang="en-US" sz="2000" dirty="0">
                  <a:solidFill>
                    <a:srgbClr val="4D4D4D">
                      <a:alpha val="100000"/>
                    </a:srgbClr>
                  </a:solidFill>
                  <a:cs typeface="Arial"/>
                  <a:sym typeface="Arial"/>
                </a:rPr>
                <a:t>↑</a:t>
              </a:r>
              <a:endParaRPr lang="en-US" sz="2000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endParaRPr>
            </a:p>
          </p:txBody>
        </p:sp>
        <p:sp>
          <p:nvSpPr>
            <p:cNvPr id="17" name="Content Placeholder 3">
              <a:extLst>
                <a:ext uri="{FF2B5EF4-FFF2-40B4-BE49-F238E27FC236}">
                  <a16:creationId xmlns:a16="http://schemas.microsoft.com/office/drawing/2014/main" id="{64998AFA-30D1-DB8D-7F55-4697BC176C3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540962" y="5916557"/>
              <a:ext cx="9920868" cy="300788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342900" indent="-342900"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  <a:buFont typeface="Arial" panose="020B0604020202020204" pitchFamily="34" charset="0"/>
                <a:buChar char="•"/>
              </a:pPr>
              <a:r>
                <a:rPr lang="en-US" sz="2000" b="0" dirty="0">
                  <a:solidFill>
                    <a:srgbClr val="4D4D4D">
                      <a:alpha val="100000"/>
                    </a:srgbClr>
                  </a:solidFill>
                  <a:latin typeface="+mn-lt"/>
                  <a:cs typeface="Arial"/>
                  <a:sym typeface="Arial"/>
                </a:rPr>
                <a:t>Estimation difficulty: covariance&gt; variance &gt; covariate effect &gt; typical value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4138F79-BCAA-159D-DF4D-56EB50A75140}"/>
              </a:ext>
            </a:extLst>
          </p:cNvPr>
          <p:cNvGrpSpPr/>
          <p:nvPr/>
        </p:nvGrpSpPr>
        <p:grpSpPr>
          <a:xfrm>
            <a:off x="2622788" y="6225130"/>
            <a:ext cx="8733555" cy="464870"/>
            <a:chOff x="880000" y="5195331"/>
            <a:chExt cx="9400001" cy="560000"/>
          </a:xfrm>
        </p:grpSpPr>
        <p:sp>
          <p:nvSpPr>
            <p:cNvPr id="4" name="pill90">
              <a:extLst>
                <a:ext uri="{FF2B5EF4-FFF2-40B4-BE49-F238E27FC236}">
                  <a16:creationId xmlns:a16="http://schemas.microsoft.com/office/drawing/2014/main" id="{D668B32C-CA12-5E62-F87F-E6F4DAFFB8D8}"/>
                </a:ext>
              </a:extLst>
            </p:cNvPr>
            <p:cNvSpPr/>
            <p:nvPr/>
          </p:nvSpPr>
          <p:spPr>
            <a:xfrm>
              <a:off x="5580000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cs typeface="Arial"/>
                </a:rPr>
                <a:t>3 Accuracy</a:t>
              </a:r>
            </a:p>
          </p:txBody>
        </p:sp>
        <p:sp>
          <p:nvSpPr>
            <p:cNvPr id="5" name="pill91">
              <a:extLst>
                <a:ext uri="{FF2B5EF4-FFF2-40B4-BE49-F238E27FC236}">
                  <a16:creationId xmlns:a16="http://schemas.microsoft.com/office/drawing/2014/main" id="{C9942A9B-4029-B032-783C-35345B335249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dirty="0">
                  <a:solidFill>
                    <a:schemeClr val="accent4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6" name="pill92">
              <a:extLst>
                <a:ext uri="{FF2B5EF4-FFF2-40B4-BE49-F238E27FC236}">
                  <a16:creationId xmlns:a16="http://schemas.microsoft.com/office/drawing/2014/main" id="{7BF6F10F-86D1-2180-8FFE-B4070EC7E8CD}"/>
                </a:ext>
              </a:extLst>
            </p:cNvPr>
            <p:cNvSpPr/>
            <p:nvPr/>
          </p:nvSpPr>
          <p:spPr>
            <a:xfrm>
              <a:off x="3229999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7" name="pill93">
              <a:extLst>
                <a:ext uri="{FF2B5EF4-FFF2-40B4-BE49-F238E27FC236}">
                  <a16:creationId xmlns:a16="http://schemas.microsoft.com/office/drawing/2014/main" id="{8974FADE-DD90-9BE7-B5B2-6F24B4C3A781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2E6A60E-8D93-4C5F-EAB2-735829F0B893}"/>
              </a:ext>
            </a:extLst>
          </p:cNvPr>
          <p:cNvSpPr txBox="1"/>
          <p:nvPr/>
        </p:nvSpPr>
        <p:spPr>
          <a:xfrm>
            <a:off x="3112881" y="851987"/>
            <a:ext cx="1814861" cy="36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Nlmixr2 SCM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3">
                <a:extLst>
                  <a:ext uri="{FF2B5EF4-FFF2-40B4-BE49-F238E27FC236}">
                    <a16:creationId xmlns:a16="http://schemas.microsoft.com/office/drawing/2014/main" id="{36974E9E-CDA3-3FD1-0C7E-BB942CB9505F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626000" y="5244689"/>
                <a:ext cx="2018011" cy="311297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0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342900" indent="-342900">
                  <a:lnSpc>
                    <a:spcPct val="105000"/>
                  </a:lnSpc>
                  <a:spcBef>
                    <a:spcPts val="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0" dirty="0">
                    <a:solidFill>
                      <a:srgbClr val="4D4D4D">
                        <a:alpha val="100000"/>
                      </a:srgbClr>
                    </a:solidFill>
                    <a:latin typeface="+mn-lt"/>
                    <a:cs typeface="Arial"/>
                    <a:sym typeface="Arial"/>
                  </a:rPr>
                  <a:t>Lincmt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≈</m:t>
                    </m:r>
                    <m:r>
                      <a:rPr lang="en-US" sz="2000" b="0" i="0" smtClean="0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 </m:t>
                    </m:r>
                  </m:oMath>
                </a14:m>
                <a:r>
                  <a:rPr lang="en-US" sz="2000" b="0" dirty="0">
                    <a:solidFill>
                      <a:srgbClr val="4D4D4D">
                        <a:alpha val="100000"/>
                      </a:srgbClr>
                    </a:solidFill>
                    <a:latin typeface="+mn-lt"/>
                    <a:cs typeface="Arial"/>
                    <a:sym typeface="Arial"/>
                  </a:rPr>
                  <a:t>ODE</a:t>
                </a:r>
              </a:p>
            </p:txBody>
          </p:sp>
        </mc:Choice>
        <mc:Fallback xmlns="">
          <p:sp>
            <p:nvSpPr>
              <p:cNvPr id="20" name="Content Placeholder 3">
                <a:extLst>
                  <a:ext uri="{FF2B5EF4-FFF2-40B4-BE49-F238E27FC236}">
                    <a16:creationId xmlns:a16="http://schemas.microsoft.com/office/drawing/2014/main" id="{36974E9E-CDA3-3FD1-0C7E-BB942CB95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26000" y="5244689"/>
                <a:ext cx="2018011" cy="311297"/>
              </a:xfrm>
              <a:prstGeom prst="rect">
                <a:avLst/>
              </a:prstGeom>
              <a:blipFill>
                <a:blip r:embed="rId4"/>
                <a:stretch>
                  <a:fillRect l="-7251" t="-27451" r="-4532" b="-4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872FC28-79F4-C04D-4AD6-936A7BE9586D}"/>
              </a:ext>
            </a:extLst>
          </p:cNvPr>
          <p:cNvSpPr/>
          <p:nvPr/>
        </p:nvSpPr>
        <p:spPr>
          <a:xfrm>
            <a:off x="716972" y="2276856"/>
            <a:ext cx="9615748" cy="62179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dirty="0" err="1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851254-5FC9-BB11-4C61-B9D050CA3053}"/>
              </a:ext>
            </a:extLst>
          </p:cNvPr>
          <p:cNvSpPr/>
          <p:nvPr/>
        </p:nvSpPr>
        <p:spPr>
          <a:xfrm>
            <a:off x="716972" y="3828288"/>
            <a:ext cx="9752908" cy="621792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lIns="108000" tIns="108000" rIns="108000" bIns="108000" rtlCol="0" anchor="t"/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dirty="0" err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551C8-667D-A37D-320D-0786BC6D0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3193-804E-E8C5-5BC5-6DEB5D04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3" y="227847"/>
            <a:ext cx="12122697" cy="775597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Estimation accuracy is comparable across nlmixr2, NONMEM, and VAE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EAA05-B074-0FDC-A5FC-EC827FC7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23</a:t>
            </a:fld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3">
                <a:extLst>
                  <a:ext uri="{FF2B5EF4-FFF2-40B4-BE49-F238E27FC236}">
                    <a16:creationId xmlns:a16="http://schemas.microsoft.com/office/drawing/2014/main" id="{0C2365DF-6664-FDBA-73DF-1FD2B6873718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2178417" y="5692164"/>
                <a:ext cx="8608521" cy="300788"/>
              </a:xfrm>
              <a:prstGeom prst="rect">
                <a:avLst/>
              </a:prstGeom>
            </p:spPr>
            <p:txBody>
              <a:bodyPr vert="horz" wrap="square" lIns="0" tIns="0" rIns="0" bIns="0" rtlCol="0" anchor="t"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000" b="1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5000"/>
                  </a:lnSpc>
                  <a:spcBef>
                    <a:spcPts val="0"/>
                  </a:spcBef>
                  <a:spcAft>
                    <a:spcPts val="500"/>
                  </a:spcAft>
                </a:pPr>
                <a:r>
                  <a:rPr lang="en-US" sz="2000" b="0" dirty="0">
                    <a:solidFill>
                      <a:srgbClr val="4D4D4D">
                        <a:alpha val="100000"/>
                      </a:srgbClr>
                    </a:solidFill>
                    <a:latin typeface="+mn-lt"/>
                    <a:cs typeface="Arial"/>
                    <a:sym typeface="Arial"/>
                  </a:rPr>
                  <a:t>Estimation accuracy: nlmixr2-SCM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≈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4D4D4D">
                            <a:alpha val="100000"/>
                          </a:srgbClr>
                        </a:solidFill>
                        <a:latin typeface="+mn-lt"/>
                        <a:ea typeface="Cambria Math" panose="02040503050406030204" pitchFamily="18" charset="0"/>
                        <a:cs typeface="Arial"/>
                        <a:sym typeface="Arial"/>
                      </a:rPr>
                      <m:t>PsN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4D4D4D">
                            <a:alpha val="100000"/>
                          </a:srgbClr>
                        </a:solidFill>
                        <a:latin typeface="+mn-lt"/>
                        <a:ea typeface="Cambria Math" panose="02040503050406030204" pitchFamily="18" charset="0"/>
                        <a:cs typeface="Arial"/>
                        <a:sym typeface="Arial"/>
                      </a:rPr>
                      <m:t>_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4D4D4D">
                            <a:alpha val="100000"/>
                          </a:srgbClr>
                        </a:solidFill>
                        <a:latin typeface="+mn-lt"/>
                        <a:cs typeface="Arial"/>
                        <a:sym typeface="Arial"/>
                      </a:rPr>
                      <m:t>SCM</m:t>
                    </m:r>
                    <m:r>
                      <a:rPr lang="en-US" sz="2000" b="0" i="1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≈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nlmixr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2</m:t>
                    </m:r>
                    <m:r>
                      <m:rPr>
                        <m:nor/>
                      </m:rPr>
                      <a:rPr lang="en-US" sz="2000" b="0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−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VAE</m:t>
                    </m:r>
                  </m:oMath>
                </a14:m>
                <a:endParaRPr lang="en-US" sz="2000" b="0" dirty="0">
                  <a:solidFill>
                    <a:srgbClr val="4D4D4D">
                      <a:alpha val="100000"/>
                    </a:srgbClr>
                  </a:solidFill>
                  <a:latin typeface="+mn-lt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9" name="Content Placeholder 3">
                <a:extLst>
                  <a:ext uri="{FF2B5EF4-FFF2-40B4-BE49-F238E27FC236}">
                    <a16:creationId xmlns:a16="http://schemas.microsoft.com/office/drawing/2014/main" id="{0C2365DF-6664-FDBA-73DF-1FD2B6873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78417" y="5692164"/>
                <a:ext cx="8608521" cy="300788"/>
              </a:xfrm>
              <a:prstGeom prst="rect">
                <a:avLst/>
              </a:prstGeom>
              <a:blipFill>
                <a:blip r:embed="rId3"/>
                <a:stretch>
                  <a:fillRect l="-1769" t="-28571" b="-5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4F5158C-A8CC-D1AD-8E7B-1D956DB35B86}"/>
              </a:ext>
            </a:extLst>
          </p:cNvPr>
          <p:cNvGrpSpPr/>
          <p:nvPr/>
        </p:nvGrpSpPr>
        <p:grpSpPr>
          <a:xfrm>
            <a:off x="925831" y="810403"/>
            <a:ext cx="9861107" cy="4730409"/>
            <a:chOff x="885191" y="748303"/>
            <a:chExt cx="9861107" cy="498555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1C0F857-E28E-954A-CF3A-F47E0A43994F}"/>
                </a:ext>
              </a:extLst>
            </p:cNvPr>
            <p:cNvSpPr txBox="1"/>
            <p:nvPr/>
          </p:nvSpPr>
          <p:spPr>
            <a:xfrm>
              <a:off x="1152821" y="748303"/>
              <a:ext cx="34637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/>
                <a:t>Scn16 + N80 + Analytic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0C9494-869C-B64B-BEDF-332FEFB55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357"/>
            <a:stretch>
              <a:fillRect/>
            </a:stretch>
          </p:blipFill>
          <p:spPr>
            <a:xfrm>
              <a:off x="6004248" y="1198430"/>
              <a:ext cx="4742050" cy="453542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A1DAC9-6005-4074-1A62-796B9BAE3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4051"/>
            <a:stretch>
              <a:fillRect/>
            </a:stretch>
          </p:blipFill>
          <p:spPr>
            <a:xfrm>
              <a:off x="885191" y="1148413"/>
              <a:ext cx="4555294" cy="454829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11A295B-E49B-D0C6-E8B7-67E965735392}"/>
              </a:ext>
            </a:extLst>
          </p:cNvPr>
          <p:cNvGrpSpPr/>
          <p:nvPr/>
        </p:nvGrpSpPr>
        <p:grpSpPr>
          <a:xfrm>
            <a:off x="2500868" y="6122536"/>
            <a:ext cx="8733555" cy="560000"/>
            <a:chOff x="880000" y="5195331"/>
            <a:chExt cx="9400001" cy="560000"/>
          </a:xfrm>
        </p:grpSpPr>
        <p:sp>
          <p:nvSpPr>
            <p:cNvPr id="9" name="pill90">
              <a:extLst>
                <a:ext uri="{FF2B5EF4-FFF2-40B4-BE49-F238E27FC236}">
                  <a16:creationId xmlns:a16="http://schemas.microsoft.com/office/drawing/2014/main" id="{C43E07E8-4341-68FF-F43A-55A35E461997}"/>
                </a:ext>
              </a:extLst>
            </p:cNvPr>
            <p:cNvSpPr/>
            <p:nvPr/>
          </p:nvSpPr>
          <p:spPr>
            <a:xfrm>
              <a:off x="5580000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cs typeface="Arial"/>
                </a:rPr>
                <a:t>3 Accuracy</a:t>
              </a:r>
            </a:p>
          </p:txBody>
        </p:sp>
        <p:sp>
          <p:nvSpPr>
            <p:cNvPr id="10" name="pill91">
              <a:extLst>
                <a:ext uri="{FF2B5EF4-FFF2-40B4-BE49-F238E27FC236}">
                  <a16:creationId xmlns:a16="http://schemas.microsoft.com/office/drawing/2014/main" id="{38244845-5ED0-3CD8-EAB2-B541276AA3FB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dirty="0">
                  <a:solidFill>
                    <a:schemeClr val="accent4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1" name="pill92">
              <a:extLst>
                <a:ext uri="{FF2B5EF4-FFF2-40B4-BE49-F238E27FC236}">
                  <a16:creationId xmlns:a16="http://schemas.microsoft.com/office/drawing/2014/main" id="{AF2EB2C5-05B4-B86D-2A10-D1BAFA679596}"/>
                </a:ext>
              </a:extLst>
            </p:cNvPr>
            <p:cNvSpPr/>
            <p:nvPr/>
          </p:nvSpPr>
          <p:spPr>
            <a:xfrm>
              <a:off x="3229999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12" name="pill93">
              <a:extLst>
                <a:ext uri="{FF2B5EF4-FFF2-40B4-BE49-F238E27FC236}">
                  <a16:creationId xmlns:a16="http://schemas.microsoft.com/office/drawing/2014/main" id="{D394B9F6-065D-76BA-2C9E-9EA15E3FD39E}"/>
                </a:ext>
              </a:extLst>
            </p:cNvPr>
            <p:cNvSpPr/>
            <p:nvPr/>
          </p:nvSpPr>
          <p:spPr>
            <a:xfrm>
              <a:off x="7930001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4  Runtime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4138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D714-2C60-FDF8-C2DB-AB845881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1DC375-DC03-8213-1FB6-839B590B27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85759" y="313632"/>
            <a:ext cx="12448864" cy="387798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The VAE </a:t>
            </a:r>
            <a:r>
              <a:rPr lang="en-US" sz="2800" dirty="0">
                <a:solidFill>
                  <a:srgbClr val="0460A9"/>
                </a:solidFill>
                <a:latin typeface="Arial"/>
                <a:cs typeface="Arial"/>
              </a:rPr>
              <a:t>can be substantially than </a:t>
            </a:r>
            <a:r>
              <a:rPr lang="en-US" sz="2800" b="1" dirty="0">
                <a:solidFill>
                  <a:srgbClr val="0460A9"/>
                </a:solidFill>
                <a:latin typeface="Arial"/>
                <a:cs typeface="Arial"/>
              </a:rPr>
              <a:t>NONMEM-SCM_ODE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ED25E-E6CD-8ACE-9C52-38F2A0ADA62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BA458-C418-3F07-B19B-67CD32CCB4D1}"/>
                  </a:ext>
                </a:extLst>
              </p:cNvPr>
              <p:cNvSpPr txBox="1"/>
              <p:nvPr/>
            </p:nvSpPr>
            <p:spPr>
              <a:xfrm>
                <a:off x="513556" y="3387200"/>
                <a:ext cx="434599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Analytic:</a:t>
                </a:r>
              </a:p>
              <a:p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VAE   &lt;</a:t>
                </a:r>
                <a:r>
                  <a:rPr lang="en-US" b="1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4D4D4D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  <a:sym typeface="Arial"/>
                      </a:rPr>
                      <m:t> 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4D4D4D">
                            <a:alpha val="100000"/>
                          </a:srgbClr>
                        </a:solidFill>
                        <a:ea typeface="Cambria Math" panose="02040503050406030204" pitchFamily="18" charset="0"/>
                        <a:cs typeface="Arial"/>
                        <a:sym typeface="Arial"/>
                      </a:rPr>
                      <m:t>PsN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4D4D4D">
                            <a:alpha val="100000"/>
                          </a:srgbClr>
                        </a:solidFill>
                        <a:ea typeface="Cambria Math" panose="02040503050406030204" pitchFamily="18" charset="0"/>
                        <a:cs typeface="Arial"/>
                        <a:sym typeface="Arial"/>
                      </a:rPr>
                      <m:t>_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SCM</m:t>
                    </m:r>
                  </m:oMath>
                </a14:m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 ≤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nlmixr2-SCM </a:t>
                </a:r>
                <a:b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</a:b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(1min)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      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(~5min)       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(~12min)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BA458-C418-3F07-B19B-67CD32CCB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56" y="3387200"/>
                <a:ext cx="4345992" cy="923330"/>
              </a:xfrm>
              <a:prstGeom prst="rect">
                <a:avLst/>
              </a:prstGeom>
              <a:blipFill>
                <a:blip r:embed="rId3"/>
                <a:stretch>
                  <a:fillRect l="-1122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B27406-044C-A304-01B2-8C6D8D6EF85F}"/>
                  </a:ext>
                </a:extLst>
              </p:cNvPr>
              <p:cNvSpPr txBox="1"/>
              <p:nvPr/>
            </p:nvSpPr>
            <p:spPr>
              <a:xfrm>
                <a:off x="566928" y="4530634"/>
                <a:ext cx="423924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ODE:</a:t>
                </a:r>
              </a:p>
              <a:p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VAE   &lt;</a:t>
                </a:r>
                <a:r>
                  <a:rPr lang="en-US" b="1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nlmixr2-SCM&lt;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>
                        <a:solidFill>
                          <a:srgbClr val="4D4D4D">
                            <a:alpha val="100000"/>
                          </a:srgbClr>
                        </a:solidFill>
                        <a:ea typeface="Cambria Math" panose="02040503050406030204" pitchFamily="18" charset="0"/>
                        <a:cs typeface="Arial"/>
                        <a:sym typeface="Arial"/>
                      </a:rPr>
                      <m:t>PsN</m:t>
                    </m:r>
                    <m:r>
                      <m:rPr>
                        <m:nor/>
                      </m:rPr>
                      <a:rPr lang="en-US" i="0">
                        <a:solidFill>
                          <a:srgbClr val="4D4D4D">
                            <a:alpha val="100000"/>
                          </a:srgbClr>
                        </a:solidFill>
                        <a:ea typeface="Cambria Math" panose="02040503050406030204" pitchFamily="18" charset="0"/>
                        <a:cs typeface="Arial"/>
                        <a:sym typeface="Arial"/>
                      </a:rPr>
                      <m:t>_</m:t>
                    </m:r>
                    <m:r>
                      <m:rPr>
                        <m:nor/>
                      </m:rPr>
                      <a:rPr lang="en-US" i="0" dirty="0">
                        <a:solidFill>
                          <a:srgbClr val="4D4D4D">
                            <a:alpha val="100000"/>
                          </a:srgbClr>
                        </a:solidFill>
                        <a:cs typeface="Arial"/>
                        <a:sym typeface="Arial"/>
                      </a:rPr>
                      <m:t>SCM</m:t>
                    </m:r>
                  </m:oMath>
                </a14:m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 </a:t>
                </a:r>
                <a:b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</a:b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  <a:sym typeface="Arial"/>
                  </a:rPr>
                  <a:t>(1min)      (~20min)       </a:t>
                </a:r>
                <a:r>
                  <a:rPr lang="en-US" dirty="0">
                    <a:solidFill>
                      <a:srgbClr val="4D4D4D">
                        <a:alpha val="100000"/>
                      </a:srgbClr>
                    </a:solidFill>
                    <a:cs typeface="Arial"/>
                  </a:rPr>
                  <a:t>(~120 min)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B27406-044C-A304-01B2-8C6D8D6EF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4530634"/>
                <a:ext cx="4239248" cy="923330"/>
              </a:xfrm>
              <a:prstGeom prst="rect">
                <a:avLst/>
              </a:prstGeom>
              <a:blipFill>
                <a:blip r:embed="rId4"/>
                <a:stretch>
                  <a:fillRect l="-1151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0" name="slidenum_fn">
            <a:extLst>
              <a:ext uri="{FF2B5EF4-FFF2-40B4-BE49-F238E27FC236}">
                <a16:creationId xmlns:a16="http://schemas.microsoft.com/office/drawing/2014/main" id="{372BAF25-84F7-C12A-1A4F-25BA5432FC02}"/>
              </a:ext>
            </a:extLst>
          </p:cNvPr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25F68982-B90A-4633-8556-FC757573F748}" type="slidenum">
              <a:rPr lang="en-US" sz="1000">
                <a:solidFill>
                  <a:srgbClr val="8A8A8A"/>
                </a:solidFill>
                <a:latin typeface="Arial"/>
              </a:rPr>
              <a:t>24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CDDF1-5250-6A0E-24DC-2FCF69E07A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731"/>
          <a:stretch>
            <a:fillRect/>
          </a:stretch>
        </p:blipFill>
        <p:spPr>
          <a:xfrm>
            <a:off x="4763402" y="831959"/>
            <a:ext cx="6635713" cy="5110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6DEDEC-2DC3-2B56-788B-17D541F27383}"/>
              </a:ext>
            </a:extLst>
          </p:cNvPr>
          <p:cNvSpPr txBox="1"/>
          <p:nvPr/>
        </p:nvSpPr>
        <p:spPr>
          <a:xfrm>
            <a:off x="809047" y="1100499"/>
            <a:ext cx="1972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4 CPU cores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B91552-2DB1-7041-3142-1896140E26F8}"/>
              </a:ext>
            </a:extLst>
          </p:cNvPr>
          <p:cNvGrpSpPr/>
          <p:nvPr/>
        </p:nvGrpSpPr>
        <p:grpSpPr>
          <a:xfrm>
            <a:off x="2622788" y="6238904"/>
            <a:ext cx="8733555" cy="451095"/>
            <a:chOff x="880000" y="5195331"/>
            <a:chExt cx="9400001" cy="560000"/>
          </a:xfrm>
        </p:grpSpPr>
        <p:sp>
          <p:nvSpPr>
            <p:cNvPr id="7" name="pill90">
              <a:extLst>
                <a:ext uri="{FF2B5EF4-FFF2-40B4-BE49-F238E27FC236}">
                  <a16:creationId xmlns:a16="http://schemas.microsoft.com/office/drawing/2014/main" id="{8F4F6C05-FB1B-0C86-7FF6-5035963D042E}"/>
                </a:ext>
              </a:extLst>
            </p:cNvPr>
            <p:cNvSpPr/>
            <p:nvPr/>
          </p:nvSpPr>
          <p:spPr>
            <a:xfrm>
              <a:off x="7930000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Arial"/>
                  <a:cs typeface="Arial"/>
                </a:rPr>
                <a:t>4 Runtime</a:t>
              </a:r>
            </a:p>
          </p:txBody>
        </p:sp>
        <p:sp>
          <p:nvSpPr>
            <p:cNvPr id="9" name="pill91">
              <a:extLst>
                <a:ext uri="{FF2B5EF4-FFF2-40B4-BE49-F238E27FC236}">
                  <a16:creationId xmlns:a16="http://schemas.microsoft.com/office/drawing/2014/main" id="{1B0BDD10-D28C-EB4E-A7DE-0B486F97899F}"/>
                </a:ext>
              </a:extLst>
            </p:cNvPr>
            <p:cNvSpPr/>
            <p:nvPr/>
          </p:nvSpPr>
          <p:spPr>
            <a:xfrm>
              <a:off x="880000" y="5195331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dirty="0">
                  <a:solidFill>
                    <a:schemeClr val="accent4"/>
                  </a:solidFill>
                  <a:latin typeface="Arial"/>
                  <a:cs typeface="Arial"/>
                </a:rPr>
                <a:t>1 Reliability</a:t>
              </a:r>
            </a:p>
          </p:txBody>
        </p:sp>
        <p:sp>
          <p:nvSpPr>
            <p:cNvPr id="10" name="pill92">
              <a:extLst>
                <a:ext uri="{FF2B5EF4-FFF2-40B4-BE49-F238E27FC236}">
                  <a16:creationId xmlns:a16="http://schemas.microsoft.com/office/drawing/2014/main" id="{77D8F1FA-6EE1-6F9C-9F55-0367105AFEBD}"/>
                </a:ext>
              </a:extLst>
            </p:cNvPr>
            <p:cNvSpPr/>
            <p:nvPr/>
          </p:nvSpPr>
          <p:spPr>
            <a:xfrm>
              <a:off x="3229999" y="5195331"/>
              <a:ext cx="2350001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2 Power</a:t>
              </a:r>
            </a:p>
          </p:txBody>
        </p:sp>
        <p:sp>
          <p:nvSpPr>
            <p:cNvPr id="11" name="pill93">
              <a:extLst>
                <a:ext uri="{FF2B5EF4-FFF2-40B4-BE49-F238E27FC236}">
                  <a16:creationId xmlns:a16="http://schemas.microsoft.com/office/drawing/2014/main" id="{433DA86E-9D29-3638-F6EB-71A1AE67A5B5}"/>
                </a:ext>
              </a:extLst>
            </p:cNvPr>
            <p:cNvSpPr/>
            <p:nvPr/>
          </p:nvSpPr>
          <p:spPr>
            <a:xfrm>
              <a:off x="5580000" y="5195331"/>
              <a:ext cx="2349999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rgbClr val="6B7683"/>
                  </a:solidFill>
                  <a:latin typeface="Arial"/>
                  <a:cs typeface="Arial"/>
                </a:rPr>
                <a:t>3 Accuracy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F201BCF-FEEA-12EC-F088-A93BFC966709}"/>
              </a:ext>
            </a:extLst>
          </p:cNvPr>
          <p:cNvSpPr txBox="1"/>
          <p:nvPr/>
        </p:nvSpPr>
        <p:spPr>
          <a:xfrm>
            <a:off x="4320778" y="1673633"/>
            <a:ext cx="1269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 Log Scale</a:t>
            </a:r>
            <a:endParaRPr lang="en-US" sz="1800" b="1" dirty="0">
              <a:solidFill>
                <a:srgbClr val="4D4D4D">
                  <a:alpha val="100000"/>
                </a:srgbClr>
              </a:solidFill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7879C-2CF3-6CAA-4B22-C6CD8F4C2B48}"/>
              </a:ext>
            </a:extLst>
          </p:cNvPr>
          <p:cNvSpPr txBox="1"/>
          <p:nvPr/>
        </p:nvSpPr>
        <p:spPr>
          <a:xfrm>
            <a:off x="566928" y="1920684"/>
            <a:ext cx="47195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</a:rPr>
              <a:t>Run time: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</a:rPr>
              <a:t>VAE &lt;&lt; nlmixr2 &lt; NONMEM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</a:rPr>
              <a:t>Analytic &lt;&lt; 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</a:rPr>
              <a:t>sample size</a:t>
            </a:r>
            <a:r>
              <a:rPr lang="en-US" sz="2000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 ↓, runtime ↓</a:t>
            </a:r>
            <a:endParaRPr lang="en-US" sz="2000" dirty="0">
              <a:solidFill>
                <a:srgbClr val="4D4D4D">
                  <a:alpha val="100000"/>
                </a:srgb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2243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610DED-2B5C-A074-D18E-AC8CC006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9F3E-8BFD-4E3C-98D1-767322780FDD}" type="slidenum">
              <a:rPr lang="en-US" noProof="0" smtClean="0"/>
              <a:t>25</a:t>
            </a:fld>
            <a:endParaRPr lang="en-US" noProof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A31664D-4F13-186B-E796-67FD64E6006E}"/>
              </a:ext>
            </a:extLst>
          </p:cNvPr>
          <p:cNvSpPr txBox="1">
            <a:spLocks/>
          </p:cNvSpPr>
          <p:nvPr/>
        </p:nvSpPr>
        <p:spPr bwMode="gray">
          <a:xfrm>
            <a:off x="132419" y="359504"/>
            <a:ext cx="11927161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460A9"/>
                </a:solidFill>
                <a:latin typeface="Arial"/>
                <a:cs typeface="Arial"/>
              </a:rPr>
              <a:t>Scorecard: nlmixr2 –SCM matching NONMEM, with VAE being substantially faster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EDBBD7-18EA-68B8-87C0-82AB38B80357}"/>
              </a:ext>
            </a:extLst>
          </p:cNvPr>
          <p:cNvSpPr txBox="1"/>
          <p:nvPr/>
        </p:nvSpPr>
        <p:spPr>
          <a:xfrm>
            <a:off x="1193753" y="5512327"/>
            <a:ext cx="1154859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800"/>
              </a:spcBef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Number is median over 16 scenarios (natural units), Colored by relative change vs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PsN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-SCM (method-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PsN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)/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PsN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6159B5-01D7-486F-041B-066B45C3D575}"/>
              </a:ext>
            </a:extLst>
          </p:cNvPr>
          <p:cNvSpPr txBox="1"/>
          <p:nvPr/>
        </p:nvSpPr>
        <p:spPr>
          <a:xfrm>
            <a:off x="264839" y="5816798"/>
            <a:ext cx="1226395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800"/>
              </a:spcBef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***statistically significant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Beta_method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 ≠ 0 &amp; meaningfully different;  ≈, statistically significant but not meaningfully different (&lt;±10%)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B3F9C1-CA1D-51DB-B350-1205F89C640A}"/>
              </a:ext>
            </a:extLst>
          </p:cNvPr>
          <p:cNvGrpSpPr/>
          <p:nvPr/>
        </p:nvGrpSpPr>
        <p:grpSpPr>
          <a:xfrm>
            <a:off x="1585640" y="1027785"/>
            <a:ext cx="8462276" cy="4185593"/>
            <a:chOff x="1095782" y="1060857"/>
            <a:chExt cx="8462276" cy="418559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AB31B41-40C3-448D-31E2-DD6E2A746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167" b="6337"/>
            <a:stretch>
              <a:fillRect/>
            </a:stretch>
          </p:blipFill>
          <p:spPr>
            <a:xfrm>
              <a:off x="5660572" y="1060857"/>
              <a:ext cx="3897486" cy="418559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CD5CD95-031E-AABC-B9C8-CA0052863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" r="50946" b="6337"/>
            <a:stretch>
              <a:fillRect/>
            </a:stretch>
          </p:blipFill>
          <p:spPr>
            <a:xfrm>
              <a:off x="1095782" y="1060857"/>
              <a:ext cx="4570233" cy="4185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9803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84"/>
          <p:cNvSpPr txBox="1"/>
          <p:nvPr/>
        </p:nvSpPr>
        <p:spPr>
          <a:xfrm>
            <a:off x="710000" y="4180000"/>
            <a:ext cx="8600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endParaRPr lang="en-US" sz="1650" b="0" dirty="0">
              <a:solidFill>
                <a:srgbClr val="6B7683"/>
              </a:solidFill>
              <a:latin typeface="Arial"/>
              <a:cs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DB2F0-804D-6F43-00EE-2AB318EE981E}"/>
              </a:ext>
            </a:extLst>
          </p:cNvPr>
          <p:cNvGrpSpPr/>
          <p:nvPr/>
        </p:nvGrpSpPr>
        <p:grpSpPr>
          <a:xfrm>
            <a:off x="2496916" y="6130000"/>
            <a:ext cx="8600000" cy="560000"/>
            <a:chOff x="700000" y="5150000"/>
            <a:chExt cx="9400000" cy="560000"/>
          </a:xfrm>
        </p:grpSpPr>
        <p:sp>
          <p:nvSpPr>
            <p:cNvPr id="90" name="pill90"/>
            <p:cNvSpPr/>
            <p:nvPr/>
          </p:nvSpPr>
          <p:spPr>
            <a:xfrm>
              <a:off x="70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1  Background</a:t>
              </a:r>
            </a:p>
          </p:txBody>
        </p:sp>
        <p:sp>
          <p:nvSpPr>
            <p:cNvPr id="91" name="pill91"/>
            <p:cNvSpPr/>
            <p:nvPr/>
          </p:nvSpPr>
          <p:spPr>
            <a:xfrm>
              <a:off x="305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2  Methods</a:t>
              </a:r>
            </a:p>
          </p:txBody>
        </p:sp>
        <p:sp>
          <p:nvSpPr>
            <p:cNvPr id="92" name="pill92"/>
            <p:cNvSpPr/>
            <p:nvPr/>
          </p:nvSpPr>
          <p:spPr>
            <a:xfrm>
              <a:off x="540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F0F3F7"/>
            </a:solidFill>
            <a:ln w="9525">
              <a:solidFill>
                <a:srgbClr val="D6E2F0"/>
              </a:solidFill>
            </a:ln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0" dirty="0">
                  <a:solidFill>
                    <a:srgbClr val="6B7683"/>
                  </a:solidFill>
                  <a:latin typeface="Arial"/>
                  <a:cs typeface="Arial"/>
                </a:rPr>
                <a:t>3  Results</a:t>
              </a:r>
            </a:p>
          </p:txBody>
        </p:sp>
        <p:sp>
          <p:nvSpPr>
            <p:cNvPr id="93" name="pill93"/>
            <p:cNvSpPr/>
            <p:nvPr/>
          </p:nvSpPr>
          <p:spPr>
            <a:xfrm>
              <a:off x="7750000" y="5150000"/>
              <a:ext cx="2350000" cy="560000"/>
            </a:xfrm>
            <a:prstGeom prst="roundRect">
              <a:avLst>
                <a:gd name="adj" fmla="val 30000"/>
              </a:avLst>
            </a:prstGeom>
            <a:solidFill>
              <a:srgbClr val="0460A9"/>
            </a:solidFill>
          </p:spPr>
          <p:txBody>
            <a:bodyPr lIns="91440" tIns="0" rIns="45720" bIns="0" anchor="ctr"/>
            <a:lstStyle/>
            <a:p>
              <a:pPr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Arial"/>
                  <a:cs typeface="Arial"/>
                </a:rPr>
                <a:t>4  Discussion</a:t>
              </a:r>
            </a:p>
          </p:txBody>
        </p: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38AE6FE7-CBD0-4E77-961F-30680C7C68F4}" type="slidenum">
              <a:rPr lang="en-US" sz="1000">
                <a:solidFill>
                  <a:srgbClr val="8A8A8A"/>
                </a:solidFill>
                <a:latin typeface="Arial"/>
              </a:rPr>
              <a:t>26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302E2-BFBD-6A1B-9983-DF13787EB2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13" t="8270" r="5002" b="17996"/>
          <a:stretch>
            <a:fillRect/>
          </a:stretch>
        </p:blipFill>
        <p:spPr>
          <a:xfrm>
            <a:off x="912869" y="503836"/>
            <a:ext cx="9889318" cy="51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460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60520" y="307892"/>
            <a:ext cx="11670960" cy="443198"/>
          </a:xfrm>
        </p:spPr>
        <p:txBody>
          <a:bodyPr/>
          <a:lstStyle/>
          <a:p>
            <a:r>
              <a:rPr lang="en-US" sz="3200" dirty="0">
                <a:solidFill>
                  <a:srgbClr val="0460A9"/>
                </a:solidFill>
                <a:cs typeface="Arial"/>
              </a:rPr>
              <a:t>Collinearity and Small samples </a:t>
            </a:r>
            <a:r>
              <a:rPr lang="en-US" sz="3200" b="1" dirty="0">
                <a:solidFill>
                  <a:srgbClr val="0460A9"/>
                </a:solidFill>
                <a:latin typeface="Arial"/>
                <a:cs typeface="Arial"/>
              </a:rPr>
              <a:t>remain the main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871637" y="1216315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4717F29-6E15-2B93-0869-6EBAB6E32BDD}"/>
              </a:ext>
            </a:extLst>
          </p:cNvPr>
          <p:cNvSpPr txBox="1">
            <a:spLocks/>
          </p:cNvSpPr>
          <p:nvPr/>
        </p:nvSpPr>
        <p:spPr bwMode="gray">
          <a:xfrm>
            <a:off x="1463520" y="1372488"/>
            <a:ext cx="8030286" cy="68807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Competing shapes + Collinearity confound selection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→ </a:t>
            </a:r>
            <a:r>
              <a:rPr lang="en-US" altLang="zh-CN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Domian knowledge/clinical significance/biological plausibility </a:t>
            </a:r>
            <a:endParaRPr lang="en-US" sz="2000" b="0" dirty="0">
              <a:solidFill>
                <a:srgbClr val="4D4D4D">
                  <a:alpha val="100000"/>
                </a:srgb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3C26FD-885A-49D8-91E6-C62021260CFD}"/>
              </a:ext>
            </a:extLst>
          </p:cNvPr>
          <p:cNvSpPr txBox="1">
            <a:spLocks/>
          </p:cNvSpPr>
          <p:nvPr/>
        </p:nvSpPr>
        <p:spPr bwMode="gray">
          <a:xfrm>
            <a:off x="1463520" y="2406588"/>
            <a:ext cx="9128791" cy="68807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Small N sharply reduces power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lang="zh-CN" altLang="en-US" sz="2000" b="0" dirty="0">
                <a:solidFill>
                  <a:srgbClr val="4D4D4D">
                    <a:alpha val="100000"/>
                  </a:srgbClr>
                </a:solidFill>
                <a:cs typeface="Arial"/>
                <a:sym typeface="Arial"/>
              </a:rPr>
              <a:t>→  </a:t>
            </a: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Interpret covariate models cautiously </a:t>
            </a:r>
            <a:r>
              <a:rPr lang="en-US" altLang="zh-CN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for early phase clinical trials </a:t>
            </a:r>
            <a:endParaRPr lang="en-US" sz="2000" b="0" dirty="0">
              <a:solidFill>
                <a:srgbClr val="4D4D4D">
                  <a:alpha val="100000"/>
                </a:srgb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6D1C9F3-3DA5-3E03-D8A6-AB2EF11D88F8}"/>
              </a:ext>
            </a:extLst>
          </p:cNvPr>
          <p:cNvSpPr txBox="1">
            <a:spLocks/>
          </p:cNvSpPr>
          <p:nvPr/>
        </p:nvSpPr>
        <p:spPr bwMode="gray">
          <a:xfrm>
            <a:off x="1463520" y="3612946"/>
            <a:ext cx="3527819" cy="3007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Analytic solution &gt; ODE</a:t>
            </a:r>
          </a:p>
        </p:txBody>
      </p: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22ED8D28-CF8F-4D8E-BB8C-F9E10229BC27}" type="slidenum">
              <a:rPr lang="en-US" sz="1000">
                <a:solidFill>
                  <a:srgbClr val="8A8A8A"/>
                </a:solidFill>
                <a:latin typeface="Arial"/>
              </a:rPr>
              <a:t>27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60EA3EC-02F4-65E2-45A0-1CAB1F436FDD}"/>
              </a:ext>
            </a:extLst>
          </p:cNvPr>
          <p:cNvSpPr txBox="1">
            <a:spLocks/>
          </p:cNvSpPr>
          <p:nvPr/>
        </p:nvSpPr>
        <p:spPr bwMode="gray">
          <a:xfrm>
            <a:off x="1463520" y="4378836"/>
            <a:ext cx="7968916" cy="3007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2000" b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  <a:sym typeface="Arial"/>
              </a:rPr>
              <a:t>Turn on 1D profile-based warm up for complex 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51075" y="268272"/>
            <a:ext cx="12173446" cy="443198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0460A9"/>
                </a:solidFill>
                <a:latin typeface="Arial"/>
                <a:cs typeface="Arial"/>
              </a:rPr>
              <a:t>Open-source nlmixr2 SCM matches/outperforms NONMEM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566928" y="1188720"/>
            <a:ext cx="3108960" cy="64008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" b="0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DE3C8-BA6F-6A50-B2A6-73F65B477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65094"/>
            <a:ext cx="2142579" cy="21425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4BA2F97-81B5-694B-9F6E-B1E8971D2A7E}"/>
              </a:ext>
            </a:extLst>
          </p:cNvPr>
          <p:cNvSpPr txBox="1"/>
          <p:nvPr/>
        </p:nvSpPr>
        <p:spPr>
          <a:xfrm>
            <a:off x="2913077" y="1737600"/>
            <a:ext cx="4736435" cy="11285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2000" b="1" dirty="0"/>
              <a:t>SCM: </a:t>
            </a:r>
          </a:p>
          <a:p>
            <a:pPr marL="285750" indent="-28575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Comparable power &amp; accuracy</a:t>
            </a:r>
          </a:p>
          <a:p>
            <a:pPr marL="285750" indent="-285750" algn="l">
              <a:spcBef>
                <a:spcPts val="800"/>
              </a:spcBef>
              <a:buFont typeface="Wingdings" panose="05000000000000000000" pitchFamily="2" charset="2"/>
              <a:buChar char="ü"/>
            </a:pPr>
            <a:r>
              <a:rPr lang="en-US" sz="2000" dirty="0"/>
              <a:t>Faster; Better Reliability; Open source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CEE41FE-4C71-D17C-0AEC-13A368DF4CA1}"/>
              </a:ext>
            </a:extLst>
          </p:cNvPr>
          <p:cNvGrpSpPr/>
          <p:nvPr/>
        </p:nvGrpSpPr>
        <p:grpSpPr>
          <a:xfrm>
            <a:off x="3076740" y="3409901"/>
            <a:ext cx="6920394" cy="1494408"/>
            <a:chOff x="3076740" y="3406297"/>
            <a:chExt cx="6920394" cy="149440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72015B-7F9D-1072-7239-9CA8D17DB509}"/>
                </a:ext>
              </a:extLst>
            </p:cNvPr>
            <p:cNvSpPr txBox="1"/>
            <p:nvPr/>
          </p:nvSpPr>
          <p:spPr>
            <a:xfrm>
              <a:off x="3129439" y="3406297"/>
              <a:ext cx="68095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800"/>
                </a:spcBef>
              </a:pPr>
              <a:r>
                <a:rPr lang="en-US" sz="2000" b="1" dirty="0"/>
                <a:t>VAE</a:t>
              </a:r>
              <a:r>
                <a:rPr lang="zh-CN" altLang="en-US" sz="2000" b="1" dirty="0"/>
                <a:t>：</a:t>
              </a:r>
              <a:endParaRPr lang="en-US" sz="2000" b="1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9A36596-6282-1405-5833-A500275AFB0C}"/>
                </a:ext>
              </a:extLst>
            </p:cNvPr>
            <p:cNvSpPr txBox="1"/>
            <p:nvPr/>
          </p:nvSpPr>
          <p:spPr>
            <a:xfrm>
              <a:off x="3076740" y="3772191"/>
              <a:ext cx="6920394" cy="11285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285750" indent="-285750" algn="l">
                <a:spcBef>
                  <a:spcPts val="800"/>
                </a:spcBef>
                <a:buFont typeface="Arial" panose="020B0604020202020204" pitchFamily="34" charset="0"/>
                <a:buChar char="•"/>
              </a:pPr>
              <a:r>
                <a:rPr lang="en-US" sz="2000" dirty="0"/>
                <a:t>Production Estimation</a:t>
              </a:r>
            </a:p>
            <a:p>
              <a:pPr marL="285750" indent="-285750" algn="l">
                <a:spcBef>
                  <a:spcPts val="800"/>
                </a:spcBef>
                <a:buFont typeface="Wingdings" panose="05000000000000000000" pitchFamily="2" charset="2"/>
                <a:buChar char="ü"/>
              </a:pPr>
              <a:r>
                <a:rPr lang="en-US" sz="2000" dirty="0"/>
                <a:t>Extremely Faster; Open source</a:t>
              </a:r>
            </a:p>
            <a:p>
              <a:pPr marL="285750" indent="-285750">
                <a:spcBef>
                  <a:spcPts val="800"/>
                </a:spcBef>
                <a:buFont typeface="Arial" panose="020B0604020202020204" pitchFamily="34" charset="0"/>
                <a:buChar char="•"/>
              </a:pPr>
              <a:r>
                <a:rPr lang="en-US" sz="2000" dirty="0"/>
                <a:t>Comparable power &amp; accuracy for easy covariate space</a:t>
              </a:r>
            </a:p>
          </p:txBody>
        </p:sp>
      </p:grpSp>
      <p:sp>
        <p:nvSpPr>
          <p:cNvPr id="960" name="slidenum_fn"/>
          <p:cNvSpPr txBox="1"/>
          <p:nvPr/>
        </p:nvSpPr>
        <p:spPr>
          <a:xfrm>
            <a:off x="11250000" y="6560000"/>
            <a:ext cx="760000" cy="26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fld id="{155F01BC-7D03-4A13-AD47-AB0D4683490D}" type="slidenum">
              <a:rPr lang="en-US" sz="1000">
                <a:solidFill>
                  <a:srgbClr val="8A8A8A"/>
                </a:solidFill>
                <a:latin typeface="Arial"/>
              </a:rPr>
              <a:t>28</a:t>
            </a:fld>
            <a:endParaRPr lang="en-US" sz="1000">
              <a:solidFill>
                <a:srgbClr val="8A8A8A"/>
              </a:solidFill>
              <a:latin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3097AE-A7CE-CD97-0F78-E403891338AB}"/>
              </a:ext>
            </a:extLst>
          </p:cNvPr>
          <p:cNvGrpSpPr/>
          <p:nvPr/>
        </p:nvGrpSpPr>
        <p:grpSpPr>
          <a:xfrm>
            <a:off x="7896014" y="2337744"/>
            <a:ext cx="3747346" cy="1438051"/>
            <a:chOff x="8009334" y="2189289"/>
            <a:chExt cx="3747346" cy="143805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694187F-F2FD-2134-7DD0-05CF50B173D3}"/>
                </a:ext>
              </a:extLst>
            </p:cNvPr>
            <p:cNvGrpSpPr/>
            <p:nvPr/>
          </p:nvGrpSpPr>
          <p:grpSpPr>
            <a:xfrm>
              <a:off x="8009334" y="2512457"/>
              <a:ext cx="3747346" cy="1114883"/>
              <a:chOff x="7812611" y="2315493"/>
              <a:chExt cx="3747346" cy="111488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B618D1B-9951-D07E-3170-9A4330E33A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9728" y="2315493"/>
                <a:ext cx="2870229" cy="1114883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82830D-F16E-58F8-8519-FA9B71959A95}"/>
                  </a:ext>
                </a:extLst>
              </p:cNvPr>
              <p:cNvSpPr txBox="1"/>
              <p:nvPr/>
            </p:nvSpPr>
            <p:spPr>
              <a:xfrm>
                <a:off x="7812611" y="2680746"/>
                <a:ext cx="6809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spcBef>
                    <a:spcPts val="800"/>
                  </a:spcBef>
                </a:pPr>
                <a:r>
                  <a:rPr lang="en-US" b="1" dirty="0"/>
                  <a:t>SCM</a:t>
                </a: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AF1321E-6122-97E4-BD37-770C36B611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5607" y="2767987"/>
                <a:ext cx="275926" cy="109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585D550-4BAB-1161-FEBB-0C7D490E4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67349" y="2189289"/>
              <a:ext cx="2308431" cy="5014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0460A9"/>
                </a:solidFill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A3527-7FF4-C76E-B720-F7544F7221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1384" y="975360"/>
            <a:ext cx="11088000" cy="4578544"/>
          </a:xfrm>
        </p:spPr>
        <p:txBody>
          <a:bodyPr/>
          <a:lstStyle/>
          <a:p>
            <a:r>
              <a:rPr lang="en-US" sz="1400" b="0" dirty="0"/>
              <a:t>1.Lane S, Al-</a:t>
            </a:r>
            <a:r>
              <a:rPr lang="en-US" sz="1400" b="0" dirty="0" err="1"/>
              <a:t>Zubiedi</a:t>
            </a:r>
            <a:r>
              <a:rPr lang="en-US" sz="1400" b="0" dirty="0"/>
              <a:t> S, Hatch E, et al. The population pharmacokinetics of R- and S-warfarin: effect of genetic and clinical factors. </a:t>
            </a:r>
            <a:r>
              <a:rPr lang="en-US" sz="1400" b="0" i="1" dirty="0"/>
              <a:t>Br J Clin </a:t>
            </a:r>
            <a:r>
              <a:rPr lang="en-US" sz="1400" b="0" i="1" dirty="0" err="1"/>
              <a:t>Pharmacol</a:t>
            </a:r>
            <a:r>
              <a:rPr lang="en-US" sz="1400" b="0" dirty="0"/>
              <a:t>. 2012;73(1):66-76. doi:10.1111/j.1365-2125.2011.04051.x</a:t>
            </a:r>
          </a:p>
          <a:p>
            <a:r>
              <a:rPr lang="en-US" sz="1400" b="0" dirty="0"/>
              <a:t>2. Ribbing J, Nyberg J, Caster O, Jonsson EN. The lasso--a novel method for predictive covariate model building in nonlinear mixed effects models. </a:t>
            </a:r>
            <a:r>
              <a:rPr lang="en-US" sz="1400" b="0" i="1" dirty="0"/>
              <a:t>J </a:t>
            </a:r>
            <a:r>
              <a:rPr lang="en-US" sz="1400" b="0" i="1" dirty="0" err="1"/>
              <a:t>Pharmacokinet</a:t>
            </a:r>
            <a:r>
              <a:rPr lang="en-US" sz="1400" b="0" i="1" dirty="0"/>
              <a:t> </a:t>
            </a:r>
            <a:r>
              <a:rPr lang="en-US" sz="1400" b="0" i="1" dirty="0" err="1"/>
              <a:t>Pharmacodyn</a:t>
            </a:r>
            <a:r>
              <a:rPr lang="en-US" sz="1400" b="0" dirty="0"/>
              <a:t>. 2007;34(4):485-517. doi:10.1007/s10928-007-9057-1</a:t>
            </a:r>
          </a:p>
          <a:p>
            <a:r>
              <a:rPr lang="en-US" sz="1400" b="0" dirty="0"/>
              <a:t>3. Karlsen M, Khier S, Fabre D, et al. Covariate Model Selection Approaches for Population Pharmacokinetics: A Systematic Review of Existing Methods, From SCM to AI. </a:t>
            </a:r>
            <a:r>
              <a:rPr lang="en-US" sz="1400" b="0" i="1" dirty="0"/>
              <a:t>CPT Pharmacometrics Syst </a:t>
            </a:r>
            <a:r>
              <a:rPr lang="en-US" sz="1400" b="0" i="1" dirty="0" err="1"/>
              <a:t>Pharmacol</a:t>
            </a:r>
            <a:r>
              <a:rPr lang="en-US" sz="1400" b="0" dirty="0"/>
              <a:t>. 2025;14(4):621-639. doi:10.1002/psp4.13306</a:t>
            </a:r>
          </a:p>
          <a:p>
            <a:r>
              <a:rPr lang="en-US" sz="1400" b="0" dirty="0"/>
              <a:t>4. Jonsson EN, Karlsson MO. Automated covariate model building within NONMEM. Pharm Res. 1998;15(9):1463-1468. doi:10.1023/a:1011970125687</a:t>
            </a:r>
          </a:p>
          <a:p>
            <a:r>
              <a:rPr lang="en-US" sz="1400" b="0" dirty="0"/>
              <a:t>5. </a:t>
            </a:r>
            <a:r>
              <a:rPr lang="en-US" sz="1400" b="0" dirty="0" err="1"/>
              <a:t>Rohleff</a:t>
            </a:r>
            <a:r>
              <a:rPr lang="en-US" sz="1400" b="0" dirty="0"/>
              <a:t> J, Bachmann F, Nahum U, et al. Redefining Parameter Estimation and Covariate Selection via Variational Autoencoders: One Run Is All You Need. CPT Pharmacometrics Syst </a:t>
            </a:r>
            <a:r>
              <a:rPr lang="en-US" sz="1400" b="0" dirty="0" err="1"/>
              <a:t>Pharmacol</a:t>
            </a:r>
            <a:r>
              <a:rPr lang="en-US" sz="1400" b="0" dirty="0"/>
              <a:t>. 2025;14(12):2232-2243. doi:10.1002/psp4.70129</a:t>
            </a:r>
          </a:p>
          <a:p>
            <a:r>
              <a:rPr lang="en-US" sz="1400" b="0" dirty="0"/>
              <a:t>6. </a:t>
            </a:r>
            <a:r>
              <a:rPr lang="en-US" sz="1400" b="0" dirty="0" err="1"/>
              <a:t>Ahamadi</a:t>
            </a:r>
            <a:r>
              <a:rPr lang="en-US" sz="1400" b="0" dirty="0"/>
              <a:t> M, </a:t>
            </a:r>
            <a:r>
              <a:rPr lang="en-US" sz="1400" b="0" dirty="0" err="1"/>
              <a:t>Largajolli</a:t>
            </a:r>
            <a:r>
              <a:rPr lang="en-US" sz="1400" b="0" dirty="0"/>
              <a:t> A, Diderichsen PM, et al. Operating characteristics of stepwise covariate selection in </a:t>
            </a:r>
            <a:r>
              <a:rPr lang="en-US" sz="1400" b="0" dirty="0" err="1"/>
              <a:t>pharmacometric</a:t>
            </a:r>
            <a:r>
              <a:rPr lang="en-US" sz="1400" b="0" dirty="0"/>
              <a:t> modeling. J </a:t>
            </a:r>
            <a:r>
              <a:rPr lang="en-US" sz="1400" b="0" dirty="0" err="1"/>
              <a:t>Pharmacokinet</a:t>
            </a:r>
            <a:r>
              <a:rPr lang="en-US" sz="1400" b="0" dirty="0"/>
              <a:t> </a:t>
            </a:r>
            <a:r>
              <a:rPr lang="en-US" sz="1400" b="0" dirty="0" err="1"/>
              <a:t>Pharmacodyn</a:t>
            </a:r>
            <a:r>
              <a:rPr lang="en-US" sz="1400" b="0" dirty="0"/>
              <a:t>. 2019;46(3):273-285. doi:10.1007/s10928-019-09635-6</a:t>
            </a:r>
          </a:p>
          <a:p>
            <a:r>
              <a:rPr lang="en-US" sz="1400" b="0" dirty="0"/>
              <a:t>7. https://github.com/nlmixr2/nlmixr2/blob/main/vignettes/articles/vaeNeonatal.Rmd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25F3-DB06-577B-3ED0-AA9E5AC3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A6531-0A95-DAB8-FFBE-B912968F143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82880" y="385785"/>
            <a:ext cx="3825240" cy="461665"/>
          </a:xfrm>
        </p:spPr>
        <p:txBody>
          <a:bodyPr/>
          <a:lstStyle/>
          <a:p>
            <a:pPr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0460A9"/>
                </a:solidFill>
                <a:sym typeface="Arial"/>
              </a:rPr>
              <a:t>Acknowledgement</a:t>
            </a:r>
            <a:r>
              <a:rPr lang="en-US" sz="2800" dirty="0">
                <a:latin typeface="Arial"/>
                <a:cs typeface="Arial"/>
                <a:sym typeface="Arial"/>
              </a:rPr>
              <a:t> </a:t>
            </a:r>
            <a:endParaRPr sz="2800" b="1" i="0" u="none" strike="noStrike" cap="none" dirty="0"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4EC8A-06A2-1CF6-1021-FDA732BCD4CB}"/>
              </a:ext>
            </a:extLst>
          </p:cNvPr>
          <p:cNvSpPr txBox="1"/>
          <p:nvPr/>
        </p:nvSpPr>
        <p:spPr>
          <a:xfrm>
            <a:off x="1066801" y="1262742"/>
            <a:ext cx="8001000" cy="1949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Matt Fidler</a:t>
            </a:r>
          </a:p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Justin Wilkins and the rest nlmixr2 development team</a:t>
            </a:r>
          </a:p>
          <a:p>
            <a:pPr marL="180000" indent="-1800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PMX, PKS, AQS team</a:t>
            </a:r>
          </a:p>
          <a:p>
            <a:pPr marL="180000" indent="-1800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Talent acquisition team</a:t>
            </a:r>
          </a:p>
          <a:p>
            <a:pPr marL="180000" indent="-1800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Fellow interns</a:t>
            </a:r>
          </a:p>
        </p:txBody>
      </p:sp>
    </p:spTree>
    <p:extLst>
      <p:ext uri="{BB962C8B-B14F-4D97-AF65-F5344CB8AC3E}">
        <p14:creationId xmlns:p14="http://schemas.microsoft.com/office/powerpoint/2010/main" val="1474244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BB39-BF47-4F1E-0D61-3A0CFD42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1DAB3E-1780-9C0E-F9B5-E5DB6F5E78A0}"/>
              </a:ext>
            </a:extLst>
          </p:cNvPr>
          <p:cNvSpPr txBox="1">
            <a:spLocks/>
          </p:cNvSpPr>
          <p:nvPr/>
        </p:nvSpPr>
        <p:spPr bwMode="gray">
          <a:xfrm>
            <a:off x="1689462" y="2161868"/>
            <a:ext cx="8813075" cy="135421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9600" b="1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ym typeface="Arial"/>
              </a:rPr>
              <a:t>Thank you for your attention! </a:t>
            </a:r>
            <a:br>
              <a:rPr lang="en-US" sz="4400" dirty="0">
                <a:sym typeface="Arial"/>
              </a:rPr>
            </a:br>
            <a:r>
              <a:rPr lang="en-US" sz="4400" dirty="0">
                <a:sym typeface="Arial"/>
              </a:rPr>
              <a:t>Any questions?</a:t>
            </a:r>
            <a:endParaRPr lang="en-US" sz="4400" dirty="0"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2945330"/>
      </p:ext>
    </p:extLst>
  </p:cSld>
  <p:clrMapOvr>
    <a:masterClrMapping/>
  </p:clrMapOvr>
</p:sld>
</file>

<file path=ppt/theme/theme1.xml><?xml version="1.0" encoding="utf-8"?>
<a:theme xmlns:a="http://schemas.openxmlformats.org/drawingml/2006/main" name="Novartis PPT Master ARIAL">
  <a:themeElements>
    <a:clrScheme name="Novartis 2025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Novartis 2025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108000" rIns="108000" bIns="108000" rtlCol="0" anchor="t"/>
      <a:lstStyle>
        <a:defPPr marL="180000" indent="-180000" algn="l">
          <a:spcBef>
            <a:spcPts val="800"/>
          </a:spcBef>
          <a:buFont typeface="Arial" panose="020B0604020202020204" pitchFamily="34" charset="0"/>
          <a:buChar char="•"/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80000" indent="-180000" algn="l">
          <a:spcBef>
            <a:spcPts val="800"/>
          </a:spcBef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custClrLst>
    <a:custClr>
      <a:srgbClr val="FB692E"/>
    </a:custClr>
    <a:custClr>
      <a:srgbClr val="C9D9F9"/>
    </a:custClr>
  </a:custClrLst>
  <a:extLst>
    <a:ext uri="{05A4C25C-085E-4340-85A3-A5531E510DB2}">
      <thm15:themeFamily xmlns:thm15="http://schemas.microsoft.com/office/thememl/2012/main" name="Novartis PowerPoint" id="{46FD7BFE-C972-1446-9555-CBDA807834FC}" vid="{71B7A1DA-CA9E-CE4E-99A9-0C1B3863930A}"/>
    </a:ext>
  </a:extLst>
</a:theme>
</file>

<file path=ppt/theme/theme2.xml><?xml version="1.0" encoding="utf-8"?>
<a:theme xmlns:a="http://schemas.openxmlformats.org/drawingml/2006/main" name="Office Theme">
  <a:themeElements>
    <a:clrScheme name="Novartis 2025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Novartis 2025 (Volta Modern Display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Novartis 2025">
      <a:dk1>
        <a:srgbClr val="161616"/>
      </a:dk1>
      <a:lt1>
        <a:srgbClr val="FCFCFC"/>
      </a:lt1>
      <a:dk2>
        <a:srgbClr val="484848"/>
      </a:dk2>
      <a:lt2>
        <a:srgbClr val="F2F2F2"/>
      </a:lt2>
      <a:accent1>
        <a:srgbClr val="FF4E00"/>
      </a:accent1>
      <a:accent2>
        <a:srgbClr val="161616"/>
      </a:accent2>
      <a:accent3>
        <a:srgbClr val="484848"/>
      </a:accent3>
      <a:accent4>
        <a:srgbClr val="7A7A7A"/>
      </a:accent4>
      <a:accent5>
        <a:srgbClr val="ACACAC"/>
      </a:accent5>
      <a:accent6>
        <a:srgbClr val="DADADA"/>
      </a:accent6>
      <a:hlink>
        <a:srgbClr val="161616"/>
      </a:hlink>
      <a:folHlink>
        <a:srgbClr val="7A7A7A"/>
      </a:folHlink>
    </a:clrScheme>
    <a:fontScheme name="Novartis 2025 (Volta Modern Display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94cfd0-68c5-4772-acf8-0efd60032a32">
      <Terms xmlns="http://schemas.microsoft.com/office/infopath/2007/PartnerControls"/>
    </lcf76f155ced4ddcb4097134ff3c332f>
    <TaxCatchAll xmlns="0075bf4a-16ce-455a-b3a1-8efc3c3110cd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EE18855803214AA5E0FC51F85890E7" ma:contentTypeVersion="18" ma:contentTypeDescription="Create a new document." ma:contentTypeScope="" ma:versionID="9c0f61c24a7c323754b6846d9fdf8c58">
  <xsd:schema xmlns:xsd="http://www.w3.org/2001/XMLSchema" xmlns:xs="http://www.w3.org/2001/XMLSchema" xmlns:p="http://schemas.microsoft.com/office/2006/metadata/properties" xmlns:ns1="http://schemas.microsoft.com/sharepoint/v3" xmlns:ns2="3d94cfd0-68c5-4772-acf8-0efd60032a32" xmlns:ns3="0075bf4a-16ce-455a-b3a1-8efc3c3110cd" targetNamespace="http://schemas.microsoft.com/office/2006/metadata/properties" ma:root="true" ma:fieldsID="41860999f9452597cf5a3e5207c5125b" ns1:_="" ns2:_="" ns3:_="">
    <xsd:import namespace="http://schemas.microsoft.com/sharepoint/v3"/>
    <xsd:import namespace="3d94cfd0-68c5-4772-acf8-0efd60032a32"/>
    <xsd:import namespace="0075bf4a-16ce-455a-b3a1-8efc3c3110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94cfd0-68c5-4772-acf8-0efd60032a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37bc47b-3997-4ccb-824d-08e9c3bde3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5bf4a-16ce-455a-b3a1-8efc3c3110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9ce149-b227-4180-a7fb-58c7ec1a4aee}" ma:internalName="TaxCatchAll" ma:showField="CatchAllData" ma:web="0075bf4a-16ce-455a-b3a1-8efc3c3110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AF6954-E829-4A38-AEF5-67B8B044C0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5B503F-9CBD-45A1-A1B7-0167040F5B56}">
  <ds:schemaRefs>
    <ds:schemaRef ds:uri="http://schemas.microsoft.com/sharepoint/v3"/>
    <ds:schemaRef ds:uri="http://purl.org/dc/dcmitype/"/>
    <ds:schemaRef ds:uri="http://schemas.openxmlformats.org/package/2006/metadata/core-properties"/>
    <ds:schemaRef ds:uri="3d94cfd0-68c5-4772-acf8-0efd60032a32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0075bf4a-16ce-455a-b3a1-8efc3c3110cd"/>
  </ds:schemaRefs>
</ds:datastoreItem>
</file>

<file path=customXml/itemProps3.xml><?xml version="1.0" encoding="utf-8"?>
<ds:datastoreItem xmlns:ds="http://schemas.openxmlformats.org/officeDocument/2006/customXml" ds:itemID="{20EB0F3C-964D-403A-9F6D-19B038293CEA}">
  <ds:schemaRefs>
    <ds:schemaRef ds:uri="0075bf4a-16ce-455a-b3a1-8efc3c3110cd"/>
    <ds:schemaRef ds:uri="3d94cfd0-68c5-4772-acf8-0efd60032a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c9bec58-8084-492e-8360-0e1cfe36408c}" enabled="1" method="Privileged" siteId="{f35a6974-607f-47d4-82d7-ff31d7dc53a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9352</TotalTime>
  <Words>2350</Words>
  <Application>Microsoft Office PowerPoint</Application>
  <PresentationFormat>Widescreen</PresentationFormat>
  <Paragraphs>457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Cambria Math</vt:lpstr>
      <vt:lpstr>Wingdings</vt:lpstr>
      <vt:lpstr>Novartis PPT Master ARIAL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Simulated datasets retained the correlation structure from NHAENS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Estimation accuracy is comparable across nlmixr2, NONMEM, and VAE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Manager>Name Surname</Manager>
  <Company>Novartis Pharma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Yaping (Ext)</dc:creator>
  <dc:description>PowerPoint template optimised for Windows Office version 2016 and Office 365</dc:description>
  <cp:lastModifiedBy>Liu, Yaping (Ext)</cp:lastModifiedBy>
  <cp:revision>72</cp:revision>
  <dcterms:created xsi:type="dcterms:W3CDTF">2026-07-29T18:55:15Z</dcterms:created>
  <dcterms:modified xsi:type="dcterms:W3CDTF">2026-08-18T14:31:00Z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0x010100DCEE18855803214AA5E0FC51F85890E7</vt:lpwstr>
  </property>
  <property fmtid="{D5CDD505-2E9C-101B-9397-08002B2CF9AE}" pid="3" name="MediaServiceImageTags">
    <vt:lpwstr/>
  </property>
</Properties>
</file>