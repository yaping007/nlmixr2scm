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342" r:id="rId7"/>
    <p:sldId id="343" r:id="rId8"/>
    <p:sldId id="329" r:id="rId9"/>
    <p:sldId id="344" r:id="rId10"/>
    <p:sldId id="345" r:id="rId11"/>
    <p:sldId id="346" r:id="rId12"/>
    <p:sldId id="338" r:id="rId13"/>
    <p:sldId id="348" r:id="rId14"/>
    <p:sldId id="349" r:id="rId15"/>
    <p:sldId id="341" r:id="rId16"/>
    <p:sldId id="35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MX forum" id="{AC86C2E8-9EAB-498E-A758-3891612A56AC}">
          <p14:sldIdLst>
            <p14:sldId id="256"/>
            <p14:sldId id="257"/>
            <p14:sldId id="342"/>
            <p14:sldId id="343"/>
            <p14:sldId id="329"/>
            <p14:sldId id="344"/>
            <p14:sldId id="345"/>
            <p14:sldId id="346"/>
            <p14:sldId id="338"/>
            <p14:sldId id="348"/>
            <p14:sldId id="349"/>
            <p14:sldId id="34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pos="347" userDrawn="1">
          <p15:clr>
            <a:srgbClr val="A4A3A4"/>
          </p15:clr>
        </p15:guide>
        <p15:guide id="2" pos="7344" userDrawn="1">
          <p15:clr>
            <a:srgbClr val="A4A3A4"/>
          </p15:clr>
        </p15:guide>
        <p15:guide id="3" orient="horz" pos="1152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BA30A-662E-8E7C-3CD7-EF7344B3F2C5}" name="Faton Haziri" initials="FH" userId="Faton Haziri" providerId="None"/>
  <p188:author id="{B378B269-8605-A754-3AC8-495F9C28E95C}" name="Branigan, Lila" initials="BL" userId="S::branili1@novartis.net::bad583dd-3f17-4eb2-8c56-30a183d315c6" providerId="AD"/>
  <p188:author id="{27F403B1-BC1A-AE93-5AE1-203CAF3338D9}" name="Haziri, Faton" initials="HF" userId="S::hazirfa1@novartis.net::3052f43f-8ee3-4d23-aecc-818d51f5917c" providerId="AD"/>
  <p188:author id="{9D099CEE-101A-7E26-B0BA-40A68F97A773}" name="Davis-McHenry, Aliah" initials="DA" userId="S::davisale@novartis.net::34a4c28c-d9d9-4fbd-bbf6-8bf1f7f3c8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3F7"/>
    <a:srgbClr val="0460A9"/>
    <a:srgbClr val="1F4E79"/>
    <a:srgbClr val="790F0F"/>
    <a:srgbClr val="C9A4A1"/>
    <a:srgbClr val="FFF4EF"/>
    <a:srgbClr val="FCFCFC"/>
    <a:srgbClr val="048CFC"/>
    <a:srgbClr val="7C7C7C"/>
    <a:srgbClr val="01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3447" autoAdjust="0"/>
  </p:normalViewPr>
  <p:slideViewPr>
    <p:cSldViewPr snapToGrid="0">
      <p:cViewPr varScale="1">
        <p:scale>
          <a:sx n="62" d="100"/>
          <a:sy n="62" d="100"/>
        </p:scale>
        <p:origin x="752" y="40"/>
      </p:cViewPr>
      <p:guideLst>
        <p:guide pos="347"/>
        <p:guide pos="7344"/>
        <p:guide orient="horz" pos="1152"/>
        <p:guide orient="horz" pos="3816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Yaping (Ext)" userId="f573593e-5a6a-4224-9cde-434853a04ccb" providerId="ADAL" clId="{D3C91D9B-AA24-48F8-B517-079931D65D62}"/>
    <pc:docChg chg="undo custSel addSld delSld modSld sldOrd addSection delSection modSection">
      <pc:chgData name="Liu, Yaping (Ext)" userId="f573593e-5a6a-4224-9cde-434853a04ccb" providerId="ADAL" clId="{D3C91D9B-AA24-48F8-B517-079931D65D62}" dt="2026-08-18T18:20:44.169" v="2376" actId="18676"/>
      <pc:docMkLst>
        <pc:docMk/>
      </pc:docMkLst>
      <pc:sldChg chg="modSp mod">
        <pc:chgData name="Liu, Yaping (Ext)" userId="f573593e-5a6a-4224-9cde-434853a04ccb" providerId="ADAL" clId="{D3C91D9B-AA24-48F8-B517-079931D65D62}" dt="2026-08-16T18:26:35.869" v="2368" actId="20577"/>
        <pc:sldMkLst>
          <pc:docMk/>
          <pc:sldMk cId="0" sldId="256"/>
        </pc:sldMkLst>
        <pc:spChg chg="mod">
          <ac:chgData name="Liu, Yaping (Ext)" userId="f573593e-5a6a-4224-9cde-434853a04ccb" providerId="ADAL" clId="{D3C91D9B-AA24-48F8-B517-079931D65D62}" dt="2026-08-14T19:18:35.854" v="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iu, Yaping (Ext)" userId="f573593e-5a6a-4224-9cde-434853a04ccb" providerId="ADAL" clId="{D3C91D9B-AA24-48F8-B517-079931D65D62}" dt="2026-08-16T18:26:35.869" v="2368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add mod modAnim modNotesTx">
        <pc:chgData name="Liu, Yaping (Ext)" userId="f573593e-5a6a-4224-9cde-434853a04ccb" providerId="ADAL" clId="{D3C91D9B-AA24-48F8-B517-079931D65D62}" dt="2026-08-16T22:47:51.948" v="2369" actId="1076"/>
        <pc:sldMkLst>
          <pc:docMk/>
          <pc:sldMk cId="0" sldId="257"/>
        </pc:sldMkLst>
        <pc:spChg chg="mod">
          <ac:chgData name="Liu, Yaping (Ext)" userId="f573593e-5a6a-4224-9cde-434853a04ccb" providerId="ADAL" clId="{D3C91D9B-AA24-48F8-B517-079931D65D62}" dt="2026-08-14T19:40:37.697" v="127" actId="1076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Liu, Yaping (Ext)" userId="f573593e-5a6a-4224-9cde-434853a04ccb" providerId="ADAL" clId="{D3C91D9B-AA24-48F8-B517-079931D65D62}" dt="2026-08-14T19:49:39.335" v="461" actId="164"/>
          <ac:spMkLst>
            <pc:docMk/>
            <pc:sldMk cId="0" sldId="257"/>
            <ac:spMk id="6" creationId="{7A99907D-380A-5CD0-F198-AA4A3950E354}"/>
          </ac:spMkLst>
        </pc:spChg>
        <pc:spChg chg="add mod">
          <ac:chgData name="Liu, Yaping (Ext)" userId="f573593e-5a6a-4224-9cde-434853a04ccb" providerId="ADAL" clId="{D3C91D9B-AA24-48F8-B517-079931D65D62}" dt="2026-08-14T19:49:43.317" v="462" actId="164"/>
          <ac:spMkLst>
            <pc:docMk/>
            <pc:sldMk cId="0" sldId="257"/>
            <ac:spMk id="10" creationId="{6585042C-78E8-86A5-1735-1AB3B48E844E}"/>
          </ac:spMkLst>
        </pc:spChg>
        <pc:spChg chg="mod">
          <ac:chgData name="Liu, Yaping (Ext)" userId="f573593e-5a6a-4224-9cde-434853a04ccb" providerId="ADAL" clId="{D3C91D9B-AA24-48F8-B517-079931D65D62}" dt="2026-08-14T19:48:09.056" v="458" actId="1076"/>
          <ac:spMkLst>
            <pc:docMk/>
            <pc:sldMk cId="0" sldId="257"/>
            <ac:spMk id="17" creationId="{2E3CA26B-7894-923A-61E0-B385872F0A3C}"/>
          </ac:spMkLst>
        </pc:spChg>
        <pc:spChg chg="mod">
          <ac:chgData name="Liu, Yaping (Ext)" userId="f573593e-5a6a-4224-9cde-434853a04ccb" providerId="ADAL" clId="{D3C91D9B-AA24-48F8-B517-079931D65D62}" dt="2026-08-14T19:47:51.220" v="452" actId="164"/>
          <ac:spMkLst>
            <pc:docMk/>
            <pc:sldMk cId="0" sldId="257"/>
            <ac:spMk id="22" creationId="{CADB339E-7C6D-434C-C47B-2FA03C7DA05C}"/>
          </ac:spMkLst>
        </pc:spChg>
        <pc:spChg chg="add mod">
          <ac:chgData name="Liu, Yaping (Ext)" userId="f573593e-5a6a-4224-9cde-434853a04ccb" providerId="ADAL" clId="{D3C91D9B-AA24-48F8-B517-079931D65D62}" dt="2026-08-14T19:47:51.220" v="452" actId="164"/>
          <ac:spMkLst>
            <pc:docMk/>
            <pc:sldMk cId="0" sldId="257"/>
            <ac:spMk id="23" creationId="{F69B1306-C5DD-C79D-C15A-09037F8BD5AD}"/>
          </ac:spMkLst>
        </pc:spChg>
        <pc:spChg chg="add mod">
          <ac:chgData name="Liu, Yaping (Ext)" userId="f573593e-5a6a-4224-9cde-434853a04ccb" providerId="ADAL" clId="{D3C91D9B-AA24-48F8-B517-079931D65D62}" dt="2026-08-14T19:50:32.264" v="468" actId="164"/>
          <ac:spMkLst>
            <pc:docMk/>
            <pc:sldMk cId="0" sldId="257"/>
            <ac:spMk id="30" creationId="{9391A414-0DDA-3B41-53CD-EA04E2AE0194}"/>
          </ac:spMkLst>
        </pc:spChg>
        <pc:spChg chg="add mod">
          <ac:chgData name="Liu, Yaping (Ext)" userId="f573593e-5a6a-4224-9cde-434853a04ccb" providerId="ADAL" clId="{D3C91D9B-AA24-48F8-B517-079931D65D62}" dt="2026-08-14T19:49:43.317" v="462" actId="164"/>
          <ac:spMkLst>
            <pc:docMk/>
            <pc:sldMk cId="0" sldId="257"/>
            <ac:spMk id="32" creationId="{174B20E5-6BD0-2ED6-1FCA-AEE61E557864}"/>
          </ac:spMkLst>
        </pc:spChg>
        <pc:grpChg chg="add del mod">
          <ac:chgData name="Liu, Yaping (Ext)" userId="f573593e-5a6a-4224-9cde-434853a04ccb" providerId="ADAL" clId="{D3C91D9B-AA24-48F8-B517-079931D65D62}" dt="2026-08-14T19:50:32.264" v="468" actId="164"/>
          <ac:grpSpMkLst>
            <pc:docMk/>
            <pc:sldMk cId="0" sldId="257"/>
            <ac:grpSpMk id="13" creationId="{BE1DB763-0D01-BF68-1BEB-E38ACDD504B5}"/>
          </ac:grpSpMkLst>
        </pc:grpChg>
        <pc:grpChg chg="add mod">
          <ac:chgData name="Liu, Yaping (Ext)" userId="f573593e-5a6a-4224-9cde-434853a04ccb" providerId="ADAL" clId="{D3C91D9B-AA24-48F8-B517-079931D65D62}" dt="2026-08-14T19:50:32.264" v="468" actId="164"/>
          <ac:grpSpMkLst>
            <pc:docMk/>
            <pc:sldMk cId="0" sldId="257"/>
            <ac:grpSpMk id="35" creationId="{B11C433B-C502-6E80-04E4-CF68D74672A2}"/>
          </ac:grpSpMkLst>
        </pc:grpChg>
        <pc:grpChg chg="add mod">
          <ac:chgData name="Liu, Yaping (Ext)" userId="f573593e-5a6a-4224-9cde-434853a04ccb" providerId="ADAL" clId="{D3C91D9B-AA24-48F8-B517-079931D65D62}" dt="2026-08-14T19:49:39.335" v="461" actId="164"/>
          <ac:grpSpMkLst>
            <pc:docMk/>
            <pc:sldMk cId="0" sldId="257"/>
            <ac:grpSpMk id="38" creationId="{884D6CD9-9711-51E0-16AB-212F93D73850}"/>
          </ac:grpSpMkLst>
        </pc:grpChg>
        <pc:grpChg chg="add mod">
          <ac:chgData name="Liu, Yaping (Ext)" userId="f573593e-5a6a-4224-9cde-434853a04ccb" providerId="ADAL" clId="{D3C91D9B-AA24-48F8-B517-079931D65D62}" dt="2026-08-14T19:49:43.317" v="462" actId="164"/>
          <ac:grpSpMkLst>
            <pc:docMk/>
            <pc:sldMk cId="0" sldId="257"/>
            <ac:grpSpMk id="39" creationId="{682AE3C3-A929-A78E-F0A4-7A702F00E365}"/>
          </ac:grpSpMkLst>
        </pc:grpChg>
        <pc:grpChg chg="add mod">
          <ac:chgData name="Liu, Yaping (Ext)" userId="f573593e-5a6a-4224-9cde-434853a04ccb" providerId="ADAL" clId="{D3C91D9B-AA24-48F8-B517-079931D65D62}" dt="2026-08-14T19:50:32.264" v="468" actId="164"/>
          <ac:grpSpMkLst>
            <pc:docMk/>
            <pc:sldMk cId="0" sldId="257"/>
            <ac:grpSpMk id="40" creationId="{CC20816E-6F69-D26C-8B7B-CAF041D59382}"/>
          </ac:grpSpMkLst>
        </pc:grpChg>
        <pc:picChg chg="add mod">
          <ac:chgData name="Liu, Yaping (Ext)" userId="f573593e-5a6a-4224-9cde-434853a04ccb" providerId="ADAL" clId="{D3C91D9B-AA24-48F8-B517-079931D65D62}" dt="2026-08-16T22:47:51.948" v="2369" actId="1076"/>
          <ac:picMkLst>
            <pc:docMk/>
            <pc:sldMk cId="0" sldId="257"/>
            <ac:picMk id="4" creationId="{5DA26198-EFDA-FD5C-6A7A-1FCA099D2446}"/>
          </ac:picMkLst>
        </pc:picChg>
        <pc:picChg chg="mod">
          <ac:chgData name="Liu, Yaping (Ext)" userId="f573593e-5a6a-4224-9cde-434853a04ccb" providerId="ADAL" clId="{D3C91D9B-AA24-48F8-B517-079931D65D62}" dt="2026-08-14T19:47:51.220" v="452" actId="164"/>
          <ac:picMkLst>
            <pc:docMk/>
            <pc:sldMk cId="0" sldId="257"/>
            <ac:picMk id="12" creationId="{C20319EA-9E3E-AEBE-5848-8FAE147BF61F}"/>
          </ac:picMkLst>
        </pc:picChg>
        <pc:picChg chg="add mod">
          <ac:chgData name="Liu, Yaping (Ext)" userId="f573593e-5a6a-4224-9cde-434853a04ccb" providerId="ADAL" clId="{D3C91D9B-AA24-48F8-B517-079931D65D62}" dt="2026-08-14T19:49:43.317" v="462" actId="164"/>
          <ac:picMkLst>
            <pc:docMk/>
            <pc:sldMk cId="0" sldId="257"/>
            <ac:picMk id="27" creationId="{2494B9E3-050A-BB9C-57C6-21B178E8189B}"/>
          </ac:picMkLst>
        </pc:picChg>
        <pc:picChg chg="add mod">
          <ac:chgData name="Liu, Yaping (Ext)" userId="f573593e-5a6a-4224-9cde-434853a04ccb" providerId="ADAL" clId="{D3C91D9B-AA24-48F8-B517-079931D65D62}" dt="2026-08-14T19:50:32.264" v="468" actId="164"/>
          <ac:picMkLst>
            <pc:docMk/>
            <pc:sldMk cId="0" sldId="257"/>
            <ac:picMk id="37" creationId="{628ED784-F567-AEB5-22C1-86AB1601A456}"/>
          </ac:picMkLst>
        </pc:picChg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0" sldId="259"/>
        </pc:sldMkLst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0" sldId="265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0" sldId="267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0" sldId="270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0" sldId="272"/>
        </pc:sldMkLst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0" sldId="273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0" sldId="274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0" sldId="277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0" sldId="278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0" sldId="279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0" sldId="281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0" sldId="282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0" sldId="285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0" sldId="286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1828836915" sldId="288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4272469284" sldId="290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3807049283" sldId="292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2524575623" sldId="294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2994138040" sldId="295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306934442" sldId="296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3139803728" sldId="297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4129260111" sldId="298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2480295326" sldId="304"/>
        </pc:sldMkLst>
      </pc:sldChg>
      <pc:sldChg chg="del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2860743111" sldId="305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3317460579" sldId="306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0" sldId="309"/>
        </pc:sldMkLst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117432848" sldId="311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0" sldId="312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2825777530" sldId="314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3678150043" sldId="318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3666795355" sldId="320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3442945330" sldId="321"/>
        </pc:sldMkLst>
      </pc:sldChg>
      <pc:sldChg chg="del">
        <pc:chgData name="Liu, Yaping (Ext)" userId="f573593e-5a6a-4224-9cde-434853a04ccb" providerId="ADAL" clId="{D3C91D9B-AA24-48F8-B517-079931D65D62}" dt="2026-08-18T18:20:40.655" v="2375" actId="18676"/>
        <pc:sldMkLst>
          <pc:docMk/>
          <pc:sldMk cId="1474244902" sldId="322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2305374277" sldId="323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2618808169" sldId="324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1664807974" sldId="325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1312508518" sldId="327"/>
        </pc:sldMkLst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1733724878" sldId="328"/>
        </pc:sldMkLst>
      </pc:sldChg>
      <pc:sldChg chg="addSp delSp modSp add mod modNotesTx">
        <pc:chgData name="Liu, Yaping (Ext)" userId="f573593e-5a6a-4224-9cde-434853a04ccb" providerId="ADAL" clId="{D3C91D9B-AA24-48F8-B517-079931D65D62}" dt="2026-08-15T15:24:59.664" v="2267" actId="1076"/>
        <pc:sldMkLst>
          <pc:docMk/>
          <pc:sldMk cId="906404076" sldId="329"/>
        </pc:sldMkLst>
        <pc:spChg chg="mod">
          <ac:chgData name="Liu, Yaping (Ext)" userId="f573593e-5a6a-4224-9cde-434853a04ccb" providerId="ADAL" clId="{D3C91D9B-AA24-48F8-B517-079931D65D62}" dt="2026-08-14T19:23:48.109" v="81"/>
          <ac:spMkLst>
            <pc:docMk/>
            <pc:sldMk cId="906404076" sldId="329"/>
            <ac:spMk id="6" creationId="{C4C5332C-498D-56C4-1306-8B4DB8820A49}"/>
          </ac:spMkLst>
        </pc:spChg>
        <pc:spChg chg="mod">
          <ac:chgData name="Liu, Yaping (Ext)" userId="f573593e-5a6a-4224-9cde-434853a04ccb" providerId="ADAL" clId="{D3C91D9B-AA24-48F8-B517-079931D65D62}" dt="2026-08-14T19:23:48.109" v="81"/>
          <ac:spMkLst>
            <pc:docMk/>
            <pc:sldMk cId="906404076" sldId="329"/>
            <ac:spMk id="8" creationId="{F98BE6C0-A225-67AD-D0E2-8AAB7A05A47D}"/>
          </ac:spMkLst>
        </pc:spChg>
        <pc:spChg chg="mod">
          <ac:chgData name="Liu, Yaping (Ext)" userId="f573593e-5a6a-4224-9cde-434853a04ccb" providerId="ADAL" clId="{D3C91D9B-AA24-48F8-B517-079931D65D62}" dt="2026-08-14T19:23:48.109" v="81"/>
          <ac:spMkLst>
            <pc:docMk/>
            <pc:sldMk cId="906404076" sldId="329"/>
            <ac:spMk id="11" creationId="{CA0FD8CC-D260-91F7-981C-A2A67C8E0D8C}"/>
          </ac:spMkLst>
        </pc:spChg>
        <pc:spChg chg="mod">
          <ac:chgData name="Liu, Yaping (Ext)" userId="f573593e-5a6a-4224-9cde-434853a04ccb" providerId="ADAL" clId="{D3C91D9B-AA24-48F8-B517-079931D65D62}" dt="2026-08-14T19:23:48.109" v="81"/>
          <ac:spMkLst>
            <pc:docMk/>
            <pc:sldMk cId="906404076" sldId="329"/>
            <ac:spMk id="14" creationId="{1EFBF76D-3B2C-E910-EFCF-7CBDC151BDE3}"/>
          </ac:spMkLst>
        </pc:spChg>
        <pc:grpChg chg="add mod">
          <ac:chgData name="Liu, Yaping (Ext)" userId="f573593e-5a6a-4224-9cde-434853a04ccb" providerId="ADAL" clId="{D3C91D9B-AA24-48F8-B517-079931D65D62}" dt="2026-08-14T19:23:52.914" v="83" actId="1076"/>
          <ac:grpSpMkLst>
            <pc:docMk/>
            <pc:sldMk cId="906404076" sldId="329"/>
            <ac:grpSpMk id="2" creationId="{3771AFDC-D97F-2E68-D61D-AFFC618D2CE0}"/>
          </ac:grpSpMkLst>
        </pc:grpChg>
        <pc:picChg chg="mod">
          <ac:chgData name="Liu, Yaping (Ext)" userId="f573593e-5a6a-4224-9cde-434853a04ccb" providerId="ADAL" clId="{D3C91D9B-AA24-48F8-B517-079931D65D62}" dt="2026-08-15T15:24:59.664" v="2267" actId="1076"/>
          <ac:picMkLst>
            <pc:docMk/>
            <pc:sldMk cId="906404076" sldId="329"/>
            <ac:picMk id="3" creationId="{302F6FE6-FB1A-FDF0-AEEE-A1E3186F3A51}"/>
          </ac:picMkLst>
        </pc:picChg>
      </pc:sldChg>
      <pc:sldChg chg="del ord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3863112655" sldId="330"/>
        </pc:sldMkLst>
      </pc:sldChg>
      <pc:sldChg chg="del">
        <pc:chgData name="Liu, Yaping (Ext)" userId="f573593e-5a6a-4224-9cde-434853a04ccb" providerId="ADAL" clId="{D3C91D9B-AA24-48F8-B517-079931D65D62}" dt="2026-08-18T18:20:30.377" v="2372" actId="18676"/>
        <pc:sldMkLst>
          <pc:docMk/>
          <pc:sldMk cId="3041579508" sldId="331"/>
        </pc:sldMkLst>
      </pc:sldChg>
      <pc:sldChg chg="del">
        <pc:chgData name="Liu, Yaping (Ext)" userId="f573593e-5a6a-4224-9cde-434853a04ccb" providerId="ADAL" clId="{D3C91D9B-AA24-48F8-B517-079931D65D62}" dt="2026-08-18T18:20:34.716" v="2373" actId="18676"/>
        <pc:sldMkLst>
          <pc:docMk/>
          <pc:sldMk cId="841582702" sldId="332"/>
        </pc:sldMkLst>
      </pc:sldChg>
      <pc:sldChg chg="del">
        <pc:chgData name="Liu, Yaping (Ext)" userId="f573593e-5a6a-4224-9cde-434853a04ccb" providerId="ADAL" clId="{D3C91D9B-AA24-48F8-B517-079931D65D62}" dt="2026-08-18T18:20:44.169" v="2376" actId="18676"/>
        <pc:sldMkLst>
          <pc:docMk/>
          <pc:sldMk cId="3773767242" sldId="333"/>
        </pc:sldMkLst>
      </pc:sldChg>
      <pc:sldChg chg="modSp del mod">
        <pc:chgData name="Liu, Yaping (Ext)" userId="f573593e-5a6a-4224-9cde-434853a04ccb" providerId="ADAL" clId="{D3C91D9B-AA24-48F8-B517-079931D65D62}" dt="2026-08-18T18:20:37.597" v="2374" actId="18676"/>
        <pc:sldMkLst>
          <pc:docMk/>
          <pc:sldMk cId="159807091" sldId="334"/>
        </pc:sldMkLst>
      </pc:sldChg>
      <pc:sldChg chg="addSp delSp modSp add mod">
        <pc:chgData name="Liu, Yaping (Ext)" userId="f573593e-5a6a-4224-9cde-434853a04ccb" providerId="ADAL" clId="{D3C91D9B-AA24-48F8-B517-079931D65D62}" dt="2026-08-16T17:44:19.640" v="2366" actId="1076"/>
        <pc:sldMkLst>
          <pc:docMk/>
          <pc:sldMk cId="429231679" sldId="338"/>
        </pc:sldMkLst>
        <pc:spChg chg="mod">
          <ac:chgData name="Liu, Yaping (Ext)" userId="f573593e-5a6a-4224-9cde-434853a04ccb" providerId="ADAL" clId="{D3C91D9B-AA24-48F8-B517-079931D65D62}" dt="2026-08-16T17:44:16.612" v="2365"/>
          <ac:spMkLst>
            <pc:docMk/>
            <pc:sldMk cId="429231679" sldId="338"/>
            <ac:spMk id="5" creationId="{3AB65F6B-C426-F1EB-864E-922705980B07}"/>
          </ac:spMkLst>
        </pc:spChg>
        <pc:spChg chg="mod">
          <ac:chgData name="Liu, Yaping (Ext)" userId="f573593e-5a6a-4224-9cde-434853a04ccb" providerId="ADAL" clId="{D3C91D9B-AA24-48F8-B517-079931D65D62}" dt="2026-08-16T17:44:03.749" v="2358" actId="1076"/>
          <ac:spMkLst>
            <pc:docMk/>
            <pc:sldMk cId="429231679" sldId="338"/>
            <ac:spMk id="8" creationId="{4BA8B18A-2BC0-8633-4CA0-95C66EED6D08}"/>
          </ac:spMkLst>
        </pc:spChg>
        <pc:picChg chg="mod">
          <ac:chgData name="Liu, Yaping (Ext)" userId="f573593e-5a6a-4224-9cde-434853a04ccb" providerId="ADAL" clId="{D3C91D9B-AA24-48F8-B517-079931D65D62}" dt="2026-08-16T17:44:19.640" v="2366" actId="1076"/>
          <ac:picMkLst>
            <pc:docMk/>
            <pc:sldMk cId="429231679" sldId="338"/>
            <ac:picMk id="13" creationId="{E7999B57-0421-6105-9ADF-3E410EF1889C}"/>
          </ac:picMkLst>
        </pc:picChg>
      </pc:sldChg>
      <pc:sldChg chg="add modNotesTx">
        <pc:chgData name="Liu, Yaping (Ext)" userId="f573593e-5a6a-4224-9cde-434853a04ccb" providerId="ADAL" clId="{D3C91D9B-AA24-48F8-B517-079931D65D62}" dt="2026-08-14T19:22:28.740" v="76" actId="20577"/>
        <pc:sldMkLst>
          <pc:docMk/>
          <pc:sldMk cId="1738052969" sldId="341"/>
        </pc:sldMkLst>
      </pc:sldChg>
      <pc:sldChg chg="modSp add mod modNotesTx">
        <pc:chgData name="Liu, Yaping (Ext)" userId="f573593e-5a6a-4224-9cde-434853a04ccb" providerId="ADAL" clId="{D3C91D9B-AA24-48F8-B517-079931D65D62}" dt="2026-08-14T20:33:58.634" v="1381" actId="5793"/>
        <pc:sldMkLst>
          <pc:docMk/>
          <pc:sldMk cId="0" sldId="342"/>
        </pc:sldMkLst>
        <pc:spChg chg="mod">
          <ac:chgData name="Liu, Yaping (Ext)" userId="f573593e-5a6a-4224-9cde-434853a04ccb" providerId="ADAL" clId="{D3C91D9B-AA24-48F8-B517-079931D65D62}" dt="2026-08-14T19:58:19.198" v="892" actId="20577"/>
          <ac:spMkLst>
            <pc:docMk/>
            <pc:sldMk cId="0" sldId="342"/>
            <ac:spMk id="4" creationId="{D96ED000-5ADE-C94A-071C-BE6CF7AD2B66}"/>
          </ac:spMkLst>
        </pc:spChg>
        <pc:grpChg chg="mod">
          <ac:chgData name="Liu, Yaping (Ext)" userId="f573593e-5a6a-4224-9cde-434853a04ccb" providerId="ADAL" clId="{D3C91D9B-AA24-48F8-B517-079931D65D62}" dt="2026-08-14T19:24:11.374" v="84" actId="1076"/>
          <ac:grpSpMkLst>
            <pc:docMk/>
            <pc:sldMk cId="0" sldId="342"/>
            <ac:grpSpMk id="14" creationId="{255461BC-FA0A-DADE-7C20-F36DAC8678CB}"/>
          </ac:grpSpMkLst>
        </pc:grpChg>
        <pc:picChg chg="mod">
          <ac:chgData name="Liu, Yaping (Ext)" userId="f573593e-5a6a-4224-9cde-434853a04ccb" providerId="ADAL" clId="{D3C91D9B-AA24-48F8-B517-079931D65D62}" dt="2026-08-14T19:24:14.169" v="85" actId="14100"/>
          <ac:picMkLst>
            <pc:docMk/>
            <pc:sldMk cId="0" sldId="342"/>
            <ac:picMk id="10" creationId="{8C25D741-039E-85EF-AE79-F6DBBAA95711}"/>
          </ac:picMkLst>
        </pc:picChg>
      </pc:sldChg>
      <pc:sldChg chg="addSp delSp modSp add mod addAnim delAnim modAnim modNotesTx">
        <pc:chgData name="Liu, Yaping (Ext)" userId="f573593e-5a6a-4224-9cde-434853a04ccb" providerId="ADAL" clId="{D3C91D9B-AA24-48F8-B517-079931D65D62}" dt="2026-08-15T18:10:45.726" v="2356"/>
        <pc:sldMkLst>
          <pc:docMk/>
          <pc:sldMk cId="1898900483" sldId="343"/>
        </pc:sldMkLst>
        <pc:spChg chg="mod">
          <ac:chgData name="Liu, Yaping (Ext)" userId="f573593e-5a6a-4224-9cde-434853a04ccb" providerId="ADAL" clId="{D3C91D9B-AA24-48F8-B517-079931D65D62}" dt="2026-08-14T19:59:23.524" v="909" actId="20577"/>
          <ac:spMkLst>
            <pc:docMk/>
            <pc:sldMk cId="1898900483" sldId="343"/>
            <ac:spMk id="37" creationId="{C7A0F7EA-1FCC-59BC-F3A2-6CEA9A971977}"/>
          </ac:spMkLst>
        </pc:spChg>
        <pc:grpChg chg="topLvl">
          <ac:chgData name="Liu, Yaping (Ext)" userId="f573593e-5a6a-4224-9cde-434853a04ccb" providerId="ADAL" clId="{D3C91D9B-AA24-48F8-B517-079931D65D62}" dt="2026-08-15T18:10:12.418" v="2354" actId="478"/>
          <ac:grpSpMkLst>
            <pc:docMk/>
            <pc:sldMk cId="1898900483" sldId="343"/>
            <ac:grpSpMk id="15" creationId="{B33E9BEB-CE8D-2CC3-B2F0-79F36AA855FC}"/>
          </ac:grpSpMkLst>
        </pc:grpChg>
      </pc:sldChg>
      <pc:sldChg chg="addSp modSp add mod modNotesTx">
        <pc:chgData name="Liu, Yaping (Ext)" userId="f573593e-5a6a-4224-9cde-434853a04ccb" providerId="ADAL" clId="{D3C91D9B-AA24-48F8-B517-079931D65D62}" dt="2026-08-15T15:26:25.081" v="2278" actId="1076"/>
        <pc:sldMkLst>
          <pc:docMk/>
          <pc:sldMk cId="2119046294" sldId="344"/>
        </pc:sldMkLst>
        <pc:spChg chg="add mod">
          <ac:chgData name="Liu, Yaping (Ext)" userId="f573593e-5a6a-4224-9cde-434853a04ccb" providerId="ADAL" clId="{D3C91D9B-AA24-48F8-B517-079931D65D62}" dt="2026-08-15T15:26:25.081" v="2278" actId="1076"/>
          <ac:spMkLst>
            <pc:docMk/>
            <pc:sldMk cId="2119046294" sldId="344"/>
            <ac:spMk id="5" creationId="{C94B5A15-0326-0F71-6CE9-A4958CCF9707}"/>
          </ac:spMkLst>
        </pc:spChg>
        <pc:spChg chg="mod">
          <ac:chgData name="Liu, Yaping (Ext)" userId="f573593e-5a6a-4224-9cde-434853a04ccb" providerId="ADAL" clId="{D3C91D9B-AA24-48F8-B517-079931D65D62}" dt="2026-08-15T15:25:10.275" v="2268" actId="20577"/>
          <ac:spMkLst>
            <pc:docMk/>
            <pc:sldMk cId="2119046294" sldId="344"/>
            <ac:spMk id="15" creationId="{C9977080-8832-3030-98D9-52C1BD05E1F8}"/>
          </ac:spMkLst>
        </pc:spChg>
        <pc:grpChg chg="mod">
          <ac:chgData name="Liu, Yaping (Ext)" userId="f573593e-5a6a-4224-9cde-434853a04ccb" providerId="ADAL" clId="{D3C91D9B-AA24-48F8-B517-079931D65D62}" dt="2026-08-15T15:26:14.791" v="2277" actId="1076"/>
          <ac:grpSpMkLst>
            <pc:docMk/>
            <pc:sldMk cId="2119046294" sldId="344"/>
            <ac:grpSpMk id="12" creationId="{7044F3B8-B75B-B2E9-6F0A-9FF82B97265D}"/>
          </ac:grpSpMkLst>
        </pc:grpChg>
      </pc:sldChg>
      <pc:sldChg chg="addSp modSp add mod">
        <pc:chgData name="Liu, Yaping (Ext)" userId="f573593e-5a6a-4224-9cde-434853a04ccb" providerId="ADAL" clId="{D3C91D9B-AA24-48F8-B517-079931D65D62}" dt="2026-08-14T20:27:30.221" v="988" actId="20577"/>
        <pc:sldMkLst>
          <pc:docMk/>
          <pc:sldMk cId="2629080887" sldId="345"/>
        </pc:sldMkLst>
        <pc:spChg chg="add">
          <ac:chgData name="Liu, Yaping (Ext)" userId="f573593e-5a6a-4224-9cde-434853a04ccb" providerId="ADAL" clId="{D3C91D9B-AA24-48F8-B517-079931D65D62}" dt="2026-08-14T19:24:31.905" v="87" actId="22"/>
          <ac:spMkLst>
            <pc:docMk/>
            <pc:sldMk cId="2629080887" sldId="345"/>
            <ac:spMk id="14" creationId="{D4405DB4-519F-6745-BDEE-015D0D7399B3}"/>
          </ac:spMkLst>
        </pc:spChg>
        <pc:spChg chg="add">
          <ac:chgData name="Liu, Yaping (Ext)" userId="f573593e-5a6a-4224-9cde-434853a04ccb" providerId="ADAL" clId="{D3C91D9B-AA24-48F8-B517-079931D65D62}" dt="2026-08-14T19:24:31.905" v="87" actId="22"/>
          <ac:spMkLst>
            <pc:docMk/>
            <pc:sldMk cId="2629080887" sldId="345"/>
            <ac:spMk id="16" creationId="{8FB1C15C-6E4B-21F7-2F8F-B1D9506B9736}"/>
          </ac:spMkLst>
        </pc:spChg>
        <pc:spChg chg="add mod">
          <ac:chgData name="Liu, Yaping (Ext)" userId="f573593e-5a6a-4224-9cde-434853a04ccb" providerId="ADAL" clId="{D3C91D9B-AA24-48F8-B517-079931D65D62}" dt="2026-08-14T20:27:30.221" v="988" actId="20577"/>
          <ac:spMkLst>
            <pc:docMk/>
            <pc:sldMk cId="2629080887" sldId="345"/>
            <ac:spMk id="18" creationId="{FC7F523A-2ABF-A136-3922-0F5A27C69FD3}"/>
          </ac:spMkLst>
        </pc:spChg>
        <pc:spChg chg="mod">
          <ac:chgData name="Liu, Yaping (Ext)" userId="f573593e-5a6a-4224-9cde-434853a04ccb" providerId="ADAL" clId="{D3C91D9B-AA24-48F8-B517-079931D65D62}" dt="2026-08-14T19:25:09.702" v="99" actId="1076"/>
          <ac:spMkLst>
            <pc:docMk/>
            <pc:sldMk cId="2629080887" sldId="345"/>
            <ac:spMk id="19" creationId="{15BACA9D-4AFB-3E94-6C38-B1C12AE65F62}"/>
          </ac:spMkLst>
        </pc:spChg>
        <pc:grpChg chg="mod">
          <ac:chgData name="Liu, Yaping (Ext)" userId="f573593e-5a6a-4224-9cde-434853a04ccb" providerId="ADAL" clId="{D3C91D9B-AA24-48F8-B517-079931D65D62}" dt="2026-08-14T19:25:02.936" v="95" actId="1076"/>
          <ac:grpSpMkLst>
            <pc:docMk/>
            <pc:sldMk cId="2629080887" sldId="345"/>
            <ac:grpSpMk id="3" creationId="{93D5233F-572A-2150-4642-C2A2672C813C}"/>
          </ac:grpSpMkLst>
        </pc:grpChg>
        <pc:picChg chg="mod">
          <ac:chgData name="Liu, Yaping (Ext)" userId="f573593e-5a6a-4224-9cde-434853a04ccb" providerId="ADAL" clId="{D3C91D9B-AA24-48F8-B517-079931D65D62}" dt="2026-08-14T19:24:35.874" v="88" actId="1076"/>
          <ac:picMkLst>
            <pc:docMk/>
            <pc:sldMk cId="2629080887" sldId="345"/>
            <ac:picMk id="6" creationId="{9971B3C7-0E9C-9509-C2E5-E5F830EAEA0E}"/>
          </ac:picMkLst>
        </pc:picChg>
      </pc:sldChg>
      <pc:sldChg chg="addSp modSp add mod">
        <pc:chgData name="Liu, Yaping (Ext)" userId="f573593e-5a6a-4224-9cde-434853a04ccb" providerId="ADAL" clId="{D3C91D9B-AA24-48F8-B517-079931D65D62}" dt="2026-08-15T15:28:13.131" v="2353" actId="20577"/>
        <pc:sldMkLst>
          <pc:docMk/>
          <pc:sldMk cId="1612243811" sldId="346"/>
        </pc:sldMkLst>
        <pc:spChg chg="mod">
          <ac:chgData name="Liu, Yaping (Ext)" userId="f573593e-5a6a-4224-9cde-434853a04ccb" providerId="ADAL" clId="{D3C91D9B-AA24-48F8-B517-079931D65D62}" dt="2026-08-15T15:28:13.131" v="2353" actId="20577"/>
          <ac:spMkLst>
            <pc:docMk/>
            <pc:sldMk cId="1612243811" sldId="346"/>
            <ac:spMk id="2" creationId="{5E1DC375-DC03-8213-1FB6-839B590B27AD}"/>
          </ac:spMkLst>
        </pc:spChg>
        <pc:spChg chg="mod">
          <ac:chgData name="Liu, Yaping (Ext)" userId="f573593e-5a6a-4224-9cde-434853a04ccb" providerId="ADAL" clId="{D3C91D9B-AA24-48F8-B517-079931D65D62}" dt="2026-08-15T15:26:40.244" v="2279" actId="1076"/>
          <ac:spMkLst>
            <pc:docMk/>
            <pc:sldMk cId="1612243811" sldId="346"/>
            <ac:spMk id="8" creationId="{586DEDEC-2DC3-2B56-788B-17D541F27383}"/>
          </ac:spMkLst>
        </pc:spChg>
        <pc:spChg chg="mod">
          <ac:chgData name="Liu, Yaping (Ext)" userId="f573593e-5a6a-4224-9cde-434853a04ccb" providerId="ADAL" clId="{D3C91D9B-AA24-48F8-B517-079931D65D62}" dt="2026-08-15T15:27:03.551" v="2282" actId="1076"/>
          <ac:spMkLst>
            <pc:docMk/>
            <pc:sldMk cId="1612243811" sldId="346"/>
            <ac:spMk id="12" creationId="{2A9BA458-C418-3F07-B19B-67CD32CCB4D1}"/>
          </ac:spMkLst>
        </pc:spChg>
        <pc:spChg chg="add mod">
          <ac:chgData name="Liu, Yaping (Ext)" userId="f573593e-5a6a-4224-9cde-434853a04ccb" providerId="ADAL" clId="{D3C91D9B-AA24-48F8-B517-079931D65D62}" dt="2026-08-15T15:27:37.558" v="2334" actId="20577"/>
          <ac:spMkLst>
            <pc:docMk/>
            <pc:sldMk cId="1612243811" sldId="346"/>
            <ac:spMk id="13" creationId="{3E77879C-2CF3-6CAA-4B22-C6CD8F4C2B48}"/>
          </ac:spMkLst>
        </pc:spChg>
        <pc:spChg chg="mod">
          <ac:chgData name="Liu, Yaping (Ext)" userId="f573593e-5a6a-4224-9cde-434853a04ccb" providerId="ADAL" clId="{D3C91D9B-AA24-48F8-B517-079931D65D62}" dt="2026-08-15T15:27:03.551" v="2282" actId="1076"/>
          <ac:spMkLst>
            <pc:docMk/>
            <pc:sldMk cId="1612243811" sldId="346"/>
            <ac:spMk id="14" creationId="{F5B27406-044C-A304-01B2-8C6D8D6EF85F}"/>
          </ac:spMkLst>
        </pc:spChg>
        <pc:spChg chg="mod">
          <ac:chgData name="Liu, Yaping (Ext)" userId="f573593e-5a6a-4224-9cde-434853a04ccb" providerId="ADAL" clId="{D3C91D9B-AA24-48F8-B517-079931D65D62}" dt="2026-08-15T15:27:47.962" v="2336" actId="1076"/>
          <ac:spMkLst>
            <pc:docMk/>
            <pc:sldMk cId="1612243811" sldId="346"/>
            <ac:spMk id="15" creationId="{7F201BCF-FEEA-12EC-F088-A93BFC966709}"/>
          </ac:spMkLst>
        </pc:spChg>
        <pc:picChg chg="mod">
          <ac:chgData name="Liu, Yaping (Ext)" userId="f573593e-5a6a-4224-9cde-434853a04ccb" providerId="ADAL" clId="{D3C91D9B-AA24-48F8-B517-079931D65D62}" dt="2026-08-15T15:27:43.125" v="2335" actId="1076"/>
          <ac:picMkLst>
            <pc:docMk/>
            <pc:sldMk cId="1612243811" sldId="346"/>
            <ac:picMk id="6" creationId="{7E1CDDF1-5250-6A0E-24DC-2FCF69E07AAE}"/>
          </ac:picMkLst>
        </pc:picChg>
      </pc:sldChg>
      <pc:sldChg chg="modSp add mod">
        <pc:chgData name="Liu, Yaping (Ext)" userId="f573593e-5a6a-4224-9cde-434853a04ccb" providerId="ADAL" clId="{D3C91D9B-AA24-48F8-B517-079931D65D62}" dt="2026-08-14T20:15:12.259" v="980" actId="6549"/>
        <pc:sldMkLst>
          <pc:docMk/>
          <pc:sldMk cId="797667000" sldId="348"/>
        </pc:sldMkLst>
        <pc:spChg chg="mod">
          <ac:chgData name="Liu, Yaping (Ext)" userId="f573593e-5a6a-4224-9cde-434853a04ccb" providerId="ADAL" clId="{D3C91D9B-AA24-48F8-B517-079931D65D62}" dt="2026-08-14T20:14:23.859" v="943" actId="1076"/>
          <ac:spMkLst>
            <pc:docMk/>
            <pc:sldMk cId="797667000" sldId="348"/>
            <ac:spMk id="2" creationId="{95F67CBA-3DFB-C953-D022-540D23F03BC0}"/>
          </ac:spMkLst>
        </pc:spChg>
        <pc:spChg chg="mod">
          <ac:chgData name="Liu, Yaping (Ext)" userId="f573593e-5a6a-4224-9cde-434853a04ccb" providerId="ADAL" clId="{D3C91D9B-AA24-48F8-B517-079931D65D62}" dt="2026-08-14T20:15:12.259" v="980" actId="6549"/>
          <ac:spMkLst>
            <pc:docMk/>
            <pc:sldMk cId="797667000" sldId="348"/>
            <ac:spMk id="40" creationId="{5A8D5AC5-F48E-1F54-A271-E4A6BC837B54}"/>
          </ac:spMkLst>
        </pc:spChg>
      </pc:sldChg>
      <pc:sldChg chg="modSp add mod">
        <pc:chgData name="Liu, Yaping (Ext)" userId="f573593e-5a6a-4224-9cde-434853a04ccb" providerId="ADAL" clId="{D3C91D9B-AA24-48F8-B517-079931D65D62}" dt="2026-08-14T20:15:19.965" v="981" actId="1076"/>
        <pc:sldMkLst>
          <pc:docMk/>
          <pc:sldMk cId="3477204782" sldId="349"/>
        </pc:sldMkLst>
        <pc:spChg chg="mod">
          <ac:chgData name="Liu, Yaping (Ext)" userId="f573593e-5a6a-4224-9cde-434853a04ccb" providerId="ADAL" clId="{D3C91D9B-AA24-48F8-B517-079931D65D62}" dt="2026-08-14T20:15:19.965" v="981" actId="1076"/>
          <ac:spMkLst>
            <pc:docMk/>
            <pc:sldMk cId="3477204782" sldId="349"/>
            <ac:spMk id="2" creationId="{86A57B37-65F2-FB04-0D10-3E1F58008085}"/>
          </ac:spMkLst>
        </pc:spChg>
      </pc:sldChg>
      <pc:sldChg chg="add">
        <pc:chgData name="Liu, Yaping (Ext)" userId="f573593e-5a6a-4224-9cde-434853a04ccb" providerId="ADAL" clId="{D3C91D9B-AA24-48F8-B517-079931D65D62}" dt="2026-08-14T20:51:09.814" v="2263"/>
        <pc:sldMkLst>
          <pc:docMk/>
          <pc:sldMk cId="4041079595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836AB-7A71-9C59-1569-F6D368DE6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024844" y="8661357"/>
            <a:ext cx="38880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200"/>
            </a:lvl1pPr>
          </a:lstStyle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F12FE-E6B8-CB03-BD6F-A6DD226A74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93296" y="8661357"/>
            <a:ext cx="288032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fld id="{8B0EA715-5C52-46A6-AB3C-9DAA4D99E51E}" type="slidenum">
              <a:rPr lang="en-US" sz="800" smtClean="0"/>
              <a:t>‹#›</a:t>
            </a:fld>
            <a:endParaRPr lang="en-US" sz="80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9C3954B-1D5A-DF7E-F38E-E6C429FEE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476672" y="8613344"/>
            <a:ext cx="1044116" cy="1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7453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024844" y="8661357"/>
            <a:ext cx="38880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/>
            </a:lvl1pPr>
          </a:lstStyle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93296" y="8661357"/>
            <a:ext cx="288032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800"/>
            </a:lvl1pPr>
          </a:lstStyle>
          <a:p>
            <a:fld id="{CC452610-1F1A-48BB-81B3-3167D77B5272}" type="slidenum">
              <a:rPr lang="en-US" smtClean="0"/>
              <a:pPr/>
              <a:t>‹#›</a:t>
            </a:fld>
            <a:endParaRPr lang="en-US" sz="80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B71D4F93-CCDA-E557-C904-D46A56B09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476672" y="8613344"/>
            <a:ext cx="1044116" cy="1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93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j-lt"/>
        <a:ea typeface="+mn-ea"/>
        <a:cs typeface="+mn-cs"/>
      </a:defRPr>
    </a:lvl1pPr>
    <a:lvl2pPr marL="0" algn="l" defTabSz="914400" rtl="0" eaLnBrk="1" latinLnBrk="0" hangingPunct="1">
      <a:spcBef>
        <a:spcPts val="600"/>
      </a:spcBef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44000" indent="-144000" algn="l" defTabSz="914400" rtl="0" eaLnBrk="1" latinLnBrk="0" hangingPunct="1"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32000" indent="-144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My name is Yaping Liu, and today I will present my internship project on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automated covariate-model building for population pharmacokinetics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, comparing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nlmixr2 ecosystem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with the traditional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NONMEM-based workflow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5165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Why this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Covariate model building identifies patient factors that explain interindividual PK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Supports dose optimization, trial design, and regulatory submission</a:t>
            </a:r>
          </a:p>
          <a:p>
            <a:endParaRPr lang="en-US" sz="1200" dirty="0"/>
          </a:p>
          <a:p>
            <a:r>
              <a:rPr lang="en-US" sz="1200" b="1" dirty="0"/>
              <a:t>Current challenge</a:t>
            </a: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Covariate model building is typically done using the stepwise covariate modeling (SCM) in Pearl speaks NONMEM with NONMEM.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However, NONMEM-SCM can be computationally heavy and depends on commercial </a:t>
            </a:r>
            <a:r>
              <a:rPr lang="en-US" sz="1200" dirty="0" err="1"/>
              <a:t>softwares</a:t>
            </a:r>
            <a:r>
              <a:rPr lang="en-US" sz="12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This motivate the development of Open-source and faster alternatives, especially in the nlmixr2 ecosystem, such as, SCM, variational autoencoder (VAE).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However this emerging methods and tools hasn’t been rigorously evaluated against NONMEM-SCM.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Objective: to Evaluate whether </a:t>
            </a:r>
            <a:r>
              <a:rPr lang="en-US" u="sng" dirty="0"/>
              <a:t>the open-source nlmixr2 ecosystem </a:t>
            </a:r>
            <a:r>
              <a:rPr lang="en-US" dirty="0"/>
              <a:t>can provide matching performance with the NONMEM standard?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00591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how SCM and VAE work. </a:t>
            </a:r>
          </a:p>
          <a:p>
            <a:r>
              <a:rPr lang="en-US" dirty="0"/>
              <a:t>The key message is that </a:t>
            </a:r>
          </a:p>
          <a:p>
            <a:r>
              <a:rPr lang="en-US" dirty="0"/>
              <a:t>SCM…</a:t>
            </a:r>
          </a:p>
          <a:p>
            <a:r>
              <a:rPr lang="en-US" dirty="0"/>
              <a:t>VAE, is a deep leaning methods with encoder and decoder modules. </a:t>
            </a:r>
          </a:p>
          <a:p>
            <a:r>
              <a:rPr lang="en-US" dirty="0"/>
              <a:t>It can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3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72146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7B7F-9AB6-30FC-A04C-C9BCB1C0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721C9-3362-A6DD-76DA-BEEA8F9CE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845F0-436D-1D7D-EB9D-8D00E99E7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Now, let’s look at the overall study design, which has had three steps.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First, we simulated virtual patient populations from NHAENS to get realistic covariate distributions.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Second, using the same simulated datasets as input, we conduct covariate selection with all three covariate-building workflows: nlmixr2 SCM,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PsN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-NONMEM SCM, and nlmixr2 VAE.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Third, we compared the selected models against the known true model and  evaluate operating characteristics, including reliability, power, selection pattern, estimation accuracy, and efficiency.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Because all methods used the same datasets, the statistical comparison was paired, which improves fairness and power.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16349-3959-B8E6-518B-32404DBF04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E0D5-6748-2D94-CC64-596E11DA7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4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2433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5707-84F5-D808-1BFA-3B97C6DA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351F2-1039-317F-90DE-7B669064B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3BD15-3CB6-7422-F0CA-538028BAF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Now, let’s walk through the results together, The first performance metrics is  convergence rate &amp; condition number- based model reliability.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Each column,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Each row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Solid line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Dashed line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When comparing nlmixr2 SCM 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PsN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-NONMEM SCM, nlmixr2 matched or exceeded NONMEM in convergence-related metrics.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This suggests that for this benchmark, the open-source nlmixr2 SCM workflow was at least as reliable as the NONMEM-based standard.</a:t>
            </a:r>
          </a:p>
          <a:p>
            <a:r>
              <a:rPr lang="en-US" dirty="0"/>
              <a:t>NONMEM fail to calculate covariance step for ODE, and low </a:t>
            </a:r>
            <a:r>
              <a:rPr lang="en-US" dirty="0" err="1"/>
              <a:t>convergene</a:t>
            </a:r>
            <a:r>
              <a:rPr lang="en-US" dirty="0"/>
              <a:t> rate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12F0F-1511-5667-CF64-311D08FDD7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4E7E1-AFA5-C2B5-5D23-E6C8BAFBE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5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752083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BEE35-B81B-C21A-DC3C-CB9D0A30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A81EE-DEE1-E546-A530-104859BC2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5A75E-954C-EF83-6ADC-26E0E3D2E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performance metrics is </a:t>
            </a:r>
          </a:p>
          <a:p>
            <a:r>
              <a:rPr lang="en-US" dirty="0"/>
              <a:t>The power is unconditional &amp; conditional on stable models. </a:t>
            </a:r>
          </a:p>
          <a:p>
            <a:r>
              <a:rPr lang="en-US" dirty="0"/>
              <a:t>The numbers are median power over 16 scenarios. </a:t>
            </a:r>
          </a:p>
          <a:p>
            <a:endParaRPr lang="en-US" dirty="0"/>
          </a:p>
          <a:p>
            <a:r>
              <a:rPr lang="en-US" dirty="0"/>
              <a:t>Similar power trend was found across the three workflow. </a:t>
            </a:r>
          </a:p>
          <a:p>
            <a:endParaRPr lang="en-US" dirty="0"/>
          </a:p>
          <a:p>
            <a:r>
              <a:rPr lang="en-US" dirty="0"/>
              <a:t>Nlmixr2-scm similar to NONMEM &gt; VAE</a:t>
            </a:r>
          </a:p>
          <a:p>
            <a:endParaRPr lang="en-US" dirty="0"/>
          </a:p>
          <a:p>
            <a:r>
              <a:rPr lang="en-US" dirty="0"/>
              <a:t>Power loss concentrated on two cases 1. competing shapes 2. highly colinear covariate pairs.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C0EFC-DC01-AF81-8E21-3F7A0837DD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B3ADB-2238-18DD-115F-2B7085A81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6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33342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0FFF-F669-E91C-479B-66E18058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6DB42-90AD-BE46-CEDE-D204B1FE0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BD1BB-6716-0560-6C3D-1B8D395CB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runtime comparison across three platform.</a:t>
            </a:r>
          </a:p>
          <a:p>
            <a:r>
              <a:rPr lang="en-US" dirty="0"/>
              <a:t>Run time of covariate selection varies across workflow, and is associated with sample size and model structure. </a:t>
            </a:r>
          </a:p>
          <a:p>
            <a:endParaRPr lang="en-US" dirty="0"/>
          </a:p>
          <a:p>
            <a:r>
              <a:rPr lang="en-US" dirty="0"/>
              <a:t>For analytical solution, VAE is extremely faster than SCM, with NONMEM slightly faster than nlmixr2</a:t>
            </a:r>
          </a:p>
          <a:p>
            <a:r>
              <a:rPr lang="en-US" dirty="0"/>
              <a:t>For ODE, VAE is still extremely faster than SCM, with nlmixr2 substantially faster than NONMEM.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Different optimizer </a:t>
            </a:r>
          </a:p>
          <a:p>
            <a:pPr marL="228600" indent="-228600">
              <a:buAutoNum type="arabicPeriod"/>
            </a:pPr>
            <a:r>
              <a:rPr lang="en-US" dirty="0"/>
              <a:t>Different covariate selection procedures. For nlmixr2, all var-</a:t>
            </a:r>
            <a:r>
              <a:rPr lang="en-US" dirty="0" err="1"/>
              <a:t>covar</a:t>
            </a:r>
            <a:r>
              <a:rPr lang="en-US" dirty="0"/>
              <a:t>-shape is fitted at each step, where as NONMEM deal with shape in a  </a:t>
            </a:r>
            <a:br>
              <a:rPr lang="en-US" dirty="0"/>
            </a:br>
            <a:r>
              <a:rPr lang="en-US" dirty="0"/>
              <a:t>Warmup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Analytic (left): </a:t>
            </a:r>
            <a:r>
              <a:rPr lang="en-US" dirty="0" err="1"/>
              <a:t>PsN</a:t>
            </a:r>
            <a:r>
              <a:rPr lang="en-US" dirty="0"/>
              <a:t> (black) and nlmixr2-SCM (teal) are comparable — </a:t>
            </a:r>
            <a:r>
              <a:rPr lang="en-US" dirty="0" err="1"/>
              <a:t>PsN</a:t>
            </a:r>
            <a:r>
              <a:rPr lang="en-US" dirty="0"/>
              <a:t> slightly cheaper at low scenarios (2–9 min), nlmixr2-SCM ~10–13 min. Both climb mildly with scenario </a:t>
            </a:r>
            <a:r>
              <a:rPr lang="en-US" dirty="0" err="1"/>
              <a:t>complexity.ODE</a:t>
            </a:r>
            <a:r>
              <a:rPr lang="en-US" dirty="0"/>
              <a:t> (right) — the headline: </a:t>
            </a:r>
            <a:r>
              <a:rPr lang="en-US" dirty="0" err="1"/>
              <a:t>PsN</a:t>
            </a:r>
            <a:r>
              <a:rPr lang="en-US" dirty="0"/>
              <a:t> explodes to 15–95 min (median), roughly 3× nlmixr2-SCM across all 16 scenarios. nlmixr2-SCM stays flat at ~10–20 min. The gap is large and consistent — exactly where you </a:t>
            </a:r>
            <a:r>
              <a:rPr lang="en-US" dirty="0" err="1"/>
              <a:t>expected.VAE</a:t>
            </a:r>
            <a:r>
              <a:rPr lang="en-US" dirty="0"/>
              <a:t> (purple): flat ~1–1.5 min everywhere, structure-independent (single fit, no search) — an order of magnitude below both SCM pipelines. Caveat annotated.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1EB25-B0E4-9A34-DCBC-B0C719D276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19ABF-980F-EDF9-F42B-9DF0AD7B0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8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567828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6366-D48C-25B4-93A6-12A78500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F3F16-9520-4188-E58B-3EE4BAAF7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8F9BF-D479-4486-BCA1-3F232455C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This reinforces the importance of domain knowledge. Covariate selection should not be treated as a purely automated process. Clinical relevance, biological plausibility, and interpretability still matter.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From a computational perspective, analytic solutions were generally more stable and efficient than ODE-based models.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For complex ODE models, a warm-start strategy such as the Brent-based approach may help improve robustness.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A33DB-E840-1F17-4D56-57DB771A4B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EC012-2254-BAD4-E98B-E8A5953ED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9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224870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D757-2D97-ACA6-1060-9507EAE7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8479B-A4EE-2247-3EDD-4BD7B22AF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D044D-666C-EA50-16FB-8038D4C13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To conclude, this project showed that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open-source nlmixr2 SCM can match or outperform the traditional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PsN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-NONMEM SCM workflow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in this simulation benchmark.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For SCM, nlmixr2 showed: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comparable power, comparable estimation accuracy,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strong reliability, faster runtime, and the advantage of being open source.</a:t>
            </a:r>
          </a:p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For the VAE method, the main strength is speed. It was much faster and showed comparable accuracy and reasonable power in easier covariate spaces.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However, in more complex scenarios, SCM still performed better for exact covariate recovery.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So the overall take-home message is: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nlmixr2 SCM is a credible open-source alternative to NONMEM SCM, while VAE is a promising fast screening method that may complement, but not yet replace, traditional SCM.</a:t>
            </a:r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30D2A-5D0F-C4C8-87C4-18CC1B0AB8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1BFB5-D377-843A-65A0-DF632A623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10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53256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FC90-47D4-904F-EF62-70D17169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A78A8-D9CA-374E-568B-72F372AF3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93A05-937C-212A-C9E2-86C1F8EBB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B25C7-CE9A-87CB-422D-76CD74D08B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58CCB-49B0-522F-8507-23FD3BEBA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11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682474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incredibly grateful for my manager, Matt Fidler. This project wouldn’t be possible without his guidance and support. </a:t>
            </a:r>
          </a:p>
          <a:p>
            <a:r>
              <a:rPr lang="en-US" dirty="0"/>
              <a:t>I also want to thank Justin Wilkins, who is the other primary developer of nlmixer2scm R package. As well as the whole nlmixr2 development team for their enthusiasm and passion and contribution to open science. </a:t>
            </a:r>
          </a:p>
          <a:p>
            <a:r>
              <a:rPr lang="en-US" dirty="0"/>
              <a:t>PMX team for this platform to learn from all of you.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12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86354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Logo">
            <a:extLst>
              <a:ext uri="{FF2B5EF4-FFF2-40B4-BE49-F238E27FC236}">
                <a16:creationId xmlns:a16="http://schemas.microsoft.com/office/drawing/2014/main" id="{572B6447-BD74-E19F-F82F-B6AB6B813F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51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1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dient background">
            <a:extLst>
              <a:ext uri="{FF2B5EF4-FFF2-40B4-BE49-F238E27FC236}">
                <a16:creationId xmlns:a16="http://schemas.microsoft.com/office/drawing/2014/main" id="{92928F57-07A1-1A1B-92F7-6684E21D98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6057900"/>
            <a:ext cx="12192000" cy="800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11E6EF-7DEE-709C-8F7C-C05A9D414C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56DCA5C-54BE-B570-7771-24B6F32B86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CEC8C55-6D9F-A0BC-1D15-F83CA5ED26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5B90D9E-31F6-9A74-2145-A6288C92CE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EE872-17BA-5687-6409-5D696FD2CC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544A-606F-A954-EFCC-B2A52625FF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9971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652521A-CD45-F485-9C10-82CE67ACE2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8724D9F6-3E07-EAAB-9C0A-FB3B644A6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2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51C14DD-9794-E6F9-AF00-3571E64B89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DBE46BF-4100-2DC3-ABDE-7C925CA29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B367B8-A7CD-7CB8-9517-8197F72C4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AA0FEE-BD89-5565-F585-CC60A499B7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</p:spTree>
    <p:extLst>
      <p:ext uri="{BB962C8B-B14F-4D97-AF65-F5344CB8AC3E}">
        <p14:creationId xmlns:p14="http://schemas.microsoft.com/office/powerpoint/2010/main" val="2235553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-1" y="2420888"/>
            <a:ext cx="4281056" cy="443711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11" t="-811" r="-811" b="-8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2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>
            <a:off x="0" y="2420888"/>
            <a:ext cx="4281056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6" y="2420888"/>
            <a:ext cx="7766944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6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4A620D-E72D-0599-539C-16ECD62CD3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271817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615" y="2420888"/>
            <a:ext cx="4280440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DBD3AB-8D5C-9430-21B5-DB44408225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143343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27" name="Logo">
            <a:extLst>
              <a:ext uri="{FF2B5EF4-FFF2-40B4-BE49-F238E27FC236}">
                <a16:creationId xmlns:a16="http://schemas.microsoft.com/office/drawing/2014/main" id="{6CB62FDA-7C32-F694-6DE6-E1D01DA97A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8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87E83465-E936-9562-7382-58B2C6BC3A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551384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E294DF-F384-A74E-EE39-69C112F65F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51384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3654B84-E40B-FCB1-3724-1DABC8B173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338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26F7F342-6CB9-4537-438D-BA9E5446D5C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359696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6DED-D6C9-416B-DE95-E998EB5207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359696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B2BFA5B-027E-0A7B-FD2A-AAC3CBC9749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61172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9" name="Picture Placeholder 7">
            <a:extLst>
              <a:ext uri="{FF2B5EF4-FFF2-40B4-BE49-F238E27FC236}">
                <a16:creationId xmlns:a16="http://schemas.microsoft.com/office/drawing/2014/main" id="{0F726FBF-CB4A-AF8D-5B1E-DCD4213344B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gray">
          <a:xfrm>
            <a:off x="6168008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0D834FA-1583-AE1B-9B41-FD20F66F22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168008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640CFF1-EE63-44B9-98DB-23D254A8FD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6420036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EAC21E38-8163-B540-E913-991D48522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8976320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1F29D8D5-6E5E-8B9E-0128-955D7E46C2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8976320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841AE9E9-C6DA-13DA-947A-F29639F258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9228348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33" name="Logo">
            <a:extLst>
              <a:ext uri="{FF2B5EF4-FFF2-40B4-BE49-F238E27FC236}">
                <a16:creationId xmlns:a16="http://schemas.microsoft.com/office/drawing/2014/main" id="{7D38B19B-8E1F-2476-5E13-10CCDB113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74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0A9B968-2C0B-3E87-C3F8-5A609C6918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47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95B531DC-EDFA-F406-F1A3-7CCD05D7950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7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19D055-168E-C9A6-4B8C-59B80F8FA4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4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Section 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4926549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Section name (max.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593291"/>
            <a:ext cx="507262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CA65FF8-CA33-78E1-DB61-531BB02E1E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6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95" userDrawn="1">
          <p15:clr>
            <a:srgbClr val="FBAE40"/>
          </p15:clr>
        </p15:guide>
        <p15:guide id="3" pos="388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11088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6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3179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3179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1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8008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3044E95F-CA3F-13A8-2786-33924D4D7A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hree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1804F57-3A4A-9DF7-253D-B1D02A1E5C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E285D2F7-CECB-F944-A2C5-B4FE6727F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58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527" userDrawn="1">
          <p15:clr>
            <a:srgbClr val="9FCC3B"/>
          </p15:clr>
        </p15:guide>
        <p15:guide id="12" pos="1436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4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58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0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778B60-B2B6-2C1B-6489-97359DB625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2DDFF32-ABCB-33C4-9D6C-A673B4B53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9FD615-2E6A-9A47-5949-05F77046E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289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2BC9066-B5D9-AF6D-6531-C5B70B0F4B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87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wo images,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371703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68008" y="3717032"/>
            <a:ext cx="5472000" cy="2340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1CE46F8-E5F0-79EC-BCFD-07B38471E42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132686C-3404-59C2-A915-D1BF3E0108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C98B57A-3555-40BA-AB17-E55AA71BD4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2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  <p15:guide id="15" orient="horz" pos="2341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61E2592-C1EF-3D9B-8998-9CBE468D2E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214862B1-1BEA-07E1-834B-64536F34BB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51384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FDE0631-BFE0-D7CB-B38E-9800DAD94A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51384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25D5CD-EB13-7B23-8CE8-72C1140C3D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9D56707-D9C5-867A-9B10-EEE16F55F4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4295800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18DCF02-18F0-F413-650A-1BBBB77FE2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95800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0B06B7A-FFCC-5BC2-0870-633DD5EE8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8F0C17C-68B4-7D82-079D-FE5525B2C8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040216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C875757-40AA-FFE0-19F9-4B08BD4DB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040216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ull image  (name and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CE8921B-3DA6-94DA-A776-DD044CCFAE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1384" y="5264626"/>
            <a:ext cx="2398193" cy="792666"/>
          </a:xfrm>
          <a:solidFill>
            <a:schemeClr val="bg1"/>
          </a:solidFill>
        </p:spPr>
        <p:txBody>
          <a:bodyPr wrap="none" lIns="108000" tIns="133200" rIns="108000" bIns="169200"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910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Media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1">
            <a:extLst>
              <a:ext uri="{FF2B5EF4-FFF2-40B4-BE49-F238E27FC236}">
                <a16:creationId xmlns:a16="http://schemas.microsoft.com/office/drawing/2014/main" id="{CBB6E684-2097-3EE4-C891-8AFA7D49DEA4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570896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Key message 1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dient background">
            <a:extLst>
              <a:ext uri="{FF2B5EF4-FFF2-40B4-BE49-F238E27FC236}">
                <a16:creationId xmlns:a16="http://schemas.microsoft.com/office/drawing/2014/main" id="{8D74D201-83D3-6FD9-8655-C4045985B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8559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31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Key message 2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266D735-8620-C437-0FB3-0FE9AE77E0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61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1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803874-3F49-6B30-F1BA-029CAB9E94C7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21362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57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2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CC37E-F977-0808-8FE2-EBFB981F74D1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4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(Background Grey)">
            <a:extLst>
              <a:ext uri="{FF2B5EF4-FFF2-40B4-BE49-F238E27FC236}">
                <a16:creationId xmlns:a16="http://schemas.microsoft.com/office/drawing/2014/main" id="{F56792E5-C6B9-EC9B-17EE-7D7E78258F0A}"/>
              </a:ext>
            </a:extLst>
          </p:cNvPr>
          <p:cNvSpPr/>
          <p:nvPr userDrawn="1"/>
        </p:nvSpPr>
        <p:spPr bwMode="gray">
          <a:xfrm>
            <a:off x="6168008" y="512676"/>
            <a:ext cx="5472000" cy="55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E0B544B-42EB-16A3-0EBF-8006B62CA0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528008" y="836712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chart 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A94ADB8-8BB9-7BA9-B6D8-7500FFA90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528008" y="1052736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unit of value</a:t>
            </a:r>
          </a:p>
        </p:txBody>
      </p:sp>
      <p:sp>
        <p:nvSpPr>
          <p:cNvPr id="12" name="Chart Placeholder 1">
            <a:extLst>
              <a:ext uri="{FF2B5EF4-FFF2-40B4-BE49-F238E27FC236}">
                <a16:creationId xmlns:a16="http://schemas.microsoft.com/office/drawing/2014/main" id="{6F45CE3C-CE03-F84F-458B-8EB30D44E2C2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6527521" y="1340768"/>
            <a:ext cx="4752975" cy="4140000"/>
          </a:xfrm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chart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1429D25-4756-CAC6-F902-90E7E3E788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528008" y="5589530"/>
            <a:ext cx="4752000" cy="107722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footnote/source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8DAF8DC-04B4-6F33-FDF5-0EC9726FA8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C90698-5AC9-14B7-D67A-08FAA7A9C01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268BFFB-23FF-B2EF-20B1-9397D5C51E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1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9DD3A440-1CA9-B6A2-DB83-4AED31D076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87116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21D8988-0F40-25F1-D7E7-AD2B2BD5BE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BF10AE8-C121-8442-377B-88627C9560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85C9B-BDFD-3544-8568-29E1331A42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15ECF1-9C67-32ED-D4D3-DDFE8EE0FA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9C6BBFC-28AE-9E58-2344-AD9D8C100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168008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E697D5E-1E96-8C69-B935-640772D9971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99907E-A59A-265E-C3BE-FF36FAD57D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976320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79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40" userDrawn="1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9F1196-D343-C4C6-E6C1-0481148364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7C11606-5708-5AF1-A745-7C48C94318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8" name="Gradient background">
            <a:extLst>
              <a:ext uri="{FF2B5EF4-FFF2-40B4-BE49-F238E27FC236}">
                <a16:creationId xmlns:a16="http://schemas.microsoft.com/office/drawing/2014/main" id="{C5FA1B03-9A8B-0B3A-DF97-DDA924BDB59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6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592B1CA-9888-E4D0-38AA-72644C82C1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1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EE5160-7157-FD00-72DD-B0C1659617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ABF2EA-E0E1-5E97-F9DF-0A25325C6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238B284-6E1F-DB98-291C-B688B697E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71B56941-9CB9-1B31-EE5C-90530DC68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6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53C5D2-2DA0-43FA-4736-78C3F7AAAC1F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915" y="745103"/>
            <a:ext cx="10440000" cy="1226170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Q&amp;A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94" y="2872882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B71C6042-1A08-DE22-F443-2471CE7E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18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(Soft White)">
            <a:extLst>
              <a:ext uri="{FF2B5EF4-FFF2-40B4-BE49-F238E27FC236}">
                <a16:creationId xmlns:a16="http://schemas.microsoft.com/office/drawing/2014/main" id="{AA716554-F91F-95C6-1065-438A52A6D658}"/>
              </a:ext>
            </a:extLst>
          </p:cNvPr>
          <p:cNvSpPr/>
          <p:nvPr userDrawn="1"/>
        </p:nvSpPr>
        <p:spPr bwMode="hidden">
          <a:xfrm>
            <a:off x="-60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CD9D9-86A4-E818-1FE4-D228D5CDB0B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51384" y="476672"/>
            <a:ext cx="11088000" cy="4154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5B76263-23BE-7BB5-2901-CB711150768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51384" y="1844824"/>
            <a:ext cx="11088000" cy="421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D872605-B8A3-4560-D1E5-773A17639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168008" y="6433635"/>
            <a:ext cx="4824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algn="l"/>
            <a:endParaRPr lang="en-US" noProof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8CE6BD9B-B3F1-1D85-5718-E7D48314B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52584" y="6433635"/>
            <a:ext cx="288032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5564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49" r:id="rId2"/>
    <p:sldLayoutId id="2147483684" r:id="rId3"/>
    <p:sldLayoutId id="2147483685" r:id="rId4"/>
    <p:sldLayoutId id="2147483671" r:id="rId5"/>
    <p:sldLayoutId id="2147483688" r:id="rId6"/>
    <p:sldLayoutId id="2147483689" r:id="rId7"/>
    <p:sldLayoutId id="2147483672" r:id="rId8"/>
    <p:sldLayoutId id="2147483673" r:id="rId9"/>
    <p:sldLayoutId id="2147483697" r:id="rId10"/>
    <p:sldLayoutId id="2147483651" r:id="rId11"/>
    <p:sldLayoutId id="2147483691" r:id="rId12"/>
    <p:sldLayoutId id="2147483679" r:id="rId13"/>
    <p:sldLayoutId id="2147483654" r:id="rId14"/>
    <p:sldLayoutId id="2147483655" r:id="rId15"/>
    <p:sldLayoutId id="2147483706" r:id="rId16"/>
    <p:sldLayoutId id="2147483657" r:id="rId17"/>
    <p:sldLayoutId id="2147483658" r:id="rId18"/>
    <p:sldLayoutId id="2147483704" r:id="rId19"/>
    <p:sldLayoutId id="2147483659" r:id="rId20"/>
    <p:sldLayoutId id="2147483705" r:id="rId21"/>
    <p:sldLayoutId id="2147483660" r:id="rId22"/>
    <p:sldLayoutId id="2147483661" r:id="rId23"/>
    <p:sldLayoutId id="2147483683" r:id="rId24"/>
    <p:sldLayoutId id="2147483663" r:id="rId25"/>
    <p:sldLayoutId id="2147483662" r:id="rId26"/>
    <p:sldLayoutId id="2147483665" r:id="rId27"/>
    <p:sldLayoutId id="2147483666" r:id="rId28"/>
    <p:sldLayoutId id="2147483693" r:id="rId29"/>
    <p:sldLayoutId id="2147483694" r:id="rId30"/>
    <p:sldLayoutId id="2147483669" r:id="rId31"/>
    <p:sldLayoutId id="2147483682" r:id="rId32"/>
    <p:sldLayoutId id="2147483680" r:id="rId33"/>
    <p:sldLayoutId id="2147483695" r:id="rId34"/>
    <p:sldLayoutId id="2147483696" r:id="rId35"/>
    <p:sldLayoutId id="2147483703" r:id="rId3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2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8096" y="946724"/>
            <a:ext cx="9994392" cy="1231106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strike="noStrike" cap="none" dirty="0">
                <a:latin typeface="Arial"/>
                <a:cs typeface="Arial"/>
                <a:sym typeface="Arial"/>
              </a:rPr>
              <a:t>Automated Covariate-Model Building for Population PK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609600" y="2580345"/>
            <a:ext cx="10972800" cy="430887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"/>
                <a:cs typeface="Arial"/>
                <a:sym typeface="Arial"/>
              </a:rPr>
              <a:t>N</a:t>
            </a:r>
            <a:r>
              <a:rPr sz="2800" b="1" i="0" u="none" strike="noStrike" cap="none" dirty="0">
                <a:latin typeface="Arial"/>
                <a:cs typeface="Arial"/>
                <a:sym typeface="Arial"/>
              </a:rPr>
              <a:t>lmixr2 Ecosystem vs. NONMEM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392504" y="3121223"/>
            <a:ext cx="10972800" cy="307777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b="0" i="1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Traditional SCM and cutting-edge VAE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3702632" y="4126496"/>
            <a:ext cx="4352544" cy="1327992"/>
          </a:xfrm>
        </p:spPr>
        <p:txBody>
          <a:bodyPr/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Presenter: Yaping Liu</a:t>
            </a:r>
            <a:r>
              <a:rPr sz="20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  </a:t>
            </a:r>
            <a:r>
              <a:rPr lang="en-US" sz="20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(PMX intern)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Manager: Matt Fidler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Date: 08/17/2026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55286" y="233730"/>
            <a:ext cx="11064240" cy="430887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460A9">
                    <a:alpha val="100000"/>
                  </a:srgbClr>
                </a:solidFill>
                <a:latin typeface="Arial"/>
                <a:cs typeface="Arial"/>
                <a:sym typeface="Arial"/>
              </a:rPr>
              <a:t>Executive Summary</a:t>
            </a:r>
            <a:endParaRPr sz="2800" b="1" i="0" u="none" strike="noStrike" cap="none" dirty="0">
              <a:solidFill>
                <a:srgbClr val="0460A9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5BCEC3B7-5739-4280-B959-1C3B1249004B}" type="slidenum">
              <a:rPr lang="en-US" sz="1000">
                <a:solidFill>
                  <a:srgbClr val="8A8A8A"/>
                </a:solidFill>
                <a:latin typeface="Arial"/>
              </a:rPr>
              <a:t>2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4D6CD9-9711-51E0-16AB-212F93D73850}"/>
              </a:ext>
            </a:extLst>
          </p:cNvPr>
          <p:cNvGrpSpPr/>
          <p:nvPr/>
        </p:nvGrpSpPr>
        <p:grpSpPr>
          <a:xfrm>
            <a:off x="452381" y="881703"/>
            <a:ext cx="6637375" cy="2890786"/>
            <a:chOff x="452381" y="881703"/>
            <a:chExt cx="6637375" cy="2890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A26198-EFDA-FD5C-6A7A-1FCA099D2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930"/>
            <a:stretch>
              <a:fillRect/>
            </a:stretch>
          </p:blipFill>
          <p:spPr>
            <a:xfrm>
              <a:off x="1044464" y="1589589"/>
              <a:ext cx="4516138" cy="21829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99907D-380A-5CD0-F198-AA4A3950E354}"/>
                </a:ext>
              </a:extLst>
            </p:cNvPr>
            <p:cNvSpPr txBox="1"/>
            <p:nvPr/>
          </p:nvSpPr>
          <p:spPr>
            <a:xfrm>
              <a:off x="452381" y="881703"/>
              <a:ext cx="663737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b="1" dirty="0"/>
                <a:t>Covariate selection matters for</a:t>
              </a:r>
            </a:p>
            <a:p>
              <a:r>
                <a:rPr lang="en-US" sz="2000" b="1" dirty="0"/>
                <a:t>       dose optimization</a:t>
              </a:r>
              <a:endParaRPr lang="en-US" sz="18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2AE3C3-A929-A78E-F0A4-7A702F00E365}"/>
              </a:ext>
            </a:extLst>
          </p:cNvPr>
          <p:cNvGrpSpPr/>
          <p:nvPr/>
        </p:nvGrpSpPr>
        <p:grpSpPr>
          <a:xfrm>
            <a:off x="6261303" y="848752"/>
            <a:ext cx="5748697" cy="2736312"/>
            <a:chOff x="6261303" y="848752"/>
            <a:chExt cx="5748697" cy="27363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85042C-78E8-86A5-1735-1AB3B48E844E}"/>
                </a:ext>
              </a:extLst>
            </p:cNvPr>
            <p:cNvSpPr txBox="1"/>
            <p:nvPr/>
          </p:nvSpPr>
          <p:spPr>
            <a:xfrm>
              <a:off x="6261303" y="848752"/>
              <a:ext cx="57486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2. Tradition &amp; emerging methods &amp; software</a:t>
              </a:r>
              <a:endParaRPr lang="en-US" sz="1800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494B9E3-050A-BB9C-57C6-21B178E81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0457" y="1328117"/>
              <a:ext cx="5210385" cy="195971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74B20E5-6BD0-2ED6-1FCA-AEE61E557864}"/>
                </a:ext>
              </a:extLst>
            </p:cNvPr>
            <p:cNvSpPr txBox="1"/>
            <p:nvPr/>
          </p:nvSpPr>
          <p:spPr>
            <a:xfrm>
              <a:off x="7586685" y="3292997"/>
              <a:ext cx="3649627" cy="2920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  <a:spcBef>
                  <a:spcPts val="800"/>
                </a:spcBef>
              </a:pPr>
              <a:r>
                <a:rPr lang="en-US" sz="1800" b="1" dirty="0"/>
                <a:t>(variational autoencoder)</a:t>
              </a:r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20816E-6F69-D26C-8B7B-CAF041D59382}"/>
              </a:ext>
            </a:extLst>
          </p:cNvPr>
          <p:cNvGrpSpPr/>
          <p:nvPr/>
        </p:nvGrpSpPr>
        <p:grpSpPr>
          <a:xfrm>
            <a:off x="483271" y="4034611"/>
            <a:ext cx="9795081" cy="2056305"/>
            <a:chOff x="483271" y="4034611"/>
            <a:chExt cx="9795081" cy="20563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1DB763-0D01-BF68-1BEB-E38ACDD504B5}"/>
                </a:ext>
              </a:extLst>
            </p:cNvPr>
            <p:cNvGrpSpPr/>
            <p:nvPr/>
          </p:nvGrpSpPr>
          <p:grpSpPr>
            <a:xfrm>
              <a:off x="6164037" y="4407391"/>
              <a:ext cx="2509802" cy="1683525"/>
              <a:chOff x="8886451" y="1702048"/>
              <a:chExt cx="2870229" cy="192529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8B77E27-7D65-419F-710D-B905A844FE97}"/>
                  </a:ext>
                </a:extLst>
              </p:cNvPr>
              <p:cNvGrpSpPr/>
              <p:nvPr/>
            </p:nvGrpSpPr>
            <p:grpSpPr>
              <a:xfrm>
                <a:off x="8886451" y="1702048"/>
                <a:ext cx="2870229" cy="1925292"/>
                <a:chOff x="8689728" y="1505084"/>
                <a:chExt cx="2870229" cy="192529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7C3A93F8-49AF-236B-F205-87A28B717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89728" y="2315493"/>
                  <a:ext cx="2870229" cy="1114883"/>
                </a:xfrm>
                <a:prstGeom prst="rect">
                  <a:avLst/>
                </a:prstGeom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3CA26B-7894-923A-61E0-B385872F0A3C}"/>
                    </a:ext>
                  </a:extLst>
                </p:cNvPr>
                <p:cNvSpPr txBox="1"/>
                <p:nvPr/>
              </p:nvSpPr>
              <p:spPr>
                <a:xfrm>
                  <a:off x="9784362" y="1505084"/>
                  <a:ext cx="68095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b="1" dirty="0"/>
                    <a:t>SCM</a:t>
                  </a:r>
                </a:p>
              </p:txBody>
            </p: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65FAAE8-D542-49BA-4732-64A589D7FB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7350" y="2010972"/>
                <a:ext cx="2308431" cy="501486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1C433B-C502-6E80-04E4-CF68D74672A2}"/>
                </a:ext>
              </a:extLst>
            </p:cNvPr>
            <p:cNvGrpSpPr/>
            <p:nvPr/>
          </p:nvGrpSpPr>
          <p:grpSpPr>
            <a:xfrm>
              <a:off x="2794382" y="4367101"/>
              <a:ext cx="2408842" cy="1723815"/>
              <a:chOff x="1438655" y="4614294"/>
              <a:chExt cx="2408842" cy="1723815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20319EA-9E3E-AEBE-5848-8FAE147BF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38655" y="4614294"/>
                <a:ext cx="1723815" cy="172381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DB339E-7C6D-434C-C47B-2FA03C7DA05C}"/>
                  </a:ext>
                </a:extLst>
              </p:cNvPr>
              <p:cNvSpPr txBox="1"/>
              <p:nvPr/>
            </p:nvSpPr>
            <p:spPr>
              <a:xfrm>
                <a:off x="2789090" y="5823080"/>
                <a:ext cx="1058407" cy="4918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500"/>
                  </a:lnSpc>
                  <a:spcBef>
                    <a:spcPts val="800"/>
                  </a:spcBef>
                </a:pPr>
                <a:r>
                  <a:rPr lang="en-US" b="1" dirty="0"/>
                  <a:t>VAE</a:t>
                </a:r>
              </a:p>
              <a:p>
                <a:pPr algn="ctr">
                  <a:lnSpc>
                    <a:spcPts val="1500"/>
                  </a:lnSpc>
                  <a:spcBef>
                    <a:spcPts val="800"/>
                  </a:spcBef>
                </a:pPr>
                <a:endParaRPr lang="en-US" b="1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9B1306-C5DD-C79D-C15A-09037F8BD5AD}"/>
                  </a:ext>
                </a:extLst>
              </p:cNvPr>
              <p:cNvSpPr txBox="1"/>
              <p:nvPr/>
            </p:nvSpPr>
            <p:spPr>
              <a:xfrm>
                <a:off x="3055609" y="4780426"/>
                <a:ext cx="595448" cy="2422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b="1" dirty="0"/>
                  <a:t>SCM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91A414-0DDA-3B41-53CD-EA04E2AE0194}"/>
                </a:ext>
              </a:extLst>
            </p:cNvPr>
            <p:cNvSpPr txBox="1"/>
            <p:nvPr/>
          </p:nvSpPr>
          <p:spPr>
            <a:xfrm>
              <a:off x="483271" y="4034611"/>
              <a:ext cx="97950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3. Objective: rigorously benchmark nlmixr2-SCM/VAE with NONMEM-SCM</a:t>
              </a:r>
              <a:endParaRPr lang="en-US" sz="1800" dirty="0"/>
            </a:p>
          </p:txBody>
        </p:sp>
        <p:pic>
          <p:nvPicPr>
            <p:cNvPr id="37" name="Graphic 36" descr="Fencing with solid fill">
              <a:extLst>
                <a:ext uri="{FF2B5EF4-FFF2-40B4-BE49-F238E27FC236}">
                  <a16:creationId xmlns:a16="http://schemas.microsoft.com/office/drawing/2014/main" id="{628ED784-F567-AEB5-22C1-86AB1601A4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80812" y="4775448"/>
              <a:ext cx="715188" cy="71518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56485" y="306261"/>
            <a:ext cx="11279029" cy="64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0460A9"/>
                </a:solidFill>
                <a:latin typeface="Arial"/>
                <a:cs typeface="Arial"/>
              </a:rPr>
              <a:t>SCM builds the model by adding, then pruning, covariates one at a time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5461BC-FA0A-DADE-7C20-F36DAC8678CB}"/>
              </a:ext>
            </a:extLst>
          </p:cNvPr>
          <p:cNvGrpSpPr/>
          <p:nvPr/>
        </p:nvGrpSpPr>
        <p:grpSpPr>
          <a:xfrm>
            <a:off x="677915" y="954261"/>
            <a:ext cx="10248644" cy="2013613"/>
            <a:chOff x="616638" y="1207434"/>
            <a:chExt cx="11026722" cy="3112566"/>
          </a:xfrm>
        </p:grpSpPr>
        <p:sp>
          <p:nvSpPr>
            <p:cNvPr id="20" name="base"/>
            <p:cNvSpPr/>
            <p:nvPr/>
          </p:nvSpPr>
          <p:spPr>
            <a:xfrm>
              <a:off x="616638" y="2890000"/>
              <a:ext cx="1433362" cy="1180001"/>
            </a:xfrm>
            <a:prstGeom prst="rect">
              <a:avLst/>
            </a:prstGeom>
            <a:solidFill>
              <a:srgbClr val="DCE9F7"/>
            </a:solidFill>
            <a:ln w="15875">
              <a:solidFill>
                <a:srgbClr val="2E6DB4"/>
              </a:solidFill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Base model</a:t>
              </a:r>
            </a:p>
          </p:txBody>
        </p:sp>
        <p:sp>
          <p:nvSpPr>
            <p:cNvPr id="21" name="add"/>
            <p:cNvSpPr/>
            <p:nvPr/>
          </p:nvSpPr>
          <p:spPr>
            <a:xfrm>
              <a:off x="2410000" y="2890000"/>
              <a:ext cx="1650000" cy="1180000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Add the most significant 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candidate</a:t>
              </a:r>
            </a:p>
          </p:txBody>
        </p:sp>
        <p:sp>
          <p:nvSpPr>
            <p:cNvPr id="22" name="lrt"/>
            <p:cNvSpPr/>
            <p:nvPr/>
          </p:nvSpPr>
          <p:spPr>
            <a:xfrm>
              <a:off x="4404999" y="2640000"/>
              <a:ext cx="1695001" cy="1680000"/>
            </a:xfrm>
            <a:prstGeom prst="diamond">
              <a:avLst/>
            </a:prstGeom>
            <a:solidFill>
              <a:srgbClr val="ED9B33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LRT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p &lt; 0.05?</a:t>
              </a:r>
            </a:p>
          </p:txBody>
        </p:sp>
        <p:sp>
          <p:nvSpPr>
            <p:cNvPr id="23" name="rem"/>
            <p:cNvSpPr/>
            <p:nvPr/>
          </p:nvSpPr>
          <p:spPr>
            <a:xfrm>
              <a:off x="6511680" y="2890000"/>
              <a:ext cx="1650000" cy="1180000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Remove weakest</a:t>
              </a:r>
            </a:p>
          </p:txBody>
        </p:sp>
        <p:sp>
          <p:nvSpPr>
            <p:cNvPr id="24" name="pv"/>
            <p:cNvSpPr/>
            <p:nvPr/>
          </p:nvSpPr>
          <p:spPr>
            <a:xfrm>
              <a:off x="8440000" y="2640000"/>
              <a:ext cx="1680000" cy="1680000"/>
            </a:xfrm>
            <a:prstGeom prst="diamond">
              <a:avLst/>
            </a:prstGeom>
            <a:solidFill>
              <a:srgbClr val="ED9B33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3C3C3C"/>
                  </a:solidFill>
                  <a:latin typeface="Arial"/>
                  <a:cs typeface="Arial"/>
                </a:rPr>
                <a:t>p &gt; 0.01?</a:t>
              </a:r>
            </a:p>
          </p:txBody>
        </p:sp>
        <p:sp>
          <p:nvSpPr>
            <p:cNvPr id="25" name="fin"/>
            <p:cNvSpPr/>
            <p:nvPr/>
          </p:nvSpPr>
          <p:spPr>
            <a:xfrm>
              <a:off x="10513360" y="2950494"/>
              <a:ext cx="1130000" cy="10590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Arial"/>
                  <a:cs typeface="Arial"/>
                </a:rPr>
                <a:t>Final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Arial"/>
                  <a:cs typeface="Arial"/>
                </a:rPr>
                <a:t>model</a:t>
              </a:r>
            </a:p>
          </p:txBody>
        </p:sp>
        <p:cxnSp>
          <p:nvCxnSpPr>
            <p:cNvPr id="30" name="a30"/>
            <p:cNvCxnSpPr>
              <a:cxnSpLocks/>
            </p:cNvCxnSpPr>
            <p:nvPr/>
          </p:nvCxnSpPr>
          <p:spPr>
            <a:xfrm>
              <a:off x="2050000" y="3480000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1" name="a31"/>
            <p:cNvCxnSpPr>
              <a:cxnSpLocks/>
            </p:cNvCxnSpPr>
            <p:nvPr/>
          </p:nvCxnSpPr>
          <p:spPr>
            <a:xfrm>
              <a:off x="4060000" y="3480000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2" name="a32"/>
            <p:cNvCxnSpPr>
              <a:cxnSpLocks/>
            </p:cNvCxnSpPr>
            <p:nvPr/>
          </p:nvCxnSpPr>
          <p:spPr>
            <a:xfrm>
              <a:off x="6100000" y="3480000"/>
              <a:ext cx="33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3" name="a33"/>
            <p:cNvCxnSpPr>
              <a:cxnSpLocks/>
            </p:cNvCxnSpPr>
            <p:nvPr/>
          </p:nvCxnSpPr>
          <p:spPr>
            <a:xfrm>
              <a:off x="8155000" y="3479999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4" name="a34"/>
            <p:cNvCxnSpPr>
              <a:cxnSpLocks/>
            </p:cNvCxnSpPr>
            <p:nvPr/>
          </p:nvCxnSpPr>
          <p:spPr>
            <a:xfrm>
              <a:off x="10120000" y="3480000"/>
              <a:ext cx="33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35" name="nomore"/>
            <p:cNvSpPr txBox="1"/>
            <p:nvPr/>
          </p:nvSpPr>
          <p:spPr>
            <a:xfrm>
              <a:off x="5750000" y="3120000"/>
              <a:ext cx="115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No</a:t>
              </a:r>
            </a:p>
          </p:txBody>
        </p:sp>
        <p:sp>
          <p:nvSpPr>
            <p:cNvPr id="36" name="no"/>
            <p:cNvSpPr txBox="1"/>
            <p:nvPr/>
          </p:nvSpPr>
          <p:spPr>
            <a:xfrm>
              <a:off x="9870000" y="3120000"/>
              <a:ext cx="9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No</a:t>
              </a:r>
            </a:p>
          </p:txBody>
        </p:sp>
        <p:cxnSp>
          <p:nvCxnSpPr>
            <p:cNvPr id="40" name="a40"/>
            <p:cNvCxnSpPr>
              <a:cxnSpLocks/>
            </p:cNvCxnSpPr>
            <p:nvPr/>
          </p:nvCxnSpPr>
          <p:spPr>
            <a:xfrm flipV="1">
              <a:off x="5260000" y="2160000"/>
              <a:ext cx="0" cy="48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1" name="a41"/>
            <p:cNvCxnSpPr>
              <a:cxnSpLocks/>
            </p:cNvCxnSpPr>
            <p:nvPr/>
          </p:nvCxnSpPr>
          <p:spPr>
            <a:xfrm flipH="1">
              <a:off x="3235000" y="2160000"/>
              <a:ext cx="2025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2" name="a42"/>
            <p:cNvCxnSpPr>
              <a:cxnSpLocks/>
            </p:cNvCxnSpPr>
            <p:nvPr/>
          </p:nvCxnSpPr>
          <p:spPr>
            <a:xfrm>
              <a:off x="3235000" y="2160000"/>
              <a:ext cx="0" cy="73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43" name="y1"/>
            <p:cNvSpPr txBox="1"/>
            <p:nvPr/>
          </p:nvSpPr>
          <p:spPr>
            <a:xfrm>
              <a:off x="2935000" y="1800000"/>
              <a:ext cx="24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Yes (add, repeat)</a:t>
              </a:r>
            </a:p>
          </p:txBody>
        </p:sp>
        <p:cxnSp>
          <p:nvCxnSpPr>
            <p:cNvPr id="44" name="a44"/>
            <p:cNvCxnSpPr>
              <a:cxnSpLocks/>
            </p:cNvCxnSpPr>
            <p:nvPr/>
          </p:nvCxnSpPr>
          <p:spPr>
            <a:xfrm flipV="1">
              <a:off x="9280000" y="2160000"/>
              <a:ext cx="0" cy="48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5" name="a45"/>
            <p:cNvCxnSpPr>
              <a:cxnSpLocks/>
            </p:cNvCxnSpPr>
            <p:nvPr/>
          </p:nvCxnSpPr>
          <p:spPr>
            <a:xfrm flipH="1">
              <a:off x="7255000" y="2160000"/>
              <a:ext cx="2025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6" name="a46"/>
            <p:cNvCxnSpPr>
              <a:cxnSpLocks/>
            </p:cNvCxnSpPr>
            <p:nvPr/>
          </p:nvCxnSpPr>
          <p:spPr>
            <a:xfrm>
              <a:off x="7255000" y="2160000"/>
              <a:ext cx="0" cy="73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47" name="y2"/>
            <p:cNvSpPr txBox="1"/>
            <p:nvPr/>
          </p:nvSpPr>
          <p:spPr>
            <a:xfrm>
              <a:off x="6955000" y="1800000"/>
              <a:ext cx="24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Yes (remove, repeat)</a:t>
              </a:r>
            </a:p>
          </p:txBody>
        </p:sp>
        <p:sp>
          <p:nvSpPr>
            <p:cNvPr id="48" name="fwd"/>
            <p:cNvSpPr txBox="1"/>
            <p:nvPr/>
          </p:nvSpPr>
          <p:spPr>
            <a:xfrm>
              <a:off x="2300000" y="1207434"/>
              <a:ext cx="3520000" cy="57999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2000" b="1" i="0" dirty="0">
                  <a:latin typeface="Arial"/>
                  <a:cs typeface="Arial"/>
                </a:rPr>
                <a:t>Forward inclusion</a:t>
              </a:r>
            </a:p>
          </p:txBody>
        </p:sp>
        <p:sp>
          <p:nvSpPr>
            <p:cNvPr id="49" name="bwd"/>
            <p:cNvSpPr txBox="1"/>
            <p:nvPr/>
          </p:nvSpPr>
          <p:spPr>
            <a:xfrm>
              <a:off x="6134346" y="1238671"/>
              <a:ext cx="3520000" cy="459999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2000" b="1" dirty="0">
                  <a:latin typeface="Arial"/>
                  <a:cs typeface="Arial"/>
                </a:rPr>
                <a:t>Backward elimination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149AD619-3637-4849-B618-E29C888D376F}" type="slidenum">
              <a:rPr lang="en-US" sz="1000">
                <a:solidFill>
                  <a:srgbClr val="8A8A8A"/>
                </a:solidFill>
                <a:latin typeface="Arial"/>
              </a:rPr>
              <a:t>3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D6864-10CB-3A5F-144B-A9E5F72EC7A8}"/>
              </a:ext>
            </a:extLst>
          </p:cNvPr>
          <p:cNvSpPr txBox="1"/>
          <p:nvPr/>
        </p:nvSpPr>
        <p:spPr>
          <a:xfrm>
            <a:off x="8800618" y="6522889"/>
            <a:ext cx="31174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Pharmaceutical Research 15 (1998): 1463–1468.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96ED000-5ADE-C94A-071C-BE6CF7AD2B66}"/>
              </a:ext>
            </a:extLst>
          </p:cNvPr>
          <p:cNvSpPr txBox="1"/>
          <p:nvPr/>
        </p:nvSpPr>
        <p:spPr>
          <a:xfrm>
            <a:off x="398869" y="3137173"/>
            <a:ext cx="11372896" cy="9033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0460A9"/>
                </a:solidFill>
                <a:latin typeface="Arial"/>
                <a:cs typeface="Arial"/>
              </a:rPr>
              <a:t>VAE can estimate population parameters and covariate effects in a training loop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25D741-039E-85EF-AE79-F6DBBAA95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49" y="3557678"/>
            <a:ext cx="6319869" cy="2665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54B61-CC31-7222-28D9-7897B089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80374-981D-8071-63BA-C13C99D570E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88620" y="167403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Identical simulated data feeds all three workflows for a fair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736B4-A22A-F140-02B8-52720198C4E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88620" y="622640"/>
            <a:ext cx="3108960" cy="6041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pic>
        <p:nvPicPr>
          <p:cNvPr id="19" name="Graphic 18" descr="Arrow Right with solid fill">
            <a:extLst>
              <a:ext uri="{FF2B5EF4-FFF2-40B4-BE49-F238E27FC236}">
                <a16:creationId xmlns:a16="http://schemas.microsoft.com/office/drawing/2014/main" id="{56FB0147-EE76-AAC2-B200-896864299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7379" y="1330995"/>
            <a:ext cx="754023" cy="8630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4C2206-6B4C-F204-2B0E-BE2731B03CE8}"/>
              </a:ext>
            </a:extLst>
          </p:cNvPr>
          <p:cNvSpPr txBox="1"/>
          <p:nvPr/>
        </p:nvSpPr>
        <p:spPr>
          <a:xfrm>
            <a:off x="1436717" y="621334"/>
            <a:ext cx="1012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07F7C8-C4A5-8F1A-C9D3-EA75C30D1970}"/>
              </a:ext>
            </a:extLst>
          </p:cNvPr>
          <p:cNvSpPr txBox="1"/>
          <p:nvPr/>
        </p:nvSpPr>
        <p:spPr>
          <a:xfrm>
            <a:off x="5742432" y="621334"/>
            <a:ext cx="4931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0E23B1-86A2-1589-3144-DA8DC8D127EE}"/>
              </a:ext>
            </a:extLst>
          </p:cNvPr>
          <p:cNvSpPr txBox="1"/>
          <p:nvPr/>
        </p:nvSpPr>
        <p:spPr>
          <a:xfrm>
            <a:off x="9656064" y="621334"/>
            <a:ext cx="6289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dirty="0"/>
          </a:p>
        </p:txBody>
      </p:sp>
      <p:pic>
        <p:nvPicPr>
          <p:cNvPr id="27" name="Graphic 26" descr="Arrow Right with solid fill">
            <a:extLst>
              <a:ext uri="{FF2B5EF4-FFF2-40B4-BE49-F238E27FC236}">
                <a16:creationId xmlns:a16="http://schemas.microsoft.com/office/drawing/2014/main" id="{C935C5C2-40ED-359E-54EE-B29588E14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941" y="1294015"/>
            <a:ext cx="754023" cy="8630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3B838D5-34A5-5192-5A09-DB22E6C725BC}"/>
              </a:ext>
            </a:extLst>
          </p:cNvPr>
          <p:cNvGrpSpPr/>
          <p:nvPr/>
        </p:nvGrpSpPr>
        <p:grpSpPr>
          <a:xfrm>
            <a:off x="473146" y="1183969"/>
            <a:ext cx="3446809" cy="4151272"/>
            <a:chOff x="473146" y="1464493"/>
            <a:chExt cx="3446809" cy="43980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58C7EE8-8F78-3053-C9D8-D9C172F772A6}"/>
                </a:ext>
              </a:extLst>
            </p:cNvPr>
            <p:cNvSpPr/>
            <p:nvPr/>
          </p:nvSpPr>
          <p:spPr>
            <a:xfrm>
              <a:off x="781057" y="1464493"/>
              <a:ext cx="2846322" cy="113449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algn="ctr">
                <a:spcBef>
                  <a:spcPts val="800"/>
                </a:spcBef>
              </a:pPr>
              <a:r>
                <a:rPr lang="en-US" sz="2400" dirty="0"/>
                <a:t>Simulate </a:t>
              </a:r>
            </a:p>
            <a:p>
              <a:pPr algn="ctr">
                <a:spcBef>
                  <a:spcPts val="800"/>
                </a:spcBef>
              </a:pPr>
              <a:r>
                <a:rPr lang="en-US" sz="2400" dirty="0"/>
                <a:t>virtual population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B7A1F5D-07ED-8DE2-286F-C2865E8E257E}"/>
                </a:ext>
              </a:extLst>
            </p:cNvPr>
            <p:cNvGrpSpPr/>
            <p:nvPr/>
          </p:nvGrpSpPr>
          <p:grpSpPr>
            <a:xfrm>
              <a:off x="473146" y="2904116"/>
              <a:ext cx="3446809" cy="1708882"/>
              <a:chOff x="473146" y="2904116"/>
              <a:chExt cx="3446809" cy="170888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DBF2B42-20C8-B236-A338-9FE4C7CB3540}"/>
                  </a:ext>
                </a:extLst>
              </p:cNvPr>
              <p:cNvGrpSpPr/>
              <p:nvPr/>
            </p:nvGrpSpPr>
            <p:grpSpPr>
              <a:xfrm>
                <a:off x="1383147" y="2904116"/>
                <a:ext cx="1322132" cy="927327"/>
                <a:chOff x="1383147" y="2904116"/>
                <a:chExt cx="1322132" cy="927327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3F8180F-7F8F-FE24-A37C-EF02DCA7B552}"/>
                    </a:ext>
                  </a:extLst>
                </p:cNvPr>
                <p:cNvSpPr txBox="1"/>
                <p:nvPr/>
              </p:nvSpPr>
              <p:spPr>
                <a:xfrm>
                  <a:off x="1397000" y="2904116"/>
                  <a:ext cx="13082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b="0" i="0" u="none" strike="noStrike" cap="none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NHANES</a:t>
                  </a:r>
                  <a:endParaRPr lang="en-US" sz="3200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591AA63-8753-6B8B-CADC-D4DC285B12BE}"/>
                    </a:ext>
                  </a:extLst>
                </p:cNvPr>
                <p:cNvSpPr txBox="1"/>
                <p:nvPr/>
              </p:nvSpPr>
              <p:spPr>
                <a:xfrm>
                  <a:off x="1383147" y="3431333"/>
                  <a:ext cx="118565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0" i="0" u="none" strike="noStrike" cap="none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+</a:t>
                  </a:r>
                  <a:endParaRPr lang="en-US" sz="3200" dirty="0"/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A0F7EA-1FCC-59BC-F3A2-6CEA9A971977}"/>
                  </a:ext>
                </a:extLst>
              </p:cNvPr>
              <p:cNvSpPr txBox="1"/>
              <p:nvPr/>
            </p:nvSpPr>
            <p:spPr>
              <a:xfrm>
                <a:off x="473146" y="3863024"/>
                <a:ext cx="3446809" cy="749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Two compartment linear PK </a:t>
                </a:r>
              </a:p>
              <a:p>
                <a:pPr algn="ctr"/>
                <a:r>
                  <a:rPr lang="en-US" sz="2000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With known covariate effects</a:t>
                </a:r>
              </a:p>
            </p:txBody>
          </p:sp>
        </p:grpSp>
        <p:pic>
          <p:nvPicPr>
            <p:cNvPr id="39" name="Graphic 38" descr="Group of people outline">
              <a:extLst>
                <a:ext uri="{FF2B5EF4-FFF2-40B4-BE49-F238E27FC236}">
                  <a16:creationId xmlns:a16="http://schemas.microsoft.com/office/drawing/2014/main" id="{2717CB2B-65D1-92EF-BD1C-6D0829C8C9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85900" y="5025288"/>
              <a:ext cx="914400" cy="837293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9AA75F-B4F5-50CD-4BA8-213379FFCBFF}"/>
              </a:ext>
            </a:extLst>
          </p:cNvPr>
          <p:cNvGrpSpPr/>
          <p:nvPr/>
        </p:nvGrpSpPr>
        <p:grpSpPr>
          <a:xfrm>
            <a:off x="6870731" y="3844716"/>
            <a:ext cx="1600857" cy="986652"/>
            <a:chOff x="4283358" y="4002342"/>
            <a:chExt cx="1139126" cy="86654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6731904-A4CC-4BAB-7376-BCA1077652C6}"/>
                </a:ext>
              </a:extLst>
            </p:cNvPr>
            <p:cNvGrpSpPr/>
            <p:nvPr/>
          </p:nvGrpSpPr>
          <p:grpSpPr>
            <a:xfrm>
              <a:off x="4283358" y="4530583"/>
              <a:ext cx="1139126" cy="338307"/>
              <a:chOff x="4181441" y="3205257"/>
              <a:chExt cx="1139126" cy="373164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DE35042D-6281-582B-1FCE-91EC10E8EBE8}"/>
                  </a:ext>
                </a:extLst>
              </p:cNvPr>
              <p:cNvSpPr/>
              <p:nvPr/>
            </p:nvSpPr>
            <p:spPr>
              <a:xfrm>
                <a:off x="4181441" y="3205257"/>
                <a:ext cx="1035335" cy="36811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288920D-541B-7523-454F-82548651FCE0}"/>
                  </a:ext>
                </a:extLst>
              </p:cNvPr>
              <p:cNvSpPr txBox="1"/>
              <p:nvPr/>
            </p:nvSpPr>
            <p:spPr>
              <a:xfrm>
                <a:off x="4285232" y="3221958"/>
                <a:ext cx="1035335" cy="356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 err="1"/>
                  <a:t>Nonmem</a:t>
                </a:r>
                <a:endParaRPr lang="en-US" dirty="0"/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D192931-2947-CBBE-DA77-8B586EFA7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51" y="4012708"/>
              <a:ext cx="614802" cy="2461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A17323C-802C-3577-D826-E4C9E77B19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625" y="4039579"/>
              <a:ext cx="5690" cy="507222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0770F7B-B54D-F940-EF4A-653090876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6502" y="4002342"/>
              <a:ext cx="3651" cy="540958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7B93500-0E8A-91C0-DBF7-D166B8CD99B8}"/>
              </a:ext>
            </a:extLst>
          </p:cNvPr>
          <p:cNvGrpSpPr/>
          <p:nvPr/>
        </p:nvGrpSpPr>
        <p:grpSpPr>
          <a:xfrm>
            <a:off x="4080997" y="1183968"/>
            <a:ext cx="3121209" cy="4072707"/>
            <a:chOff x="4080997" y="1464493"/>
            <a:chExt cx="3121209" cy="431485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FCE28C0-478B-FC7E-024E-A793A0FE501E}"/>
                </a:ext>
              </a:extLst>
            </p:cNvPr>
            <p:cNvSpPr/>
            <p:nvPr/>
          </p:nvSpPr>
          <p:spPr>
            <a:xfrm>
              <a:off x="4485591" y="1464493"/>
              <a:ext cx="2716615" cy="120845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algn="ctr">
                <a:spcBef>
                  <a:spcPts val="800"/>
                </a:spcBef>
              </a:pPr>
              <a:r>
                <a:rPr lang="en-US" sz="2400" dirty="0"/>
                <a:t>Build </a:t>
              </a:r>
            </a:p>
            <a:p>
              <a:pPr algn="ctr">
                <a:spcBef>
                  <a:spcPts val="800"/>
                </a:spcBef>
              </a:pPr>
              <a:r>
                <a:rPr lang="en-US" sz="2400" dirty="0"/>
                <a:t>covariate models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1418A91-FF72-A34A-C11D-0697410E451D}"/>
                </a:ext>
              </a:extLst>
            </p:cNvPr>
            <p:cNvSpPr txBox="1"/>
            <p:nvPr/>
          </p:nvSpPr>
          <p:spPr>
            <a:xfrm>
              <a:off x="4943986" y="2831129"/>
              <a:ext cx="15968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Base model</a:t>
              </a:r>
              <a:endParaRPr lang="en-US" sz="20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C687296-3F6E-3C59-1C18-25F7EBE9FCEB}"/>
                </a:ext>
              </a:extLst>
            </p:cNvPr>
            <p:cNvCxnSpPr>
              <a:cxnSpLocks/>
            </p:cNvCxnSpPr>
            <p:nvPr/>
          </p:nvCxnSpPr>
          <p:spPr>
            <a:xfrm>
              <a:off x="5742432" y="3286642"/>
              <a:ext cx="0" cy="2091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18B92F-AB28-C4F9-4937-4CEA5CB30165}"/>
                </a:ext>
              </a:extLst>
            </p:cNvPr>
            <p:cNvSpPr txBox="1"/>
            <p:nvPr/>
          </p:nvSpPr>
          <p:spPr>
            <a:xfrm>
              <a:off x="4865365" y="5379236"/>
              <a:ext cx="20208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Winner model</a:t>
              </a:r>
              <a:endParaRPr lang="en-US" sz="2000" dirty="0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E9540437-5DFF-FF50-FE73-08E822AB72A6}"/>
                </a:ext>
              </a:extLst>
            </p:cNvPr>
            <p:cNvSpPr/>
            <p:nvPr/>
          </p:nvSpPr>
          <p:spPr>
            <a:xfrm rot="5225484" flipH="1">
              <a:off x="4983868" y="4052815"/>
              <a:ext cx="837793" cy="674267"/>
            </a:xfrm>
            <a:prstGeom prst="arc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4CDE518-ECB7-7C07-8082-0B41B90D7DD2}"/>
                </a:ext>
              </a:extLst>
            </p:cNvPr>
            <p:cNvSpPr txBox="1"/>
            <p:nvPr/>
          </p:nvSpPr>
          <p:spPr>
            <a:xfrm>
              <a:off x="4080997" y="3739977"/>
              <a:ext cx="13795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covariates</a:t>
              </a:r>
              <a:endParaRPr lang="en-US" sz="20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806575-F83E-0B57-A50C-DEA0CFB06452}"/>
              </a:ext>
            </a:extLst>
          </p:cNvPr>
          <p:cNvGrpSpPr/>
          <p:nvPr/>
        </p:nvGrpSpPr>
        <p:grpSpPr>
          <a:xfrm>
            <a:off x="6449122" y="3061309"/>
            <a:ext cx="1918567" cy="1258256"/>
            <a:chOff x="6449122" y="3341833"/>
            <a:chExt cx="1918567" cy="1333067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206948-93E2-C760-BB2A-6D4C515DB6E3}"/>
                </a:ext>
              </a:extLst>
            </p:cNvPr>
            <p:cNvGrpSpPr/>
            <p:nvPr/>
          </p:nvGrpSpPr>
          <p:grpSpPr>
            <a:xfrm>
              <a:off x="6873419" y="3341833"/>
              <a:ext cx="1494270" cy="1333067"/>
              <a:chOff x="4291641" y="3471588"/>
              <a:chExt cx="1063282" cy="1074126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E58932-FCC9-65A0-6950-0E17DEDC5200}"/>
                  </a:ext>
                </a:extLst>
              </p:cNvPr>
              <p:cNvSpPr txBox="1"/>
              <p:nvPr/>
            </p:nvSpPr>
            <p:spPr>
              <a:xfrm>
                <a:off x="4540657" y="4204774"/>
                <a:ext cx="725373" cy="34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SCM</a:t>
                </a:r>
                <a:endParaRPr lang="en-US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6A33C8-9348-B694-66D8-7401C72599CF}"/>
                  </a:ext>
                </a:extLst>
              </p:cNvPr>
              <p:cNvSpPr txBox="1"/>
              <p:nvPr/>
            </p:nvSpPr>
            <p:spPr>
              <a:xfrm>
                <a:off x="4543013" y="3855595"/>
                <a:ext cx="680878" cy="34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VAE</a:t>
                </a:r>
                <a:endParaRPr lang="en-US" dirty="0"/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3593B98-9AF2-0A41-587F-40AE4B870312}"/>
                  </a:ext>
                </a:extLst>
              </p:cNvPr>
              <p:cNvGrpSpPr/>
              <p:nvPr/>
            </p:nvGrpSpPr>
            <p:grpSpPr>
              <a:xfrm>
                <a:off x="4291641" y="3471588"/>
                <a:ext cx="1063282" cy="1024722"/>
                <a:chOff x="4291641" y="3471588"/>
                <a:chExt cx="1063282" cy="1024722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E5F4E4DA-CDA0-5890-90B4-61E45B802F69}"/>
                    </a:ext>
                  </a:extLst>
                </p:cNvPr>
                <p:cNvGrpSpPr/>
                <p:nvPr/>
              </p:nvGrpSpPr>
              <p:grpSpPr>
                <a:xfrm>
                  <a:off x="4291641" y="3471588"/>
                  <a:ext cx="1063282" cy="340939"/>
                  <a:chOff x="4190857" y="3327240"/>
                  <a:chExt cx="1063282" cy="376067"/>
                </a:xfrm>
              </p:grpSpPr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9528418D-E093-9E18-A399-C51C4058F643}"/>
                      </a:ext>
                    </a:extLst>
                  </p:cNvPr>
                  <p:cNvSpPr/>
                  <p:nvPr/>
                </p:nvSpPr>
                <p:spPr>
                  <a:xfrm>
                    <a:off x="4190857" y="3332253"/>
                    <a:ext cx="1035336" cy="359304"/>
                  </a:xfrm>
                  <a:prstGeom prst="round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lIns="108000" tIns="108000" rIns="108000" bIns="108000" rtlCol="0" anchor="t"/>
                  <a:lstStyle/>
                  <a:p>
                    <a:pPr marL="180000" indent="-180000" algn="l">
                      <a:spcBef>
                        <a:spcPts val="800"/>
                      </a:spcBef>
                      <a:buFont typeface="Arial" panose="020B0604020202020204" pitchFamily="34" charset="0"/>
                      <a:buChar char="•"/>
                    </a:pPr>
                    <a:endParaRPr lang="en-US" dirty="0" err="1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4C175B0-F6FD-F9F2-FECF-E83354EDB120}"/>
                      </a:ext>
                    </a:extLst>
                  </p:cNvPr>
                  <p:cNvSpPr txBox="1"/>
                  <p:nvPr/>
                </p:nvSpPr>
                <p:spPr>
                  <a:xfrm>
                    <a:off x="4349032" y="3327240"/>
                    <a:ext cx="905107" cy="37606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Nlmixr2</a:t>
                    </a:r>
                    <a:endParaRPr lang="en-US" dirty="0"/>
                  </a:p>
                </p:txBody>
              </p:sp>
            </p:grp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49BCEACD-427D-693D-AFEB-039648117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9318" y="3806889"/>
                  <a:ext cx="0" cy="685465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3B5E4F8C-E379-11ED-81A3-556B6DC8DD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23891" y="3808149"/>
                  <a:ext cx="0" cy="688161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D6FC147B-93B6-5DE0-7CD3-AA7043E84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5432" y="4496310"/>
                  <a:ext cx="828459" cy="0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A516D6E-5B53-8794-E013-964604058A51}"/>
                </a:ext>
              </a:extLst>
            </p:cNvPr>
            <p:cNvCxnSpPr/>
            <p:nvPr/>
          </p:nvCxnSpPr>
          <p:spPr>
            <a:xfrm flipH="1">
              <a:off x="6449122" y="4283732"/>
              <a:ext cx="5410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60" name="slidenum_fn">
            <a:extLst>
              <a:ext uri="{FF2B5EF4-FFF2-40B4-BE49-F238E27FC236}">
                <a16:creationId xmlns:a16="http://schemas.microsoft.com/office/drawing/2014/main" id="{647D747E-BD83-BD70-814F-94A2834C54EF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903C4A0C-239E-4743-A766-4B7790CED072}" type="slidenum">
              <a:rPr lang="en-US" sz="1000">
                <a:solidFill>
                  <a:srgbClr val="8A8A8A"/>
                </a:solidFill>
                <a:latin typeface="Arial"/>
              </a:rPr>
              <a:t>4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3E9BEB-CE8D-2CC3-B2F0-79F36AA855FC}"/>
              </a:ext>
            </a:extLst>
          </p:cNvPr>
          <p:cNvGrpSpPr/>
          <p:nvPr/>
        </p:nvGrpSpPr>
        <p:grpSpPr>
          <a:xfrm>
            <a:off x="8021699" y="1146989"/>
            <a:ext cx="3668781" cy="3825028"/>
            <a:chOff x="8021699" y="1427513"/>
            <a:chExt cx="3668781" cy="405244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4FD06B6-171B-D2C2-8EE5-E675CBD467A9}"/>
                </a:ext>
              </a:extLst>
            </p:cNvPr>
            <p:cNvSpPr/>
            <p:nvPr/>
          </p:nvSpPr>
          <p:spPr>
            <a:xfrm>
              <a:off x="8021699" y="1427513"/>
              <a:ext cx="3668781" cy="120845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algn="ctr">
                <a:spcBef>
                  <a:spcPts val="800"/>
                </a:spcBef>
              </a:pPr>
              <a:r>
                <a:rPr lang="en-US" sz="2400" dirty="0"/>
                <a:t>Evaluate </a:t>
              </a:r>
            </a:p>
            <a:p>
              <a:pPr algn="ctr">
                <a:spcBef>
                  <a:spcPts val="800"/>
                </a:spcBef>
              </a:pPr>
              <a:r>
                <a:rPr lang="en-US" sz="2400" dirty="0"/>
                <a:t>operating characteristics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C74BCFD-2D9C-E935-4BD3-60A21274426D}"/>
                </a:ext>
              </a:extLst>
            </p:cNvPr>
            <p:cNvSpPr txBox="1"/>
            <p:nvPr/>
          </p:nvSpPr>
          <p:spPr>
            <a:xfrm>
              <a:off x="8507703" y="2808252"/>
              <a:ext cx="2935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Winner vs. True model</a:t>
              </a:r>
              <a:endParaRPr lang="en-US" sz="2000" dirty="0"/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FB1C3D9A-683B-D983-E50A-266E20FC1C9F}"/>
                </a:ext>
              </a:extLst>
            </p:cNvPr>
            <p:cNvGrpSpPr/>
            <p:nvPr/>
          </p:nvGrpSpPr>
          <p:grpSpPr>
            <a:xfrm>
              <a:off x="9048662" y="3428999"/>
              <a:ext cx="1836541" cy="2050962"/>
              <a:chOff x="9256191" y="3392138"/>
              <a:chExt cx="1836541" cy="1592761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A4F918B-D738-4870-64B8-991CDA26E744}"/>
                  </a:ext>
                </a:extLst>
              </p:cNvPr>
              <p:cNvGrpSpPr/>
              <p:nvPr/>
            </p:nvGrpSpPr>
            <p:grpSpPr>
              <a:xfrm>
                <a:off x="9495831" y="3392138"/>
                <a:ext cx="1596901" cy="1592761"/>
                <a:chOff x="9556415" y="3363020"/>
                <a:chExt cx="1596901" cy="1592761"/>
              </a:xfrm>
            </p:grpSpPr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F412901-6704-4439-A4C4-0179317C1B1A}"/>
                    </a:ext>
                  </a:extLst>
                </p:cNvPr>
                <p:cNvSpPr txBox="1"/>
                <p:nvPr/>
              </p:nvSpPr>
              <p:spPr>
                <a:xfrm>
                  <a:off x="9556427" y="3363020"/>
                  <a:ext cx="1596889" cy="3291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Reliability</a:t>
                  </a:r>
                  <a:endParaRPr lang="en-US" sz="2000" dirty="0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620341D-AC23-7D5C-DF09-CEDBE780317D}"/>
                    </a:ext>
                  </a:extLst>
                </p:cNvPr>
                <p:cNvSpPr txBox="1"/>
                <p:nvPr/>
              </p:nvSpPr>
              <p:spPr>
                <a:xfrm>
                  <a:off x="9556427" y="3761998"/>
                  <a:ext cx="159688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Power</a:t>
                  </a:r>
                  <a:endParaRPr lang="en-US" sz="2000" dirty="0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9E3B2F9-BF08-507B-10D4-B97FCE88D7C9}"/>
                    </a:ext>
                  </a:extLst>
                </p:cNvPr>
                <p:cNvSpPr txBox="1"/>
                <p:nvPr/>
              </p:nvSpPr>
              <p:spPr>
                <a:xfrm>
                  <a:off x="9556427" y="4117820"/>
                  <a:ext cx="159688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Accuracy</a:t>
                  </a:r>
                  <a:endParaRPr lang="en-US" sz="2000" dirty="0"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976C3AE-D680-E6CD-F191-5C18F5E6F69E}"/>
                    </a:ext>
                  </a:extLst>
                </p:cNvPr>
                <p:cNvSpPr txBox="1"/>
                <p:nvPr/>
              </p:nvSpPr>
              <p:spPr>
                <a:xfrm>
                  <a:off x="9556415" y="4555671"/>
                  <a:ext cx="159688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Efficiency </a:t>
                  </a:r>
                  <a:endParaRPr lang="en-US" sz="2000" dirty="0"/>
                </a:p>
              </p:txBody>
            </p:sp>
          </p:grpSp>
          <p:sp>
            <p:nvSpPr>
              <p:cNvPr id="123" name="Left Brace 122">
                <a:extLst>
                  <a:ext uri="{FF2B5EF4-FFF2-40B4-BE49-F238E27FC236}">
                    <a16:creationId xmlns:a16="http://schemas.microsoft.com/office/drawing/2014/main" id="{ADF7217D-A6C4-544F-0DE6-548D6675D8F7}"/>
                  </a:ext>
                </a:extLst>
              </p:cNvPr>
              <p:cNvSpPr/>
              <p:nvPr/>
            </p:nvSpPr>
            <p:spPr>
              <a:xfrm>
                <a:off x="9256191" y="3505533"/>
                <a:ext cx="234229" cy="1365970"/>
              </a:xfrm>
              <a:prstGeom prst="leftBrace">
                <a:avLst/>
              </a:prstGeom>
              <a:ln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2A59CB81-10B1-B736-FD80-7E7518E8FAC2}"/>
                </a:ext>
              </a:extLst>
            </p:cNvPr>
            <p:cNvCxnSpPr>
              <a:cxnSpLocks/>
            </p:cNvCxnSpPr>
            <p:nvPr/>
          </p:nvCxnSpPr>
          <p:spPr>
            <a:xfrm>
              <a:off x="8242765" y="4290130"/>
              <a:ext cx="602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1564FD5-27E6-8146-3279-83B5834BC950}"/>
              </a:ext>
            </a:extLst>
          </p:cNvPr>
          <p:cNvSpPr txBox="1"/>
          <p:nvPr/>
        </p:nvSpPr>
        <p:spPr>
          <a:xfrm>
            <a:off x="206824" y="5685300"/>
            <a:ext cx="119851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2000" dirty="0"/>
              <a:t>3 sample sizes* 2 model parameterization * 16 covariate scenarios * 100 datasets * 3 workflows = 28,800 </a:t>
            </a:r>
          </a:p>
        </p:txBody>
      </p:sp>
    </p:spTree>
    <p:extLst>
      <p:ext uri="{BB962C8B-B14F-4D97-AF65-F5344CB8AC3E}">
        <p14:creationId xmlns:p14="http://schemas.microsoft.com/office/powerpoint/2010/main" val="189890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D179-AC23-760C-6F9E-3C9B96EC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F0BD3-11C3-E387-48CD-EFF1F4FD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FEAB92C-44E3-7772-AE71-9A38BBCE3772}"/>
              </a:ext>
            </a:extLst>
          </p:cNvPr>
          <p:cNvSpPr txBox="1">
            <a:spLocks/>
          </p:cNvSpPr>
          <p:nvPr/>
        </p:nvSpPr>
        <p:spPr bwMode="gray">
          <a:xfrm>
            <a:off x="233680" y="241756"/>
            <a:ext cx="1174098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nlmixr2 matches or exceeds NONMEM on convergence &amp; </a:t>
            </a:r>
            <a:r>
              <a:rPr lang="en-US" sz="2800" b="1" dirty="0" err="1">
                <a:solidFill>
                  <a:srgbClr val="0460A9"/>
                </a:solidFill>
                <a:latin typeface="Arial"/>
                <a:cs typeface="Arial"/>
              </a:rPr>
              <a:t>cov_step</a:t>
            </a:r>
            <a:endParaRPr lang="en-US" sz="2800" b="1" dirty="0">
              <a:solidFill>
                <a:srgbClr val="0460A9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F6FE6-FB1A-FDF0-AEEE-A1E3186F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05" y="948037"/>
            <a:ext cx="10603095" cy="49619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771AFDC-D97F-2E68-D61D-AFFC618D2CE0}"/>
              </a:ext>
            </a:extLst>
          </p:cNvPr>
          <p:cNvGrpSpPr/>
          <p:nvPr/>
        </p:nvGrpSpPr>
        <p:grpSpPr>
          <a:xfrm>
            <a:off x="2664110" y="6312651"/>
            <a:ext cx="8488235" cy="456908"/>
            <a:chOff x="880000" y="5195331"/>
            <a:chExt cx="9400001" cy="560000"/>
          </a:xfrm>
        </p:grpSpPr>
        <p:sp>
          <p:nvSpPr>
            <p:cNvPr id="6" name="pill90">
              <a:extLst>
                <a:ext uri="{FF2B5EF4-FFF2-40B4-BE49-F238E27FC236}">
                  <a16:creationId xmlns:a16="http://schemas.microsoft.com/office/drawing/2014/main" id="{C4C5332C-498D-56C4-1306-8B4DB8820A49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8" name="pill91">
              <a:extLst>
                <a:ext uri="{FF2B5EF4-FFF2-40B4-BE49-F238E27FC236}">
                  <a16:creationId xmlns:a16="http://schemas.microsoft.com/office/drawing/2014/main" id="{F98BE6C0-A225-67AD-D0E2-8AAB7A05A47D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1" name="pill92">
              <a:extLst>
                <a:ext uri="{FF2B5EF4-FFF2-40B4-BE49-F238E27FC236}">
                  <a16:creationId xmlns:a16="http://schemas.microsoft.com/office/drawing/2014/main" id="{CA0FD8CC-D260-91F7-981C-A2A67C8E0D8C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4" name="pill93">
              <a:extLst>
                <a:ext uri="{FF2B5EF4-FFF2-40B4-BE49-F238E27FC236}">
                  <a16:creationId xmlns:a16="http://schemas.microsoft.com/office/drawing/2014/main" id="{1EFBF76D-3B2C-E910-EFCF-7CBDC151BDE3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404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13D6-A629-B46A-2BEE-E1AB3D20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81FB-2B83-E580-4F6E-88FC2778CCD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960" name="slidenum_fn">
            <a:extLst>
              <a:ext uri="{FF2B5EF4-FFF2-40B4-BE49-F238E27FC236}">
                <a16:creationId xmlns:a16="http://schemas.microsoft.com/office/drawing/2014/main" id="{D47AF29B-D32B-A1B4-B3D3-C25388C2F964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92F30AAC-6E70-445B-8C47-250AAFA00FD7}" type="slidenum">
              <a:rPr lang="en-US" sz="1000">
                <a:solidFill>
                  <a:srgbClr val="8A8A8A"/>
                </a:solidFill>
                <a:latin typeface="Arial"/>
              </a:rPr>
              <a:t>6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3ACFB4-2018-5630-EDE0-E324D21D7FC6}"/>
              </a:ext>
            </a:extLst>
          </p:cNvPr>
          <p:cNvGrpSpPr/>
          <p:nvPr/>
        </p:nvGrpSpPr>
        <p:grpSpPr>
          <a:xfrm>
            <a:off x="2622788" y="6215218"/>
            <a:ext cx="8733555" cy="474782"/>
            <a:chOff x="880000" y="5195331"/>
            <a:chExt cx="9400001" cy="560000"/>
          </a:xfrm>
        </p:grpSpPr>
        <p:sp>
          <p:nvSpPr>
            <p:cNvPr id="7" name="pill90">
              <a:extLst>
                <a:ext uri="{FF2B5EF4-FFF2-40B4-BE49-F238E27FC236}">
                  <a16:creationId xmlns:a16="http://schemas.microsoft.com/office/drawing/2014/main" id="{44A06EFF-BDB1-A0BF-4130-3EEE0560818A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8" name="pill91">
              <a:extLst>
                <a:ext uri="{FF2B5EF4-FFF2-40B4-BE49-F238E27FC236}">
                  <a16:creationId xmlns:a16="http://schemas.microsoft.com/office/drawing/2014/main" id="{43C4E803-2B32-BC01-F878-124101B9781E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ACC43CCD-73D6-5476-A515-A19BB52B4152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95EFD557-1CD1-C668-67A5-E502492A4FAE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44F3B8-B75B-B2E9-6F0A-9FF82B97265D}"/>
              </a:ext>
            </a:extLst>
          </p:cNvPr>
          <p:cNvGrpSpPr/>
          <p:nvPr/>
        </p:nvGrpSpPr>
        <p:grpSpPr>
          <a:xfrm>
            <a:off x="356839" y="979151"/>
            <a:ext cx="9766875" cy="4659149"/>
            <a:chOff x="870065" y="1091267"/>
            <a:chExt cx="10859403" cy="499403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78C8422-F6D6-4CC6-7F5F-EAE947D78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836"/>
            <a:stretch>
              <a:fillRect/>
            </a:stretch>
          </p:blipFill>
          <p:spPr>
            <a:xfrm>
              <a:off x="870065" y="1091267"/>
              <a:ext cx="10859403" cy="4994032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C1CB8D-75FD-5373-6CE6-A59EDCD3030B}"/>
                </a:ext>
              </a:extLst>
            </p:cNvPr>
            <p:cNvGrpSpPr/>
            <p:nvPr/>
          </p:nvGrpSpPr>
          <p:grpSpPr>
            <a:xfrm>
              <a:off x="4360985" y="2323051"/>
              <a:ext cx="7108876" cy="1477360"/>
              <a:chOff x="4107766" y="2722957"/>
              <a:chExt cx="7108876" cy="147736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A12CCB-B670-3CF2-5E49-A15B1EF7FF88}"/>
                  </a:ext>
                </a:extLst>
              </p:cNvPr>
              <p:cNvSpPr txBox="1"/>
              <p:nvPr/>
            </p:nvSpPr>
            <p:spPr>
              <a:xfrm>
                <a:off x="4107766" y="2841673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73%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21A882-7618-1291-C186-ED31434404AD}"/>
                  </a:ext>
                </a:extLst>
              </p:cNvPr>
              <p:cNvSpPr txBox="1"/>
              <p:nvPr/>
            </p:nvSpPr>
            <p:spPr>
              <a:xfrm>
                <a:off x="4107766" y="3516400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50%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69C780-7BBA-4429-99A5-AD0F427205BF}"/>
                  </a:ext>
                </a:extLst>
              </p:cNvPr>
              <p:cNvSpPr txBox="1"/>
              <p:nvPr/>
            </p:nvSpPr>
            <p:spPr>
              <a:xfrm>
                <a:off x="4107766" y="3923318"/>
                <a:ext cx="6353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23%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134D85-C189-4B9A-1DB8-DBD568FAAF7E}"/>
                  </a:ext>
                </a:extLst>
              </p:cNvPr>
              <p:cNvSpPr txBox="1"/>
              <p:nvPr/>
            </p:nvSpPr>
            <p:spPr>
              <a:xfrm>
                <a:off x="7465257" y="2854436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66%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897025-C6A8-D7B5-BF7C-BCB103AB0760}"/>
                  </a:ext>
                </a:extLst>
              </p:cNvPr>
              <p:cNvSpPr txBox="1"/>
              <p:nvPr/>
            </p:nvSpPr>
            <p:spPr>
              <a:xfrm>
                <a:off x="7549234" y="3462330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45%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7120D2-ADAB-8102-249B-B33188FCFE45}"/>
                  </a:ext>
                </a:extLst>
              </p:cNvPr>
              <p:cNvSpPr txBox="1"/>
              <p:nvPr/>
            </p:nvSpPr>
            <p:spPr>
              <a:xfrm>
                <a:off x="7625434" y="3793399"/>
                <a:ext cx="6353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23%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02BCCB-B3B8-9BEC-1AA8-AF6B11F3E32C}"/>
                  </a:ext>
                </a:extLst>
              </p:cNvPr>
              <p:cNvSpPr txBox="1"/>
              <p:nvPr/>
            </p:nvSpPr>
            <p:spPr>
              <a:xfrm>
                <a:off x="10428852" y="2722957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58%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4935B4-9EF1-664A-4912-701C2BFBA4D7}"/>
                  </a:ext>
                </a:extLst>
              </p:cNvPr>
              <p:cNvSpPr txBox="1"/>
              <p:nvPr/>
            </p:nvSpPr>
            <p:spPr>
              <a:xfrm>
                <a:off x="10428852" y="3185331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33%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A1BEB0-8190-0F5B-5FED-EB0F0E9AD4E6}"/>
                  </a:ext>
                </a:extLst>
              </p:cNvPr>
              <p:cNvSpPr txBox="1"/>
              <p:nvPr/>
            </p:nvSpPr>
            <p:spPr>
              <a:xfrm>
                <a:off x="10428851" y="3849689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19%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77080-8832-3030-98D9-52C1BD05E1F8}"/>
                </a:ext>
              </a:extLst>
            </p:cNvPr>
            <p:cNvSpPr txBox="1"/>
            <p:nvPr/>
          </p:nvSpPr>
          <p:spPr>
            <a:xfrm>
              <a:off x="4908987" y="1352996"/>
              <a:ext cx="4116717" cy="2925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M</a:t>
              </a:r>
              <a:r>
                <a:rPr lang="en-US" altLang="zh-CN" dirty="0"/>
                <a:t>edian power over 16 scenarios</a:t>
              </a:r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C1D2936-DB56-9375-1193-283D9558AFD3}"/>
              </a:ext>
            </a:extLst>
          </p:cNvPr>
          <p:cNvSpPr txBox="1"/>
          <p:nvPr/>
        </p:nvSpPr>
        <p:spPr>
          <a:xfrm>
            <a:off x="222637" y="137160"/>
            <a:ext cx="11764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SCM power is </a:t>
            </a:r>
            <a:r>
              <a:rPr lang="en-US" altLang="zh-CN" sz="2800" b="1" dirty="0">
                <a:solidFill>
                  <a:srgbClr val="0460A9"/>
                </a:solidFill>
                <a:latin typeface="Arial"/>
                <a:cs typeface="Arial"/>
              </a:rPr>
              <a:t>comparable</a:t>
            </a: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 across nlmixr2 and NONMEM, and ≥ VAE</a:t>
            </a:r>
          </a:p>
        </p:txBody>
      </p:sp>
      <p:pic>
        <p:nvPicPr>
          <p:cNvPr id="32" name="Graphic 31" descr="Fencing with solid fill">
            <a:extLst>
              <a:ext uri="{FF2B5EF4-FFF2-40B4-BE49-F238E27FC236}">
                <a16:creationId xmlns:a16="http://schemas.microsoft.com/office/drawing/2014/main" id="{0ABB2FE7-7473-4326-F0F5-050788D9B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1578" y="2203818"/>
            <a:ext cx="715188" cy="7151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F7474AC-B3AB-52C2-A10A-B4105FA937FA}"/>
              </a:ext>
            </a:extLst>
          </p:cNvPr>
          <p:cNvSpPr txBox="1"/>
          <p:nvPr/>
        </p:nvSpPr>
        <p:spPr>
          <a:xfrm>
            <a:off x="10352568" y="2928346"/>
            <a:ext cx="18487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2000" dirty="0"/>
              <a:t>Power &amp; linear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02D7EB-68F0-B8D6-8201-5AB768B5A221}"/>
              </a:ext>
            </a:extLst>
          </p:cNvPr>
          <p:cNvSpPr txBox="1"/>
          <p:nvPr/>
        </p:nvSpPr>
        <p:spPr>
          <a:xfrm>
            <a:off x="10406484" y="3362476"/>
            <a:ext cx="1557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2000" dirty="0"/>
              <a:t>BW vs. BMI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4B5A15-0326-0F71-6CE9-A4958CCF9707}"/>
                  </a:ext>
                </a:extLst>
              </p:cNvPr>
              <p:cNvSpPr txBox="1"/>
              <p:nvPr/>
            </p:nvSpPr>
            <p:spPr>
              <a:xfrm>
                <a:off x="9890224" y="1368738"/>
                <a:ext cx="2187843" cy="480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2000" dirty="0"/>
                  <a:t>Power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𝑒𝑥𝑎𝑐𝑡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𝑚𝑎𝑡𝑐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4B5A15-0326-0F71-6CE9-A4958CCF9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224" y="1368738"/>
                <a:ext cx="2187843" cy="480837"/>
              </a:xfrm>
              <a:prstGeom prst="rect">
                <a:avLst/>
              </a:prstGeom>
              <a:blipFill>
                <a:blip r:embed="rId5"/>
                <a:stretch>
                  <a:fillRect l="-6964" t="-2564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04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F8D2-79A8-F15E-5FAB-354B688DA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937A-8BE8-8072-CF7D-6F26E261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3" y="227847"/>
            <a:ext cx="12122697" cy="775597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Estimation accuracy is comparable across nlmixr2, NONMEM, and VAE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CABB8-04C0-66ED-6D44-AF525FC7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7</a:t>
            </a:fld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3">
                <a:extLst>
                  <a:ext uri="{FF2B5EF4-FFF2-40B4-BE49-F238E27FC236}">
                    <a16:creationId xmlns:a16="http://schemas.microsoft.com/office/drawing/2014/main" id="{15BACA9D-4AFB-3E94-6C38-B1C12AE65F6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826390" y="5395608"/>
                <a:ext cx="8608521" cy="300788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0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Estimation accuracy: nlmixr2-SCM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cs typeface="Arial"/>
                        <a:sym typeface="Arial"/>
                      </a:rPr>
                      <m:t>SCM</m:t>
                    </m:r>
                    <m:r>
                      <a:rPr lang="en-US" sz="2000" b="0" i="1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nlmixr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2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VAE</m:t>
                    </m:r>
                  </m:oMath>
                </a14:m>
                <a:endParaRPr lang="en-US" sz="2000" b="0" dirty="0">
                  <a:solidFill>
                    <a:srgbClr val="4D4D4D">
                      <a:alpha val="100000"/>
                    </a:srgbClr>
                  </a:solidFill>
                  <a:latin typeface="+mn-lt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9" name="Content Placeholder 3">
                <a:extLst>
                  <a:ext uri="{FF2B5EF4-FFF2-40B4-BE49-F238E27FC236}">
                    <a16:creationId xmlns:a16="http://schemas.microsoft.com/office/drawing/2014/main" id="{15BACA9D-4AFB-3E94-6C38-B1C12AE65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6390" y="5395608"/>
                <a:ext cx="8608521" cy="300788"/>
              </a:xfrm>
              <a:prstGeom prst="rect">
                <a:avLst/>
              </a:prstGeom>
              <a:blipFill>
                <a:blip r:embed="rId2"/>
                <a:stretch>
                  <a:fillRect l="-1841" t="-28571" b="-5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3D5233F-572A-2150-4642-C2A2672C813C}"/>
              </a:ext>
            </a:extLst>
          </p:cNvPr>
          <p:cNvGrpSpPr/>
          <p:nvPr/>
        </p:nvGrpSpPr>
        <p:grpSpPr>
          <a:xfrm>
            <a:off x="968035" y="923733"/>
            <a:ext cx="8345760" cy="4353092"/>
            <a:chOff x="885191" y="748303"/>
            <a:chExt cx="9043026" cy="49484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0FBDD5-34C8-424D-467C-D322901D1435}"/>
                </a:ext>
              </a:extLst>
            </p:cNvPr>
            <p:cNvSpPr txBox="1"/>
            <p:nvPr/>
          </p:nvSpPr>
          <p:spPr>
            <a:xfrm>
              <a:off x="1152821" y="748303"/>
              <a:ext cx="34637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Scn16 + N80 + Analytic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71B3C7-0E9C-9509-C2E5-E5F830EAE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357"/>
            <a:stretch>
              <a:fillRect/>
            </a:stretch>
          </p:blipFill>
          <p:spPr>
            <a:xfrm>
              <a:off x="5186167" y="1161288"/>
              <a:ext cx="4742050" cy="45354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67D0ED-8521-F64D-C1DB-1E44AFDB5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051"/>
            <a:stretch>
              <a:fillRect/>
            </a:stretch>
          </p:blipFill>
          <p:spPr>
            <a:xfrm>
              <a:off x="885191" y="1148413"/>
              <a:ext cx="4555294" cy="454829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2D018E4-7902-0855-04F5-597A661D396A}"/>
              </a:ext>
            </a:extLst>
          </p:cNvPr>
          <p:cNvGrpSpPr/>
          <p:nvPr/>
        </p:nvGrpSpPr>
        <p:grpSpPr>
          <a:xfrm>
            <a:off x="2500868" y="6122536"/>
            <a:ext cx="8733555" cy="560000"/>
            <a:chOff x="880000" y="5195331"/>
            <a:chExt cx="9400001" cy="560000"/>
          </a:xfrm>
        </p:grpSpPr>
        <p:sp>
          <p:nvSpPr>
            <p:cNvPr id="9" name="pill90">
              <a:extLst>
                <a:ext uri="{FF2B5EF4-FFF2-40B4-BE49-F238E27FC236}">
                  <a16:creationId xmlns:a16="http://schemas.microsoft.com/office/drawing/2014/main" id="{39A4E76A-12A2-0FE6-0296-B2341CDD6344}"/>
                </a:ext>
              </a:extLst>
            </p:cNvPr>
            <p:cNvSpPr/>
            <p:nvPr/>
          </p:nvSpPr>
          <p:spPr>
            <a:xfrm>
              <a:off x="5580000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3 Accuracy</a:t>
              </a:r>
            </a:p>
          </p:txBody>
        </p:sp>
        <p:sp>
          <p:nvSpPr>
            <p:cNvPr id="10" name="pill91">
              <a:extLst>
                <a:ext uri="{FF2B5EF4-FFF2-40B4-BE49-F238E27FC236}">
                  <a16:creationId xmlns:a16="http://schemas.microsoft.com/office/drawing/2014/main" id="{906C25A7-FCB2-DDB5-DC7E-5EA32417FD86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1" name="pill92">
              <a:extLst>
                <a:ext uri="{FF2B5EF4-FFF2-40B4-BE49-F238E27FC236}">
                  <a16:creationId xmlns:a16="http://schemas.microsoft.com/office/drawing/2014/main" id="{3F162429-CEF0-9F02-39A7-3ED117259137}"/>
                </a:ext>
              </a:extLst>
            </p:cNvPr>
            <p:cNvSpPr/>
            <p:nvPr/>
          </p:nvSpPr>
          <p:spPr>
            <a:xfrm>
              <a:off x="3229999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12" name="pill93">
              <a:extLst>
                <a:ext uri="{FF2B5EF4-FFF2-40B4-BE49-F238E27FC236}">
                  <a16:creationId xmlns:a16="http://schemas.microsoft.com/office/drawing/2014/main" id="{389B26FA-1013-A3A5-34D8-D2C1B04C1BBF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mrse_eq">
                <a:extLst>
                  <a:ext uri="{FF2B5EF4-FFF2-40B4-BE49-F238E27FC236}">
                    <a16:creationId xmlns:a16="http://schemas.microsoft.com/office/drawing/2014/main" id="{D4405DB4-519F-6745-BDEE-015D0D7399B3}"/>
                  </a:ext>
                </a:extLst>
              </p:cNvPr>
              <p:cNvSpPr txBox="1"/>
              <p:nvPr/>
            </p:nvSpPr>
            <p:spPr>
              <a:xfrm>
                <a:off x="8126819" y="2523472"/>
                <a:ext cx="4150000" cy="88997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defRPr sz="1950">
                    <a:solidFill>
                      <a:srgbClr val="33475B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smtClean="0">
                          <a:latin typeface="Cambria Math" panose="02040503050406030204" pitchFamily="18" charset="0"/>
                        </a:rPr>
                        <m:t>𝑅𝑀𝑅𝑆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3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ar-A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ar-AE" sz="160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>
                                                  <a:latin typeface="+mn-ea"/>
                                                </a:rPr>
                                                <m:t>true</m:t>
                                              </m:r>
                                            </m:sup>
                                          </m:sSup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ar-A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ar-AE" sz="160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60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>
                                                  <a:latin typeface="+mn-ea"/>
                                                </a:rPr>
                                                <m:t>est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ar-A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ar-AE" sz="160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>
                                                  <a:latin typeface="+mn-ea"/>
                                                </a:rPr>
                                                <m:t>true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1600" dirty="0">
                  <a:solidFill>
                    <a:srgbClr val="33475B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4" name="rmrse_eq">
                <a:extLst>
                  <a:ext uri="{FF2B5EF4-FFF2-40B4-BE49-F238E27FC236}">
                    <a16:creationId xmlns:a16="http://schemas.microsoft.com/office/drawing/2014/main" id="{D4405DB4-519F-6745-BDEE-015D0D73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819" y="2523472"/>
                <a:ext cx="4150000" cy="889971"/>
              </a:xfrm>
              <a:prstGeom prst="rect">
                <a:avLst/>
              </a:prstGeom>
              <a:blipFill>
                <a:blip r:embed="rId5"/>
                <a:stretch>
                  <a:fillRect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are_eq">
                <a:extLst>
                  <a:ext uri="{FF2B5EF4-FFF2-40B4-BE49-F238E27FC236}">
                    <a16:creationId xmlns:a16="http://schemas.microsoft.com/office/drawing/2014/main" id="{8FB1C15C-6E4B-21F7-2F8F-B1D9506B9736}"/>
                  </a:ext>
                </a:extLst>
              </p:cNvPr>
              <p:cNvSpPr txBox="1"/>
              <p:nvPr/>
            </p:nvSpPr>
            <p:spPr>
              <a:xfrm>
                <a:off x="8137469" y="3649139"/>
                <a:ext cx="3900000" cy="74899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defRPr sz="1950">
                    <a:solidFill>
                      <a:srgbClr val="33475B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smtClean="0">
                          <a:latin typeface="Cambria Math" panose="02040503050406030204" pitchFamily="18" charset="0"/>
                        </a:rPr>
                        <m:t>𝑀𝐴𝑅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sz="1600" i="0">
                                          <a:latin typeface="+mn-ea"/>
                                        </a:rPr>
                                        <m:t>est</m:t>
                                      </m:r>
                                    </m:sup>
                                  </m:sSub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sz="1600" i="0">
                                          <a:latin typeface="+mn-ea"/>
                                        </a:rPr>
                                        <m:t>true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sz="1600" i="0">
                                          <a:latin typeface="+mn-ea"/>
                                        </a:rPr>
                                        <m:t>true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33475B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6" name="mare_eq">
                <a:extLst>
                  <a:ext uri="{FF2B5EF4-FFF2-40B4-BE49-F238E27FC236}">
                    <a16:creationId xmlns:a16="http://schemas.microsoft.com/office/drawing/2014/main" id="{8FB1C15C-6E4B-21F7-2F8F-B1D9506B9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469" y="3649139"/>
                <a:ext cx="3900000" cy="7489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">
                <a:extLst>
                  <a:ext uri="{FF2B5EF4-FFF2-40B4-BE49-F238E27FC236}">
                    <a16:creationId xmlns:a16="http://schemas.microsoft.com/office/drawing/2014/main" id="{FC7F523A-2ABF-A136-3922-0F5A27C69FD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826390" y="5783873"/>
                <a:ext cx="9920868" cy="300788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0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Estimation difficulty: covariance&gt; variance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 </m:t>
                    </m:r>
                  </m:oMath>
                </a14:m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covariate effect &gt; typical value </a:t>
                </a:r>
              </a:p>
            </p:txBody>
          </p:sp>
        </mc:Choice>
        <mc:Fallback xmlns="">
          <p:sp>
            <p:nvSpPr>
              <p:cNvPr id="18" name="Content Placeholder 3">
                <a:extLst>
                  <a:ext uri="{FF2B5EF4-FFF2-40B4-BE49-F238E27FC236}">
                    <a16:creationId xmlns:a16="http://schemas.microsoft.com/office/drawing/2014/main" id="{FC7F523A-2ABF-A136-3922-0F5A27C6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6390" y="5783873"/>
                <a:ext cx="9920868" cy="300788"/>
              </a:xfrm>
              <a:prstGeom prst="rect">
                <a:avLst/>
              </a:prstGeom>
              <a:blipFill>
                <a:blip r:embed="rId7"/>
                <a:stretch>
                  <a:fillRect l="-1598" t="-28571" b="-5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08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D714-2C60-FDF8-C2DB-AB845881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1DC375-DC03-8213-1FB6-839B590B27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85759" y="313632"/>
            <a:ext cx="12448864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The VAE </a:t>
            </a:r>
            <a:r>
              <a:rPr lang="en-US" sz="2800" dirty="0">
                <a:solidFill>
                  <a:srgbClr val="0460A9"/>
                </a:solidFill>
                <a:latin typeface="Arial"/>
                <a:cs typeface="Arial"/>
              </a:rPr>
              <a:t>can be substantially than </a:t>
            </a: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NONMEM-SCM_ODE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D25E-E6CD-8ACE-9C52-38F2A0ADA62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BA458-C418-3F07-B19B-67CD32CCB4D1}"/>
                  </a:ext>
                </a:extLst>
              </p:cNvPr>
              <p:cNvSpPr txBox="1"/>
              <p:nvPr/>
            </p:nvSpPr>
            <p:spPr>
              <a:xfrm>
                <a:off x="513556" y="3387200"/>
                <a:ext cx="434599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Analytic:</a:t>
                </a:r>
              </a:p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VAE   &lt;</a:t>
                </a:r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SCM</m:t>
                    </m:r>
                  </m:oMath>
                </a14:m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 ≤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nlmixr2-SCM </a:t>
                </a:r>
                <a:b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</a:b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(1min)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(~5min) 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(~12min)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BA458-C418-3F07-B19B-67CD32CCB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56" y="3387200"/>
                <a:ext cx="4345992" cy="923330"/>
              </a:xfrm>
              <a:prstGeom prst="rect">
                <a:avLst/>
              </a:prstGeom>
              <a:blipFill>
                <a:blip r:embed="rId3"/>
                <a:stretch>
                  <a:fillRect l="-112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B27406-044C-A304-01B2-8C6D8D6EF85F}"/>
                  </a:ext>
                </a:extLst>
              </p:cNvPr>
              <p:cNvSpPr txBox="1"/>
              <p:nvPr/>
            </p:nvSpPr>
            <p:spPr>
              <a:xfrm>
                <a:off x="566928" y="4530634"/>
                <a:ext cx="423924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ODE:</a:t>
                </a:r>
              </a:p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VAE   &lt;</a:t>
                </a:r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nlmixr2-SCM&lt;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SCM</m:t>
                    </m:r>
                  </m:oMath>
                </a14:m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 </a:t>
                </a:r>
                <a:b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</a:b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(1min)      (~20min)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(~120 min)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B27406-044C-A304-01B2-8C6D8D6EF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4530634"/>
                <a:ext cx="4239248" cy="923330"/>
              </a:xfrm>
              <a:prstGeom prst="rect">
                <a:avLst/>
              </a:prstGeom>
              <a:blipFill>
                <a:blip r:embed="rId4"/>
                <a:stretch>
                  <a:fillRect l="-1151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slidenum_fn">
            <a:extLst>
              <a:ext uri="{FF2B5EF4-FFF2-40B4-BE49-F238E27FC236}">
                <a16:creationId xmlns:a16="http://schemas.microsoft.com/office/drawing/2014/main" id="{372BAF25-84F7-C12A-1A4F-25BA5432FC02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25F68982-B90A-4633-8556-FC757573F748}" type="slidenum">
              <a:rPr lang="en-US" sz="1000">
                <a:solidFill>
                  <a:srgbClr val="8A8A8A"/>
                </a:solidFill>
                <a:latin typeface="Arial"/>
              </a:rPr>
              <a:t>8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CDDF1-5250-6A0E-24DC-2FCF69E07A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31"/>
          <a:stretch>
            <a:fillRect/>
          </a:stretch>
        </p:blipFill>
        <p:spPr>
          <a:xfrm>
            <a:off x="4763402" y="831959"/>
            <a:ext cx="6635713" cy="5110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DEDEC-2DC3-2B56-788B-17D541F27383}"/>
              </a:ext>
            </a:extLst>
          </p:cNvPr>
          <p:cNvSpPr txBox="1"/>
          <p:nvPr/>
        </p:nvSpPr>
        <p:spPr>
          <a:xfrm>
            <a:off x="809047" y="1100499"/>
            <a:ext cx="1972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4 CPU cores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B91552-2DB1-7041-3142-1896140E26F8}"/>
              </a:ext>
            </a:extLst>
          </p:cNvPr>
          <p:cNvGrpSpPr/>
          <p:nvPr/>
        </p:nvGrpSpPr>
        <p:grpSpPr>
          <a:xfrm>
            <a:off x="2622788" y="6238904"/>
            <a:ext cx="8733555" cy="451095"/>
            <a:chOff x="880000" y="5195331"/>
            <a:chExt cx="9400001" cy="560000"/>
          </a:xfrm>
        </p:grpSpPr>
        <p:sp>
          <p:nvSpPr>
            <p:cNvPr id="7" name="pill90">
              <a:extLst>
                <a:ext uri="{FF2B5EF4-FFF2-40B4-BE49-F238E27FC236}">
                  <a16:creationId xmlns:a16="http://schemas.microsoft.com/office/drawing/2014/main" id="{8F4F6C05-FB1B-0C86-7FF6-5035963D042E}"/>
                </a:ext>
              </a:extLst>
            </p:cNvPr>
            <p:cNvSpPr/>
            <p:nvPr/>
          </p:nvSpPr>
          <p:spPr>
            <a:xfrm>
              <a:off x="7930000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4 Runtime</a:t>
              </a:r>
            </a:p>
          </p:txBody>
        </p:sp>
        <p:sp>
          <p:nvSpPr>
            <p:cNvPr id="9" name="pill91">
              <a:extLst>
                <a:ext uri="{FF2B5EF4-FFF2-40B4-BE49-F238E27FC236}">
                  <a16:creationId xmlns:a16="http://schemas.microsoft.com/office/drawing/2014/main" id="{1B0BDD10-D28C-EB4E-A7DE-0B486F97899F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77D8F1FA-6EE1-6F9C-9F55-0367105AFEBD}"/>
                </a:ext>
              </a:extLst>
            </p:cNvPr>
            <p:cNvSpPr/>
            <p:nvPr/>
          </p:nvSpPr>
          <p:spPr>
            <a:xfrm>
              <a:off x="3229999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433DA86E-9D29-3638-F6EB-71A1AE67A5B5}"/>
                </a:ext>
              </a:extLst>
            </p:cNvPr>
            <p:cNvSpPr/>
            <p:nvPr/>
          </p:nvSpPr>
          <p:spPr>
            <a:xfrm>
              <a:off x="5580000" y="5195331"/>
              <a:ext cx="2349999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Accuracy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F201BCF-FEEA-12EC-F088-A93BFC966709}"/>
              </a:ext>
            </a:extLst>
          </p:cNvPr>
          <p:cNvSpPr txBox="1"/>
          <p:nvPr/>
        </p:nvSpPr>
        <p:spPr>
          <a:xfrm>
            <a:off x="4320778" y="1673633"/>
            <a:ext cx="1269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 Log Scale</a:t>
            </a:r>
            <a:endParaRPr lang="en-US" sz="1800" b="1" dirty="0">
              <a:solidFill>
                <a:srgbClr val="4D4D4D">
                  <a:alpha val="100000"/>
                </a:srgbClr>
              </a:solidFill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7879C-2CF3-6CAA-4B22-C6CD8F4C2B48}"/>
              </a:ext>
            </a:extLst>
          </p:cNvPr>
          <p:cNvSpPr txBox="1"/>
          <p:nvPr/>
        </p:nvSpPr>
        <p:spPr>
          <a:xfrm>
            <a:off x="566928" y="1920684"/>
            <a:ext cx="47195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Run time: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VAE &lt;&lt; nlmixr2 &lt; NONMEM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Analytic &lt;&lt; 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sample size</a:t>
            </a: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 ↓, runtime ↓</a:t>
            </a:r>
            <a:endParaRPr lang="en-US" sz="2000" dirty="0">
              <a:solidFill>
                <a:srgbClr val="4D4D4D">
                  <a:alpha val="100000"/>
                </a:srgb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24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BB31-40F3-98B7-3DD9-E2527B96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F04A6-A2EF-B35C-17A5-FFA7E3D9A2C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60520" y="307892"/>
            <a:ext cx="11670960" cy="443198"/>
          </a:xfrm>
        </p:spPr>
        <p:txBody>
          <a:bodyPr/>
          <a:lstStyle/>
          <a:p>
            <a:r>
              <a:rPr lang="en-US" sz="3200" dirty="0">
                <a:solidFill>
                  <a:srgbClr val="0460A9"/>
                </a:solidFill>
                <a:cs typeface="Arial"/>
              </a:rPr>
              <a:t>Collinearity and Small samples </a:t>
            </a:r>
            <a:r>
              <a:rPr lang="en-US" sz="3200" b="1" dirty="0">
                <a:solidFill>
                  <a:srgbClr val="0460A9"/>
                </a:solidFill>
                <a:latin typeface="Arial"/>
                <a:cs typeface="Arial"/>
              </a:rPr>
              <a:t>remain the main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28333-D0CC-5F9B-C74E-6D819988E1D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1637" y="1216315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AB65F6B-C426-F1EB-864E-922705980B07}"/>
              </a:ext>
            </a:extLst>
          </p:cNvPr>
          <p:cNvSpPr txBox="1">
            <a:spLocks/>
          </p:cNvSpPr>
          <p:nvPr/>
        </p:nvSpPr>
        <p:spPr bwMode="gray">
          <a:xfrm>
            <a:off x="563880" y="1215114"/>
            <a:ext cx="11750829" cy="24308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Competing shapes + Collinearity confound selection  </a:t>
            </a:r>
            <a:b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</a:br>
            <a:r>
              <a:rPr lang="zh-CN" alt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→ 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Domian knowledge</a:t>
            </a:r>
            <a:b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</a:br>
            <a:r>
              <a:rPr lang="zh-CN" altLang="en-US" sz="2000" b="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→ 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clinical significance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/biological plausibility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 </a:t>
            </a:r>
            <a:endParaRPr lang="en-US" sz="2000" b="0" dirty="0">
              <a:solidFill>
                <a:srgbClr val="4D4D4D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</a:pPr>
            <a:endParaRPr lang="en-US" sz="2000" b="0" dirty="0">
              <a:solidFill>
                <a:srgbClr val="4D4D4D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BA8B18A-2BC0-8633-4CA0-95C66EED6D08}"/>
              </a:ext>
            </a:extLst>
          </p:cNvPr>
          <p:cNvSpPr txBox="1">
            <a:spLocks/>
          </p:cNvSpPr>
          <p:nvPr/>
        </p:nvSpPr>
        <p:spPr bwMode="gray">
          <a:xfrm>
            <a:off x="770014" y="3595457"/>
            <a:ext cx="5669280" cy="119975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Small N sharply reduces power </a:t>
            </a: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sz="2000" b="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→  </a:t>
            </a: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interpret covariate models cautiously</a:t>
            </a:r>
          </a:p>
        </p:txBody>
      </p:sp>
      <p:sp>
        <p:nvSpPr>
          <p:cNvPr id="960" name="slidenum_fn">
            <a:extLst>
              <a:ext uri="{FF2B5EF4-FFF2-40B4-BE49-F238E27FC236}">
                <a16:creationId xmlns:a16="http://schemas.microsoft.com/office/drawing/2014/main" id="{ACE0CE14-C62D-1282-A8CB-18733FFC1E75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22ED8D28-CF8F-4D8E-BB8C-F9E10229BC27}" type="slidenum">
              <a:rPr lang="en-US" sz="1000">
                <a:solidFill>
                  <a:srgbClr val="8A8A8A"/>
                </a:solidFill>
                <a:latin typeface="Arial"/>
              </a:rPr>
              <a:t>9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999B57-0421-6105-9ADF-3E410EF1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96" t="10960" r="19888" b="15306"/>
          <a:stretch>
            <a:fillRect/>
          </a:stretch>
        </p:blipFill>
        <p:spPr>
          <a:xfrm>
            <a:off x="6016571" y="2033979"/>
            <a:ext cx="5533458" cy="360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4FAC-FD97-F8C4-2337-2E295A53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F67CBA-3DFB-C953-D022-540D23F03B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40442" y="510938"/>
            <a:ext cx="12173446" cy="443198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460A9"/>
                </a:solidFill>
                <a:latin typeface="Arial"/>
                <a:cs typeface="Arial"/>
              </a:rPr>
              <a:t>Open-source nlmixr2 SCM matches/outperforms NONMEM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9236-07E7-CE82-0EF3-23C1776872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77F39-8045-E5F4-DA34-4CBACDB47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65094"/>
            <a:ext cx="2142579" cy="21425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EDC3B97-D3B0-8326-C244-ED7005B5DA08}"/>
              </a:ext>
            </a:extLst>
          </p:cNvPr>
          <p:cNvSpPr txBox="1"/>
          <p:nvPr/>
        </p:nvSpPr>
        <p:spPr>
          <a:xfrm>
            <a:off x="2913077" y="1737600"/>
            <a:ext cx="4736435" cy="1128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2000" b="1" dirty="0"/>
              <a:t>SCM: </a:t>
            </a:r>
          </a:p>
          <a:p>
            <a:pPr marL="285750" indent="-2857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Comparable power &amp; accuracy</a:t>
            </a:r>
          </a:p>
          <a:p>
            <a:pPr marL="285750" indent="-285750" algn="l"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Faster; Better Reliability; Open source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9EDA98-2973-2CD3-5766-774EA8FB423A}"/>
              </a:ext>
            </a:extLst>
          </p:cNvPr>
          <p:cNvGrpSpPr/>
          <p:nvPr/>
        </p:nvGrpSpPr>
        <p:grpSpPr>
          <a:xfrm>
            <a:off x="3076740" y="3409901"/>
            <a:ext cx="6920394" cy="1084039"/>
            <a:chOff x="3076740" y="3406297"/>
            <a:chExt cx="6920394" cy="10840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EF6FE3-0369-3E86-AC7B-6E667B6B8FC4}"/>
                </a:ext>
              </a:extLst>
            </p:cNvPr>
            <p:cNvSpPr txBox="1"/>
            <p:nvPr/>
          </p:nvSpPr>
          <p:spPr>
            <a:xfrm>
              <a:off x="3129439" y="3406297"/>
              <a:ext cx="68095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sz="2000" b="1" dirty="0"/>
                <a:t>VAE</a:t>
              </a:r>
              <a:r>
                <a:rPr lang="zh-CN" altLang="en-US" sz="2000" b="1" dirty="0"/>
                <a:t>：</a:t>
              </a:r>
              <a:endParaRPr lang="en-US" sz="2000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8D5AC5-F48E-1F54-A271-E4A6BC837B54}"/>
                </a:ext>
              </a:extLst>
            </p:cNvPr>
            <p:cNvSpPr txBox="1"/>
            <p:nvPr/>
          </p:nvSpPr>
          <p:spPr>
            <a:xfrm>
              <a:off x="3076740" y="3772191"/>
              <a:ext cx="6920394" cy="7181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spcBef>
                  <a:spcPts val="800"/>
                </a:spcBef>
                <a:buFont typeface="Wingdings" panose="05000000000000000000" pitchFamily="2" charset="2"/>
                <a:buChar char="ü"/>
              </a:pPr>
              <a:r>
                <a:rPr lang="en-US" sz="2000" dirty="0"/>
                <a:t>Extremely Faster; Open source</a:t>
              </a:r>
            </a:p>
            <a:p>
              <a:pPr marL="285750" indent="-285750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r>
                <a:rPr lang="en-US" sz="2000" dirty="0"/>
                <a:t>Comparable power &amp; accuracy for easy covariate space</a:t>
              </a:r>
            </a:p>
          </p:txBody>
        </p:sp>
      </p:grpSp>
      <p:sp>
        <p:nvSpPr>
          <p:cNvPr id="960" name="slidenum_fn">
            <a:extLst>
              <a:ext uri="{FF2B5EF4-FFF2-40B4-BE49-F238E27FC236}">
                <a16:creationId xmlns:a16="http://schemas.microsoft.com/office/drawing/2014/main" id="{DB397785-731C-F881-D3A2-454FEB053751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155F01BC-7D03-4A13-AD47-AB0D4683490D}" type="slidenum">
              <a:rPr lang="en-US" sz="1000">
                <a:solidFill>
                  <a:srgbClr val="8A8A8A"/>
                </a:solidFill>
                <a:latin typeface="Arial"/>
              </a:rPr>
              <a:t>10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0B7ED1-60CE-82C2-23BE-359BA999DADB}"/>
              </a:ext>
            </a:extLst>
          </p:cNvPr>
          <p:cNvGrpSpPr/>
          <p:nvPr/>
        </p:nvGrpSpPr>
        <p:grpSpPr>
          <a:xfrm>
            <a:off x="7896014" y="2337744"/>
            <a:ext cx="3747346" cy="1438051"/>
            <a:chOff x="8009334" y="2189289"/>
            <a:chExt cx="3747346" cy="143805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A1990C7-0483-FE9B-AAC5-9EA5988140AA}"/>
                </a:ext>
              </a:extLst>
            </p:cNvPr>
            <p:cNvGrpSpPr/>
            <p:nvPr/>
          </p:nvGrpSpPr>
          <p:grpSpPr>
            <a:xfrm>
              <a:off x="8009334" y="2512457"/>
              <a:ext cx="3747346" cy="1114883"/>
              <a:chOff x="7812611" y="2315493"/>
              <a:chExt cx="3747346" cy="111488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F0D3A58-665B-940C-342B-A96CC9D916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9728" y="2315493"/>
                <a:ext cx="2870229" cy="1114883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C72488-E804-3773-534F-916A0B8D830B}"/>
                  </a:ext>
                </a:extLst>
              </p:cNvPr>
              <p:cNvSpPr txBox="1"/>
              <p:nvPr/>
            </p:nvSpPr>
            <p:spPr>
              <a:xfrm>
                <a:off x="7812611" y="2680746"/>
                <a:ext cx="6809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b="1" dirty="0"/>
                  <a:t>SCM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CB58709-D397-28CF-8B35-33D247234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5607" y="2767987"/>
                <a:ext cx="275926" cy="109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E27826-4EBB-4BF7-7BD9-06671B3D8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7349" y="2189289"/>
              <a:ext cx="2308431" cy="501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7667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1125-D473-30D5-E4BF-E0967FCC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37-65F2-FB04-0D10-3E1F5800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27816"/>
            <a:ext cx="11088000" cy="415498"/>
          </a:xfrm>
        </p:spPr>
        <p:txBody>
          <a:bodyPr/>
          <a:lstStyle/>
          <a:p>
            <a:r>
              <a:rPr dirty="0">
                <a:solidFill>
                  <a:srgbClr val="0460A9"/>
                </a:solidFill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9CDFA-9F50-B466-7DA7-BF22B832E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1384" y="975360"/>
            <a:ext cx="11088000" cy="4578544"/>
          </a:xfrm>
        </p:spPr>
        <p:txBody>
          <a:bodyPr/>
          <a:lstStyle/>
          <a:p>
            <a:r>
              <a:rPr lang="en-US" sz="1400" b="0" dirty="0"/>
              <a:t>1.Lane S, Al-</a:t>
            </a:r>
            <a:r>
              <a:rPr lang="en-US" sz="1400" b="0" dirty="0" err="1"/>
              <a:t>Zubiedi</a:t>
            </a:r>
            <a:r>
              <a:rPr lang="en-US" sz="1400" b="0" dirty="0"/>
              <a:t> S, Hatch E, et al. The population pharmacokinetics of R- and S-warfarin: effect of genetic and clinical factors. </a:t>
            </a:r>
            <a:r>
              <a:rPr lang="en-US" sz="1400" b="0" i="1" dirty="0"/>
              <a:t>Br J Clin </a:t>
            </a:r>
            <a:r>
              <a:rPr lang="en-US" sz="1400" b="0" i="1" dirty="0" err="1"/>
              <a:t>Pharmacol</a:t>
            </a:r>
            <a:r>
              <a:rPr lang="en-US" sz="1400" b="0" dirty="0"/>
              <a:t>. 2012;73(1):66-76. doi:10.1111/j.1365-2125.2011.04051.x</a:t>
            </a:r>
          </a:p>
          <a:p>
            <a:r>
              <a:rPr lang="en-US" sz="1400" b="0" dirty="0"/>
              <a:t>2. Ribbing J, Nyberg J, Caster O, Jonsson EN. The lasso--a novel method for predictive covariate model building in nonlinear mixed effects models. </a:t>
            </a:r>
            <a:r>
              <a:rPr lang="en-US" sz="1400" b="0" i="1" dirty="0"/>
              <a:t>J </a:t>
            </a:r>
            <a:r>
              <a:rPr lang="en-US" sz="1400" b="0" i="1" dirty="0" err="1"/>
              <a:t>Pharmacokinet</a:t>
            </a:r>
            <a:r>
              <a:rPr lang="en-US" sz="1400" b="0" i="1" dirty="0"/>
              <a:t> </a:t>
            </a:r>
            <a:r>
              <a:rPr lang="en-US" sz="1400" b="0" i="1" dirty="0" err="1"/>
              <a:t>Pharmacodyn</a:t>
            </a:r>
            <a:r>
              <a:rPr lang="en-US" sz="1400" b="0" dirty="0"/>
              <a:t>. 2007;34(4):485-517. doi:10.1007/s10928-007-9057-1</a:t>
            </a:r>
          </a:p>
          <a:p>
            <a:r>
              <a:rPr lang="en-US" sz="1400" b="0" dirty="0"/>
              <a:t>3. Karlsen M, Khier S, Fabre D, et al. Covariate Model Selection Approaches for Population Pharmacokinetics: A Systematic Review of Existing Methods, From SCM to AI. </a:t>
            </a:r>
            <a:r>
              <a:rPr lang="en-US" sz="1400" b="0" i="1" dirty="0"/>
              <a:t>CPT Pharmacometrics Syst </a:t>
            </a:r>
            <a:r>
              <a:rPr lang="en-US" sz="1400" b="0" i="1" dirty="0" err="1"/>
              <a:t>Pharmacol</a:t>
            </a:r>
            <a:r>
              <a:rPr lang="en-US" sz="1400" b="0" dirty="0"/>
              <a:t>. 2025;14(4):621-639. doi:10.1002/psp4.13306</a:t>
            </a:r>
          </a:p>
          <a:p>
            <a:r>
              <a:rPr lang="en-US" sz="1400" b="0" dirty="0"/>
              <a:t>4. Jonsson EN, Karlsson MO. Automated covariate model building within NONMEM. Pharm Res. 1998;15(9):1463-1468. doi:10.1023/a:1011970125687</a:t>
            </a:r>
          </a:p>
          <a:p>
            <a:r>
              <a:rPr lang="en-US" sz="1400" b="0" dirty="0"/>
              <a:t>5. </a:t>
            </a:r>
            <a:r>
              <a:rPr lang="en-US" sz="1400" b="0" dirty="0" err="1"/>
              <a:t>Rohleff</a:t>
            </a:r>
            <a:r>
              <a:rPr lang="en-US" sz="1400" b="0" dirty="0"/>
              <a:t> J, Bachmann F, Nahum U, et al. Redefining Parameter Estimation and Covariate Selection via Variational Autoencoders: One Run Is All You Need. CPT Pharmacometrics Syst </a:t>
            </a:r>
            <a:r>
              <a:rPr lang="en-US" sz="1400" b="0" dirty="0" err="1"/>
              <a:t>Pharmacol</a:t>
            </a:r>
            <a:r>
              <a:rPr lang="en-US" sz="1400" b="0" dirty="0"/>
              <a:t>. 2025;14(12):2232-2243. doi:10.1002/psp4.70129</a:t>
            </a:r>
          </a:p>
          <a:p>
            <a:r>
              <a:rPr lang="en-US" sz="1400" b="0" dirty="0"/>
              <a:t>6. </a:t>
            </a:r>
            <a:r>
              <a:rPr lang="en-US" sz="1400" b="0" dirty="0" err="1"/>
              <a:t>Ahamadi</a:t>
            </a:r>
            <a:r>
              <a:rPr lang="en-US" sz="1400" b="0" dirty="0"/>
              <a:t> M, </a:t>
            </a:r>
            <a:r>
              <a:rPr lang="en-US" sz="1400" b="0" dirty="0" err="1"/>
              <a:t>Largajolli</a:t>
            </a:r>
            <a:r>
              <a:rPr lang="en-US" sz="1400" b="0" dirty="0"/>
              <a:t> A, Diderichsen PM, et al. Operating characteristics of stepwise covariate selection in </a:t>
            </a:r>
            <a:r>
              <a:rPr lang="en-US" sz="1400" b="0" dirty="0" err="1"/>
              <a:t>pharmacometric</a:t>
            </a:r>
            <a:r>
              <a:rPr lang="en-US" sz="1400" b="0" dirty="0"/>
              <a:t> modeling. J </a:t>
            </a:r>
            <a:r>
              <a:rPr lang="en-US" sz="1400" b="0" dirty="0" err="1"/>
              <a:t>Pharmacokinet</a:t>
            </a:r>
            <a:r>
              <a:rPr lang="en-US" sz="1400" b="0" dirty="0"/>
              <a:t> </a:t>
            </a:r>
            <a:r>
              <a:rPr lang="en-US" sz="1400" b="0" dirty="0" err="1"/>
              <a:t>Pharmacodyn</a:t>
            </a:r>
            <a:r>
              <a:rPr lang="en-US" sz="1400" b="0" dirty="0"/>
              <a:t>. 2019;46(3):273-285. doi:10.1007/s10928-019-09635-6</a:t>
            </a:r>
          </a:p>
          <a:p>
            <a:r>
              <a:rPr lang="en-US" sz="1400" b="0" dirty="0"/>
              <a:t>7. https://github.com/nlmixr2/nlmixr2/blob/main/vignettes/articles/vaeNeonatal.Rmd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7720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BA93-7B06-83D4-9805-CC426551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D6AEA-7794-63A2-294C-E5817323AD9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82880" y="385785"/>
            <a:ext cx="3825240" cy="461665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0460A9"/>
                </a:solidFill>
                <a:sym typeface="Arial"/>
              </a:rPr>
              <a:t>Acknowledgement</a:t>
            </a:r>
            <a:r>
              <a:rPr lang="en-US" sz="2800" dirty="0">
                <a:latin typeface="Arial"/>
                <a:cs typeface="Arial"/>
                <a:sym typeface="Arial"/>
              </a:rPr>
              <a:t> </a:t>
            </a:r>
            <a:endParaRPr sz="2800" b="1" i="0" u="none" strike="noStrike" cap="none" dirty="0"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1418-DE69-6C16-1499-9B75C0A4210C}"/>
              </a:ext>
            </a:extLst>
          </p:cNvPr>
          <p:cNvSpPr txBox="1"/>
          <p:nvPr/>
        </p:nvSpPr>
        <p:spPr>
          <a:xfrm>
            <a:off x="1093894" y="1398209"/>
            <a:ext cx="8001000" cy="1128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Matt Fidler</a:t>
            </a:r>
          </a:p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Justin Wilkins and the rest nlmixr2 development team</a:t>
            </a:r>
          </a:p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PMX team </a:t>
            </a:r>
          </a:p>
        </p:txBody>
      </p:sp>
    </p:spTree>
    <p:extLst>
      <p:ext uri="{BB962C8B-B14F-4D97-AF65-F5344CB8AC3E}">
        <p14:creationId xmlns:p14="http://schemas.microsoft.com/office/powerpoint/2010/main" val="173805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A4CB-5393-AF7A-FCB0-CE4C8E72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FE46DD-7BEA-685E-97AA-F3CF009D1755}"/>
              </a:ext>
            </a:extLst>
          </p:cNvPr>
          <p:cNvSpPr txBox="1">
            <a:spLocks/>
          </p:cNvSpPr>
          <p:nvPr/>
        </p:nvSpPr>
        <p:spPr bwMode="gray">
          <a:xfrm>
            <a:off x="1689462" y="2161868"/>
            <a:ext cx="8813075" cy="135421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96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ym typeface="Arial"/>
              </a:rPr>
              <a:t>Thank you for your attention! </a:t>
            </a:r>
            <a:br>
              <a:rPr lang="en-US" sz="4400" dirty="0">
                <a:sym typeface="Arial"/>
              </a:rPr>
            </a:br>
            <a:r>
              <a:rPr lang="en-US" sz="4400" dirty="0">
                <a:sym typeface="Arial"/>
              </a:rPr>
              <a:t>Any questions?</a:t>
            </a:r>
            <a:endParaRPr lang="en-US" sz="4400" dirty="0"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1079595"/>
      </p:ext>
    </p:extLst>
  </p:cSld>
  <p:clrMapOvr>
    <a:masterClrMapping/>
  </p:clrMapOvr>
</p:sld>
</file>

<file path=ppt/theme/theme1.xml><?xml version="1.0" encoding="utf-8"?>
<a:theme xmlns:a="http://schemas.openxmlformats.org/drawingml/2006/main" name="Novartis PPT Master ARIAL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108000" rIns="108000" bIns="108000" rtlCol="0" anchor="t"/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>
      <a:srgbClr val="FB692E"/>
    </a:custClr>
    <a:custClr>
      <a:srgbClr val="C9D9F9"/>
    </a:custClr>
  </a:custClrLst>
  <a:extLst>
    <a:ext uri="{05A4C25C-085E-4340-85A3-A5531E510DB2}">
      <thm15:themeFamily xmlns:thm15="http://schemas.microsoft.com/office/thememl/2012/main" name="Novartis PowerPoint" id="{46FD7BFE-C972-1446-9555-CBDA807834FC}" vid="{71B7A1DA-CA9E-CE4E-99A9-0C1B3863930A}"/>
    </a:ext>
  </a:extLst>
</a:theme>
</file>

<file path=ppt/theme/theme2.xml><?xml version="1.0" encoding="utf-8"?>
<a:theme xmlns:a="http://schemas.openxmlformats.org/drawingml/2006/main" name="Office Theme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Volta Modern Display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Volta Modern Display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EE18855803214AA5E0FC51F85890E7" ma:contentTypeVersion="18" ma:contentTypeDescription="Create a new document." ma:contentTypeScope="" ma:versionID="9c0f61c24a7c323754b6846d9fdf8c58">
  <xsd:schema xmlns:xsd="http://www.w3.org/2001/XMLSchema" xmlns:xs="http://www.w3.org/2001/XMLSchema" xmlns:p="http://schemas.microsoft.com/office/2006/metadata/properties" xmlns:ns1="http://schemas.microsoft.com/sharepoint/v3" xmlns:ns2="3d94cfd0-68c5-4772-acf8-0efd60032a32" xmlns:ns3="0075bf4a-16ce-455a-b3a1-8efc3c3110cd" targetNamespace="http://schemas.microsoft.com/office/2006/metadata/properties" ma:root="true" ma:fieldsID="41860999f9452597cf5a3e5207c5125b" ns1:_="" ns2:_="" ns3:_="">
    <xsd:import namespace="http://schemas.microsoft.com/sharepoint/v3"/>
    <xsd:import namespace="3d94cfd0-68c5-4772-acf8-0efd60032a32"/>
    <xsd:import namespace="0075bf4a-16ce-455a-b3a1-8efc3c3110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94cfd0-68c5-4772-acf8-0efd6003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37bc47b-3997-4ccb-824d-08e9c3bde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5bf4a-16ce-455a-b3a1-8efc3c3110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9ce149-b227-4180-a7fb-58c7ec1a4aee}" ma:internalName="TaxCatchAll" ma:showField="CatchAllData" ma:web="0075bf4a-16ce-455a-b3a1-8efc3c3110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94cfd0-68c5-4772-acf8-0efd60032a32">
      <Terms xmlns="http://schemas.microsoft.com/office/infopath/2007/PartnerControls"/>
    </lcf76f155ced4ddcb4097134ff3c332f>
    <TaxCatchAll xmlns="0075bf4a-16ce-455a-b3a1-8efc3c3110cd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0EB0F3C-964D-403A-9F6D-19B038293CEA}">
  <ds:schemaRefs>
    <ds:schemaRef ds:uri="0075bf4a-16ce-455a-b3a1-8efc3c3110cd"/>
    <ds:schemaRef ds:uri="3d94cfd0-68c5-4772-acf8-0efd60032a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7AF6954-E829-4A38-AEF5-67B8B044C0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5B503F-9CBD-45A1-A1B7-0167040F5B56}">
  <ds:schemaRefs>
    <ds:schemaRef ds:uri="http://schemas.microsoft.com/sharepoint/v3"/>
    <ds:schemaRef ds:uri="http://purl.org/dc/dcmitype/"/>
    <ds:schemaRef ds:uri="http://schemas.openxmlformats.org/package/2006/metadata/core-properties"/>
    <ds:schemaRef ds:uri="3d94cfd0-68c5-4772-acf8-0efd60032a32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0075bf4a-16ce-455a-b3a1-8efc3c3110cd"/>
  </ds:schemaRefs>
</ds:datastoreItem>
</file>

<file path=docMetadata/LabelInfo.xml><?xml version="1.0" encoding="utf-8"?>
<clbl:labelList xmlns:clbl="http://schemas.microsoft.com/office/2020/mipLabelMetadata">
  <clbl:label id="{3c9bec58-8084-492e-8360-0e1cfe36408c}" enabled="1" method="Privilege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9328</TotalTime>
  <Words>1876</Words>
  <Application>Microsoft Office PowerPoint</Application>
  <PresentationFormat>Widescreen</PresentationFormat>
  <Paragraphs>237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Wingdings</vt:lpstr>
      <vt:lpstr>Novartis PPT Master ARIAL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Estimation accuracy is comparable across nlmixr2, NONMEM, and VAE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Manager>Name Surname</Manager>
  <Company>Novartis Pharma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Yaping (Ext)</dc:creator>
  <dc:description>PowerPoint template optimised for Windows Office version 2016 and Office 365</dc:description>
  <cp:lastModifiedBy>Liu, Yaping (Ext)</cp:lastModifiedBy>
  <cp:revision>56</cp:revision>
  <dcterms:created xsi:type="dcterms:W3CDTF">2026-07-29T18:55:15Z</dcterms:created>
  <dcterms:modified xsi:type="dcterms:W3CDTF">2026-08-18T18:20:46Z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0x010100DCEE18855803214AA5E0FC51F85890E7</vt:lpwstr>
  </property>
  <property fmtid="{D5CDD505-2E9C-101B-9397-08002B2CF9AE}" pid="3" name="MediaServiceImageTags">
    <vt:lpwstr/>
  </property>
</Properties>
</file>