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57" r:id="rId5"/>
    <p:sldId id="263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14" autoAdjust="0"/>
  </p:normalViewPr>
  <p:slideViewPr>
    <p:cSldViewPr snapToGrid="0" snapToObjects="1">
      <p:cViewPr>
        <p:scale>
          <a:sx n="50" d="100"/>
          <a:sy n="50" d="100"/>
        </p:scale>
        <p:origin x="1220" y="2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Yaping (Ext)" userId="f573593e-5a6a-4224-9cde-434853a04ccb" providerId="ADAL" clId="{D3C91D9B-AA24-48F8-B517-079931D65D62}"/>
    <pc:docChg chg="delSld modSld sldOrd delSection modSection">
      <pc:chgData name="Liu, Yaping (Ext)" userId="f573593e-5a6a-4224-9cde-434853a04ccb" providerId="ADAL" clId="{D3C91D9B-AA24-48F8-B517-079931D65D62}" dt="2026-06-10T12:49:50.339" v="18" actId="17853"/>
      <pc:docMkLst>
        <pc:docMk/>
      </pc:docMkLst>
      <pc:sldChg chg="modSp mod">
        <pc:chgData name="Liu, Yaping (Ext)" userId="f573593e-5a6a-4224-9cde-434853a04ccb" providerId="ADAL" clId="{D3C91D9B-AA24-48F8-B517-079931D65D62}" dt="2026-06-10T12:48:42.761" v="3" actId="20577"/>
        <pc:sldMkLst>
          <pc:docMk/>
          <pc:sldMk cId="0" sldId="256"/>
        </pc:sldMkLst>
        <pc:spChg chg="mod">
          <ac:chgData name="Liu, Yaping (Ext)" userId="f573593e-5a6a-4224-9cde-434853a04ccb" providerId="ADAL" clId="{D3C91D9B-AA24-48F8-B517-079931D65D62}" dt="2026-06-10T12:48:42.761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Liu, Yaping (Ext)" userId="f573593e-5a6a-4224-9cde-434853a04ccb" providerId="ADAL" clId="{D3C91D9B-AA24-48F8-B517-079931D65D62}" dt="2026-06-10T12:49:12.277" v="4" actId="47"/>
        <pc:sldMkLst>
          <pc:docMk/>
          <pc:sldMk cId="0" sldId="258"/>
        </pc:sldMkLst>
      </pc:sldChg>
      <pc:sldChg chg="del">
        <pc:chgData name="Liu, Yaping (Ext)" userId="f573593e-5a6a-4224-9cde-434853a04ccb" providerId="ADAL" clId="{D3C91D9B-AA24-48F8-B517-079931D65D62}" dt="2026-06-10T12:49:13.472" v="5" actId="47"/>
        <pc:sldMkLst>
          <pc:docMk/>
          <pc:sldMk cId="0" sldId="259"/>
        </pc:sldMkLst>
      </pc:sldChg>
      <pc:sldChg chg="del">
        <pc:chgData name="Liu, Yaping (Ext)" userId="f573593e-5a6a-4224-9cde-434853a04ccb" providerId="ADAL" clId="{D3C91D9B-AA24-48F8-B517-079931D65D62}" dt="2026-06-10T12:49:14.865" v="6" actId="47"/>
        <pc:sldMkLst>
          <pc:docMk/>
          <pc:sldMk cId="0" sldId="260"/>
        </pc:sldMkLst>
      </pc:sldChg>
      <pc:sldChg chg="del">
        <pc:chgData name="Liu, Yaping (Ext)" userId="f573593e-5a6a-4224-9cde-434853a04ccb" providerId="ADAL" clId="{D3C91D9B-AA24-48F8-B517-079931D65D62}" dt="2026-06-10T12:49:22.073" v="7" actId="47"/>
        <pc:sldMkLst>
          <pc:docMk/>
          <pc:sldMk cId="951902872" sldId="264"/>
        </pc:sldMkLst>
      </pc:sldChg>
      <pc:sldChg chg="del">
        <pc:chgData name="Liu, Yaping (Ext)" userId="f573593e-5a6a-4224-9cde-434853a04ccb" providerId="ADAL" clId="{D3C91D9B-AA24-48F8-B517-079931D65D62}" dt="2026-06-10T12:49:28.538" v="10" actId="47"/>
        <pc:sldMkLst>
          <pc:docMk/>
          <pc:sldMk cId="2811857064" sldId="265"/>
        </pc:sldMkLst>
      </pc:sldChg>
      <pc:sldChg chg="del">
        <pc:chgData name="Liu, Yaping (Ext)" userId="f573593e-5a6a-4224-9cde-434853a04ccb" providerId="ADAL" clId="{D3C91D9B-AA24-48F8-B517-079931D65D62}" dt="2026-06-10T12:49:29.488" v="11" actId="47"/>
        <pc:sldMkLst>
          <pc:docMk/>
          <pc:sldMk cId="2735775969" sldId="266"/>
        </pc:sldMkLst>
      </pc:sldChg>
      <pc:sldChg chg="del">
        <pc:chgData name="Liu, Yaping (Ext)" userId="f573593e-5a6a-4224-9cde-434853a04ccb" providerId="ADAL" clId="{D3C91D9B-AA24-48F8-B517-079931D65D62}" dt="2026-06-10T12:49:30.699" v="12" actId="47"/>
        <pc:sldMkLst>
          <pc:docMk/>
          <pc:sldMk cId="3651938761" sldId="267"/>
        </pc:sldMkLst>
      </pc:sldChg>
      <pc:sldChg chg="ord">
        <pc:chgData name="Liu, Yaping (Ext)" userId="f573593e-5a6a-4224-9cde-434853a04ccb" providerId="ADAL" clId="{D3C91D9B-AA24-48F8-B517-079931D65D62}" dt="2026-06-10T12:49:26.047" v="9"/>
        <pc:sldMkLst>
          <pc:docMk/>
          <pc:sldMk cId="3719221010" sldId="268"/>
        </pc:sldMkLst>
      </pc:sldChg>
      <pc:sldChg chg="del">
        <pc:chgData name="Liu, Yaping (Ext)" userId="f573593e-5a6a-4224-9cde-434853a04ccb" providerId="ADAL" clId="{D3C91D9B-AA24-48F8-B517-079931D65D62}" dt="2026-06-10T12:49:31.463" v="13" actId="47"/>
        <pc:sldMkLst>
          <pc:docMk/>
          <pc:sldMk cId="461707387" sldId="269"/>
        </pc:sldMkLst>
      </pc:sldChg>
      <pc:sldChg chg="del">
        <pc:chgData name="Liu, Yaping (Ext)" userId="f573593e-5a6a-4224-9cde-434853a04ccb" providerId="ADAL" clId="{D3C91D9B-AA24-48F8-B517-079931D65D62}" dt="2026-06-10T12:49:33.173" v="14" actId="47"/>
        <pc:sldMkLst>
          <pc:docMk/>
          <pc:sldMk cId="2613567719" sldId="270"/>
        </pc:sldMkLst>
      </pc:sldChg>
      <pc:sldChg chg="del">
        <pc:chgData name="Liu, Yaping (Ext)" userId="f573593e-5a6a-4224-9cde-434853a04ccb" providerId="ADAL" clId="{D3C91D9B-AA24-48F8-B517-079931D65D62}" dt="2026-06-10T12:49:35.371" v="15" actId="47"/>
        <pc:sldMkLst>
          <pc:docMk/>
          <pc:sldMk cId="1363146704" sldId="271"/>
        </pc:sldMkLst>
      </pc:sldChg>
      <pc:sldChg chg="del">
        <pc:chgData name="Liu, Yaping (Ext)" userId="f573593e-5a6a-4224-9cde-434853a04ccb" providerId="ADAL" clId="{D3C91D9B-AA24-48F8-B517-079931D65D62}" dt="2026-06-10T12:49:36.867" v="16" actId="47"/>
        <pc:sldMkLst>
          <pc:docMk/>
          <pc:sldMk cId="742928276" sldId="272"/>
        </pc:sldMkLst>
      </pc:sldChg>
      <pc:sldChg chg="del">
        <pc:chgData name="Liu, Yaping (Ext)" userId="f573593e-5a6a-4224-9cde-434853a04ccb" providerId="ADAL" clId="{D3C91D9B-AA24-48F8-B517-079931D65D62}" dt="2026-06-10T12:49:37.931" v="17" actId="47"/>
        <pc:sldMkLst>
          <pc:docMk/>
          <pc:sldMk cId="2719901401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5EBB8-F33E-4EB7-B288-6A9FBB321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5842D-F6D4-4563-B723-B2DB1F87C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6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SCM – check prior attempts; robustness;</a:t>
            </a:r>
            <a:br>
              <a:rPr lang="en-US" dirty="0"/>
            </a:br>
            <a:r>
              <a:rPr lang="en-US" dirty="0"/>
              <a:t>easiest; most common; other methods: </a:t>
            </a:r>
            <a:r>
              <a:rPr lang="en-US" dirty="0" err="1"/>
              <a:t>frem</a:t>
            </a:r>
            <a:r>
              <a:rPr lang="en-US" dirty="0"/>
              <a:t>[? Add-challenging; compare with SCM]; </a:t>
            </a:r>
            <a:r>
              <a:rPr lang="en-US" dirty="0" err="1"/>
              <a:t>horseshoeprior</a:t>
            </a:r>
            <a:r>
              <a:rPr lang="en-US" dirty="0"/>
              <a:t>[* faster/more accurate? Put prior]; gam; yam; bootstrap </a:t>
            </a:r>
            <a:r>
              <a:rPr lang="en-US" dirty="0" err="1"/>
              <a:t>scm</a:t>
            </a:r>
            <a:r>
              <a:rPr lang="en-US" dirty="0"/>
              <a:t>; lasso regression[*]; ML; [</a:t>
            </a:r>
            <a:r>
              <a:rPr lang="en-US" dirty="0" err="1"/>
              <a:t>ceossac</a:t>
            </a:r>
            <a:r>
              <a:rPr lang="en-US" dirty="0"/>
              <a:t>]; [</a:t>
            </a:r>
            <a:r>
              <a:rPr lang="en-US" dirty="0" err="1"/>
              <a:t>saba</a:t>
            </a:r>
            <a:r>
              <a:rPr lang="en-US" dirty="0"/>
              <a:t>]; STAN;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scm</a:t>
            </a:r>
            <a:r>
              <a:rPr lang="en-US" dirty="0"/>
              <a:t> developed with </a:t>
            </a:r>
            <a:r>
              <a:rPr lang="en-US" dirty="0" err="1"/>
              <a:t>llm</a:t>
            </a:r>
            <a:r>
              <a:rPr lang="en-US"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842D-F6D4-4563-B723-B2DB1F87CD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842D-F6D4-4563-B723-B2DB1F87CD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9686" y="900341"/>
            <a:ext cx="7772400" cy="1470025"/>
          </a:xfrm>
        </p:spPr>
        <p:txBody>
          <a:bodyPr/>
          <a:lstStyle/>
          <a:p>
            <a:r>
              <a:rPr dirty="0"/>
              <a:t>Stress test plan for SCM via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98371"/>
            <a:ext cx="6400800" cy="1752600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Simulation framework to evaluate accuracy, robustness, scalability, and reproducibility of </a:t>
            </a:r>
            <a:r>
              <a:rPr lang="en-US" dirty="0"/>
              <a:t>SCM function</a:t>
            </a:r>
            <a:endParaRPr dirty="0"/>
          </a:p>
          <a:p>
            <a:endParaRPr dirty="0"/>
          </a:p>
          <a:p>
            <a:r>
              <a:rPr dirty="0"/>
              <a:t>Speaker: Yaping Liu</a:t>
            </a:r>
          </a:p>
          <a:p>
            <a:r>
              <a:rPr dirty="0"/>
              <a:t>Date: 06/</a:t>
            </a:r>
            <a:r>
              <a:rPr lang="en-US" dirty="0"/>
              <a:t>10</a:t>
            </a:r>
            <a:r>
              <a:rPr dirty="0"/>
              <a:t>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B323-09CC-3E1A-A1D6-67B24CCE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62800" cy="1143000"/>
          </a:xfrm>
        </p:spPr>
        <p:txBody>
          <a:bodyPr/>
          <a:lstStyle/>
          <a:p>
            <a:pPr algn="l"/>
            <a:r>
              <a:rPr lang="en-US" dirty="0" err="1"/>
              <a:t>runscm</a:t>
            </a:r>
            <a:r>
              <a:rPr lang="en-US" dirty="0"/>
              <a:t>() in </a:t>
            </a:r>
            <a:r>
              <a:rPr lang="en-US" dirty="0" err="1"/>
              <a:t>nlmixrscm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3809-B8F7-1FB9-8FB8-76CEDA94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794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Forward selection/Backward elimination/Full SCM</a:t>
            </a:r>
          </a:p>
          <a:p>
            <a:r>
              <a:rPr lang="en-US" dirty="0"/>
              <a:t>Covariate modeling via explicit var-</a:t>
            </a:r>
            <a:r>
              <a:rPr lang="en-US" dirty="0" err="1"/>
              <a:t>covar</a:t>
            </a:r>
            <a:r>
              <a:rPr lang="en-US" dirty="0"/>
              <a:t> pairs </a:t>
            </a:r>
          </a:p>
          <a:p>
            <a:r>
              <a:rPr lang="en-US" dirty="0"/>
              <a:t>warm-starting from fitted parameter estimates</a:t>
            </a:r>
          </a:p>
          <a:p>
            <a:r>
              <a:rPr lang="en-US" dirty="0"/>
              <a:t>Optional model saving, logging, CSV summaries, and parallel candidate fitting.</a:t>
            </a:r>
          </a:p>
          <a:p>
            <a:r>
              <a:rPr lang="en-US" dirty="0"/>
              <a:t>Retry logic for suspicious forward-candidate OFV results.</a:t>
            </a:r>
          </a:p>
        </p:txBody>
      </p:sp>
    </p:spTree>
    <p:extLst>
      <p:ext uri="{BB962C8B-B14F-4D97-AF65-F5344CB8AC3E}">
        <p14:creationId xmlns:p14="http://schemas.microsoft.com/office/powerpoint/2010/main" val="87285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39D8-50AE-E8E0-2A22-1088A3CC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5077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Test file for </a:t>
            </a:r>
            <a:r>
              <a:rPr lang="en-US" dirty="0" err="1"/>
              <a:t>runscm</a:t>
            </a:r>
            <a:r>
              <a:rPr lang="en-US" dirty="0"/>
              <a:t>()_Integration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2FD5-D105-5957-4BC4-28F67399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64" y="1166018"/>
            <a:ext cx="10972800" cy="452596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Unit tests </a:t>
            </a:r>
            <a:r>
              <a:rPr lang="en-US" sz="2800" dirty="0"/>
              <a:t>check whether individual helper functions behave as expected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Input parsing and initial-value handling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Building parameter–covariate pairs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Continuous covariate centering; Categorical covariate dummy creation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Missing-data handling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Shape expansion for power, </a:t>
            </a:r>
            <a:r>
              <a:rPr lang="en-US" sz="1500" dirty="0" err="1"/>
              <a:t>lin</a:t>
            </a:r>
            <a:r>
              <a:rPr lang="en-US" sz="1500" dirty="0"/>
              <a:t>, log, and identity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Warm-starting covariate parameter estimates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OFV retry/tolerance logic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Rebuilding the model UI with covariate effects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integration tests </a:t>
            </a:r>
            <a:r>
              <a:rPr lang="en-US" sz="2800" dirty="0"/>
              <a:t>check whether </a:t>
            </a:r>
            <a:r>
              <a:rPr lang="en-US" sz="2800" dirty="0" err="1"/>
              <a:t>runSCM</a:t>
            </a:r>
            <a:r>
              <a:rPr lang="en-US" sz="2800" dirty="0"/>
              <a:t>() can run successfully and return the expected output structure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 err="1"/>
              <a:t>runSCM</a:t>
            </a:r>
            <a:r>
              <a:rPr lang="en-US" sz="1500" dirty="0"/>
              <a:t>() returns a list with </a:t>
            </a:r>
            <a:r>
              <a:rPr lang="en-US" sz="1500" dirty="0" err="1"/>
              <a:t>summaryTable</a:t>
            </a:r>
            <a:r>
              <a:rPr lang="en-US" sz="1500" dirty="0"/>
              <a:t>, </a:t>
            </a:r>
            <a:r>
              <a:rPr lang="en-US" sz="1500" dirty="0" err="1"/>
              <a:t>resFwd</a:t>
            </a:r>
            <a:r>
              <a:rPr lang="en-US" sz="1500" dirty="0"/>
              <a:t>, and </a:t>
            </a:r>
            <a:r>
              <a:rPr lang="en-US" sz="1500" dirty="0" err="1"/>
              <a:t>resBck</a:t>
            </a:r>
            <a:r>
              <a:rPr lang="en-US" sz="1500" dirty="0"/>
              <a:t>; Forward, backward, and full SCM modes run without error; Output folders, logs, and CSV files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 err="1"/>
              <a:t>summaryTable</a:t>
            </a:r>
            <a:r>
              <a:rPr lang="en-US" sz="1500" dirty="0"/>
              <a:t> contains expected columns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User options such as control, workers, restart, </a:t>
            </a:r>
            <a:r>
              <a:rPr lang="en-US" sz="1500" dirty="0" err="1"/>
              <a:t>inits</a:t>
            </a:r>
            <a:r>
              <a:rPr lang="en-US" sz="1500" dirty="0"/>
              <a:t>, and retry parameters are accepted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3AB80-FC4F-DC7B-1124-BC505061F138}"/>
              </a:ext>
            </a:extLst>
          </p:cNvPr>
          <p:cNvSpPr txBox="1"/>
          <p:nvPr/>
        </p:nvSpPr>
        <p:spPr>
          <a:xfrm>
            <a:off x="1532674" y="5691981"/>
            <a:ext cx="88181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do not truly validate </a:t>
            </a:r>
            <a:r>
              <a:rPr lang="en-US" sz="2000" b="1" u="sng" dirty="0"/>
              <a:t>covariate-selection accuracy </a:t>
            </a:r>
            <a:r>
              <a:rPr lang="en-US" sz="2000" dirty="0"/>
              <a:t>against a known truth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functionality, format, and smoke tests, not </a:t>
            </a:r>
            <a:r>
              <a:rPr lang="en-US" sz="2000" b="1" u="sng" dirty="0"/>
              <a:t>simulation-based performance tests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3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Stress test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2000854"/>
            <a:ext cx="10972800" cy="1687285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1800">
                <a:solidFill>
                  <a:srgbClr val="161616"/>
                </a:solidFill>
              </a:defRPr>
            </a:pPr>
            <a:r>
              <a:rPr sz="2400" dirty="0"/>
              <a:t>• Confirm SCM </a:t>
            </a:r>
            <a:r>
              <a:rPr sz="2400" u="sng" dirty="0"/>
              <a:t>recovers true covariate relationships </a:t>
            </a:r>
            <a:r>
              <a:rPr sz="2400" dirty="0"/>
              <a:t>under controlled simulation</a:t>
            </a:r>
          </a:p>
          <a:p>
            <a:pPr marL="0" indent="0">
              <a:buNone/>
              <a:defRPr sz="1800">
                <a:solidFill>
                  <a:srgbClr val="161616"/>
                </a:solidFill>
              </a:defRPr>
            </a:pPr>
            <a:r>
              <a:rPr sz="2400" dirty="0"/>
              <a:t>• Quantify </a:t>
            </a:r>
            <a:r>
              <a:rPr sz="2400" u="sng" dirty="0"/>
              <a:t>false-positive selection </a:t>
            </a:r>
            <a:r>
              <a:rPr sz="2400" dirty="0"/>
              <a:t>when candidate covariates are </a:t>
            </a:r>
            <a:r>
              <a:rPr sz="2400" u="sng" dirty="0"/>
              <a:t>null or correlated</a:t>
            </a:r>
          </a:p>
          <a:p>
            <a:pPr marL="0" indent="0">
              <a:buNone/>
              <a:defRPr sz="1800">
                <a:solidFill>
                  <a:srgbClr val="161616"/>
                </a:solidFill>
              </a:defRPr>
            </a:pPr>
            <a:r>
              <a:rPr sz="2400" dirty="0"/>
              <a:t>• Evaluate robustness </a:t>
            </a:r>
            <a:r>
              <a:rPr sz="2400" u="sng" dirty="0"/>
              <a:t>to missing data, categorical imbalance, sparse sampling, and difficult fits</a:t>
            </a:r>
          </a:p>
          <a:p>
            <a:pPr marL="0" indent="0">
              <a:buNone/>
              <a:defRPr sz="1800">
                <a:solidFill>
                  <a:srgbClr val="161616"/>
                </a:solidFill>
              </a:defRPr>
            </a:pPr>
            <a:r>
              <a:rPr sz="2400" dirty="0"/>
              <a:t>• Benchmark runtime, retry behavior, parallel execution, and output workflow reliability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39BEB-F7AB-ABA0-40E0-2D36ED7DDC99}"/>
              </a:ext>
            </a:extLst>
          </p:cNvPr>
          <p:cNvSpPr txBox="1"/>
          <p:nvPr/>
        </p:nvSpPr>
        <p:spPr>
          <a:xfrm>
            <a:off x="1872343" y="4069139"/>
            <a:ext cx="8403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Primary success criteria- too high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- High true-positive recovery for strong effects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- Controlled false-positive rate under null scenarios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- Low candidate failure rate and reproducible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3EE5-ADEB-A340-B2D5-2FF6879C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85919"/>
            <a:ext cx="6455229" cy="5438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 for Stress Test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438B-5DBD-7729-00DF-2F27B704F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8" y="872359"/>
            <a:ext cx="10993822" cy="5633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Pick established population PK models </a:t>
            </a:r>
            <a:r>
              <a:rPr lang="en-US" sz="2000" dirty="0"/>
              <a:t>(fixed &amp; random effect parameters):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structural model + covariate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interindividual variability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residual variability </a:t>
            </a:r>
            <a:endParaRPr lang="en-US" sz="3200" dirty="0"/>
          </a:p>
          <a:p>
            <a:pPr marL="0" indent="0">
              <a:buNone/>
            </a:pPr>
            <a:r>
              <a:rPr lang="en-US" sz="2800" dirty="0"/>
              <a:t>2. Simulate a virtual cohort </a:t>
            </a:r>
            <a:r>
              <a:rPr lang="en-US" sz="2000" dirty="0"/>
              <a:t>[</a:t>
            </a:r>
            <a:r>
              <a:rPr lang="en-US" sz="1800" dirty="0"/>
              <a:t>simulated individual PK parameters + covariates</a:t>
            </a:r>
            <a:r>
              <a:rPr lang="en-US" sz="2000" dirty="0"/>
              <a:t>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Simulate [plasma concentration] using the true population PK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Fit the base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Run </a:t>
            </a:r>
            <a:r>
              <a:rPr lang="en-US" sz="2000" dirty="0" err="1"/>
              <a:t>runSCM</a:t>
            </a:r>
            <a:r>
              <a:rPr lang="en-US" sz="2000" dirty="0"/>
              <a:t>() using a candidate covariate set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Compare covariates selected against the known true covariate structure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Calculate selection-performance percentages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Repeat this process across many simulation replicates</a:t>
            </a:r>
          </a:p>
          <a:p>
            <a:pPr marL="0" indent="0">
              <a:buNone/>
            </a:pPr>
            <a:r>
              <a:rPr lang="en-US" sz="2400" dirty="0"/>
              <a:t>3. Evaluation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for each virtual cohort &amp; Across replicates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Average recall/Sensitivity; False-positive rate; Failure rate;  Retry rate; Runtime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323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046E7F-BFF2-5DA6-8858-A64E8285E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67" y="963109"/>
            <a:ext cx="11121833" cy="51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2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3142</TotalTime>
  <Words>485</Words>
  <Application>Microsoft Office PowerPoint</Application>
  <PresentationFormat>Widescreen</PresentationFormat>
  <Paragraphs>54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Wingdings</vt:lpstr>
      <vt:lpstr>Office Theme</vt:lpstr>
      <vt:lpstr>Stress test plan for SCM via simulation</vt:lpstr>
      <vt:lpstr>runscm() in nlmixrscm </vt:lpstr>
      <vt:lpstr>Test file for runscm()_Integration </vt:lpstr>
      <vt:lpstr>Stress test objectives</vt:lpstr>
      <vt:lpstr>Overview for Stress Test Plan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Liu, Yaping (Ext)</cp:lastModifiedBy>
  <cp:revision>16</cp:revision>
  <dcterms:created xsi:type="dcterms:W3CDTF">2013-01-27T09:14:16Z</dcterms:created>
  <dcterms:modified xsi:type="dcterms:W3CDTF">2026-06-10T12:49:53Z</dcterms:modified>
  <cp:category/>
</cp:coreProperties>
</file>